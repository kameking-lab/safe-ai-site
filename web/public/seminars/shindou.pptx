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548640" cy="2800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C9A86E"/>
                </a:solidFill>
                <a:latin typeface="Meiryo"/>
                <a:ea typeface="Meiryo"/>
              </a:rPr>
              <a:t>労働衛生教育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A0783C"/>
                </a:solidFill>
                <a:latin typeface="Meiryo"/>
                <a:ea typeface="Meiryo"/>
              </a:rPr>
              <a:t>HAND-ARM VIBRATION SYNDROME PREVENTION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65960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400" b="1">
                <a:solidFill>
                  <a:srgbClr val="FFFFFF"/>
                </a:solidFill>
                <a:latin typeface="Meiryo"/>
                <a:ea typeface="Meiryo"/>
              </a:rPr>
              <a:t>振動障害予防 労働衛生教育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38328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CBD5E1"/>
                </a:solidFill>
                <a:latin typeface="Meiryo"/>
                <a:ea typeface="Meiryo"/>
              </a:rPr>
              <a:t>チェーンソー・工具対応コース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4846320"/>
            <a:ext cx="1828800" cy="1500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498348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CBD5E1"/>
                </a:solidFill>
                <a:latin typeface="Meiryo"/>
                <a:ea typeface="Meiryo"/>
              </a:rPr>
              <a:t>基発0810第1号準拠 ／ 約2時間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26364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94A3B8"/>
                </a:solidFill>
                <a:latin typeface="Meiryo"/>
                <a:ea typeface="Meiryo"/>
              </a:rPr>
              <a:t>安全AIポータル編集部｜労働安全コンサルタント監修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97135" y="640080"/>
            <a:ext cx="1645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>
                <a:solidFill>
                  <a:srgbClr val="A0783C"/>
                </a:solidFill>
                <a:latin typeface="Meiryo"/>
                <a:ea typeface="Meiryo"/>
              </a:rPr>
              <a:t>安全AIポータル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A0783C"/>
                </a:solidFill>
                <a:latin typeface="Meiryo"/>
                <a:ea typeface="Meiryo"/>
              </a:rP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1109441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A2744"/>
                </a:solidFill>
                <a:latin typeface="Meiryo"/>
                <a:ea typeface="Meiryo"/>
              </a:rPr>
              <a:t>本日のアジェンダ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548640" cy="2800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783080"/>
            <a:ext cx="534924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47672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A0783C"/>
                </a:solidFill>
                <a:latin typeface="Meiryo"/>
                <a:ea typeface="Meiryo"/>
              </a:rPr>
              <a:t>01</a:t>
            </a:r>
          </a:p>
        </p:txBody>
      </p:sp>
      <p:sp>
        <p:nvSpPr>
          <p:cNvPr id="7" name="Rectangle 6"/>
          <p:cNvSpPr/>
          <p:nvPr/>
        </p:nvSpPr>
        <p:spPr>
          <a:xfrm>
            <a:off x="1508760" y="2011680"/>
            <a:ext cx="10000" cy="9144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19" y="1984248"/>
            <a:ext cx="4069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A2744"/>
                </a:solidFill>
                <a:latin typeface="Meiryo"/>
                <a:ea typeface="Meiryo"/>
              </a:rPr>
              <a:t>なぜ今、振動障害予防か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19" y="2496312"/>
            <a:ext cx="4069079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振動障害認定の動向と高齢化現場でのリスク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79" y="1783080"/>
            <a:ext cx="534924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79" y="1947672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A0783C"/>
                </a:solidFill>
                <a:latin typeface="Meiryo"/>
                <a:ea typeface="Meiryo"/>
              </a:rPr>
              <a:t>02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086599" y="2011680"/>
            <a:ext cx="10000" cy="9144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23759" y="1984248"/>
            <a:ext cx="4069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A2744"/>
                </a:solidFill>
                <a:latin typeface="Meiryo"/>
                <a:ea typeface="Meiryo"/>
              </a:rPr>
              <a:t>振動障害対策の4要素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59" y="2496312"/>
            <a:ext cx="4069079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工具選定・ばく露時間管理・防振保温・健康管理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319272"/>
            <a:ext cx="534924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483864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A0783C"/>
                </a:solidFill>
                <a:latin typeface="Meiryo"/>
                <a:ea typeface="Meiryo"/>
              </a:rPr>
              <a:t>03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508760" y="3547872"/>
            <a:ext cx="10000" cy="9144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45919" y="3520440"/>
            <a:ext cx="4069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A2744"/>
                </a:solidFill>
                <a:latin typeface="Meiryo"/>
                <a:ea typeface="Meiryo"/>
              </a:rPr>
              <a:t>工具別ばく露管理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19" y="4032504"/>
            <a:ext cx="4069079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3軸合成値a(8)と日振動ばく露限界値5.0m/s²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79" y="3319272"/>
            <a:ext cx="534924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79" y="3483864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A0783C"/>
                </a:solidFill>
                <a:latin typeface="Meiryo"/>
                <a:ea typeface="Meiryo"/>
              </a:rPr>
              <a:t>04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086599" y="3547872"/>
            <a:ext cx="10000" cy="9144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23759" y="3520440"/>
            <a:ext cx="4069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A2744"/>
                </a:solidFill>
                <a:latin typeface="Meiryo"/>
                <a:ea typeface="Meiryo"/>
              </a:rPr>
              <a:t>振動障害予防 4STEP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23759" y="4032504"/>
            <a:ext cx="4069079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工具評価→ばく露計算→時間管理→健診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4855464"/>
            <a:ext cx="534924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5020055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A0783C"/>
                </a:solidFill>
                <a:latin typeface="Meiryo"/>
                <a:ea typeface="Meiryo"/>
              </a:rPr>
              <a:t>05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508760" y="5084064"/>
            <a:ext cx="10000" cy="9144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645919" y="5056631"/>
            <a:ext cx="4069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A2744"/>
                </a:solidFill>
                <a:latin typeface="Meiryo"/>
                <a:ea typeface="Meiryo"/>
              </a:rPr>
              <a:t>工具選定と保温・血行管理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45919" y="5568696"/>
            <a:ext cx="4069079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低振動工具の活用と末梢循環保護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26479" y="4855464"/>
            <a:ext cx="534924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55079" y="5020055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A0783C"/>
                </a:solidFill>
                <a:latin typeface="Meiryo"/>
                <a:ea typeface="Meiryo"/>
              </a:rPr>
              <a:t>06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086599" y="5084064"/>
            <a:ext cx="10000" cy="9144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23759" y="5056631"/>
            <a:ext cx="4069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A2744"/>
                </a:solidFill>
                <a:latin typeface="Meiryo"/>
                <a:ea typeface="Meiryo"/>
              </a:rPr>
              <a:t>健康管理5ステップと事業者責務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23759" y="5568696"/>
            <a:ext cx="4069079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特殊健診6月以内ごと、記録5年保存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94A3B8"/>
                </a:solidFill>
                <a:latin typeface="Meiryo"/>
                <a:ea typeface="Meiryo"/>
              </a:rPr>
              <a:t>安全AIポータル編集部｜労働安全コンサルタント監修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>
                <a:solidFill>
                  <a:srgbClr val="94A3B8"/>
                </a:solidFill>
                <a:latin typeface="Meiryo"/>
                <a:ea typeface="Meiryo"/>
              </a:rPr>
              <a:t>02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A0783C"/>
                </a:solidFill>
                <a:latin typeface="Meiryo"/>
                <a:ea typeface="Meiryo"/>
              </a:rPr>
              <a:t>WHY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1109441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A2744"/>
                </a:solidFill>
                <a:latin typeface="Meiryo"/>
                <a:ea typeface="Meiryo"/>
              </a:rPr>
              <a:t>なぜ今、振動障害予防か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548640" cy="2800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783080"/>
            <a:ext cx="5029200" cy="420624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2194560"/>
            <a:ext cx="548640" cy="2800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60320"/>
            <a:ext cx="42976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0" b="1">
                <a:solidFill>
                  <a:srgbClr val="FFFFFF"/>
                </a:solidFill>
                <a:latin typeface="Meiryo"/>
                <a:ea typeface="Meiryo"/>
              </a:rPr>
              <a:t>85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3200400"/>
            <a:ext cx="1371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7200" b="1">
                <a:solidFill>
                  <a:srgbClr val="A0783C"/>
                </a:solidFill>
                <a:latin typeface="Meiryo"/>
                <a:ea typeface="Meiryo"/>
              </a:rPr>
              <a:t>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029200"/>
            <a:ext cx="4297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CBD5E1"/>
                </a:solidFill>
                <a:latin typeface="Meiryo"/>
                <a:ea typeface="Meiryo"/>
              </a:rPr>
              <a:t>振動障害労災認定における手腕系振動工具（チェーンソー含む）が占める比率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532120"/>
            <a:ext cx="4297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94A3B8"/>
                </a:solidFill>
                <a:latin typeface="Meiryo"/>
                <a:ea typeface="Meiryo"/>
              </a:rPr>
              <a:t>出典：厚生労働省「業務上疾病発生状況等調査」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1783080"/>
            <a:ext cx="5669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A2744"/>
                </a:solidFill>
                <a:latin typeface="Meiryo"/>
                <a:ea typeface="Meiryo"/>
              </a:rPr>
              <a:t>工具種別 振動障害認定の傾向（相対値）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2404872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334155"/>
                </a:solidFill>
                <a:latin typeface="Meiryo"/>
                <a:ea typeface="Meiryo"/>
              </a:rPr>
              <a:t>チェーンソー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0" y="2286000"/>
            <a:ext cx="3749039" cy="457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0" y="2286000"/>
            <a:ext cx="3749039" cy="45720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567160" y="240487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334155"/>
                </a:solidFill>
                <a:latin typeface="Meiryo"/>
                <a:ea typeface="Meiryo"/>
              </a:rPr>
              <a:t>1.00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3056382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334155"/>
                </a:solidFill>
                <a:latin typeface="Meiryo"/>
                <a:ea typeface="Meiryo"/>
              </a:rPr>
              <a:t>ピックハンマー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0" y="2937510"/>
            <a:ext cx="3749039" cy="457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0" y="2937510"/>
            <a:ext cx="2324404" cy="45720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142524" y="305638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334155"/>
                </a:solidFill>
                <a:latin typeface="Meiryo"/>
                <a:ea typeface="Meiryo"/>
              </a:rPr>
              <a:t>0.62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3707891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334155"/>
                </a:solidFill>
                <a:latin typeface="Meiryo"/>
                <a:ea typeface="Meiryo"/>
              </a:rPr>
              <a:t>サンダー・グラインダー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0" y="3589020"/>
            <a:ext cx="3749039" cy="457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0" y="3589020"/>
            <a:ext cx="1799539" cy="457200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17659" y="3707891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334155"/>
                </a:solidFill>
                <a:latin typeface="Meiryo"/>
                <a:ea typeface="Meiryo"/>
              </a:rPr>
              <a:t>0.48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0" y="4359401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334155"/>
                </a:solidFill>
                <a:latin typeface="Meiryo"/>
                <a:ea typeface="Meiryo"/>
              </a:rPr>
              <a:t>削岩機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0" y="4240529"/>
            <a:ext cx="3749039" cy="457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772400" y="4240529"/>
            <a:ext cx="1274673" cy="457200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92793" y="4359401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334155"/>
                </a:solidFill>
                <a:latin typeface="Meiryo"/>
                <a:ea typeface="Meiryo"/>
              </a:rPr>
              <a:t>0.34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0" y="5010912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334155"/>
                </a:solidFill>
                <a:latin typeface="Meiryo"/>
                <a:ea typeface="Meiryo"/>
              </a:rPr>
              <a:t>その他振動工具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772400" y="4892040"/>
            <a:ext cx="3749039" cy="457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772400" y="4892040"/>
            <a:ext cx="787298" cy="457200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05418" y="501091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334155"/>
                </a:solidFill>
                <a:latin typeface="Meiryo"/>
                <a:ea typeface="Meiryo"/>
              </a:rPr>
              <a:t>0.21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0" y="5623559"/>
            <a:ext cx="5669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64748B"/>
                </a:solidFill>
                <a:latin typeface="Meiryo"/>
                <a:ea typeface="Meiryo"/>
              </a:rPr>
              <a:t>※チェーンソー作業の認定件数を1.00として正規化した工具別傾向の概算。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94A3B8"/>
                </a:solidFill>
                <a:latin typeface="Meiryo"/>
                <a:ea typeface="Meiryo"/>
              </a:rPr>
              <a:t>安全AIポータル編集部｜労働安全コンサルタント監修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>
                <a:solidFill>
                  <a:srgbClr val="94A3B8"/>
                </a:solidFill>
                <a:latin typeface="Meiryo"/>
                <a:ea typeface="Meiryo"/>
              </a:rPr>
              <a:t>03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A0783C"/>
                </a:solidFill>
                <a:latin typeface="Meiryo"/>
                <a:ea typeface="Meiryo"/>
              </a:rPr>
              <a:t>FOUR PILLARS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1109441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A2744"/>
                </a:solidFill>
                <a:latin typeface="Meiryo"/>
                <a:ea typeface="Meiryo"/>
              </a:rPr>
              <a:t>振動障害対策の4要素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548640" cy="2800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1109441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334155"/>
                </a:solidFill>
                <a:latin typeface="Meiryo"/>
                <a:ea typeface="Meiryo"/>
              </a:rPr>
              <a:t>振動障害予防のための作業管理指針および基発0810第1号に基づく使用者の取組み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286000"/>
            <a:ext cx="5349240" cy="1874519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286000"/>
            <a:ext cx="109728" cy="1874519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468880"/>
            <a:ext cx="731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A0783C"/>
                </a:solidFill>
                <a:latin typeface="Meiryo"/>
                <a:ea typeface="Meiryo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487168"/>
            <a:ext cx="4160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1A2744"/>
                </a:solidFill>
                <a:latin typeface="Meiryo"/>
                <a:ea typeface="Meiryo"/>
              </a:rPr>
              <a:t>工具選定（低振動）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3063240"/>
            <a:ext cx="4846320" cy="10058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>
                <a:solidFill>
                  <a:srgbClr val="334155"/>
                </a:solidFill>
                <a:latin typeface="Meiryo"/>
                <a:ea typeface="Meiryo"/>
              </a:rPr>
              <a:t>低振動工具の採用、防振機構付き製品の優先、メーカー公表の3軸合成値で比較選定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79" y="2286000"/>
            <a:ext cx="5349240" cy="1874519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26479" y="2286000"/>
            <a:ext cx="109728" cy="1874519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9088" y="2468880"/>
            <a:ext cx="731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A0783C"/>
                </a:solidFill>
                <a:latin typeface="Meiryo"/>
                <a:ea typeface="Meiryo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19" y="2487168"/>
            <a:ext cx="4160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1A2744"/>
                </a:solidFill>
                <a:latin typeface="Meiryo"/>
                <a:ea typeface="Meiryo"/>
              </a:rPr>
              <a:t>ばく露時間管理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3063240"/>
            <a:ext cx="4846320" cy="10058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>
                <a:solidFill>
                  <a:srgbClr val="334155"/>
                </a:solidFill>
                <a:latin typeface="Meiryo"/>
                <a:ea typeface="Meiryo"/>
              </a:rPr>
              <a:t>日振動ばく露量A(8)の算定、限界値5.0m/s²未満の維持、対策値2.5m/s²の運用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389120"/>
            <a:ext cx="5349240" cy="1874519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4389120"/>
            <a:ext cx="109728" cy="1874519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7" y="4572000"/>
            <a:ext cx="731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A0783C"/>
                </a:solidFill>
                <a:latin typeface="Meiryo"/>
                <a:ea typeface="Meiryo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4590288"/>
            <a:ext cx="4160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1A2744"/>
                </a:solidFill>
                <a:latin typeface="Meiryo"/>
                <a:ea typeface="Meiryo"/>
              </a:rPr>
              <a:t>防振手袋・保温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7" y="5166359"/>
            <a:ext cx="4846320" cy="10058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>
                <a:solidFill>
                  <a:srgbClr val="334155"/>
                </a:solidFill>
                <a:latin typeface="Meiryo"/>
                <a:ea typeface="Meiryo"/>
              </a:rPr>
              <a:t>防振手袋の支給と訓練、寒冷下作業の保温対策、湿潤回避と血行維持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79" y="4389120"/>
            <a:ext cx="5349240" cy="1874519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26479" y="4389120"/>
            <a:ext cx="109728" cy="1874519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19088" y="4572000"/>
            <a:ext cx="731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A0783C"/>
                </a:solidFill>
                <a:latin typeface="Meiryo"/>
                <a:ea typeface="Meiryo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19" y="4590288"/>
            <a:ext cx="4160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1A2744"/>
                </a:solidFill>
                <a:latin typeface="Meiryo"/>
                <a:ea typeface="Meiryo"/>
              </a:rPr>
              <a:t>健康管理・健診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5166359"/>
            <a:ext cx="4846320" cy="10058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>
                <a:solidFill>
                  <a:srgbClr val="334155"/>
                </a:solidFill>
                <a:latin typeface="Meiryo"/>
                <a:ea typeface="Meiryo"/>
              </a:rPr>
              <a:t>雇入時・特殊健診6月以内ごと、自覚症状の早期把握、産業医連携と就業判定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94A3B8"/>
                </a:solidFill>
                <a:latin typeface="Meiryo"/>
                <a:ea typeface="Meiryo"/>
              </a:rPr>
              <a:t>安全AIポータル編集部｜労働安全コンサルタント監修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>
                <a:solidFill>
                  <a:srgbClr val="94A3B8"/>
                </a:solidFill>
                <a:latin typeface="Meiryo"/>
                <a:ea typeface="Meiryo"/>
              </a:rPr>
              <a:t>04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A0783C"/>
                </a:solidFill>
                <a:latin typeface="Meiryo"/>
                <a:ea typeface="Meiryo"/>
              </a:rPr>
              <a:t>TOOL EXPOSURE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1109441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A2744"/>
                </a:solidFill>
                <a:latin typeface="Meiryo"/>
                <a:ea typeface="Meiryo"/>
              </a:rPr>
              <a:t>工具別ばく露管理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548640" cy="2800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828800"/>
            <a:ext cx="1996994" cy="50292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814114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Meiryo"/>
                <a:ea typeface="Meiryo"/>
              </a:rPr>
              <a:t>工具区分</a:t>
            </a:r>
          </a:p>
        </p:txBody>
      </p:sp>
      <p:sp>
        <p:nvSpPr>
          <p:cNvPr id="7" name="Rectangle 6"/>
          <p:cNvSpPr/>
          <p:nvPr/>
        </p:nvSpPr>
        <p:spPr>
          <a:xfrm>
            <a:off x="2545634" y="1828800"/>
            <a:ext cx="2662659" cy="50292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37074" y="1828800"/>
            <a:ext cx="247977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Meiryo"/>
                <a:ea typeface="Meiryo"/>
              </a:rPr>
              <a:t>代表加速度</a:t>
            </a:r>
          </a:p>
        </p:txBody>
      </p:sp>
      <p:sp>
        <p:nvSpPr>
          <p:cNvPr id="9" name="Rectangle 8"/>
          <p:cNvSpPr/>
          <p:nvPr/>
        </p:nvSpPr>
        <p:spPr>
          <a:xfrm>
            <a:off x="5208294" y="1828800"/>
            <a:ext cx="3106436" cy="50292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99734" y="1828800"/>
            <a:ext cx="2923556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Meiryo"/>
                <a:ea typeface="Meiryo"/>
              </a:rPr>
              <a:t>1日許容時間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314730" y="1828800"/>
            <a:ext cx="3328324" cy="50292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06170" y="1828800"/>
            <a:ext cx="3145444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Meiryo"/>
                <a:ea typeface="Meiryo"/>
              </a:rPr>
              <a:t>主な対策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331720"/>
            <a:ext cx="1996994" cy="6675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2331720"/>
            <a:ext cx="1777538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1A2744"/>
                </a:solidFill>
                <a:latin typeface="Meiryo"/>
                <a:ea typeface="Meiryo"/>
              </a:rPr>
              <a:t>チェーンソー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545634" y="2331720"/>
            <a:ext cx="2662659" cy="6675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55362" y="2331720"/>
            <a:ext cx="2443203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5〜8 m/s²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208294" y="2331720"/>
            <a:ext cx="3106436" cy="6675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18022" y="2331720"/>
            <a:ext cx="2886980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2時間以内（1連続10分以内）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314730" y="2331720"/>
            <a:ext cx="3328324" cy="6675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24458" y="2331720"/>
            <a:ext cx="3108868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低振動機種、刃の点検、休憩設計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2999232"/>
            <a:ext cx="1996994" cy="667512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2999232"/>
            <a:ext cx="1777538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1A2744"/>
                </a:solidFill>
                <a:latin typeface="Meiryo"/>
                <a:ea typeface="Meiryo"/>
              </a:rPr>
              <a:t>ピックハンマー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545634" y="2999232"/>
            <a:ext cx="2662659" cy="667512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655362" y="2999232"/>
            <a:ext cx="2443203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10〜25 m/s²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208294" y="2999232"/>
            <a:ext cx="3106436" cy="667512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18022" y="2999232"/>
            <a:ext cx="2886980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概ね30分〜1時間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314730" y="2999232"/>
            <a:ext cx="3328324" cy="667512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24458" y="2999232"/>
            <a:ext cx="3108868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防振ハンドル、保持力低減、交替制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3666744"/>
            <a:ext cx="1996994" cy="6675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" y="3666744"/>
            <a:ext cx="1777538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1A2744"/>
                </a:solidFill>
                <a:latin typeface="Meiryo"/>
                <a:ea typeface="Meiryo"/>
              </a:rPr>
              <a:t>削岩機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545634" y="3666744"/>
            <a:ext cx="2662659" cy="6675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655362" y="3666744"/>
            <a:ext cx="2443203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8〜20 m/s²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208294" y="3666744"/>
            <a:ext cx="3106436" cy="6675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318022" y="3666744"/>
            <a:ext cx="2886980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概ね1〜2時間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314730" y="3666744"/>
            <a:ext cx="3328324" cy="6675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24458" y="3666744"/>
            <a:ext cx="3108868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防振機構、姿勢保持、台座固定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4334256"/>
            <a:ext cx="1996994" cy="667512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8368" y="4334256"/>
            <a:ext cx="1777538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1A2744"/>
                </a:solidFill>
                <a:latin typeface="Meiryo"/>
                <a:ea typeface="Meiryo"/>
              </a:rPr>
              <a:t>サンダー・グラインダー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545634" y="4334256"/>
            <a:ext cx="2662659" cy="667512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655362" y="4334256"/>
            <a:ext cx="2443203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3〜8 m/s²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208294" y="4334256"/>
            <a:ext cx="3106436" cy="667512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318022" y="4334256"/>
            <a:ext cx="2886980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概ね2〜4時間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314730" y="4334256"/>
            <a:ext cx="3328324" cy="667512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424458" y="4334256"/>
            <a:ext cx="3108868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防振パッド、低速モード、定期点検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48640" y="5001768"/>
            <a:ext cx="1996994" cy="6675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58368" y="5001768"/>
            <a:ext cx="1777538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1A2744"/>
                </a:solidFill>
                <a:latin typeface="Meiryo"/>
                <a:ea typeface="Meiryo"/>
              </a:rPr>
              <a:t>インパクトレンチ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545634" y="5001768"/>
            <a:ext cx="2662659" cy="6675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655362" y="5001768"/>
            <a:ext cx="2443203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3〜10 m/s²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208294" y="5001768"/>
            <a:ext cx="3106436" cy="6675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318022" y="5001768"/>
            <a:ext cx="2886980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概ね2〜3時間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314730" y="5001768"/>
            <a:ext cx="3328324" cy="6675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424458" y="5001768"/>
            <a:ext cx="3108868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トルク管理、適正工具選定、休憩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48640" y="5760720"/>
            <a:ext cx="110944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4748B"/>
                </a:solidFill>
                <a:latin typeface="Meiryo"/>
                <a:ea typeface="Meiryo"/>
              </a:rPr>
              <a:t>出典：振動障害予防のための作業管理指針 ／ 基発0810第1号 ／ ISO 5349準拠の概算値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94A3B8"/>
                </a:solidFill>
                <a:latin typeface="Meiryo"/>
                <a:ea typeface="Meiryo"/>
              </a:rPr>
              <a:t>安全AIポータル編集部｜労働安全コンサルタント監修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>
                <a:solidFill>
                  <a:srgbClr val="94A3B8"/>
                </a:solidFill>
                <a:latin typeface="Meiryo"/>
                <a:ea typeface="Meiryo"/>
              </a:rPr>
              <a:t>05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A0783C"/>
                </a:solidFill>
                <a:latin typeface="Meiryo"/>
                <a:ea typeface="Meiryo"/>
              </a:rPr>
              <a:t>PREVENTION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1109441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A2744"/>
                </a:solidFill>
                <a:latin typeface="Meiryo"/>
                <a:ea typeface="Meiryo"/>
              </a:rPr>
              <a:t>振動障害予防 4STEP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548640" cy="2800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334155"/>
                </a:solidFill>
                <a:latin typeface="Meiryo"/>
                <a:ea typeface="Meiryo"/>
              </a:rPr>
              <a:t>工具・作業ごとに評価し、ばく露を限界値以下に抑える運用へ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468880"/>
            <a:ext cx="2327833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468880"/>
            <a:ext cx="2327833" cy="64008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468880"/>
            <a:ext cx="2327833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A0783C"/>
                </a:solidFill>
                <a:latin typeface="Meiryo"/>
                <a:ea typeface="Meiryo"/>
              </a:rPr>
              <a:t>STEP 1</a:t>
            </a:r>
          </a:p>
        </p:txBody>
      </p:sp>
      <p:sp>
        <p:nvSpPr>
          <p:cNvPr id="9" name="Oval 8"/>
          <p:cNvSpPr/>
          <p:nvPr/>
        </p:nvSpPr>
        <p:spPr>
          <a:xfrm>
            <a:off x="1301076" y="3337560"/>
            <a:ext cx="822960" cy="822960"/>
          </a:xfrm>
          <a:prstGeom prst="ellipse">
            <a:avLst/>
          </a:prstGeom>
          <a:solidFill>
            <a:srgbClr val="A07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3400" b="1">
                <a:solidFill>
                  <a:srgbClr val="FFFFFF"/>
                </a:solidFill>
                <a:latin typeface="Meiryo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343400"/>
            <a:ext cx="2053513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1A2744"/>
                </a:solidFill>
                <a:latin typeface="Meiryo"/>
                <a:ea typeface="Meiryo"/>
              </a:rPr>
              <a:t>工具評価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892040"/>
            <a:ext cx="1962073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000" b="0">
                <a:solidFill>
                  <a:srgbClr val="334155"/>
                </a:solidFill>
                <a:latin typeface="Meiryo"/>
                <a:ea typeface="Meiryo"/>
              </a:rPr>
              <a:t>メーカー値・実測の3軸合成値で工具を評価、低振動工具へ更新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967913" y="3886200"/>
            <a:ext cx="411480" cy="365760"/>
          </a:xfrm>
          <a:prstGeom prst="right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70833" y="2468880"/>
            <a:ext cx="2327833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70833" y="2468880"/>
            <a:ext cx="2327833" cy="64008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0833" y="2468880"/>
            <a:ext cx="2327833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A0783C"/>
                </a:solidFill>
                <a:latin typeface="Meiryo"/>
                <a:ea typeface="Meiryo"/>
              </a:rPr>
              <a:t>STEP 2</a:t>
            </a:r>
          </a:p>
        </p:txBody>
      </p:sp>
      <p:sp>
        <p:nvSpPr>
          <p:cNvPr id="16" name="Oval 15"/>
          <p:cNvSpPr/>
          <p:nvPr/>
        </p:nvSpPr>
        <p:spPr>
          <a:xfrm>
            <a:off x="4223270" y="3337560"/>
            <a:ext cx="822960" cy="822960"/>
          </a:xfrm>
          <a:prstGeom prst="ellipse">
            <a:avLst/>
          </a:prstGeom>
          <a:solidFill>
            <a:srgbClr val="A07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3400" b="1">
                <a:solidFill>
                  <a:srgbClr val="FFFFFF"/>
                </a:solidFill>
                <a:latin typeface="Meiryo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07993" y="4343400"/>
            <a:ext cx="2053513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1A2744"/>
                </a:solidFill>
                <a:latin typeface="Meiryo"/>
                <a:ea typeface="Meiryo"/>
              </a:rPr>
              <a:t>ばく露計算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3713" y="4892040"/>
            <a:ext cx="1962073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000" b="0">
                <a:solidFill>
                  <a:srgbClr val="334155"/>
                </a:solidFill>
                <a:latin typeface="Meiryo"/>
                <a:ea typeface="Meiryo"/>
              </a:rPr>
              <a:t>日振動ばく露量A(8)を算定、限界値5.0m/s²と対策値2.5m/s²で判定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5890107" y="3886200"/>
            <a:ext cx="411480" cy="365760"/>
          </a:xfrm>
          <a:prstGeom prst="right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93027" y="2468880"/>
            <a:ext cx="2327833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93027" y="2468880"/>
            <a:ext cx="2327833" cy="64008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93027" y="2468880"/>
            <a:ext cx="2327833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A0783C"/>
                </a:solidFill>
                <a:latin typeface="Meiryo"/>
                <a:ea typeface="Meiryo"/>
              </a:rPr>
              <a:t>STEP 3</a:t>
            </a:r>
          </a:p>
        </p:txBody>
      </p:sp>
      <p:sp>
        <p:nvSpPr>
          <p:cNvPr id="23" name="Oval 22"/>
          <p:cNvSpPr/>
          <p:nvPr/>
        </p:nvSpPr>
        <p:spPr>
          <a:xfrm>
            <a:off x="7145464" y="3337560"/>
            <a:ext cx="822960" cy="822960"/>
          </a:xfrm>
          <a:prstGeom prst="ellipse">
            <a:avLst/>
          </a:prstGeom>
          <a:solidFill>
            <a:srgbClr val="A07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3400" b="1">
                <a:solidFill>
                  <a:srgbClr val="FFFFFF"/>
                </a:solidFill>
                <a:latin typeface="Meiryo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0187" y="4343400"/>
            <a:ext cx="2053513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1A2744"/>
                </a:solidFill>
                <a:latin typeface="Meiryo"/>
                <a:ea typeface="Meiryo"/>
              </a:rPr>
              <a:t>時間管理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75907" y="4892040"/>
            <a:ext cx="1962073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000" b="0">
                <a:solidFill>
                  <a:srgbClr val="334155"/>
                </a:solidFill>
                <a:latin typeface="Meiryo"/>
                <a:ea typeface="Meiryo"/>
              </a:rPr>
              <a:t>1日の作業時間・1連続作業時間を制限し、作業日報で実績を確認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8812301" y="3886200"/>
            <a:ext cx="411480" cy="365760"/>
          </a:xfrm>
          <a:prstGeom prst="right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315221" y="2468880"/>
            <a:ext cx="2327833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315221" y="2468880"/>
            <a:ext cx="2327833" cy="64008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15221" y="2468880"/>
            <a:ext cx="2327833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A0783C"/>
                </a:solidFill>
                <a:latin typeface="Meiryo"/>
                <a:ea typeface="Meiryo"/>
              </a:rPr>
              <a:t>STEP 4</a:t>
            </a:r>
          </a:p>
        </p:txBody>
      </p:sp>
      <p:sp>
        <p:nvSpPr>
          <p:cNvPr id="30" name="Oval 29"/>
          <p:cNvSpPr/>
          <p:nvPr/>
        </p:nvSpPr>
        <p:spPr>
          <a:xfrm>
            <a:off x="10067658" y="3337560"/>
            <a:ext cx="822960" cy="822960"/>
          </a:xfrm>
          <a:prstGeom prst="ellipse">
            <a:avLst/>
          </a:prstGeom>
          <a:solidFill>
            <a:srgbClr val="A07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3400" b="1">
                <a:solidFill>
                  <a:srgbClr val="FFFFFF"/>
                </a:solidFill>
                <a:latin typeface="Meiryo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52381" y="4343400"/>
            <a:ext cx="2053513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1A2744"/>
                </a:solidFill>
                <a:latin typeface="Meiryo"/>
                <a:ea typeface="Meiryo"/>
              </a:rPr>
              <a:t>健康診断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98101" y="4892040"/>
            <a:ext cx="1962073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000" b="0">
                <a:solidFill>
                  <a:srgbClr val="334155"/>
                </a:solidFill>
                <a:latin typeface="Meiryo"/>
                <a:ea typeface="Meiryo"/>
              </a:rPr>
              <a:t>特殊健診6月以内ごと、所見者は産業医判断で配置転換・就業制限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94A3B8"/>
                </a:solidFill>
                <a:latin typeface="Meiryo"/>
                <a:ea typeface="Meiryo"/>
              </a:rPr>
              <a:t>安全AIポータル編集部｜労働安全コンサルタント監修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>
                <a:solidFill>
                  <a:srgbClr val="94A3B8"/>
                </a:solidFill>
                <a:latin typeface="Meiryo"/>
                <a:ea typeface="Meiryo"/>
              </a:rPr>
              <a:t>06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A0783C"/>
                </a:solidFill>
                <a:latin typeface="Meiryo"/>
                <a:ea typeface="Meiryo"/>
              </a:rPr>
              <a:t>TOOL &amp; CIRCULATION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1109441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A2744"/>
                </a:solidFill>
                <a:latin typeface="Meiryo"/>
                <a:ea typeface="Meiryo"/>
              </a:rPr>
              <a:t>工具選定と保温・血行管理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548640" cy="2800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783080"/>
            <a:ext cx="5440680" cy="416052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783080"/>
            <a:ext cx="5440680" cy="64008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828800"/>
            <a:ext cx="48920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C9A86E"/>
                </a:solidFill>
                <a:latin typeface="Meiryo"/>
                <a:ea typeface="Meiryo"/>
              </a:rPr>
              <a:t>TOOL SELECTION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039112"/>
            <a:ext cx="4892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Meiryo"/>
                <a:ea typeface="Meiryo"/>
              </a:rPr>
              <a:t>振動工具選定 4ポイント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651760"/>
            <a:ext cx="365760" cy="36576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651760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Meiryo"/>
                <a:ea typeface="Meiryo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606039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A2744"/>
                </a:solidFill>
                <a:latin typeface="Meiryo"/>
                <a:ea typeface="Meiryo"/>
              </a:rPr>
              <a:t>低振動工具の採用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017520"/>
            <a:ext cx="4526280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334155"/>
                </a:solidFill>
                <a:latin typeface="Meiryo"/>
                <a:ea typeface="Meiryo"/>
              </a:rPr>
              <a:t>同等性能で振動加速度の小さい機種を優先選定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3474720"/>
            <a:ext cx="365760" cy="36576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474720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Meiryo"/>
                <a:ea typeface="Meiry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3428999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A2744"/>
                </a:solidFill>
                <a:latin typeface="Meiryo"/>
                <a:ea typeface="Meiryo"/>
              </a:rPr>
              <a:t>防振機構付き製品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840479"/>
            <a:ext cx="4526280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334155"/>
                </a:solidFill>
                <a:latin typeface="Meiryo"/>
                <a:ea typeface="Meiryo"/>
              </a:rPr>
              <a:t>防振ハンドル・防振マウント・カウンターウェイト搭載品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297679"/>
            <a:ext cx="365760" cy="36576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297679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Meiryo"/>
                <a:ea typeface="Meiryo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4251959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A2744"/>
                </a:solidFill>
                <a:latin typeface="Meiryo"/>
                <a:ea typeface="Meiryo"/>
              </a:rPr>
              <a:t>メーカー公表値で比較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4663440"/>
            <a:ext cx="4526280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334155"/>
                </a:solidFill>
                <a:latin typeface="Meiryo"/>
                <a:ea typeface="Meiryo"/>
              </a:rPr>
              <a:t>3軸合成値（m/s²）をカタログで確認し購入仕様に明記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5120640"/>
            <a:ext cx="365760" cy="36576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5120640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Meiryo"/>
                <a:ea typeface="Meiryo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5074920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A2744"/>
                </a:solidFill>
                <a:latin typeface="Meiryo"/>
                <a:ea typeface="Meiryo"/>
              </a:rPr>
              <a:t>定期点検と整備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5486400"/>
            <a:ext cx="4526280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334155"/>
                </a:solidFill>
                <a:latin typeface="Meiryo"/>
                <a:ea typeface="Meiryo"/>
              </a:rPr>
              <a:t>刃・ベアリング・防振ゴムの摩耗で振動増加。点検記録を残す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1783080"/>
            <a:ext cx="5440680" cy="416052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17920" y="1783080"/>
            <a:ext cx="5440680" cy="64008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1828800"/>
            <a:ext cx="48920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C9A86E"/>
                </a:solidFill>
                <a:latin typeface="Meiryo"/>
                <a:ea typeface="Meiryo"/>
              </a:rPr>
              <a:t>WARMTH &amp; CIRCULATION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2039112"/>
            <a:ext cx="4892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Meiryo"/>
                <a:ea typeface="Meiryo"/>
              </a:rPr>
              <a:t>保温・血行管理 4ポイント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46520" y="2651760"/>
            <a:ext cx="365760" cy="36576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46520" y="2651760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Meiryo"/>
                <a:ea typeface="Meiryo"/>
              </a:rPr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0" y="2606039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A2744"/>
                </a:solidFill>
                <a:latin typeface="Meiryo"/>
                <a:ea typeface="Meiryo"/>
              </a:rPr>
              <a:t>防振手袋の着用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49440" y="3017520"/>
            <a:ext cx="4526280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334155"/>
                </a:solidFill>
                <a:latin typeface="Meiryo"/>
                <a:ea typeface="Meiryo"/>
              </a:rPr>
              <a:t>用途に応じた手袋を支給し、装着方法を訓練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46520" y="3474720"/>
            <a:ext cx="365760" cy="36576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46520" y="3474720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Meiryo"/>
                <a:ea typeface="Meiryo"/>
              </a:rPr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49440" y="3428999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A2744"/>
                </a:solidFill>
                <a:latin typeface="Meiryo"/>
                <a:ea typeface="Meiryo"/>
              </a:rPr>
              <a:t>保温と防寒対策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49440" y="3840479"/>
            <a:ext cx="4526280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334155"/>
                </a:solidFill>
                <a:latin typeface="Meiryo"/>
                <a:ea typeface="Meiryo"/>
              </a:rPr>
              <a:t>末梢循環を維持。寒冷下では休憩室での復温時間を確保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46520" y="4297679"/>
            <a:ext cx="365760" cy="36576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46520" y="4297679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Meiryo"/>
                <a:ea typeface="Meiryo"/>
              </a:rP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49440" y="4251959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A2744"/>
                </a:solidFill>
                <a:latin typeface="Meiryo"/>
                <a:ea typeface="Meiryo"/>
              </a:rPr>
              <a:t>こまめな休憩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49440" y="4663440"/>
            <a:ext cx="4526280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334155"/>
                </a:solidFill>
                <a:latin typeface="Meiryo"/>
                <a:ea typeface="Meiryo"/>
              </a:rPr>
              <a:t>1連続作業10〜30分ごとに小休止、手指のリラックス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46520" y="5120640"/>
            <a:ext cx="365760" cy="36576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46520" y="5120640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Meiryo"/>
                <a:ea typeface="Meiryo"/>
              </a:rPr>
              <a:t>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49440" y="5074920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A2744"/>
                </a:solidFill>
                <a:latin typeface="Meiryo"/>
                <a:ea typeface="Meiryo"/>
              </a:rPr>
              <a:t>禁煙・健康習慣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49440" y="5486400"/>
            <a:ext cx="4526280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334155"/>
                </a:solidFill>
                <a:latin typeface="Meiryo"/>
                <a:ea typeface="Meiryo"/>
              </a:rPr>
              <a:t>喫煙は末梢循環を悪化させる。禁煙指導と運動・栄養指導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94A3B8"/>
                </a:solidFill>
                <a:latin typeface="Meiryo"/>
                <a:ea typeface="Meiryo"/>
              </a:rPr>
              <a:t>安全AIポータル編集部｜労働安全コンサルタント監修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>
                <a:solidFill>
                  <a:srgbClr val="94A3B8"/>
                </a:solidFill>
                <a:latin typeface="Meiryo"/>
                <a:ea typeface="Meiryo"/>
              </a:rPr>
              <a:t>07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A0783C"/>
                </a:solidFill>
                <a:latin typeface="Meiryo"/>
                <a:ea typeface="Meiryo"/>
              </a:rPr>
              <a:t>HEALTH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1109441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A2744"/>
                </a:solidFill>
                <a:latin typeface="Meiryo"/>
                <a:ea typeface="Meiryo"/>
              </a:rPr>
              <a:t>健康管理 5ステップ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548640" cy="2800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334155"/>
                </a:solidFill>
                <a:latin typeface="Meiryo"/>
                <a:ea typeface="Meiryo"/>
              </a:rPr>
              <a:t>雇入時から退職後まで一貫した健康管理で振動障害を早期発見・予防する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377440"/>
            <a:ext cx="2087209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377440"/>
            <a:ext cx="2087209" cy="146304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743200"/>
            <a:ext cx="2087209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6400" b="1">
                <a:solidFill>
                  <a:srgbClr val="1A2744"/>
                </a:solidFill>
                <a:latin typeface="Meiryo"/>
                <a:ea typeface="Meiryo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069080"/>
            <a:ext cx="181288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>
                <a:solidFill>
                  <a:srgbClr val="1A2744"/>
                </a:solidFill>
                <a:latin typeface="Meiryo"/>
                <a:ea typeface="Meiryo"/>
              </a:rPr>
              <a:t>雇入時健診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4754880"/>
            <a:ext cx="1758025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000" b="0">
                <a:solidFill>
                  <a:srgbClr val="334155"/>
                </a:solidFill>
                <a:latin typeface="Meiryo"/>
                <a:ea typeface="Meiryo"/>
              </a:rPr>
              <a:t>配置前にレイノー現象・神経症状・既往歴を確認し就業可否を判断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00441" y="2377440"/>
            <a:ext cx="2087209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800441" y="2377440"/>
            <a:ext cx="2087209" cy="146304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00441" y="2743200"/>
            <a:ext cx="2087209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6400" b="1">
                <a:solidFill>
                  <a:srgbClr val="1A2744"/>
                </a:solidFill>
                <a:latin typeface="Meiryo"/>
                <a:ea typeface="Meiryo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37601" y="4069080"/>
            <a:ext cx="181288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>
                <a:solidFill>
                  <a:srgbClr val="1A2744"/>
                </a:solidFill>
                <a:latin typeface="Meiryo"/>
                <a:ea typeface="Meiryo"/>
              </a:rPr>
              <a:t>特殊健診（6月以内ごと）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65033" y="4754880"/>
            <a:ext cx="1758025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000" b="0">
                <a:solidFill>
                  <a:srgbClr val="334155"/>
                </a:solidFill>
                <a:latin typeface="Meiryo"/>
                <a:ea typeface="Meiryo"/>
              </a:rPr>
              <a:t>振動工具取扱業務従事者は法定特殊健診を年2回実施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52242" y="2377440"/>
            <a:ext cx="2087209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52242" y="2377440"/>
            <a:ext cx="2087209" cy="146304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52242" y="2743200"/>
            <a:ext cx="2087209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6400" b="1">
                <a:solidFill>
                  <a:srgbClr val="1A2744"/>
                </a:solidFill>
                <a:latin typeface="Meiryo"/>
                <a:ea typeface="Meiryo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89402" y="4069080"/>
            <a:ext cx="181288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>
                <a:solidFill>
                  <a:srgbClr val="1A2744"/>
                </a:solidFill>
                <a:latin typeface="Meiryo"/>
                <a:ea typeface="Meiryo"/>
              </a:rPr>
              <a:t>自覚症状の把握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6834" y="4754880"/>
            <a:ext cx="1758025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000" b="0">
                <a:solidFill>
                  <a:srgbClr val="334155"/>
                </a:solidFill>
                <a:latin typeface="Meiryo"/>
                <a:ea typeface="Meiryo"/>
              </a:rPr>
              <a:t>手指のしびれ・冷感・白色化・痛みの早期申告体制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04044" y="2377440"/>
            <a:ext cx="2087209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04044" y="2377440"/>
            <a:ext cx="2087209" cy="146304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04044" y="2743200"/>
            <a:ext cx="2087209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6400" b="1">
                <a:solidFill>
                  <a:srgbClr val="1A2744"/>
                </a:solidFill>
                <a:latin typeface="Meiryo"/>
                <a:ea typeface="Meiryo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41204" y="4069080"/>
            <a:ext cx="181288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>
                <a:solidFill>
                  <a:srgbClr val="1A2744"/>
                </a:solidFill>
                <a:latin typeface="Meiryo"/>
                <a:ea typeface="Meiryo"/>
              </a:rPr>
              <a:t>産業医連携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68636" y="4754880"/>
            <a:ext cx="1758025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000" b="0">
                <a:solidFill>
                  <a:srgbClr val="334155"/>
                </a:solidFill>
                <a:latin typeface="Meiryo"/>
                <a:ea typeface="Meiryo"/>
              </a:rPr>
              <a:t>所見者は産業医が判定、配置転換・就業制限・要医療を決定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555845" y="2377440"/>
            <a:ext cx="2087209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555845" y="2377440"/>
            <a:ext cx="2087209" cy="146304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55845" y="2743200"/>
            <a:ext cx="2087209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6400" b="1">
                <a:solidFill>
                  <a:srgbClr val="1A2744"/>
                </a:solidFill>
                <a:latin typeface="Meiryo"/>
                <a:ea typeface="Meiryo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93005" y="4069080"/>
            <a:ext cx="181288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>
                <a:solidFill>
                  <a:srgbClr val="1A2744"/>
                </a:solidFill>
                <a:latin typeface="Meiryo"/>
                <a:ea typeface="Meiryo"/>
              </a:rPr>
              <a:t>記録の保存（5年）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20437" y="4754880"/>
            <a:ext cx="1758025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000" b="0">
                <a:solidFill>
                  <a:srgbClr val="334155"/>
                </a:solidFill>
                <a:latin typeface="Meiryo"/>
                <a:ea typeface="Meiryo"/>
              </a:rPr>
              <a:t>健診結果・ばく露記録・教育記録を5年以上保存し追跡可能化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94A3B8"/>
                </a:solidFill>
                <a:latin typeface="Meiryo"/>
                <a:ea typeface="Meiryo"/>
              </a:rPr>
              <a:t>安全AIポータル編集部｜労働安全コンサルタント監修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>
                <a:solidFill>
                  <a:srgbClr val="94A3B8"/>
                </a:solidFill>
                <a:latin typeface="Meiryo"/>
                <a:ea typeface="Meiryo"/>
              </a:rPr>
              <a:t>08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A0783C"/>
                </a:solidFill>
                <a:latin typeface="Meiryo"/>
                <a:ea typeface="Meiryo"/>
              </a:rPr>
              <a:t>EMPLOYER'S DUTIES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1109441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A2744"/>
                </a:solidFill>
                <a:latin typeface="Meiryo"/>
                <a:ea typeface="Meiryo"/>
              </a:rPr>
              <a:t>事業者の責務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548640" cy="2800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334155"/>
                </a:solidFill>
                <a:latin typeface="Meiryo"/>
                <a:ea typeface="Meiryo"/>
              </a:rPr>
              <a:t>安衛法第59条・第66条および振動障害予防のための作業管理指針に基づく取組み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286000"/>
            <a:ext cx="534924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59" y="2560320"/>
            <a:ext cx="777240" cy="50292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2560320"/>
            <a:ext cx="7772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FFFFFF"/>
                </a:solidFill>
                <a:latin typeface="Meiryo"/>
                <a:ea typeface="Meiryo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2578608"/>
            <a:ext cx="39776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1A2744"/>
                </a:solidFill>
                <a:latin typeface="Meiryo"/>
                <a:ea typeface="Meiryo"/>
              </a:rPr>
              <a:t>ばく露時間の管理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154680"/>
            <a:ext cx="4892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>
                <a:solidFill>
                  <a:srgbClr val="334155"/>
                </a:solidFill>
                <a:latin typeface="Meiryo"/>
                <a:ea typeface="Meiryo"/>
              </a:rPr>
              <a:t>チェーンソーは2時間/日上限。日報で作業時間を実測・記録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79" y="2286000"/>
            <a:ext cx="534924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799" y="2560320"/>
            <a:ext cx="777240" cy="50292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799" y="2560320"/>
            <a:ext cx="7772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FFFFFF"/>
                </a:solidFill>
                <a:latin typeface="Meiryo"/>
                <a:ea typeface="Meiryo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199" y="2578608"/>
            <a:ext cx="39776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1A2744"/>
                </a:solidFill>
                <a:latin typeface="Meiryo"/>
                <a:ea typeface="Meiryo"/>
              </a:rPr>
              <a:t>特殊健診の実施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799" y="3154680"/>
            <a:ext cx="4892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>
                <a:solidFill>
                  <a:srgbClr val="334155"/>
                </a:solidFill>
                <a:latin typeface="Meiryo"/>
                <a:ea typeface="Meiryo"/>
              </a:rPr>
              <a:t>振動業務従事者に6月以内ごとの特殊健診を実施し、結果を保存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343400"/>
            <a:ext cx="534924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59" y="4617720"/>
            <a:ext cx="777240" cy="50292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59" y="4617720"/>
            <a:ext cx="7772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FFFFFF"/>
                </a:solidFill>
                <a:latin typeface="Meiryo"/>
                <a:ea typeface="Meiryo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4636008"/>
            <a:ext cx="39776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1A2744"/>
                </a:solidFill>
                <a:latin typeface="Meiryo"/>
                <a:ea typeface="Meiryo"/>
              </a:rPr>
              <a:t>教育の計画的実施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59" y="5212080"/>
            <a:ext cx="4892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>
                <a:solidFill>
                  <a:srgbClr val="334155"/>
                </a:solidFill>
                <a:latin typeface="Meiryo"/>
                <a:ea typeface="Meiryo"/>
              </a:rPr>
              <a:t>雇入時・配置替時に振動・健康影響・対策の教育、年1回再教育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79" y="4343400"/>
            <a:ext cx="534924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799" y="4617720"/>
            <a:ext cx="777240" cy="50292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799" y="4617720"/>
            <a:ext cx="7772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FFFFFF"/>
                </a:solidFill>
                <a:latin typeface="Meiryo"/>
                <a:ea typeface="Meiryo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199" y="4636008"/>
            <a:ext cx="39776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1A2744"/>
                </a:solidFill>
                <a:latin typeface="Meiryo"/>
                <a:ea typeface="Meiryo"/>
              </a:rPr>
              <a:t>記録の保存（5年）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799" y="5212080"/>
            <a:ext cx="4892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>
                <a:solidFill>
                  <a:srgbClr val="334155"/>
                </a:solidFill>
                <a:latin typeface="Meiryo"/>
                <a:ea typeface="Meiryo"/>
              </a:rPr>
              <a:t>教育・健診・ばく露記録を5年以上保存、是正履歴を残す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94A3B8"/>
                </a:solidFill>
                <a:latin typeface="Meiryo"/>
                <a:ea typeface="Meiryo"/>
              </a:rPr>
              <a:t>安全AIポータル編集部｜労働安全コンサルタント監修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>
                <a:solidFill>
                  <a:srgbClr val="94A3B8"/>
                </a:solidFill>
                <a:latin typeface="Meiryo"/>
                <a:ea typeface="Meiryo"/>
              </a:rPr>
              <a:t>09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A0783C"/>
                </a:solidFill>
                <a:latin typeface="Meiryo"/>
                <a:ea typeface="Meiryo"/>
              </a:rPr>
              <a:t>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FFFFFF"/>
                </a:solidFill>
                <a:latin typeface="Meiryo"/>
                <a:ea typeface="Meiryo"/>
              </a:rPr>
              <a:t>本日のまとめ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548640" cy="2800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5440680" cy="1783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109728" cy="178308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856232"/>
            <a:ext cx="6400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A0783C"/>
                </a:solidFill>
                <a:latin typeface="Meiryo"/>
                <a:ea typeface="Meiryo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874520"/>
            <a:ext cx="4297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1A2744"/>
                </a:solidFill>
                <a:latin typeface="Meiryo"/>
                <a:ea typeface="Meiryo"/>
              </a:rPr>
              <a:t>振動障害は累積ばく露で発症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468880"/>
            <a:ext cx="49834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限界値5.0m/s²・対策値2.5m/s²の運用が要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90488" y="1691640"/>
            <a:ext cx="5440680" cy="1783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90488" y="1691640"/>
            <a:ext cx="109728" cy="178308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83096" y="1856232"/>
            <a:ext cx="6400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A0783C"/>
                </a:solidFill>
                <a:latin typeface="Meiryo"/>
                <a:ea typeface="Meiryo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50607" y="1874520"/>
            <a:ext cx="4297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1A2744"/>
                </a:solidFill>
                <a:latin typeface="Meiryo"/>
                <a:ea typeface="Meiryo"/>
              </a:rPr>
              <a:t>工具選定と時間管理が両輪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83096" y="2468880"/>
            <a:ext cx="49834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低振動工具へ更新し、日振動ばく露量A(8)を管理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675887"/>
            <a:ext cx="5440680" cy="1783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3675887"/>
            <a:ext cx="109728" cy="178308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7" y="3840479"/>
            <a:ext cx="6400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A0783C"/>
                </a:solidFill>
                <a:latin typeface="Meiryo"/>
                <a:ea typeface="Meiryo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3858768"/>
            <a:ext cx="4297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1A2744"/>
                </a:solidFill>
                <a:latin typeface="Meiryo"/>
                <a:ea typeface="Meiryo"/>
              </a:rPr>
              <a:t>保温と血行が末梢を守る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7" y="4453127"/>
            <a:ext cx="49834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防振手袋・保温・禁煙で循環悪化を防ぐ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90488" y="3675887"/>
            <a:ext cx="5440680" cy="1783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90488" y="3675887"/>
            <a:ext cx="109728" cy="178308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83096" y="3840479"/>
            <a:ext cx="6400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A0783C"/>
                </a:solidFill>
                <a:latin typeface="Meiryo"/>
                <a:ea typeface="Meiryo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50607" y="3858768"/>
            <a:ext cx="4297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1A2744"/>
                </a:solidFill>
                <a:latin typeface="Meiryo"/>
                <a:ea typeface="Meiryo"/>
              </a:rPr>
              <a:t>健診と記録で早期発見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83096" y="4453127"/>
            <a:ext cx="49834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特殊健診6月以内ごと、記録5年保存で追跡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532120"/>
            <a:ext cx="11094415" cy="1500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5669280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A0783C"/>
                </a:solidFill>
                <a:latin typeface="Meiryo"/>
                <a:ea typeface="Meiryo"/>
              </a:rPr>
              <a:t>お問い合わせ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98932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Meiryo"/>
                <a:ea typeface="Meiryo"/>
              </a:rPr>
              <a:t>anzen-ai-portal.jp/contact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355080"/>
            <a:ext cx="110944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94A3B8"/>
                </a:solidFill>
                <a:latin typeface="Meiryo"/>
                <a:ea typeface="Meiryo"/>
              </a:rPr>
              <a:t>安全AIポータル編集部｜労働安全コンサルタント監修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安全AIポータル 教育資料 - 振動障害予防 労働衛生教育</dc:title>
  <dc:subject>労働安全衛生教育資料</dc:subject>
  <dc:creator>安全AIポータル編集部</dc:creator>
  <cp:keywords>安全AIポータル; 労働安全; 労働衛生教育</cp:keywords>
  <dc:description>安全AIポータル編集部制作｜労働安全コンサルタント監修</dc:description>
  <cp:lastModifiedBy>安全AIポータル編集部</cp:lastModifiedBy>
  <cp:revision>1</cp:revision>
  <dcterms:created xsi:type="dcterms:W3CDTF">2013-01-27T09:14:16Z</dcterms:created>
  <dcterms:modified xsi:type="dcterms:W3CDTF">2013-01-27T09:15:58Z</dcterms:modified>
  <cp:category/>
</cp:coreProperties>
</file>