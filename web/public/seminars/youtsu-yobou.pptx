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A86E"/>
                </a:solidFill>
                <a:latin typeface="Meiryo"/>
                <a:ea typeface="Meiryo"/>
              </a:rPr>
              <a:t>労働衛生教育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LOW BACK PAIN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Meiryo"/>
                <a:ea typeface="Meiryo"/>
              </a:rPr>
              <a:t>腰痛予防 労働衛生教育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CBD5E1"/>
                </a:solidFill>
                <a:latin typeface="Meiryo"/>
                <a:ea typeface="Meiryo"/>
              </a:rPr>
              <a:t>実務対応コース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46320"/>
            <a:ext cx="1828800" cy="15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983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BD5E1"/>
                </a:solidFill>
                <a:latin typeface="Meiryo"/>
                <a:ea typeface="Meiryo"/>
              </a:rPr>
              <a:t>基発0618第1号準拠 ／ 約2時間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008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A0783C"/>
                </a:solidFill>
                <a:latin typeface="Meiryo"/>
                <a:ea typeface="Meiryo"/>
              </a:rPr>
              <a:t>安全AIポータル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本日のアジェンダ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2011680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19" y="1984248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なぜ今、腰痛予防か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2496312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業務上疾病の中で腰痛が占める比率と社会的影響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17830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947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599" y="2011680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1984248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腰痛予防対策指針の4要素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2496312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作業管理・作業環境管理・健康管理・労働衛生教育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19272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8386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3547872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3520440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作業別リスクプロファイル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4032504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建設・製造・福祉医療・運輸・事務VDTの傾向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3319272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348386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599" y="3547872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3520440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リスクアセスメント 4STEP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4032504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危険源特定→見積り→対策→実施・記録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55464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200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5084064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19" y="5056631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作業姿勢・動作の原則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19" y="5568696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重量物取扱いとVDT作業の具体ポイント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79" y="4855464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50200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599" y="5084064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59" y="5056631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体操と管理者の責務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59" y="5568696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5分ルーチンと法定責任の整理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なぜ今、腰痛予防か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029200" cy="4206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297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FFFFFF"/>
                </a:solidFill>
                <a:latin typeface="Meiryo"/>
                <a:ea typeface="Meiryo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200400"/>
            <a:ext cx="1371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>
                <a:solidFill>
                  <a:srgbClr val="A0783C"/>
                </a:solidFill>
                <a:latin typeface="Meiryo"/>
                <a:ea typeface="Meiryo"/>
              </a:rPr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CBD5E1"/>
                </a:solidFill>
                <a:latin typeface="Meiryo"/>
                <a:ea typeface="Meiryo"/>
              </a:rPr>
              <a:t>業務上疾病に占める腰痛の比率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Meiryo"/>
                <a:ea typeface="Meiryo"/>
              </a:rPr>
              <a:t>出典：厚生労働省「業務上疾病発生状況等調査」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830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業種別 腰痛発生率の傾向（相対値）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048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陸上貨物運送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28600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286000"/>
            <a:ext cx="3749039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67160" y="24048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1.00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5638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保健衛生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93751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937510"/>
            <a:ext cx="2924251" cy="4572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42371" y="305638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70789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社会福祉施設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58902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589020"/>
            <a:ext cx="2286914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5034" y="370789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35940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建設業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4240529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4240529"/>
            <a:ext cx="1649577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7697" y="435940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0109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製造業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89204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4892040"/>
            <a:ext cx="1087221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05341" y="50109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623559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64748B"/>
                </a:solidFill>
                <a:latin typeface="Meiryo"/>
                <a:ea typeface="Meiryo"/>
              </a:rPr>
              <a:t>※陸上貨物運送業の発生率を1.00として正規化した業種別傾向の概算。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FOUR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腰痛予防対策指針の4要素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平成25年改訂「職場における腰痛予防対策指針」が定める使用者の取組み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6888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871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作業管理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063240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自動化・省力化、作業姿勢・動作、作業の実施体制、作業標準、休憩・作業量・作業時間、靴・服装・手袋、補助器具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28600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9" y="228600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46888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19" y="24871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作業環境管理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063240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温度（寒冷を避ける）、照明（不適切な姿勢を防ぐ）、作業床面（凹凸・段差・滑り防止）、作業空間・設備の配置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57200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9028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健康管理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5166359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作業者の健康診断、腰痛予防体操の実施、職場における対応（早期受診の勧奨）、心理・社会的要因への配慮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38912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79" y="438912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57200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19" y="459028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労働衛生教育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166359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雇入れ時・配置替え時の教育、作業従事者への定期的な教育、管理監督者への教育、補助具の正しい使い方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RISK PROFILE BY INDUSTRY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作業別リスクプロファイル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996994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81411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業種</a:t>
            </a:r>
          </a:p>
        </p:txBody>
      </p:sp>
      <p:sp>
        <p:nvSpPr>
          <p:cNvPr id="7" name="Rectangle 6"/>
          <p:cNvSpPr/>
          <p:nvPr/>
        </p:nvSpPr>
        <p:spPr>
          <a:xfrm>
            <a:off x="2545634" y="1828800"/>
            <a:ext cx="2662659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7074" y="1828800"/>
            <a:ext cx="24797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主な負荷</a:t>
            </a:r>
          </a:p>
        </p:txBody>
      </p:sp>
      <p:sp>
        <p:nvSpPr>
          <p:cNvPr id="9" name="Rectangle 8"/>
          <p:cNvSpPr/>
          <p:nvPr/>
        </p:nvSpPr>
        <p:spPr>
          <a:xfrm>
            <a:off x="5208294" y="1828800"/>
            <a:ext cx="3106436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99734" y="1828800"/>
            <a:ext cx="292355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代表動作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14730" y="1828800"/>
            <a:ext cx="3328324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6170" y="1828800"/>
            <a:ext cx="314544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重点対策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31720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建設業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45634" y="2331720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5362" y="2331720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重量物・不整地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08294" y="2331720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8022" y="2331720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持上げ・運搬・中腰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14730" y="2331720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4458" y="2331720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補助具・分解搬送・休憩設計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99232"/>
            <a:ext cx="199699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999232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製造業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45634" y="2999232"/>
            <a:ext cx="2662659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5362" y="2999232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反復・立位・ひねり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08294" y="2999232"/>
            <a:ext cx="3106436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18022" y="2999232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組立・搬送・台上作業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14730" y="2999232"/>
            <a:ext cx="332832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24458" y="2999232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作業台高さ・自動化・配置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66744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666744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福祉・医療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45634" y="3666744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5362" y="3666744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対人介助・移乗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08294" y="3666744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18022" y="3666744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抱上げ・前傾・ひねり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14730" y="3666744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4458" y="3666744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リフト・スライディング・2人介助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334256"/>
            <a:ext cx="199699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334256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陸上運輸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45634" y="4334256"/>
            <a:ext cx="2662659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55362" y="4334256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長時間座位・荷扱い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08294" y="4334256"/>
            <a:ext cx="3106436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18022" y="4334256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運転・積込・荷降し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14730" y="4334256"/>
            <a:ext cx="332832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24458" y="4334256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シート姿勢・パレット化・分割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001768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001768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事務VDT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45634" y="5001768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5362" y="5001768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静的姿勢・前傾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08294" y="5001768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18022" y="5001768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PC作業・電話・書類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14730" y="5001768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24458" y="5001768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椅子・モニター高・小休止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Meiryo"/>
                <a:ea typeface="Meiryo"/>
              </a:rPr>
              <a:t>出典：基発0618第1号 別紙 各業種別ガイドラインより要約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RISK ASSESSMENT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腰痛のリスクアセスメント 4STEP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安衛則第577条の2の趣旨に沿い、現場で実行可能な手順に落とし込む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1</a:t>
            </a:r>
          </a:p>
        </p:txBody>
      </p:sp>
      <p:sp>
        <p:nvSpPr>
          <p:cNvPr id="9" name="Oval 8"/>
          <p:cNvSpPr/>
          <p:nvPr/>
        </p:nvSpPr>
        <p:spPr>
          <a:xfrm>
            <a:off x="1301076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危険源の特定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重量・姿勢・反復・環境を作業ごとに洗い出し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67913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0833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0833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0833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2</a:t>
            </a:r>
          </a:p>
        </p:txBody>
      </p:sp>
      <p:sp>
        <p:nvSpPr>
          <p:cNvPr id="16" name="Oval 15"/>
          <p:cNvSpPr/>
          <p:nvPr/>
        </p:nvSpPr>
        <p:spPr>
          <a:xfrm>
            <a:off x="4223270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7993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リスクの見積り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3713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重篤度×頻度×可能性で優先度を点数化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90107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93027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93027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3027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3</a:t>
            </a:r>
          </a:p>
        </p:txBody>
      </p:sp>
      <p:sp>
        <p:nvSpPr>
          <p:cNvPr id="23" name="Oval 22"/>
          <p:cNvSpPr/>
          <p:nvPr/>
        </p:nvSpPr>
        <p:spPr>
          <a:xfrm>
            <a:off x="7145464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0187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対策の検討・選定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5907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排除→代替→工学→管理→保護で選定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12301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15221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15221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5221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4</a:t>
            </a:r>
          </a:p>
        </p:txBody>
      </p:sp>
      <p:sp>
        <p:nvSpPr>
          <p:cNvPr id="30" name="Oval 29"/>
          <p:cNvSpPr/>
          <p:nvPr/>
        </p:nvSpPr>
        <p:spPr>
          <a:xfrm>
            <a:off x="10067658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2381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実施・記録・見直し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8101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記録3年保存、定期見直しと再評価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POSTURE &amp; 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作業姿勢・動作の原則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4068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4068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9A86E"/>
                </a:solidFill>
                <a:latin typeface="Meiryo"/>
                <a:ea typeface="Meiryo"/>
              </a:rPr>
              <a:t>HEAVY LIFTING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39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重量物取扱い 4ポイント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06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持上げ前に足幅を肩幅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1752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体に荷を密着させて重心を近づける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2899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膝を曲げて腰を落とす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40479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背中はまっすぐ。腰だけで持ち上げない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97679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97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5195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ひねり動作を避ける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体の正面で扱い、向きは足から変える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074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単独取扱い重量の上限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48640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男性は体重の約40％以下、女性は約24％以下を目安（指針）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783080"/>
            <a:ext cx="544068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783080"/>
            <a:ext cx="544068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82880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9A86E"/>
                </a:solidFill>
                <a:latin typeface="Meiryo"/>
                <a:ea typeface="Meiryo"/>
              </a:rPr>
              <a:t>VDT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039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VDT作業 4ポイント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65176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651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606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椅子は深く腰掛け背を支持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01752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骨盤を立てて腰部の前弯を保つ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42899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モニター上端を視線水平に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840479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距離は概ね40cm以上を確保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297679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297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25195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連続作業は1時間以内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66344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10〜15分の小休止で姿勢をリセット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512064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1206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074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肘・手首は概ね水平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48640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キーボード位置で肩の緊張を抑制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5-MINUTE ROUTINE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腰痛予防体操 5分ルーチン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始業前または小休止に。痛みのある場合は中止し医師に相談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骨盤前後傾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仰向けまたは座位で骨盤をゆっくり前後に動かす（30秒）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0441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0441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0441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7601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体側ストレッチ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5033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立位で片手を頭上に伸ばし反対側へ側屈（左右各30秒）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2242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52242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2242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9402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ハムストリング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6834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椅子座位で片脚を伸ばし、ももの裏を伸ばす（左右各30秒）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4044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04044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04044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1204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キャット&amp;カウ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8636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四つ這いで背中を丸める・反らすを繰り返す（60秒）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5845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5845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845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3005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体幹ひねり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437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椅子座位で上体をゆっくり左右にひねる（左右各30秒）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MANAGER'S DUTIES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管理者の責務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安衛法第59条（雇入時等）・第60条の2（従事者への安全衛生教育の努力義務）および関係指針に基づく使用者の取組み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25603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786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健康診断の実施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4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配置前および定期。腰部の自覚症状・既往歴を含めた問診を組み込む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2860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799" y="25603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25603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9" y="25786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職場巡視・現場確認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154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補助具の使用状況、姿勢、休憩取得を定期的に確認し改善指示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" y="46177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6177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36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教育の計画的実施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2120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雇入れ時・配置替え時、年1回以上の再教育を年間計画に明記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3434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799" y="46177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46177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9" y="4636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記録の保存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799" y="52120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教育記録・健診記録・RA記録を3年以上保存し、是正履歴を残す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eiryo"/>
                <a:ea typeface="Meiryo"/>
              </a:rPr>
              <a:t>本日のまとめ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2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腰痛は「作業×環境×個人」の重層リスク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688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単一対策ではなく4要素を組み合わせる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691640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691640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856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7" y="187452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リスクアセスメントを定常運用に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4688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4STEPを年1回以上、変更時にも再実施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75887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75887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40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587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補助具と教育で属人化を断つ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453127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リフト・スライディング等の活用が前提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3675887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3675887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3840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7" y="38587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記録と再評価が継続改善の核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4453127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教育・健診・RAは3年保存、毎年見直し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32120"/>
            <a:ext cx="11094415" cy="15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692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お問い合わせ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89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anzen-ai-portal.jp/contact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安全AIポータル 教育資料 - 腰痛予防 労働衛生教育</dc:title>
  <dc:subject>労働安全衛生教育資料</dc:subject>
  <dc:creator>安全AIポータル編集部</dc:creator>
  <cp:keywords>安全AIポータル; 労働安全; 労働衛生教育</cp:keywords>
  <dc:description>安全AIポータル編集部制作｜労働安全コンサルタント監修</dc:description>
  <cp:lastModifiedBy>安全AIポータル編集部</cp:lastModifiedBy>
  <cp:revision>1</cp:revision>
  <dcterms:created xsi:type="dcterms:W3CDTF">2013-01-27T09:14:16Z</dcterms:created>
  <dcterms:modified xsi:type="dcterms:W3CDTF">2013-01-27T09:15:58Z</dcterms:modified>
  <cp:category/>
</cp:coreProperties>
</file>