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48640" cy="28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9A86E"/>
                </a:solidFill>
                <a:latin typeface="Meiryo"/>
                <a:ea typeface="Meiryo"/>
              </a:rPr>
              <a:t>労働衛生教育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A0783C"/>
                </a:solidFill>
                <a:latin typeface="Meiryo"/>
                <a:ea typeface="Meiryo"/>
              </a:rPr>
              <a:t>LOW BACK PAIN PREVENTION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FFFFFF"/>
                </a:solidFill>
                <a:latin typeface="Meiryo"/>
                <a:ea typeface="Meiryo"/>
              </a:rPr>
              <a:t>腰痛予防 労働衛生教育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CBD5E1"/>
                </a:solidFill>
                <a:latin typeface="Meiryo"/>
                <a:ea typeface="Meiryo"/>
              </a:rPr>
              <a:t>実務対応コース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46320"/>
            <a:ext cx="1828800" cy="15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983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CBD5E1"/>
                </a:solidFill>
                <a:latin typeface="Meiryo"/>
                <a:ea typeface="Meiryo"/>
              </a:rPr>
              <a:t>基発0618第1号準拠 ／ 約2時間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Meiryo"/>
                <a:ea typeface="Meiryo"/>
              </a:rPr>
              <a:t>ANZEN AI ／ 労働安全コンサルタント（登録番号260022・土木）監修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40080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A0783C"/>
                </a:solidFill>
                <a:latin typeface="Meiryo"/>
                <a:ea typeface="Meiryo"/>
              </a:rPr>
              <a:t>ANZEN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0783C"/>
                </a:solidFill>
                <a:latin typeface="Meiryo"/>
                <a:ea typeface="Meiryo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95528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2744"/>
                </a:solidFill>
                <a:latin typeface="Meiryo"/>
                <a:ea typeface="Meiryo"/>
              </a:rPr>
              <a:t>本日のアジェンダ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0" cy="28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5349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4767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A0783C"/>
                </a:solidFill>
                <a:latin typeface="Meiryo"/>
                <a:ea typeface="Meiryo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2011680"/>
            <a:ext cx="10000" cy="914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19" y="1984248"/>
            <a:ext cx="4069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A2744"/>
                </a:solidFill>
                <a:latin typeface="Meiryo"/>
                <a:ea typeface="Meiryo"/>
              </a:rPr>
              <a:t>なぜ今、腰痛予防か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2496312"/>
            <a:ext cx="40690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業務上疾病の中で腰痛が占める比率と社会的影響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79" y="1783080"/>
            <a:ext cx="5349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194767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A0783C"/>
                </a:solidFill>
                <a:latin typeface="Meiryo"/>
                <a:ea typeface="Meiryo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599" y="2011680"/>
            <a:ext cx="10000" cy="914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59" y="1984248"/>
            <a:ext cx="4069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A2744"/>
                </a:solidFill>
                <a:latin typeface="Meiryo"/>
                <a:ea typeface="Meiryo"/>
              </a:rPr>
              <a:t>腰痛予防対策指針の4要素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59" y="2496312"/>
            <a:ext cx="40690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作業管理・作業環境管理・健康管理・労働衛生教育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19272"/>
            <a:ext cx="5349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83864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A0783C"/>
                </a:solidFill>
                <a:latin typeface="Meiryo"/>
                <a:ea typeface="Meiryo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3547872"/>
            <a:ext cx="10000" cy="914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3520440"/>
            <a:ext cx="4069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A2744"/>
                </a:solidFill>
                <a:latin typeface="Meiryo"/>
                <a:ea typeface="Meiryo"/>
              </a:rPr>
              <a:t>作業別リスクプロファイル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19" y="4032504"/>
            <a:ext cx="40690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建設・製造・福祉医療・運輸・事務VDTの傾向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79" y="3319272"/>
            <a:ext cx="5349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79" y="3483864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A0783C"/>
                </a:solidFill>
                <a:latin typeface="Meiryo"/>
                <a:ea typeface="Meiryo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599" y="3547872"/>
            <a:ext cx="10000" cy="914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3520440"/>
            <a:ext cx="4069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A2744"/>
                </a:solidFill>
                <a:latin typeface="Meiryo"/>
                <a:ea typeface="Meiryo"/>
              </a:rPr>
              <a:t>リスクアセスメント 4STEP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4032504"/>
            <a:ext cx="40690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危険源特定→見積り→対策→実施・記録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855464"/>
            <a:ext cx="5349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0055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A0783C"/>
                </a:solidFill>
                <a:latin typeface="Meiryo"/>
                <a:ea typeface="Meiryo"/>
              </a:rPr>
              <a:t>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08760" y="5084064"/>
            <a:ext cx="10000" cy="914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45919" y="5056631"/>
            <a:ext cx="4069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A2744"/>
                </a:solidFill>
                <a:latin typeface="Meiryo"/>
                <a:ea typeface="Meiryo"/>
              </a:rPr>
              <a:t>作業姿勢・動作の原則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19" y="5568696"/>
            <a:ext cx="40690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重量物取扱いとVDT作業の具体ポイント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79" y="4855464"/>
            <a:ext cx="53492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5020055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A0783C"/>
                </a:solidFill>
                <a:latin typeface="Meiryo"/>
                <a:ea typeface="Meiryo"/>
              </a:rPr>
              <a:t>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599" y="5084064"/>
            <a:ext cx="10000" cy="914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59" y="5056631"/>
            <a:ext cx="4069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A2744"/>
                </a:solidFill>
                <a:latin typeface="Meiryo"/>
                <a:ea typeface="Meiryo"/>
              </a:rPr>
              <a:t>体操と管理者の責務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59" y="5568696"/>
            <a:ext cx="40690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5分ルーチンと法定責任の整理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4A3B8"/>
                </a:solidFill>
                <a:latin typeface="Meiryo"/>
                <a:ea typeface="Meiryo"/>
              </a:rPr>
              <a:t>ANZEN AI ／ 労働安全コンサルタント（登録番号260022・土木）監修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94A3B8"/>
                </a:solidFill>
                <a:latin typeface="Meiryo"/>
                <a:ea typeface="Meiryo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0783C"/>
                </a:solidFill>
                <a:latin typeface="Meiryo"/>
                <a:ea typeface="Meiry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95528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2744"/>
                </a:solidFill>
                <a:latin typeface="Meiryo"/>
                <a:ea typeface="Meiryo"/>
              </a:rPr>
              <a:t>なぜ今、腰痛予防か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0" cy="28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5029200" cy="420624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548640" cy="28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429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 b="1">
                <a:solidFill>
                  <a:srgbClr val="FFFFFF"/>
                </a:solidFill>
                <a:latin typeface="Meiryo"/>
                <a:ea typeface="Meiryo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20040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>
                <a:solidFill>
                  <a:srgbClr val="A0783C"/>
                </a:solidFill>
                <a:latin typeface="Meiryo"/>
                <a:ea typeface="Meiryo"/>
              </a:rPr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4297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CBD5E1"/>
                </a:solidFill>
                <a:latin typeface="Meiryo"/>
                <a:ea typeface="Meiryo"/>
              </a:rPr>
              <a:t>業務上疾病に占める腰痛の比率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Meiryo"/>
                <a:ea typeface="Meiryo"/>
              </a:rPr>
              <a:t>出典：厚生労働省「業務上疾病発生状況等調査」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2744"/>
                </a:solidFill>
                <a:latin typeface="Meiryo"/>
                <a:ea typeface="Meiryo"/>
              </a:rPr>
              <a:t>業種別 腰痛発生率の傾向（相対値）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40487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陸上貨物運送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2286000"/>
            <a:ext cx="3749039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286000"/>
            <a:ext cx="3749039" cy="4572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67160" y="24048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34155"/>
                </a:solidFill>
                <a:latin typeface="Meiryo"/>
                <a:ea typeface="Meiryo"/>
              </a:rPr>
              <a:t>1.00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05638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保健衛生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2937510"/>
            <a:ext cx="3749039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0" y="2937510"/>
            <a:ext cx="2924251" cy="4572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42371" y="305638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34155"/>
                </a:solidFill>
                <a:latin typeface="Meiryo"/>
                <a:ea typeface="Meiryo"/>
              </a:rPr>
              <a:t>0.78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07891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社会福祉施設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589020"/>
            <a:ext cx="3749039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0" y="3589020"/>
            <a:ext cx="2286914" cy="457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5034" y="3707891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34155"/>
                </a:solidFill>
                <a:latin typeface="Meiryo"/>
                <a:ea typeface="Meiryo"/>
              </a:rPr>
              <a:t>0.61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359401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建設業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4240529"/>
            <a:ext cx="3749039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0" y="4240529"/>
            <a:ext cx="1649577" cy="457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7697" y="4359401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34155"/>
                </a:solidFill>
                <a:latin typeface="Meiryo"/>
                <a:ea typeface="Meiryo"/>
              </a:rPr>
              <a:t>0.44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501091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製造業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4892040"/>
            <a:ext cx="3749039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0" y="4892040"/>
            <a:ext cx="1087221" cy="457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05341" y="50109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34155"/>
                </a:solidFill>
                <a:latin typeface="Meiryo"/>
                <a:ea typeface="Meiryo"/>
              </a:rPr>
              <a:t>0.29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623559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4748B"/>
                </a:solidFill>
                <a:latin typeface="Meiryo"/>
                <a:ea typeface="Meiryo"/>
              </a:rPr>
              <a:t>※陸上貨物運送業の発生率を1.00として正規化した業種別傾向の概算。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4A3B8"/>
                </a:solidFill>
                <a:latin typeface="Meiryo"/>
                <a:ea typeface="Meiryo"/>
              </a:rPr>
              <a:t>ANZEN AI ／ 労働安全コンサルタント（登録番号260022・土木）監修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94A3B8"/>
                </a:solidFill>
                <a:latin typeface="Meiryo"/>
                <a:ea typeface="Meiryo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0783C"/>
                </a:solidFill>
                <a:latin typeface="Meiryo"/>
                <a:ea typeface="Meiryo"/>
              </a:rPr>
              <a:t>FOUR PILLARS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95528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2744"/>
                </a:solidFill>
                <a:latin typeface="Meiryo"/>
                <a:ea typeface="Meiryo"/>
              </a:rPr>
              <a:t>腰痛予防対策指針の4要素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0" cy="28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4155"/>
                </a:solidFill>
                <a:latin typeface="Meiryo"/>
                <a:ea typeface="Meiryo"/>
              </a:rPr>
              <a:t>平成25年改訂「職場における腰痛予防対策指針」が定める使用者の取組み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5349240" cy="1874519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109728" cy="1874519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468880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A0783C"/>
                </a:solidFill>
                <a:latin typeface="Meiryo"/>
                <a:ea typeface="Meiry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87168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A2744"/>
                </a:solidFill>
                <a:latin typeface="Meiryo"/>
                <a:ea typeface="Meiryo"/>
              </a:rPr>
              <a:t>作業管理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063240"/>
            <a:ext cx="484632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34155"/>
                </a:solidFill>
                <a:latin typeface="Meiryo"/>
                <a:ea typeface="Meiryo"/>
              </a:rPr>
              <a:t>自動化・省力化、作業姿勢・動作、作業の実施体制、作業標準、休憩・作業量・作業時間、靴・服装・手袋、補助器具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79" y="2286000"/>
            <a:ext cx="5349240" cy="1874519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79" y="2286000"/>
            <a:ext cx="109728" cy="1874519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2468880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A0783C"/>
                </a:solidFill>
                <a:latin typeface="Meiryo"/>
                <a:ea typeface="Meiry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19" y="2487168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A2744"/>
                </a:solidFill>
                <a:latin typeface="Meiryo"/>
                <a:ea typeface="Meiryo"/>
              </a:rPr>
              <a:t>作業環境管理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063240"/>
            <a:ext cx="484632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34155"/>
                </a:solidFill>
                <a:latin typeface="Meiryo"/>
                <a:ea typeface="Meiryo"/>
              </a:rPr>
              <a:t>温度（寒冷を避ける）、照明（不適切な姿勢を防ぐ）、作業床面（凹凸・段差・滑り防止）、作業空間・設備の配置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89120"/>
            <a:ext cx="5349240" cy="1874519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389120"/>
            <a:ext cx="109728" cy="1874519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4572000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A0783C"/>
                </a:solidFill>
                <a:latin typeface="Meiryo"/>
                <a:ea typeface="Meiry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590288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A2744"/>
                </a:solidFill>
                <a:latin typeface="Meiryo"/>
                <a:ea typeface="Meiryo"/>
              </a:rPr>
              <a:t>健康管理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5166359"/>
            <a:ext cx="484632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34155"/>
                </a:solidFill>
                <a:latin typeface="Meiryo"/>
                <a:ea typeface="Meiryo"/>
              </a:rPr>
              <a:t>作業者の健康診断、腰痛予防体操の実施、職場における対応（早期受診の勧奨）、心理・社会的要因への配慮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79" y="4389120"/>
            <a:ext cx="5349240" cy="1874519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79" y="4389120"/>
            <a:ext cx="109728" cy="1874519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572000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A0783C"/>
                </a:solidFill>
                <a:latin typeface="Meiryo"/>
                <a:ea typeface="Meiry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19" y="4590288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A2744"/>
                </a:solidFill>
                <a:latin typeface="Meiryo"/>
                <a:ea typeface="Meiryo"/>
              </a:rPr>
              <a:t>労働衛生教育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166359"/>
            <a:ext cx="484632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34155"/>
                </a:solidFill>
                <a:latin typeface="Meiryo"/>
                <a:ea typeface="Meiryo"/>
              </a:rPr>
              <a:t>雇入れ時・配置替え時の教育、作業従事者への定期的な教育、管理監督者への教育、補助具の正しい使い方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4A3B8"/>
                </a:solidFill>
                <a:latin typeface="Meiryo"/>
                <a:ea typeface="Meiryo"/>
              </a:rPr>
              <a:t>ANZEN AI ／ 労働安全コンサルタント（登録番号260022・土木）監修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94A3B8"/>
                </a:solidFill>
                <a:latin typeface="Meiryo"/>
                <a:ea typeface="Meiryo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0783C"/>
                </a:solidFill>
                <a:latin typeface="Meiryo"/>
                <a:ea typeface="Meiryo"/>
              </a:rPr>
              <a:t>RISK PROFILE BY INDUSTRY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95528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2744"/>
                </a:solidFill>
                <a:latin typeface="Meiryo"/>
                <a:ea typeface="Meiryo"/>
              </a:rPr>
              <a:t>作業別リスクプロファイル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0" cy="28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996994" cy="50292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81411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</a:rPr>
              <a:t>業種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5634" y="1828800"/>
            <a:ext cx="2662659" cy="50292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37074" y="1828800"/>
            <a:ext cx="24797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</a:rPr>
              <a:t>主な負荷</a:t>
            </a:r>
          </a:p>
        </p:txBody>
      </p:sp>
      <p:sp>
        <p:nvSpPr>
          <p:cNvPr id="9" name="Rectangle 8"/>
          <p:cNvSpPr/>
          <p:nvPr/>
        </p:nvSpPr>
        <p:spPr>
          <a:xfrm>
            <a:off x="5208294" y="1828800"/>
            <a:ext cx="3106436" cy="50292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99734" y="1828800"/>
            <a:ext cx="292355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</a:rPr>
              <a:t>代表動作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14730" y="1828800"/>
            <a:ext cx="3328324" cy="50292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06170" y="1828800"/>
            <a:ext cx="314544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</a:rPr>
              <a:t>重点対策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31720"/>
            <a:ext cx="199699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331720"/>
            <a:ext cx="1777538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1A2744"/>
                </a:solidFill>
                <a:latin typeface="Meiryo"/>
                <a:ea typeface="Meiryo"/>
              </a:rPr>
              <a:t>建設業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45634" y="2331720"/>
            <a:ext cx="2662659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5362" y="2331720"/>
            <a:ext cx="2443203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重量物・不整地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08294" y="2331720"/>
            <a:ext cx="3106436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8022" y="2331720"/>
            <a:ext cx="288698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持上げ・運搬・中腰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14730" y="2331720"/>
            <a:ext cx="332832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4458" y="2331720"/>
            <a:ext cx="3108868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補助具・分解搬送・休憩設計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999232"/>
            <a:ext cx="1996994" cy="66751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999232"/>
            <a:ext cx="1777538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1A2744"/>
                </a:solidFill>
                <a:latin typeface="Meiryo"/>
                <a:ea typeface="Meiryo"/>
              </a:rPr>
              <a:t>製造業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45634" y="2999232"/>
            <a:ext cx="2662659" cy="66751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5362" y="2999232"/>
            <a:ext cx="2443203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反復・立位・ひねり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08294" y="2999232"/>
            <a:ext cx="3106436" cy="66751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18022" y="2999232"/>
            <a:ext cx="288698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組立・搬送・台上作業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14730" y="2999232"/>
            <a:ext cx="3328324" cy="66751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4458" y="2999232"/>
            <a:ext cx="3108868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作業台高さ・自動化・配置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666744"/>
            <a:ext cx="199699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666744"/>
            <a:ext cx="1777538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1A2744"/>
                </a:solidFill>
                <a:latin typeface="Meiryo"/>
                <a:ea typeface="Meiryo"/>
              </a:rPr>
              <a:t>福祉・医療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45634" y="3666744"/>
            <a:ext cx="2662659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55362" y="3666744"/>
            <a:ext cx="2443203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対人介助・移乗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08294" y="3666744"/>
            <a:ext cx="3106436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18022" y="3666744"/>
            <a:ext cx="288698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抱上げ・前傾・ひねり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14730" y="3666744"/>
            <a:ext cx="332832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24458" y="3666744"/>
            <a:ext cx="3108868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リフト・スライディング・2人介助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334256"/>
            <a:ext cx="1996994" cy="66751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334256"/>
            <a:ext cx="1777538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1A2744"/>
                </a:solidFill>
                <a:latin typeface="Meiryo"/>
                <a:ea typeface="Meiryo"/>
              </a:rPr>
              <a:t>陸上運輸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45634" y="4334256"/>
            <a:ext cx="2662659" cy="66751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5362" y="4334256"/>
            <a:ext cx="2443203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長時間座位・荷扱い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08294" y="4334256"/>
            <a:ext cx="3106436" cy="66751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18022" y="4334256"/>
            <a:ext cx="288698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運転・積込・荷降し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14730" y="4334256"/>
            <a:ext cx="3328324" cy="66751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24458" y="4334256"/>
            <a:ext cx="3108868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シート姿勢・パレット化・分割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5001768"/>
            <a:ext cx="199699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5001768"/>
            <a:ext cx="1777538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1A2744"/>
                </a:solidFill>
                <a:latin typeface="Meiryo"/>
                <a:ea typeface="Meiryo"/>
              </a:rPr>
              <a:t>事務VDT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45634" y="5001768"/>
            <a:ext cx="2662659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55362" y="5001768"/>
            <a:ext cx="2443203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静的姿勢・前傾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08294" y="5001768"/>
            <a:ext cx="3106436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8022" y="5001768"/>
            <a:ext cx="288698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PC作業・電話・書類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14730" y="5001768"/>
            <a:ext cx="332832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24458" y="5001768"/>
            <a:ext cx="3108868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椅子・モニター高・小休止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76072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eiryo"/>
                <a:ea typeface="Meiryo"/>
              </a:rPr>
              <a:t>出典：基発0618第1号 別紙 各業種別ガイドラインより要約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4A3B8"/>
                </a:solidFill>
                <a:latin typeface="Meiryo"/>
                <a:ea typeface="Meiryo"/>
              </a:rPr>
              <a:t>ANZEN AI ／ 労働安全コンサルタント（登録番号260022・土木）監修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94A3B8"/>
                </a:solidFill>
                <a:latin typeface="Meiryo"/>
                <a:ea typeface="Meiryo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0783C"/>
                </a:solidFill>
                <a:latin typeface="Meiryo"/>
                <a:ea typeface="Meiryo"/>
              </a:rPr>
              <a:t>RISK ASSESSMENT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95528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2744"/>
                </a:solidFill>
                <a:latin typeface="Meiryo"/>
                <a:ea typeface="Meiryo"/>
              </a:rPr>
              <a:t>腰痛のリスクアセスメント 4STEP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0" cy="28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4155"/>
                </a:solidFill>
                <a:latin typeface="Meiryo"/>
                <a:ea typeface="Meiryo"/>
              </a:rPr>
              <a:t>安衛則第577条の2の趣旨に沿い、現場で実行可能な手順に落とし込む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2327833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2327833" cy="64008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232783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0783C"/>
                </a:solidFill>
                <a:latin typeface="Meiryo"/>
                <a:ea typeface="Meiryo"/>
              </a:rPr>
              <a:t>STEP 1</a:t>
            </a:r>
          </a:p>
        </p:txBody>
      </p:sp>
      <p:sp>
        <p:nvSpPr>
          <p:cNvPr id="9" name="Oval 8"/>
          <p:cNvSpPr/>
          <p:nvPr/>
        </p:nvSpPr>
        <p:spPr>
          <a:xfrm>
            <a:off x="1301076" y="3337560"/>
            <a:ext cx="822960" cy="822960"/>
          </a:xfrm>
          <a:prstGeom prst="ellipse">
            <a:avLst/>
          </a:prstGeom>
          <a:solidFill>
            <a:srgbClr val="A07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400" b="1">
                <a:solidFill>
                  <a:srgbClr val="FFFFFF"/>
                </a:solidFill>
                <a:latin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43400"/>
            <a:ext cx="205351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危険源の特定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92040"/>
            <a:ext cx="196207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重量・姿勢・反復・環境を作業ごとに洗い出し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967913" y="3886200"/>
            <a:ext cx="411480" cy="365760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0833" y="2468880"/>
            <a:ext cx="2327833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0833" y="2468880"/>
            <a:ext cx="2327833" cy="64008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0833" y="2468880"/>
            <a:ext cx="232783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0783C"/>
                </a:solidFill>
                <a:latin typeface="Meiryo"/>
                <a:ea typeface="Meiryo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4223270" y="3337560"/>
            <a:ext cx="822960" cy="822960"/>
          </a:xfrm>
          <a:prstGeom prst="ellipse">
            <a:avLst/>
          </a:prstGeom>
          <a:solidFill>
            <a:srgbClr val="A07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400" b="1">
                <a:solidFill>
                  <a:srgbClr val="FFFFFF"/>
                </a:solidFill>
                <a:latin typeface="Meiry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7993" y="4343400"/>
            <a:ext cx="205351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リスクの見積り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3713" y="4892040"/>
            <a:ext cx="196207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重篤度×頻度×可能性で優先度を点数化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890107" y="3886200"/>
            <a:ext cx="411480" cy="365760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93027" y="2468880"/>
            <a:ext cx="2327833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93027" y="2468880"/>
            <a:ext cx="2327833" cy="64008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3027" y="2468880"/>
            <a:ext cx="232783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0783C"/>
                </a:solidFill>
                <a:latin typeface="Meiryo"/>
                <a:ea typeface="Meiryo"/>
              </a:rPr>
              <a:t>STEP 3</a:t>
            </a:r>
          </a:p>
        </p:txBody>
      </p:sp>
      <p:sp>
        <p:nvSpPr>
          <p:cNvPr id="23" name="Oval 22"/>
          <p:cNvSpPr/>
          <p:nvPr/>
        </p:nvSpPr>
        <p:spPr>
          <a:xfrm>
            <a:off x="7145464" y="3337560"/>
            <a:ext cx="822960" cy="822960"/>
          </a:xfrm>
          <a:prstGeom prst="ellipse">
            <a:avLst/>
          </a:prstGeom>
          <a:solidFill>
            <a:srgbClr val="A07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400" b="1">
                <a:solidFill>
                  <a:srgbClr val="FFFFFF"/>
                </a:solidFill>
                <a:latin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0187" y="4343400"/>
            <a:ext cx="205351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対策の検討・選定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5907" y="4892040"/>
            <a:ext cx="196207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排除→代替→工学→管理→保護で選定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12301" y="3886200"/>
            <a:ext cx="411480" cy="365760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15221" y="2468880"/>
            <a:ext cx="2327833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15221" y="2468880"/>
            <a:ext cx="2327833" cy="64008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15221" y="2468880"/>
            <a:ext cx="232783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0783C"/>
                </a:solidFill>
                <a:latin typeface="Meiryo"/>
                <a:ea typeface="Meiryo"/>
              </a:rPr>
              <a:t>STEP 4</a:t>
            </a:r>
          </a:p>
        </p:txBody>
      </p:sp>
      <p:sp>
        <p:nvSpPr>
          <p:cNvPr id="30" name="Oval 29"/>
          <p:cNvSpPr/>
          <p:nvPr/>
        </p:nvSpPr>
        <p:spPr>
          <a:xfrm>
            <a:off x="10067658" y="3337560"/>
            <a:ext cx="822960" cy="822960"/>
          </a:xfrm>
          <a:prstGeom prst="ellipse">
            <a:avLst/>
          </a:prstGeom>
          <a:solidFill>
            <a:srgbClr val="A07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400" b="1">
                <a:solidFill>
                  <a:srgbClr val="FFFFFF"/>
                </a:solidFill>
                <a:latin typeface="Meiryo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52381" y="4343400"/>
            <a:ext cx="205351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実施・記録・見直し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98101" y="4892040"/>
            <a:ext cx="196207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記録3年保存、定期見直しと再評価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4A3B8"/>
                </a:solidFill>
                <a:latin typeface="Meiryo"/>
                <a:ea typeface="Meiryo"/>
              </a:rPr>
              <a:t>ANZEN AI ／ 労働安全コンサルタント（登録番号260022・土木）監修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94A3B8"/>
                </a:solidFill>
                <a:latin typeface="Meiryo"/>
                <a:ea typeface="Meiryo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0783C"/>
                </a:solidFill>
                <a:latin typeface="Meiryo"/>
                <a:ea typeface="Meiryo"/>
              </a:rPr>
              <a:t>POSTURE &amp; MOTION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95528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2744"/>
                </a:solidFill>
                <a:latin typeface="Meiryo"/>
                <a:ea typeface="Meiryo"/>
              </a:rPr>
              <a:t>作業姿勢・動作の原則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0" cy="28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5440680" cy="41605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40680" cy="64008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9A86E"/>
                </a:solidFill>
                <a:latin typeface="Meiryo"/>
                <a:ea typeface="Meiryo"/>
              </a:rPr>
              <a:t>HEAVY LIFTING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391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重量物取扱い 4ポイント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51760"/>
            <a:ext cx="365760" cy="36576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606039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2744"/>
                </a:solidFill>
                <a:latin typeface="Meiryo"/>
                <a:ea typeface="Meiryo"/>
              </a:rPr>
              <a:t>持上げ前に足幅を肩幅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017520"/>
            <a:ext cx="45262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体に荷を密着させて重心を近づける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74720"/>
            <a:ext cx="365760" cy="36576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28999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2744"/>
                </a:solidFill>
                <a:latin typeface="Meiryo"/>
                <a:ea typeface="Meiryo"/>
              </a:rPr>
              <a:t>膝を曲げて腰を落とす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40479"/>
            <a:ext cx="45262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背中はまっすぐ。腰だけで持ち上げない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97679"/>
            <a:ext cx="365760" cy="36576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976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251959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2744"/>
                </a:solidFill>
                <a:latin typeface="Meiryo"/>
                <a:ea typeface="Meiryo"/>
              </a:rPr>
              <a:t>ひねり動作を避ける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663440"/>
            <a:ext cx="45262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体の正面で扱い、向きは足から変える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120640"/>
            <a:ext cx="365760" cy="36576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07492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2744"/>
                </a:solidFill>
                <a:latin typeface="Meiryo"/>
                <a:ea typeface="Meiryo"/>
              </a:rPr>
              <a:t>単独取扱い重量の上限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486400"/>
            <a:ext cx="45262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男性は体重の約40％以下、女性は約24％以下を目安（指針）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783080"/>
            <a:ext cx="5440680" cy="416052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1783080"/>
            <a:ext cx="5440680" cy="64008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828800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9A86E"/>
                </a:solidFill>
                <a:latin typeface="Meiryo"/>
                <a:ea typeface="Meiryo"/>
              </a:rPr>
              <a:t>VDT 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0391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VDT作業 4ポイント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2651760"/>
            <a:ext cx="365760" cy="36576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265176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606039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2744"/>
                </a:solidFill>
                <a:latin typeface="Meiryo"/>
                <a:ea typeface="Meiryo"/>
              </a:rPr>
              <a:t>椅子は深く腰掛け背を支持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017520"/>
            <a:ext cx="45262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骨盤を立てて腰部の前弯を保つ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474720"/>
            <a:ext cx="365760" cy="36576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3474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428999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2744"/>
                </a:solidFill>
                <a:latin typeface="Meiryo"/>
                <a:ea typeface="Meiryo"/>
              </a:rPr>
              <a:t>モニター上端を視線水平に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3840479"/>
            <a:ext cx="45262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距離は概ね40cm以上を確保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4297679"/>
            <a:ext cx="365760" cy="36576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42976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4251959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2744"/>
                </a:solidFill>
                <a:latin typeface="Meiryo"/>
                <a:ea typeface="Meiryo"/>
              </a:rPr>
              <a:t>連続作業は1時間以内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663440"/>
            <a:ext cx="45262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10〜15分の小休止で姿勢をリセット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5120640"/>
            <a:ext cx="365760" cy="36576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512064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507492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2744"/>
                </a:solidFill>
                <a:latin typeface="Meiryo"/>
                <a:ea typeface="Meiryo"/>
              </a:rPr>
              <a:t>肘・手首は概ね水平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5486400"/>
            <a:ext cx="45262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キーボード位置で肩の緊張を抑制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4A3B8"/>
                </a:solidFill>
                <a:latin typeface="Meiryo"/>
                <a:ea typeface="Meiryo"/>
              </a:rPr>
              <a:t>ANZEN AI ／ 労働安全コンサルタント（登録番号260022・土木）監修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94A3B8"/>
                </a:solidFill>
                <a:latin typeface="Meiryo"/>
                <a:ea typeface="Meiryo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0783C"/>
                </a:solidFill>
                <a:latin typeface="Meiryo"/>
                <a:ea typeface="Meiryo"/>
              </a:rPr>
              <a:t>5-MINUTE ROUTINE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95528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2744"/>
                </a:solidFill>
                <a:latin typeface="Meiryo"/>
                <a:ea typeface="Meiryo"/>
              </a:rPr>
              <a:t>腰痛予防体操 5分ルーチン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0" cy="28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4155"/>
                </a:solidFill>
                <a:latin typeface="Meiryo"/>
                <a:ea typeface="Meiryo"/>
              </a:rPr>
              <a:t>始業前または小休止に。痛みのある場合は中止し医師に相談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2087209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77440"/>
            <a:ext cx="2087209" cy="146304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2087209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0" b="1">
                <a:solidFill>
                  <a:srgbClr val="1A2744"/>
                </a:solidFill>
                <a:latin typeface="Meiryo"/>
                <a:ea typeface="Meiry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18128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骨盤前後傾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754880"/>
            <a:ext cx="175802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仰向けまたは座位で骨盤をゆっくり前後に動かす（30秒）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41" y="2377440"/>
            <a:ext cx="2087209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00441" y="2377440"/>
            <a:ext cx="2087209" cy="146304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0441" y="2743200"/>
            <a:ext cx="2087209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0" b="1">
                <a:solidFill>
                  <a:srgbClr val="1A2744"/>
                </a:solidFill>
                <a:latin typeface="Meiryo"/>
                <a:ea typeface="Meiry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7601" y="4069080"/>
            <a:ext cx="18128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体側ストレッチ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5033" y="4754880"/>
            <a:ext cx="175802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立位で片手を頭上に伸ばし反対側へ側屈（左右各30秒）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52242" y="2377440"/>
            <a:ext cx="2087209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52242" y="2377440"/>
            <a:ext cx="2087209" cy="146304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2242" y="2743200"/>
            <a:ext cx="2087209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0" b="1">
                <a:solidFill>
                  <a:srgbClr val="1A2744"/>
                </a:solidFill>
                <a:latin typeface="Meiryo"/>
                <a:ea typeface="Meiry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9402" y="4069080"/>
            <a:ext cx="18128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ハムストリング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6834" y="4754880"/>
            <a:ext cx="175802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椅子座位で片脚を伸ばし、ももの裏を伸ばす（左右各30秒）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4044" y="2377440"/>
            <a:ext cx="2087209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04044" y="2377440"/>
            <a:ext cx="2087209" cy="146304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4044" y="2743200"/>
            <a:ext cx="2087209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0" b="1">
                <a:solidFill>
                  <a:srgbClr val="1A2744"/>
                </a:solidFill>
                <a:latin typeface="Meiryo"/>
                <a:ea typeface="Meiry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1204" y="4069080"/>
            <a:ext cx="18128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キャット&amp;カウ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8636" y="4754880"/>
            <a:ext cx="175802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四つ這いで背中を丸める・反らすを繰り返す（60秒）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55845" y="2377440"/>
            <a:ext cx="2087209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555845" y="2377440"/>
            <a:ext cx="2087209" cy="146304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5845" y="2743200"/>
            <a:ext cx="2087209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0" b="1">
                <a:solidFill>
                  <a:srgbClr val="1A2744"/>
                </a:solidFill>
                <a:latin typeface="Meiryo"/>
                <a:ea typeface="Meiryo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3005" y="4069080"/>
            <a:ext cx="18128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体幹ひねり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437" y="4754880"/>
            <a:ext cx="175802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000" b="0">
                <a:solidFill>
                  <a:srgbClr val="334155"/>
                </a:solidFill>
                <a:latin typeface="Meiryo"/>
                <a:ea typeface="Meiryo"/>
              </a:rPr>
              <a:t>椅子座位で上体をゆっくり左右にひねる（左右各30秒）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4A3B8"/>
                </a:solidFill>
                <a:latin typeface="Meiryo"/>
                <a:ea typeface="Meiryo"/>
              </a:rPr>
              <a:t>ANZEN AI ／ 労働安全コンサルタント（登録番号260022・土木）監修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94A3B8"/>
                </a:solidFill>
                <a:latin typeface="Meiryo"/>
                <a:ea typeface="Meiryo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0783C"/>
                </a:solidFill>
                <a:latin typeface="Meiryo"/>
                <a:ea typeface="Meiryo"/>
              </a:rPr>
              <a:t>MANAGER'S DUTIES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95528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2744"/>
                </a:solidFill>
                <a:latin typeface="Meiryo"/>
                <a:ea typeface="Meiryo"/>
              </a:rPr>
              <a:t>管理者の責務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0" cy="28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4155"/>
                </a:solidFill>
                <a:latin typeface="Meiryo"/>
                <a:ea typeface="Meiryo"/>
              </a:rPr>
              <a:t>安衛法第59条（雇入時等）・第60条の2（従事者への安全衛生教育の努力義務）および関係指針に基づく使用者の取組み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59" y="2560320"/>
            <a:ext cx="777240" cy="50292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560320"/>
            <a:ext cx="777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78608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2744"/>
                </a:solidFill>
                <a:latin typeface="Meiryo"/>
                <a:ea typeface="Meiryo"/>
              </a:rPr>
              <a:t>健康診断の実施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4680"/>
            <a:ext cx="4892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34155"/>
                </a:solidFill>
                <a:latin typeface="Meiryo"/>
                <a:ea typeface="Meiryo"/>
              </a:rPr>
              <a:t>配置前および定期。腰部の自覚症状・既往歴を含めた問診を組み込む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79" y="2286000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799" y="2560320"/>
            <a:ext cx="777240" cy="50292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799" y="2560320"/>
            <a:ext cx="777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9" y="2578608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2744"/>
                </a:solidFill>
                <a:latin typeface="Meiryo"/>
                <a:ea typeface="Meiryo"/>
              </a:rPr>
              <a:t>職場巡視・現場確認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799" y="3154680"/>
            <a:ext cx="4892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34155"/>
                </a:solidFill>
                <a:latin typeface="Meiryo"/>
                <a:ea typeface="Meiryo"/>
              </a:rPr>
              <a:t>補助具の使用状況、姿勢、休憩取得を定期的に確認し改善指示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43400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" y="4617720"/>
            <a:ext cx="777240" cy="50292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617720"/>
            <a:ext cx="777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636008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2744"/>
                </a:solidFill>
                <a:latin typeface="Meiryo"/>
                <a:ea typeface="Meiryo"/>
              </a:rPr>
              <a:t>教育の計画的実施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5212080"/>
            <a:ext cx="4892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34155"/>
                </a:solidFill>
                <a:latin typeface="Meiryo"/>
                <a:ea typeface="Meiryo"/>
              </a:rPr>
              <a:t>雇入れ時・配置替え時、年1回以上の再教育を年間計画に明記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79" y="4343400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799" y="4617720"/>
            <a:ext cx="777240" cy="50292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799" y="4617720"/>
            <a:ext cx="777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199" y="4636008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2744"/>
                </a:solidFill>
                <a:latin typeface="Meiryo"/>
                <a:ea typeface="Meiryo"/>
              </a:rPr>
              <a:t>記録の保存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799" y="5212080"/>
            <a:ext cx="4892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34155"/>
                </a:solidFill>
                <a:latin typeface="Meiryo"/>
                <a:ea typeface="Meiryo"/>
              </a:rPr>
              <a:t>教育記録・健診記録・RA記録を3年以上保存し、是正履歴を残す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4A3B8"/>
                </a:solidFill>
                <a:latin typeface="Meiryo"/>
                <a:ea typeface="Meiryo"/>
              </a:rPr>
              <a:t>ANZEN AI ／ 労働安全コンサルタント（登録番号260022・土木）監修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94A3B8"/>
                </a:solidFill>
                <a:latin typeface="Meiryo"/>
                <a:ea typeface="Meiryo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0783C"/>
                </a:solidFill>
                <a:latin typeface="Meiryo"/>
                <a:ea typeface="Meiryo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Meiryo"/>
                <a:ea typeface="Meiryo"/>
              </a:rPr>
              <a:t>本日のまとめ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8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4068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178308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85623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A0783C"/>
                </a:solidFill>
                <a:latin typeface="Meiryo"/>
                <a:ea typeface="Meiry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74520"/>
            <a:ext cx="4297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腰痛は「作業×環境×個人」の重層リスク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46888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単一対策ではなく4要素を組み合わせる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691640"/>
            <a:ext cx="544068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691640"/>
            <a:ext cx="109728" cy="178308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85623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A0783C"/>
                </a:solidFill>
                <a:latin typeface="Meiryo"/>
                <a:ea typeface="Meiry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0607" y="1874520"/>
            <a:ext cx="4297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リスクアセスメントを定常運用に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46888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4STEPを年1回以上、変更時にも再実施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75887"/>
            <a:ext cx="544068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675887"/>
            <a:ext cx="109728" cy="178308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40479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A0783C"/>
                </a:solidFill>
                <a:latin typeface="Meiryo"/>
                <a:ea typeface="Meiry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858768"/>
            <a:ext cx="4297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補助具と教育で属人化を断つ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453127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リフト・スライディング等の活用が前提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0488" y="3675887"/>
            <a:ext cx="544068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3675887"/>
            <a:ext cx="109728" cy="178308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3840479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A0783C"/>
                </a:solidFill>
                <a:latin typeface="Meiryo"/>
                <a:ea typeface="Meiry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7" y="3858768"/>
            <a:ext cx="4297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A2744"/>
                </a:solidFill>
                <a:latin typeface="Meiryo"/>
                <a:ea typeface="Meiryo"/>
              </a:rPr>
              <a:t>記録と再評価が継続改善の核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4453127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334155"/>
                </a:solidFill>
                <a:latin typeface="Meiryo"/>
                <a:ea typeface="Meiryo"/>
              </a:rPr>
              <a:t>教育・健診・RAは3年保存、毎年見直し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32120"/>
            <a:ext cx="11094415" cy="15000"/>
          </a:xfrm>
          <a:prstGeom prst="rect">
            <a:avLst/>
          </a:prstGeom>
          <a:solidFill>
            <a:srgbClr val="A07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669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A0783C"/>
                </a:solidFill>
                <a:latin typeface="Meiryo"/>
                <a:ea typeface="Meiryo"/>
              </a:rPr>
              <a:t>お問い合わせ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safe-ai-site.vercel.app/contact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Meiryo"/>
                <a:ea typeface="Meiryo"/>
              </a:rPr>
              <a:t>ANZEN AI ／ 労働安全コンサルタント（登録番号260022・土木）監修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ANZEN AI Seminar Template</dc:title>
  <dc:subject>労働衛生教育 16:9 テンプレート</dc:subject>
  <dc:creator>ANZEN AI</dc:creator>
  <cp:keywords>ANZEN AI; 労働安全; 労働衛生教育; PowerPoint</cp:keywords>
  <dc:description>労働安全コンサルタント（登録番号260022・土木）監修による労働衛生教育セミナー資料の共通テンプレート。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