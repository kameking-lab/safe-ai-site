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9A86E"/>
                </a:solidFill>
                <a:latin typeface="Meiryo"/>
                <a:ea typeface="Meiryo"/>
              </a:rPr>
              <a:t>労働衛生教育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A0783C"/>
                </a:solidFill>
                <a:latin typeface="Meiryo"/>
                <a:ea typeface="Meiryo"/>
              </a:rPr>
              <a:t>NOISE-INDUCED HEARING LOSS PREVENTION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>
                <a:solidFill>
                  <a:srgbClr val="FFFFFF"/>
                </a:solidFill>
                <a:latin typeface="Meiryo"/>
                <a:ea typeface="Meiryo"/>
              </a:rPr>
              <a:t>騒音障害防止 労働衛生教育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CBD5E1"/>
                </a:solidFill>
                <a:latin typeface="Meiryo"/>
                <a:ea typeface="Meiryo"/>
              </a:rPr>
              <a:t>令和5年改訂ガイドライン対応コース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846320"/>
            <a:ext cx="1828800" cy="15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983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BD5E1"/>
                </a:solidFill>
                <a:latin typeface="Meiryo"/>
                <a:ea typeface="Meiryo"/>
              </a:rPr>
              <a:t>基発0420第2号（令和5年改訂）準拠 ／ 約1.5時間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40080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A0783C"/>
                </a:solidFill>
                <a:latin typeface="Meiryo"/>
                <a:ea typeface="Meiryo"/>
              </a:rPr>
              <a:t>安全AIポータル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本日のアジェンダ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4767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508760" y="2011680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19" y="1984248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なぜ今、騒音障害防止か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19" y="2496312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騒音性難聴の不可逆性と令和5年改訂の背景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79" y="1783080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79" y="194767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599" y="2011680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59" y="1984248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騒音対策の4要素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59" y="2496312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作業環境管理・作業管理・聴覚保護具・健康管理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19272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483864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08760" y="3547872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19" y="3520440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等価騒音レベル管理区分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19" y="4032504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LAeq,8hに基づく第I/II/III管理区分の判定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79" y="3319272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79" y="3483864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86599" y="3547872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59" y="3520440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騒音管理 4STEP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59" y="4032504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測定→区分判定→低減対策→聴覚保護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855464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020055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08760" y="5084064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45919" y="5056631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騒音源対策と聴覚保護具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19" y="5568696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発生源・伝播対策とNRR/SNRに基づく選定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79" y="4855464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79" y="5020055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86599" y="5084064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23759" y="5056631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聴力検査5ステップと事業者責務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59" y="5568696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雇入→定期→特殊→所見→保健指導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なぜ今、騒音障害防止か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029200" cy="420624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19456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42976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 b="1">
                <a:solidFill>
                  <a:srgbClr val="FFFFFF"/>
                </a:solidFill>
                <a:latin typeface="Meiryo"/>
                <a:ea typeface="Meiryo"/>
              </a:rPr>
              <a:t>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200400"/>
            <a:ext cx="1371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200" b="1">
                <a:solidFill>
                  <a:srgbClr val="A0783C"/>
                </a:solidFill>
                <a:latin typeface="Meiryo"/>
                <a:ea typeface="Meiryo"/>
              </a:rPr>
              <a:t>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4297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CBD5E1"/>
                </a:solidFill>
                <a:latin typeface="Meiryo"/>
                <a:ea typeface="Meiryo"/>
              </a:rPr>
              <a:t>騒音障害防止ガイドライン 管理区分Iの境界レベル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32120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4A3B8"/>
                </a:solidFill>
                <a:latin typeface="Meiryo"/>
                <a:ea typeface="Meiryo"/>
              </a:rPr>
              <a:t>出典：厚生労働省「業務上疾病発生状況等調査」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78308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業種別 騒音性難聴認定の傾向（相対値）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4048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製造業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2286000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2286000"/>
            <a:ext cx="3749039" cy="4572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567160" y="24048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Meiryo"/>
                <a:ea typeface="Meiryo"/>
              </a:rPr>
              <a:t>1.00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05638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建設業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2937510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0" y="2937510"/>
            <a:ext cx="2661818" cy="4572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9938" y="305638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Meiryo"/>
                <a:ea typeface="Meiryo"/>
              </a:rPr>
              <a:t>0.71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707891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運輸業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3589020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0" y="3589020"/>
            <a:ext cx="1424635" cy="4572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42755" y="3707891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Meiryo"/>
                <a:ea typeface="Meiryo"/>
              </a:rPr>
              <a:t>0.38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359401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廃棄物処理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4240529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0" y="4240529"/>
            <a:ext cx="899769" cy="4572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17889" y="4359401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Meiryo"/>
                <a:ea typeface="Meiryo"/>
              </a:rPr>
              <a:t>0.24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501091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その他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0" y="4892040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0" y="4892040"/>
            <a:ext cx="674827" cy="4572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92947" y="50109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Meiryo"/>
                <a:ea typeface="Meiryo"/>
              </a:rPr>
              <a:t>0.18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5623559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64748B"/>
                </a:solidFill>
                <a:latin typeface="Meiryo"/>
                <a:ea typeface="Meiryo"/>
              </a:rPr>
              <a:t>※製造業の認定件数を1.00として正規化した業種別傾向の概算。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FOUR PILLARS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騒音対策の4要素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Meiryo"/>
                <a:ea typeface="Meiryo"/>
              </a:rPr>
              <a:t>令和5年4月20日改訂「騒音障害防止のためのガイドライン」（基発0420第2号）に基づく取組み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5349240" cy="1874519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109728" cy="1874519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46888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87168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2744"/>
                </a:solidFill>
                <a:latin typeface="Meiryo"/>
                <a:ea typeface="Meiryo"/>
              </a:rPr>
              <a:t>作業環境管理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063240"/>
            <a:ext cx="484632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6月以内ごとの作業環境測定、A・B測定の実施、管理区分判定、結果の掲示・記録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79" y="2286000"/>
            <a:ext cx="5349240" cy="1874519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79" y="2286000"/>
            <a:ext cx="109728" cy="1874519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246888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19" y="2487168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2744"/>
                </a:solidFill>
                <a:latin typeface="Meiryo"/>
                <a:ea typeface="Meiryo"/>
              </a:rPr>
              <a:t>作業管理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063240"/>
            <a:ext cx="484632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騒音作業の時間制限・配置、休憩取得、表示・標識、立入禁止・許可制の運用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89120"/>
            <a:ext cx="5349240" cy="1874519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389120"/>
            <a:ext cx="109728" cy="1874519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457200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590288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2744"/>
                </a:solidFill>
                <a:latin typeface="Meiryo"/>
                <a:ea typeface="Meiryo"/>
              </a:rPr>
              <a:t>聴覚保護具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5166359"/>
            <a:ext cx="484632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NRR/SNRに基づく選定、装着訓練、定期点検・交換、適合確認とフィットテスト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79" y="4389120"/>
            <a:ext cx="5349240" cy="1874519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79" y="4389120"/>
            <a:ext cx="109728" cy="1874519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57200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19" y="4590288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2744"/>
                </a:solidFill>
                <a:latin typeface="Meiryo"/>
                <a:ea typeface="Meiryo"/>
              </a:rPr>
              <a:t>健康管理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5166359"/>
            <a:ext cx="484632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雇入時・定期・特殊健診（聴力検査）、所見者の保健指導、産業医連携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NOISE MANAGEMENT CATEGORIES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等価騒音レベル管理区分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996994" cy="50292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81411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管理区分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2545634" y="1828800"/>
            <a:ext cx="2662659" cy="50292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37074" y="1828800"/>
            <a:ext cx="247977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LAeq,8h</a:t>
            </a:r>
          </a:p>
        </p:txBody>
      </p:sp>
      <p:sp>
        <p:nvSpPr>
          <p:cNvPr id="9" name="Rectangle 8"/>
          <p:cNvSpPr/>
          <p:nvPr/>
        </p:nvSpPr>
        <p:spPr>
          <a:xfrm>
            <a:off x="5208294" y="1828800"/>
            <a:ext cx="3106436" cy="50292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99734" y="1828800"/>
            <a:ext cx="292355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措置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14730" y="1828800"/>
            <a:ext cx="3328324" cy="50292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06170" y="1828800"/>
            <a:ext cx="314544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聴力検査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31720"/>
            <a:ext cx="199699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331720"/>
            <a:ext cx="177753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第I管理区分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45634" y="2331720"/>
            <a:ext cx="2662659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5362" y="2331720"/>
            <a:ext cx="2443203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85dB未満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08294" y="2331720"/>
            <a:ext cx="3106436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18022" y="2331720"/>
            <a:ext cx="288698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現状維持。継続測定で監視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14730" y="2331720"/>
            <a:ext cx="332832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4458" y="2331720"/>
            <a:ext cx="310886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雇入時・定期健診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999232"/>
            <a:ext cx="1996994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999232"/>
            <a:ext cx="177753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第II管理区分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45634" y="2999232"/>
            <a:ext cx="2662659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55362" y="2999232"/>
            <a:ext cx="2443203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85dB以上90dB未満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08294" y="2999232"/>
            <a:ext cx="3106436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18022" y="2999232"/>
            <a:ext cx="288698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聴覚保護具の使用、表示、教育、低減対策の検討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14730" y="2999232"/>
            <a:ext cx="3328324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24458" y="2999232"/>
            <a:ext cx="310886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雇入時・定期＋特殊健診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666744"/>
            <a:ext cx="199699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666744"/>
            <a:ext cx="177753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第III管理区分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45634" y="3666744"/>
            <a:ext cx="2662659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55362" y="3666744"/>
            <a:ext cx="2443203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90dB以上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08294" y="3666744"/>
            <a:ext cx="3106436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18022" y="3666744"/>
            <a:ext cx="288698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発生源・伝播対策の実施、保護具着用義務、立入制限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14730" y="3666744"/>
            <a:ext cx="332832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24458" y="3666744"/>
            <a:ext cx="310886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雇入時・定期＋特殊健診（強化）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334256"/>
            <a:ext cx="1996994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4334256"/>
            <a:ext cx="177753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強烈な騒音発生場所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45634" y="4334256"/>
            <a:ext cx="2662659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55362" y="4334256"/>
            <a:ext cx="2443203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概ね90dB以上の継続作業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08294" y="4334256"/>
            <a:ext cx="3106436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18022" y="4334256"/>
            <a:ext cx="288698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施設・設備の改善、保護具着用、教育徹底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14730" y="4334256"/>
            <a:ext cx="3328324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24458" y="4334256"/>
            <a:ext cx="310886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特殊健診を6月以内ごと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001768"/>
            <a:ext cx="199699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5001768"/>
            <a:ext cx="177753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著しい騒音発生場所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45634" y="5001768"/>
            <a:ext cx="2662659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55362" y="5001768"/>
            <a:ext cx="2443203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概ね85dB以上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08294" y="5001768"/>
            <a:ext cx="3106436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18022" y="5001768"/>
            <a:ext cx="288698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保護具支給、表示、作業時間管理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14730" y="5001768"/>
            <a:ext cx="332832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24458" y="5001768"/>
            <a:ext cx="310886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定期＋特殊健診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576072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Meiryo"/>
                <a:ea typeface="Meiryo"/>
              </a:rPr>
              <a:t>出典：基発0420第2号「騒音障害防止のためのガイドライン」（令和5年改訂）より要約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NOISE MANAGEMENT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騒音管理 4STEP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Meiryo"/>
                <a:ea typeface="Meiryo"/>
              </a:rPr>
              <a:t>ガイドラインの運用は「測定起点」。実態把握から低減・保護まで一貫運用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2327833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2327833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232783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A0783C"/>
                </a:solidFill>
                <a:latin typeface="Meiryo"/>
                <a:ea typeface="Meiryo"/>
              </a:rPr>
              <a:t>STEP 1</a:t>
            </a:r>
          </a:p>
        </p:txBody>
      </p:sp>
      <p:sp>
        <p:nvSpPr>
          <p:cNvPr id="9" name="Oval 8"/>
          <p:cNvSpPr/>
          <p:nvPr/>
        </p:nvSpPr>
        <p:spPr>
          <a:xfrm>
            <a:off x="1301076" y="3337560"/>
            <a:ext cx="822960" cy="822960"/>
          </a:xfrm>
          <a:prstGeom prst="ellipse">
            <a:avLst/>
          </a:prstGeom>
          <a:solidFill>
            <a:srgbClr val="A0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400" b="1">
                <a:solidFill>
                  <a:srgbClr val="FFFFFF"/>
                </a:solidFill>
                <a:latin typeface="Meiry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343400"/>
            <a:ext cx="205351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騒音測定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92040"/>
            <a:ext cx="196207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6月以内ごとに作業環境測定。LAeq,8hを把握し記録・掲示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967913" y="3886200"/>
            <a:ext cx="411480" cy="3657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0833" y="2468880"/>
            <a:ext cx="2327833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70833" y="2468880"/>
            <a:ext cx="2327833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0833" y="2468880"/>
            <a:ext cx="232783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A0783C"/>
                </a:solidFill>
                <a:latin typeface="Meiryo"/>
                <a:ea typeface="Meiryo"/>
              </a:rPr>
              <a:t>STEP 2</a:t>
            </a:r>
          </a:p>
        </p:txBody>
      </p:sp>
      <p:sp>
        <p:nvSpPr>
          <p:cNvPr id="16" name="Oval 15"/>
          <p:cNvSpPr/>
          <p:nvPr/>
        </p:nvSpPr>
        <p:spPr>
          <a:xfrm>
            <a:off x="4223270" y="3337560"/>
            <a:ext cx="822960" cy="822960"/>
          </a:xfrm>
          <a:prstGeom prst="ellipse">
            <a:avLst/>
          </a:prstGeom>
          <a:solidFill>
            <a:srgbClr val="A0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400" b="1">
                <a:solidFill>
                  <a:srgbClr val="FFFFFF"/>
                </a:solidFill>
                <a:latin typeface="Meiry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7993" y="4343400"/>
            <a:ext cx="205351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区分判定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3713" y="4892040"/>
            <a:ext cx="196207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第I/II/III管理区分を判定し、必要措置を決定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890107" y="3886200"/>
            <a:ext cx="411480" cy="3657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93027" y="2468880"/>
            <a:ext cx="2327833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93027" y="2468880"/>
            <a:ext cx="2327833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3027" y="2468880"/>
            <a:ext cx="232783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A0783C"/>
                </a:solidFill>
                <a:latin typeface="Meiryo"/>
                <a:ea typeface="Meiryo"/>
              </a:rPr>
              <a:t>STEP 3</a:t>
            </a:r>
          </a:p>
        </p:txBody>
      </p:sp>
      <p:sp>
        <p:nvSpPr>
          <p:cNvPr id="23" name="Oval 22"/>
          <p:cNvSpPr/>
          <p:nvPr/>
        </p:nvSpPr>
        <p:spPr>
          <a:xfrm>
            <a:off x="7145464" y="3337560"/>
            <a:ext cx="822960" cy="822960"/>
          </a:xfrm>
          <a:prstGeom prst="ellipse">
            <a:avLst/>
          </a:prstGeom>
          <a:solidFill>
            <a:srgbClr val="A0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400" b="1">
                <a:solidFill>
                  <a:srgbClr val="FFFFFF"/>
                </a:solidFill>
                <a:latin typeface="Meiryo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0187" y="4343400"/>
            <a:ext cx="205351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低減対策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5907" y="4892040"/>
            <a:ext cx="196207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発生源・伝播・受音の順で対策。設備更新・遮音・吸音・消音器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812301" y="3886200"/>
            <a:ext cx="411480" cy="3657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15221" y="2468880"/>
            <a:ext cx="2327833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15221" y="2468880"/>
            <a:ext cx="2327833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15221" y="2468880"/>
            <a:ext cx="232783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A0783C"/>
                </a:solidFill>
                <a:latin typeface="Meiryo"/>
                <a:ea typeface="Meiryo"/>
              </a:rPr>
              <a:t>STEP 4</a:t>
            </a:r>
          </a:p>
        </p:txBody>
      </p:sp>
      <p:sp>
        <p:nvSpPr>
          <p:cNvPr id="30" name="Oval 29"/>
          <p:cNvSpPr/>
          <p:nvPr/>
        </p:nvSpPr>
        <p:spPr>
          <a:xfrm>
            <a:off x="10067658" y="3337560"/>
            <a:ext cx="822960" cy="822960"/>
          </a:xfrm>
          <a:prstGeom prst="ellipse">
            <a:avLst/>
          </a:prstGeom>
          <a:solidFill>
            <a:srgbClr val="A0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400" b="1">
                <a:solidFill>
                  <a:srgbClr val="FFFFFF"/>
                </a:solidFill>
                <a:latin typeface="Meiryo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52381" y="4343400"/>
            <a:ext cx="205351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聴覚保護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98101" y="4892040"/>
            <a:ext cx="196207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NRR/SNRに基づく保護具選定・装着訓練・適合確認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SOURCE &amp; PROTECTION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騒音源対策と聴覚保護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440680" cy="41605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440680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828800"/>
            <a:ext cx="4892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C9A86E"/>
                </a:solidFill>
                <a:latin typeface="Meiryo"/>
                <a:ea typeface="Meiryo"/>
              </a:rPr>
              <a:t>NOISE SOURCE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039112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>騒音源対策 4ポイント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65176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60603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発生源対策（最優先）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01752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低騒音機械への更新、防振・制振、適切な保守整備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47472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747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42899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伝播経路対策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40479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遮音壁・防音パネル・吸音材で伝播を遮断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97679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976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25195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消音器・サイレンサー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排気・吸気・送風機の消音器設置で騒音低減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512064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12064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07492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覆い・密閉化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48640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騒音発生機器の囲い込み、ブース化で受音側を保護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783080"/>
            <a:ext cx="5440680" cy="41605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1783080"/>
            <a:ext cx="5440680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1828800"/>
            <a:ext cx="4892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C9A86E"/>
                </a:solidFill>
                <a:latin typeface="Meiryo"/>
                <a:ea typeface="Meiryo"/>
              </a:rPr>
              <a:t>HEARING PROTECTION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039112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>聴覚保護具 4ポイント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265176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265176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260603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NRR/SNRで選定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01752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騒音レベルと低減量から適合する保護具を選定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347472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34747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342899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装着訓練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3840479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正しい装着方法を教育。フィットテストで適合確認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46520" y="4297679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42976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425195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定期点検・交換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466344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耳栓は使い捨て・耳覆いはクッション劣化で交換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46520" y="512064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512064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507492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選定基準の文書化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548640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作業区分ごとの保護具仕様を明文化し統一運用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AUDIOMETRY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聴力検査 5ステップ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Meiryo"/>
                <a:ea typeface="Meiryo"/>
              </a:rPr>
              <a:t>騒音性難聴は不可逆。早期発見と保健指導で進行を抑える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208720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2087209" cy="146304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208720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1A2744"/>
                </a:solidFill>
                <a:latin typeface="Meiryo"/>
                <a:ea typeface="Meiry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69080"/>
            <a:ext cx="18128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雇入時聴力検査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754880"/>
            <a:ext cx="175802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配置前のベースライン取得。1000Hz・4000Hzの聴力を測定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00441" y="2377440"/>
            <a:ext cx="208720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00441" y="2377440"/>
            <a:ext cx="2087209" cy="146304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00441" y="2743200"/>
            <a:ext cx="208720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1A2744"/>
                </a:solidFill>
                <a:latin typeface="Meiryo"/>
                <a:ea typeface="Meiry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7601" y="4069080"/>
            <a:ext cx="18128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定期健診（年1回）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5033" y="4754880"/>
            <a:ext cx="175802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一般定期健診の聴力検査で経年変化を把握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52242" y="2377440"/>
            <a:ext cx="208720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52242" y="2377440"/>
            <a:ext cx="2087209" cy="146304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2242" y="2743200"/>
            <a:ext cx="208720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1A2744"/>
                </a:solidFill>
                <a:latin typeface="Meiryo"/>
                <a:ea typeface="Meiry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9402" y="4069080"/>
            <a:ext cx="18128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特殊健診（6月以内ごと）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6834" y="4754880"/>
            <a:ext cx="175802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騒音作業従事者に対し250〜8000Hzの精密聴力検査を実施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04044" y="2377440"/>
            <a:ext cx="208720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04044" y="2377440"/>
            <a:ext cx="2087209" cy="146304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04044" y="2743200"/>
            <a:ext cx="208720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1A2744"/>
                </a:solidFill>
                <a:latin typeface="Meiryo"/>
                <a:ea typeface="Meiry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1204" y="4069080"/>
            <a:ext cx="18128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所見者対応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68636" y="4754880"/>
            <a:ext cx="175802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4000Hz中心の閾値上昇は要注意。産業医判定で就業判断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55845" y="2377440"/>
            <a:ext cx="208720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55845" y="2377440"/>
            <a:ext cx="2087209" cy="146304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845" y="2743200"/>
            <a:ext cx="208720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1A2744"/>
                </a:solidFill>
                <a:latin typeface="Meiryo"/>
                <a:ea typeface="Meiryo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3005" y="4069080"/>
            <a:ext cx="18128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保健指導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0437" y="4754880"/>
            <a:ext cx="175802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保護具着用の徹底、配置転換、生活面での騒音回避指導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EMPLOYER'S DUTIES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事業者の責務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Meiryo"/>
                <a:ea typeface="Meiryo"/>
              </a:rPr>
              <a:t>安衛法第65条・第66条および基発0420第2号（令和5年改訂）に基づく取組み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59" y="2560320"/>
            <a:ext cx="777240" cy="50292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560320"/>
            <a:ext cx="777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578608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2744"/>
                </a:solidFill>
                <a:latin typeface="Meiryo"/>
                <a:ea typeface="Meiryo"/>
              </a:rPr>
              <a:t>作業環境測定の実施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54680"/>
            <a:ext cx="4892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6月以内ごとに測定し、結果を記録・掲示・労働者へ周知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79" y="228600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799" y="2560320"/>
            <a:ext cx="777240" cy="50292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799" y="2560320"/>
            <a:ext cx="777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9" y="2578608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2744"/>
                </a:solidFill>
                <a:latin typeface="Meiryo"/>
                <a:ea typeface="Meiryo"/>
              </a:rPr>
              <a:t>聴覚保護具の支給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799" y="3154680"/>
            <a:ext cx="4892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騒音作業区分に応じた保護具を支給し、装着訓練を実施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4340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59" y="4617720"/>
            <a:ext cx="777240" cy="50292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617720"/>
            <a:ext cx="777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636008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2744"/>
                </a:solidFill>
                <a:latin typeface="Meiryo"/>
                <a:ea typeface="Meiryo"/>
              </a:rPr>
              <a:t>聴力検査の実施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5212080"/>
            <a:ext cx="4892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雇入時・定期・特殊健診を法定どおり実施し、所見者は保健指導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79" y="434340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799" y="4617720"/>
            <a:ext cx="777240" cy="50292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799" y="4617720"/>
            <a:ext cx="777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199" y="4636008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2744"/>
                </a:solidFill>
                <a:latin typeface="Meiryo"/>
                <a:ea typeface="Meiryo"/>
              </a:rPr>
              <a:t>記録の保存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799" y="5212080"/>
            <a:ext cx="4892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測定・健診・教育記録を法定期間（健診は5年）保存し是正履歴を残す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Meiryo"/>
                <a:ea typeface="Meiryo"/>
              </a:rPr>
              <a:t>本日のまとめ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544068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" cy="178308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56232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20"/>
            <a:ext cx="4297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騒音性難聴は不可逆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468880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予防が唯一の対策。早期発見で進行を抑える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0488" y="1691640"/>
            <a:ext cx="544068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691640"/>
            <a:ext cx="109728" cy="178308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3096" y="1856232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0607" y="1874520"/>
            <a:ext cx="4297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測定起点で4要素を運用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2468880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LAeq,8hで管理区分を決め、対策を選択する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75887"/>
            <a:ext cx="544068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675887"/>
            <a:ext cx="109728" cy="178308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840479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858768"/>
            <a:ext cx="4297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発生源対策を最優先に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453127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保護具は最後の砦。発生源・伝播・受音の順で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3675887"/>
            <a:ext cx="544068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3675887"/>
            <a:ext cx="109728" cy="178308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3096" y="3840479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0607" y="3858768"/>
            <a:ext cx="4297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健診と記録で継続改善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3096" y="4453127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特殊健診6月以内ごと、保健指導で進行抑制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532120"/>
            <a:ext cx="11094415" cy="15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66928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お問い合わせ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893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>anzen-ai-portal.jp/contact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35508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安全AIポータル 教育資料 - 騒音障害防止 労働衛生教育</dc:title>
  <dc:subject>労働安全衛生教育資料</dc:subject>
  <dc:creator>安全AIポータル編集部</dc:creator>
  <cp:keywords>安全AIポータル; 労働安全; 労働衛生教育</cp:keywords>
  <dc:description>安全AIポータル編集部制作｜労働安全コンサルタント監修</dc:description>
  <cp:lastModifiedBy>安全AIポータル編集部</cp:lastModifiedBy>
  <cp:revision>1</cp:revision>
  <dcterms:created xsi:type="dcterms:W3CDTF">2013-01-27T09:14:16Z</dcterms:created>
  <dcterms:modified xsi:type="dcterms:W3CDTF">2013-01-27T09:15:58Z</dcterms:modified>
  <cp:category/>
</cp:coreProperties>
</file>