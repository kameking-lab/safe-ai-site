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9A86E"/>
                </a:solidFill>
                <a:latin typeface="Meiryo"/>
                <a:ea typeface="Meiryo"/>
              </a:rPr>
              <a:t>化学物質管理教育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CHEMICAL RISK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  <a:latin typeface="Meiryo"/>
                <a:ea typeface="Meiryo"/>
              </a:rPr>
              <a:t>化学物質RA実務教育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CBD5E1"/>
                </a:solidFill>
                <a:latin typeface="Meiryo"/>
                <a:ea typeface="Meiryo"/>
              </a:rPr>
              <a:t>自律的化学物質管理対応コース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846320"/>
            <a:ext cx="1828800" cy="15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983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BD5E1"/>
                </a:solidFill>
                <a:latin typeface="Meiryo"/>
                <a:ea typeface="Meiryo"/>
              </a:rPr>
              <a:t>安衛法第57条の3準拠 ／ 約2.5〜4時間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4008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A0783C"/>
                </a:solidFill>
                <a:latin typeface="Meiryo"/>
                <a:ea typeface="Meiryo"/>
              </a:rPr>
              <a:t>安全AIポータル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本日のアジェンダ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4767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8760" y="2011680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19" y="1984248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なぜ今、化学物質RAか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2496312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自律的管理制度への移行と対象物質拡大の背景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79" y="1783080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79" y="194767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599" y="2011680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59" y="1984248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自律管理の4要素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59" y="2496312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化学物質管理者・RA・ばく露低減・健康障害防止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19272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83864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3547872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19" y="3520440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教育カリキュラム時間割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19" y="4032504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基礎・RA手法・ばく露評価・リスク低減の構成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79" y="3319272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79" y="3483864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599" y="3547872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59" y="3520440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RA 4STEPと国際情報源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59" y="4032504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GHS／SDSを活用した特定からリスク低減まで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855464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020055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08760" y="5084064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19" y="5056631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RA手法とリスク低減4階層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19" y="5568696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ECETOC TRA等の手法と排除→代替→工学→PPE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79" y="4855464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79" y="5020055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86599" y="5084064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59" y="5056631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化学物質管理者の責務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59" y="5568696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5責務と事業者の法定責務（記録保存等）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なぜ今、化学物質RAか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029200" cy="42062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19456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2976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>
                <a:solidFill>
                  <a:srgbClr val="FFFFFF"/>
                </a:solidFill>
                <a:latin typeface="Meiryo"/>
                <a:ea typeface="Meiryo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200400"/>
            <a:ext cx="1371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>
                <a:solidFill>
                  <a:srgbClr val="A0783C"/>
                </a:solidFill>
                <a:latin typeface="Meiryo"/>
                <a:ea typeface="Meiryo"/>
              </a:rPr>
              <a:t>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4297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CBD5E1"/>
                </a:solidFill>
                <a:latin typeface="Meiryo"/>
                <a:ea typeface="Meiryo"/>
              </a:rPr>
              <a:t>化学物質RA対象物が従来比で拡大した倍率（約120→約2,900物質）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3212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Meiryo"/>
                <a:ea typeface="Meiryo"/>
              </a:rPr>
              <a:t>出典：厚生労働省「化学物質規制の見直し」2022年5月公布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78308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自律管理 主要管理項目の取組み状況（相対値）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4048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SDS交付・受領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228600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2286000"/>
            <a:ext cx="3749039" cy="4572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67160" y="24048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1.00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05638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ラベル表示確認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293751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0" y="2937510"/>
            <a:ext cx="3449116" cy="4572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67236" y="305638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0.92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707891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RA実施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358902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3589020"/>
            <a:ext cx="2549347" cy="457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67467" y="3707891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0.68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359401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ばく露評価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4240529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4240529"/>
            <a:ext cx="1537106" cy="457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55226" y="4359401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01091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健康診断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489204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4892040"/>
            <a:ext cx="1237183" cy="457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5303" y="50109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0.33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5623559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64748B"/>
                </a:solidFill>
                <a:latin typeface="Meiryo"/>
                <a:ea typeface="Meiryo"/>
              </a:rPr>
              <a:t>※SDS交付・受領を1.00として正規化した管理項目別取組み傾向の概算。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FOUR PILLARS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自律的化学物質管理の4要素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2024年4月施行・2026年4月完全施行の自律的管理制度が事業者に求める取組み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46888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8716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化学物質管理者の選任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063240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リスクアセスメント対象物を製造・取扱う事業場で選任義務。職務は管理計画の策定・教育・記録（安衛則第12条の5）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79" y="228600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79" y="228600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46888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19" y="248716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リスクアセスメントの実施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063240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安衛法第57条の3に基づく対象物のRA。新規採用・作業変更時にも実施し記録を保存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8912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38912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457200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59028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ばく露低減措置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5166359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濃度基準値以下への管理、ばく露の最小化、工学的対策・呼吸用保護具の適切な選定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79" y="438912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79" y="438912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57200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19" y="459028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健康障害防止措置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5166359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リスクに応じた健康診断、がん等遅発性疾病への対応、漏えい・異常時の応急措置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TRAINING CURRICULUM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教育カリキュラム時間割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996994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81411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科目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2545634" y="1828800"/>
            <a:ext cx="2662659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37074" y="1828800"/>
            <a:ext cx="24797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時間</a:t>
            </a:r>
          </a:p>
        </p:txBody>
      </p:sp>
      <p:sp>
        <p:nvSpPr>
          <p:cNvPr id="9" name="Rectangle 8"/>
          <p:cNvSpPr/>
          <p:nvPr/>
        </p:nvSpPr>
        <p:spPr>
          <a:xfrm>
            <a:off x="5208294" y="1828800"/>
            <a:ext cx="3106436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99734" y="1828800"/>
            <a:ext cx="292355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主な内容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14730" y="1828800"/>
            <a:ext cx="3328324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06170" y="1828800"/>
            <a:ext cx="314544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形式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31720"/>
            <a:ext cx="199699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331720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化学物質管理の基礎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45634" y="2331720"/>
            <a:ext cx="2662659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5362" y="2331720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0.5h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08294" y="2331720"/>
            <a:ext cx="3106436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8022" y="2331720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自律管理制度、安衛法改正、対象物拡大の概要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14730" y="2331720"/>
            <a:ext cx="332832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4458" y="2331720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講義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999232"/>
            <a:ext cx="1996994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999232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RA手法の基礎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45634" y="2999232"/>
            <a:ext cx="2662659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5362" y="2999232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1.0h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08294" y="2999232"/>
            <a:ext cx="3106436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18022" y="2999232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ECETOC TRA、CREATE-SIMPLE、CB、実測の使い分け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14730" y="2999232"/>
            <a:ext cx="3328324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24458" y="2999232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講義+演習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666744"/>
            <a:ext cx="199699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666744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ばく露評価の実務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45634" y="3666744"/>
            <a:ext cx="2662659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55362" y="3666744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0.75h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08294" y="3666744"/>
            <a:ext cx="3106436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18022" y="3666744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濃度基準値、SDS活用、作業環境測定との違い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14730" y="3666744"/>
            <a:ext cx="332832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24458" y="3666744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講義+ケース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334256"/>
            <a:ext cx="1996994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334256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リスク低減措置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45634" y="4334256"/>
            <a:ext cx="2662659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55362" y="4334256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1.0h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08294" y="4334256"/>
            <a:ext cx="3106436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18022" y="4334256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排除→代替→工学→PPEの4階層、呼吸用保護具選定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14730" y="4334256"/>
            <a:ext cx="3328324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24458" y="4334256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講義+グループ演習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001768"/>
            <a:ext cx="199699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5001768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記録・教育・改善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45634" y="5001768"/>
            <a:ext cx="2662659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55362" y="5001768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0.75h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08294" y="5001768"/>
            <a:ext cx="3106436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18022" y="5001768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記録の保存期間、再評価、関係者への周知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14730" y="5001768"/>
            <a:ext cx="332832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24458" y="5001768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講義+討議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57607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Meiryo"/>
                <a:ea typeface="Meiryo"/>
              </a:rPr>
              <a:t>出典：安衛法第57条の3／安衛則第34条の2の7 を整理。合計2.5〜4時間。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RISK ASSESSMENT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化学物質リスクアセスメント 4STEP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GHS分類・SDS（安全データシート）等の国際化学物質情報源を活用した実務手順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1</a:t>
            </a:r>
          </a:p>
        </p:txBody>
      </p:sp>
      <p:sp>
        <p:nvSpPr>
          <p:cNvPr id="9" name="Oval 8"/>
          <p:cNvSpPr/>
          <p:nvPr/>
        </p:nvSpPr>
        <p:spPr>
          <a:xfrm>
            <a:off x="1301076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化学物質の特定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取扱物質一覧化、SDS入手、GHS分類とラベル表示の確認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967913" y="3886200"/>
            <a:ext cx="411480" cy="3657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0833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0833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0833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2</a:t>
            </a:r>
          </a:p>
        </p:txBody>
      </p:sp>
      <p:sp>
        <p:nvSpPr>
          <p:cNvPr id="16" name="Oval 15"/>
          <p:cNvSpPr/>
          <p:nvPr/>
        </p:nvSpPr>
        <p:spPr>
          <a:xfrm>
            <a:off x="4223270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7993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ばく露評価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3713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取扱量・作業時間・換気条件からばく露濃度を推定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90107" y="3886200"/>
            <a:ext cx="411480" cy="3657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93027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93027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3027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3</a:t>
            </a:r>
          </a:p>
        </p:txBody>
      </p:sp>
      <p:sp>
        <p:nvSpPr>
          <p:cNvPr id="23" name="Oval 22"/>
          <p:cNvSpPr/>
          <p:nvPr/>
        </p:nvSpPr>
        <p:spPr>
          <a:xfrm>
            <a:off x="7145464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0187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リスクの見積り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5907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濃度基準値・有害性区分との比較で優先度を判定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12301" y="3886200"/>
            <a:ext cx="411480" cy="3657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15221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15221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15221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4</a:t>
            </a:r>
          </a:p>
        </p:txBody>
      </p:sp>
      <p:sp>
        <p:nvSpPr>
          <p:cNvPr id="30" name="Oval 29"/>
          <p:cNvSpPr/>
          <p:nvPr/>
        </p:nvSpPr>
        <p:spPr>
          <a:xfrm>
            <a:off x="10067658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52381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対策実施・記録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8101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排除・代替・工学・PPEの順で選定し記録を保存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METHODS &amp;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RA手法とリスク低減4階層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440680" cy="41605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40680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4892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C9A86E"/>
                </a:solidFill>
                <a:latin typeface="Meiryo"/>
                <a:ea typeface="Meiryo"/>
              </a:rPr>
              <a:t>ASSESSMENT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3911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>RA手法 4種類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65176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0603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ECETOC 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01752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取扱量・作業条件からばく露を推定する欧州ツール。スクリーニングに有効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47472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747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42899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CREATE-SIMPLE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40479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厚労省提供の簡易ツール。中小規模事業場でも入力項目が少なく使いやすい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97679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976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25195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コントロール・バンディング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GHS区分と取扱量から管理レベルを定性的に判定。専門知識不要で導入容易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12064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1206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07492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実測（個人ばく露測定等）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48640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ばく露濃度を直接測定。精度は最も高いが費用と時間を要する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783080"/>
            <a:ext cx="5440680" cy="41605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1783080"/>
            <a:ext cx="5440680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1828800"/>
            <a:ext cx="4892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C9A86E"/>
                </a:solidFill>
                <a:latin typeface="Meiryo"/>
                <a:ea typeface="Meiryo"/>
              </a:rPr>
              <a:t>HIERARCHY OF CONTROLS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03911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>リスク低減4階層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265176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6517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60603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排除（Elimination）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01752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当該化学物質の使用を中止。最も確実な低減策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347472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4747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42899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代替（Substitution）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840479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有害性のより低い物質や工程に切り替える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4297679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2976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25195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工学的対策（Engineering）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66344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局所排気装置、密閉化、自動化により発散源を制御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512064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51206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07492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保護具（PPE）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548640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呼吸用・化学防護手袋等を最終手段として併用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5 DUTIES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化学物質管理者の5責務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安衛則第12条の5に基づき、選任から改善までを年間サイクルで運用する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選任・体制整備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事業場ごとに選任し、職務範囲と権限を明文化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00441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00441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0441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7601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管理計画の策定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5033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RA計画、ばく露低減計画、教育計画を年間ロードマップ化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52242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52242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2242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9402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記録の作成・保存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6834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RA記録、ばく露評価、健診結果を法定期間保存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04044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04044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04044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1204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関係者への教育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8636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取扱者・管理監督者へSDS内容と取扱注意事項を周知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55845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55845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845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3005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改善・再評価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0437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作業変更・物質変更時の再RAと是正措置の実施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EMPLOYER'S LEGAL DUTIES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事業者の法定責務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安衛法第57条・第57条の3および関係省令に基づく事業者の取組み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25603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5603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5786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SDS交付・ラベル表示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546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安衛法第57条・第57条の2に基づく譲渡提供時のSDS交付とGHSラベル表示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79" y="22860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799" y="25603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799" y="25603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9" y="25786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ばく露の最小化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31546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濃度基準値以下に管理し、可能な限りばく露を低減する努力義務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59" y="46177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6177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6360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健康診断・健康管理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52120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リスクに応じた健康診断、がん原性物質取扱者への配慮を実施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79" y="43434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799" y="46177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799" y="46177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199" y="46360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記録の保存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799" y="52120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RA記録は3年以上、がん原性物質関連の記録は30年保存（一部物質）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Meiryo"/>
                <a:ea typeface="Meiryo"/>
              </a:rPr>
              <a:t>本日のまとめ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56232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20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自律管理は4要素で回す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68880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管理者選任・RA・ばく露低減・健康障害防止を一体運用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0488" y="1691640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691640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1856232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7" y="1874520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SDS／GHSが実務の起点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468880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国際化学物質情報源を活用し4STEPで判断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75887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675887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840479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858768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4階層で確実に低減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453127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排除→代替→工学→PPEの順を崩さず選定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3675887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3675887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3096" y="3840479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7" y="3858768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記録保存は物質ごとに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096" y="4453127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RA記録は3年以上、がん原性物質は30年保存（一部物質）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532120"/>
            <a:ext cx="11094415" cy="15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6692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お問い合わせ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893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>anzen-ai-portal.jp/contact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35508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安全AIポータル 教育資料 - 化学物質RA実務教育</dc:title>
  <dc:subject>労働安全衛生教育資料</dc:subject>
  <dc:creator>安全AIポータル編集部</dc:creator>
  <cp:keywords>安全AIポータル; 労働安全; 労働衛生教育</cp:keywords>
  <dc:description>安全AIポータル編集部制作｜労働安全コンサルタント監修</dc:description>
  <cp:lastModifiedBy>安全AIポータル編集部</cp:lastModifiedBy>
  <cp:revision>1</cp:revision>
  <dcterms:created xsi:type="dcterms:W3CDTF">2013-01-27T09:14:16Z</dcterms:created>
  <dcterms:modified xsi:type="dcterms:W3CDTF">2013-01-27T09:15:58Z</dcterms:modified>
  <cp:category/>
</cp:coreProperties>
</file>