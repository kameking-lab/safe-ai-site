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C9A86E"/>
                </a:solidFill>
                <a:latin typeface="Meiryo"/>
                <a:ea typeface="Meiryo"/>
              </a:rPr>
              <a:t>労働衛生教育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HEAT STROKE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  <a:latin typeface="Meiryo"/>
                <a:ea typeface="Meiryo"/>
              </a:rPr>
              <a:t>熱中症予防 労働衛生教育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CBD5E1"/>
                </a:solidFill>
                <a:latin typeface="Meiryo"/>
                <a:ea typeface="Meiryo"/>
              </a:rPr>
              <a:t>WBGT・現場運用対応コース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46320"/>
            <a:ext cx="1828800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983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BD5E1"/>
                </a:solidFill>
                <a:latin typeface="Meiryo"/>
                <a:ea typeface="Meiryo"/>
              </a:rPr>
              <a:t>安衛則第612条の2・基発0318第1号準拠 ／ 約1.5時間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4008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A0783C"/>
                </a:solidFill>
                <a:latin typeface="Meiryo"/>
                <a:ea typeface="Meiryo"/>
              </a:rPr>
              <a:t>安全AIポータル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本日のアジェンダ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08760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1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なぜ今、熱中症予防か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業務上熱中症の発生動向と2025年安衛則改正の背景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1783080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1947672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599" y="2011680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59" y="1984248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熱中症対策の4要素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59" y="2496312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作業環境管理・作業管理・健康管理・労働衛生教育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1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WBGT基準値と作業強度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JIS Z 8504に基づく区分と現場での運用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3319272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79" y="3483864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599" y="3547872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59" y="3520440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緊急時対応 4STEP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4032504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意識確認→搬送・冷却→119通報→記録報告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08760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1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環境改善と水分・塩分摂取の原則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1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遮熱・送風・休憩室と計画的補給の実務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79" y="4855464"/>
            <a:ext cx="5349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5020055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0783C"/>
                </a:solidFill>
                <a:latin typeface="Meiryo"/>
                <a:ea typeface="Meiryo"/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599" y="5084064"/>
            <a:ext cx="10000" cy="9144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59" y="5056631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A2744"/>
                </a:solidFill>
                <a:latin typeface="Meiryo"/>
                <a:ea typeface="Meiryo"/>
              </a:rPr>
              <a:t>暑熱順化と事業者の責務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59" y="5568696"/>
            <a:ext cx="4069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5日〜2週間の順化計画と法定責任の整理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なぜ今、熱中症予防か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029200" cy="4206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297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0" b="1">
                <a:solidFill>
                  <a:srgbClr val="FFFFFF"/>
                </a:solidFill>
                <a:latin typeface="Meiryo"/>
                <a:ea typeface="Meiryo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200400"/>
            <a:ext cx="1371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>
                <a:solidFill>
                  <a:srgbClr val="A0783C"/>
                </a:solidFill>
                <a:latin typeface="Meiryo"/>
                <a:ea typeface="Meiryo"/>
              </a:rPr>
              <a:t>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4297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CBD5E1"/>
                </a:solidFill>
                <a:latin typeface="Meiryo"/>
                <a:ea typeface="Meiryo"/>
              </a:rPr>
              <a:t>業務上熱中症 死傷者に占める建設業の比率（年間平均）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出典：厚生労働省「職場における熱中症による死傷災害の発生状況」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830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業種別 熱中症死傷者数の傾向（相対値）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40487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建設業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286000"/>
            <a:ext cx="3749039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67160" y="24048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1.00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5638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製造業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93751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937510"/>
            <a:ext cx="3186683" cy="4572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004804" y="305638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0789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運輸業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358902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589020"/>
            <a:ext cx="1574596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92716" y="370789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359401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警備業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240529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4240529"/>
            <a:ext cx="1162202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80322" y="4359401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0109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清掃・廃棄物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892040"/>
            <a:ext cx="3749039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4892040"/>
            <a:ext cx="1012240" cy="4572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30360" y="50109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334155"/>
                </a:solidFill>
                <a:latin typeface="Meiryo"/>
                <a:ea typeface="Meiryo"/>
              </a:rPr>
              <a:t>0.27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623559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64748B"/>
                </a:solidFill>
                <a:latin typeface="Meiryo"/>
                <a:ea typeface="Meiryo"/>
              </a:rPr>
              <a:t>※建設業の発生率を1.00として正規化した業種別傾向の概算。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FOUR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熱中症対策の4要素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2025年6月1日施行 安衛則改正（WBGT28以上または気温31度以上の作業で措置義務化）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作業環境管理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WBGT値の測定・記録、遮熱・送風・冷房、日除け・休憩室の整備、湿度・気流の制御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228600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46888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19" y="248716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作業管理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63240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休憩時間の確保、計画的水分・塩分補給、作業時間短縮・スケジュール調整、単独作業の回避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健康管理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暑熱順化、雇入時・配置替時健診、巡視と声かけ、既往歴・服薬状況の把握、体調記録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89120"/>
            <a:ext cx="5349240" cy="1874519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79" y="4389120"/>
            <a:ext cx="109728" cy="1874519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572000"/>
            <a:ext cx="731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19" y="4590288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1A2744"/>
                </a:solidFill>
                <a:latin typeface="Meiryo"/>
                <a:ea typeface="Meiryo"/>
              </a:rPr>
              <a:t>労働衛生教育・緊急対応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5166359"/>
            <a:ext cx="484632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症状・予防の教育、緊急時連絡網の整備、報告・記録の体制、AED・冷却資材の配備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WBGT REFERENCE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WBGT基準値と作業強度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99699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81411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区分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2545634" y="1828800"/>
            <a:ext cx="2662659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37074" y="1828800"/>
            <a:ext cx="24797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身体作業強度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5208294" y="1828800"/>
            <a:ext cx="3106436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99734" y="1828800"/>
            <a:ext cx="292355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WBGT基準値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14730" y="1828800"/>
            <a:ext cx="3328324" cy="5029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6170" y="1828800"/>
            <a:ext cx="314544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対応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331720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軽い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5634" y="2331720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5362" y="2331720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事務・軽作業（座位・立位での軽作業）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08294" y="2331720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18022" y="2331720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32.5℃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14730" y="2331720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4458" y="2331720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通常作業可。水分補給と巡視を励行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999232"/>
            <a:ext cx="199699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2999232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中程度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45634" y="2999232"/>
            <a:ext cx="2662659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5362" y="2999232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歩行・組立・運搬等の中等度作業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08294" y="2999232"/>
            <a:ext cx="3106436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18022" y="2999232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29.0℃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14730" y="2999232"/>
            <a:ext cx="332832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24458" y="2999232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休憩時間延長、作業強度の見直し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66744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666744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やや重い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45634" y="3666744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5362" y="3666744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重量物取扱い・重機作業等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08294" y="3666744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18022" y="3666744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27.5℃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14730" y="3666744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4458" y="3666744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作業時間短縮、こまめな休憩、単独作業禁止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4334256"/>
            <a:ext cx="199699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334256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重い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45634" y="4334256"/>
            <a:ext cx="2662659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5362" y="4334256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つるはし・スコップ作業等の重作業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08294" y="4334256"/>
            <a:ext cx="3106436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18022" y="4334256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26.5℃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14730" y="4334256"/>
            <a:ext cx="3328324" cy="66751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24458" y="4334256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作業中止検討、暑熱順化未了者は配置回避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001768"/>
            <a:ext cx="199699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001768"/>
            <a:ext cx="177753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A2744"/>
                </a:solidFill>
                <a:latin typeface="Meiryo"/>
                <a:ea typeface="Meiryo"/>
              </a:rPr>
              <a:t>非常に重い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45634" y="5001768"/>
            <a:ext cx="2662659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5362" y="5001768"/>
            <a:ext cx="2443203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全身を激しく使う作業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08294" y="5001768"/>
            <a:ext cx="3106436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18022" y="5001768"/>
            <a:ext cx="288698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25.0℃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14730" y="5001768"/>
            <a:ext cx="3328324" cy="667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24458" y="5001768"/>
            <a:ext cx="3108868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原則作業中止、冷却・休憩優先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4748B"/>
                </a:solidFill>
                <a:latin typeface="Meiryo"/>
                <a:ea typeface="Meiryo"/>
              </a:rPr>
              <a:t>出典：JIS Z 8504 ／ 基発0318第1号「職場における熱中症対策のためのガイドライン」別紙より要約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EMERGENCY RESPONSE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緊急時対応 4STEP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異変を感じたら作業を中止し、迷わず4STEPを実行する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1</a:t>
            </a:r>
          </a:p>
        </p:txBody>
      </p:sp>
      <p:sp>
        <p:nvSpPr>
          <p:cNvPr id="9" name="Oval 8"/>
          <p:cNvSpPr/>
          <p:nvPr/>
        </p:nvSpPr>
        <p:spPr>
          <a:xfrm>
            <a:off x="1301076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意識・症状の確認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呼びかけ反応、めまい・吐き気・けいれん・高体温の有無を確認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67913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0833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0833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2</a:t>
            </a:r>
          </a:p>
        </p:txBody>
      </p:sp>
      <p:sp>
        <p:nvSpPr>
          <p:cNvPr id="16" name="Oval 15"/>
          <p:cNvSpPr/>
          <p:nvPr/>
        </p:nvSpPr>
        <p:spPr>
          <a:xfrm>
            <a:off x="4223270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7993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涼所搬送・冷却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3713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風通しの良い日陰へ移動、衣服を緩めて首・脇・鼠径部を冷却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90107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93027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3027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3</a:t>
            </a:r>
          </a:p>
        </p:txBody>
      </p:sp>
      <p:sp>
        <p:nvSpPr>
          <p:cNvPr id="23" name="Oval 22"/>
          <p:cNvSpPr/>
          <p:nvPr/>
        </p:nvSpPr>
        <p:spPr>
          <a:xfrm>
            <a:off x="7145464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0187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119通報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5907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意識障害・経口摂取不可・改善なしは即時通報。単独で抱え込まない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812301" y="3886200"/>
            <a:ext cx="411480" cy="36576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15221" y="2468880"/>
            <a:ext cx="2327833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5221" y="2468880"/>
            <a:ext cx="2327833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A0783C"/>
                </a:solidFill>
                <a:latin typeface="Meiryo"/>
                <a:ea typeface="Meiryo"/>
              </a:rPr>
              <a:t>STEP 4</a:t>
            </a:r>
          </a:p>
        </p:txBody>
      </p:sp>
      <p:sp>
        <p:nvSpPr>
          <p:cNvPr id="30" name="Oval 29"/>
          <p:cNvSpPr/>
          <p:nvPr/>
        </p:nvSpPr>
        <p:spPr>
          <a:xfrm>
            <a:off x="10067658" y="3337560"/>
            <a:ext cx="822960" cy="822960"/>
          </a:xfrm>
          <a:prstGeom prst="ellipse">
            <a:avLst/>
          </a:prstGeom>
          <a:solidFill>
            <a:srgbClr val="A0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400" b="1">
                <a:solidFill>
                  <a:srgbClr val="FFFFFF"/>
                </a:solidFill>
                <a:latin typeface="Meiryo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52381" y="4343400"/>
            <a:ext cx="205351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記録・報告・再発防止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8101" y="4892040"/>
            <a:ext cx="196207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発生時のWBGT・作業内容・対応を記録し、原因分析と対策見直し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ENVIRONMENT &amp; HYDRATION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環境改善と補給の原則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ENVIRONMENTAL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WBGT低減対策 4ポイント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遮熱・日除けの設置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直射日光を遮るシートやテント、反射塗装で輻射熱を低減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送風・気流の確保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大型扇風機・スポットクーラーで体感温度を下げる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クールシャワー・ミスト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休憩時の身体冷却。手・前腕の冷水浸漬も有効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冷房付き休憩室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横になれる広さを確保し、飲料・塩分・氷を常備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783080"/>
            <a:ext cx="5440680" cy="416052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783080"/>
            <a:ext cx="5440680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1828800"/>
            <a:ext cx="4892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C9A86E"/>
                </a:solidFill>
                <a:latin typeface="Meiryo"/>
                <a:ea typeface="Meiryo"/>
              </a:rPr>
              <a:t>HYDRATION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039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水分・塩分摂取 4ポイント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651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60603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こまめに先取りで補給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301752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喉が渇く前に20〜30分ごと、コップ1杯を目安に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4747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42899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塩分濃度0.1〜0.2%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840479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スポーツドリンクや経口補水液で電解質を補う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2976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251959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計画的な補給時刻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66344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作業前・休憩時・作業後を必ずセット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512064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074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A2744"/>
                </a:solidFill>
                <a:latin typeface="Meiryo"/>
                <a:ea typeface="Meiryo"/>
              </a:rPr>
              <a:t>1日1.2L以上を目安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486400"/>
            <a:ext cx="4526280" cy="3657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高温多湿環境では汗量に応じてさらに増やす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HEAT ACCLIMATIZATION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暑熱順化 5ステップ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順化未了者の発症リスクが高い。最初の1週間は段階的に作業時間を増やす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1日目 短時間慣らし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通常の50%程度の作業時間に抑え、こまめに休憩を入れる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0441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0441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0441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7601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2〜3日目 段階増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5033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60〜70%まで作業時間を延ばし、体調観察を継続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52242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52242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2242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9402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4〜5日目 標準化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6834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通常作業時間に近づける。水分・塩分補給は継続強化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4044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04044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04044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1204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6〜7日目 定着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68636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通常作業時間で運用。異変時は直ちに作業中止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55845" y="2377440"/>
            <a:ext cx="2087209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55845" y="2377440"/>
            <a:ext cx="2087209" cy="146304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845" y="2743200"/>
            <a:ext cx="2087209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1A2744"/>
                </a:solidFill>
                <a:latin typeface="Meiryo"/>
                <a:ea typeface="Meiryo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3005" y="4069080"/>
            <a:ext cx="18128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連休明け・新規入場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437" y="4754880"/>
            <a:ext cx="175802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>
                <a:solidFill>
                  <a:srgbClr val="334155"/>
                </a:solidFill>
                <a:latin typeface="Meiryo"/>
                <a:ea typeface="Meiryo"/>
              </a:rPr>
              <a:t>順化はリセットされる前提で再度1週間の段階増を実施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EMPLOYER'S DUTIES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1A2744"/>
                </a:solidFill>
                <a:latin typeface="Meiryo"/>
                <a:ea typeface="Meiryo"/>
              </a:rPr>
              <a:t>事業者の責務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334155"/>
                </a:solidFill>
                <a:latin typeface="Meiryo"/>
                <a:ea typeface="Meiryo"/>
              </a:rPr>
              <a:t>安衛法第22条および安衛則第612条の2（2025年6月1日施行）・基発0318第1号ガイドラインに基づく取組み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WBGT測定と記録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高温多湿作業場で作業前・作業中の測定を行い、結果を記録・掲示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22860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25603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9" y="25786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巡視と体調確認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99" y="31546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管理者による定期巡視と声かけ、単独作業の回避と相互観察体制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教育・訓練の実施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雇入時・配置替時に症状・予防・緊急対応を教育、年1回以上の再教育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343400"/>
            <a:ext cx="534924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4617720"/>
            <a:ext cx="777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FFFFF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199" y="4636008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1A2744"/>
                </a:solidFill>
                <a:latin typeface="Meiryo"/>
                <a:ea typeface="Meiryo"/>
              </a:rPr>
              <a:t>報告・記録体制の整備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799" y="5212080"/>
            <a:ext cx="4892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334155"/>
                </a:solidFill>
                <a:latin typeface="Meiryo"/>
                <a:ea typeface="Meiryo"/>
              </a:rPr>
              <a:t>緊急連絡網と発生時報告フロー、健診・教育・対応記録を3年以上保存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>
                <a:solidFill>
                  <a:srgbClr val="94A3B8"/>
                </a:solidFill>
                <a:latin typeface="Meiryo"/>
                <a:ea typeface="Meiryo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FFFFFF"/>
                </a:solidFill>
                <a:latin typeface="Meiryo"/>
                <a:ea typeface="Meiryo"/>
              </a:rPr>
              <a:t>本日のまとめ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48640" cy="28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WBGTで判断、感覚に頼らない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測定値に基づく作業計画と休憩設計が基本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0488" y="1691640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691640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8562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7" y="1874520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暑熱順化は1週間かけて段階的に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46888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連休明け・新規入場者は特に注意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緊急時は迷わず4STEP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意識障害は即119、冷却を並行して実施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0488" y="3675887"/>
            <a:ext cx="544068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3675887"/>
            <a:ext cx="109728" cy="178308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3840479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A0783C"/>
                </a:solidFill>
                <a:latin typeface="Meiryo"/>
                <a:ea typeface="Meiry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50607" y="3858768"/>
            <a:ext cx="4297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A2744"/>
                </a:solidFill>
                <a:latin typeface="Meiryo"/>
                <a:ea typeface="Meiryo"/>
              </a:rPr>
              <a:t>記録と再評価で継続改善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4453127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>
                <a:solidFill>
                  <a:srgbClr val="334155"/>
                </a:solidFill>
                <a:latin typeface="Meiryo"/>
                <a:ea typeface="Meiryo"/>
              </a:rPr>
              <a:t>教育・健診・対応記録を3年保存し毎年見直し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532120"/>
            <a:ext cx="11094415" cy="15000"/>
          </a:xfrm>
          <a:prstGeom prst="rect">
            <a:avLst/>
          </a:prstGeom>
          <a:solidFill>
            <a:srgbClr val="A07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6692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A0783C"/>
                </a:solidFill>
                <a:latin typeface="Meiryo"/>
                <a:ea typeface="Meiryo"/>
              </a:rPr>
              <a:t>お問い合わせ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89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Meiryo"/>
                <a:ea typeface="Meiryo"/>
              </a:rPr>
              <a:t>anzen-ai-portal.jp/contact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4A3B8"/>
                </a:solidFill>
                <a:latin typeface="Meiryo"/>
                <a:ea typeface="Meiryo"/>
              </a:rPr>
              <a:t>安全AIポータル編集部｜労働安全コンサルタント監修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安全AIポータル 教育資料 - 熱中症予防 労働衛生教育</dc:title>
  <dc:subject>労働安全衛生教育資料</dc:subject>
  <dc:creator>安全AIポータル編集部</dc:creator>
  <cp:keywords>安全AIポータル; 労働安全; 労働衛生教育</cp:keywords>
  <dc:description>安全AIポータル編集部制作｜労働安全コンサルタント監修</dc:description>
  <cp:lastModifiedBy>安全AIポータル編集部</cp:lastModifiedBy>
  <cp:revision>1</cp:revision>
  <dcterms:created xsi:type="dcterms:W3CDTF">2013-01-27T09:14:16Z</dcterms:created>
  <dcterms:modified xsi:type="dcterms:W3CDTF">2013-01-27T09:15:58Z</dcterms:modified>
  <cp:category/>
</cp:coreProperties>
</file>