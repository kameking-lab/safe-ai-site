
<file path=[Content_Types].xml><?xml version="1.0" encoding="utf-8"?>
<Types xmlns="http://schemas.openxmlformats.org/package/2006/content-types">
  <Default Extension="xml" ContentType="application/vnd.openxmlformats-package.core-properties+xml"/>
  <Default Extension="bin" ContentType="image/webp"/>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3.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ce22c71613741be" /><Relationship Type="http://schemas.openxmlformats.org/officeDocument/2006/relationships/extended-properties" Target="/docProps/app.xml" Id="R14310711eead4bf8" /><Relationship Type="http://schemas.openxmlformats.org/officeDocument/2006/relationships/officeDocument" Target="/ppt/presentation.xml" Id="Rab0848268a7d451e" /></Relationships>
</file>

<file path=ppt/presentation.xml><?xml version="1.0" encoding="utf-8"?>
<p:presentation xmlns:p="http://schemas.openxmlformats.org/presentationml/2006/main">
  <p:sldMasterIdLst>
    <p:sldMasterId xmlns:r="http://schemas.openxmlformats.org/officeDocument/2006/relationships" id="2147483648" r:id="R306da85fbed24c7b"/>
  </p:sldMasterIdLst>
  <p:notesMasterIdLst>
    <p:notesMasterId xmlns:r="http://schemas.openxmlformats.org/officeDocument/2006/relationships" r:id="Re64117aaa588477e"/>
  </p:notesMasterIdLst>
  <p:sldIdLst>
    <p:sldId xmlns:r="http://schemas.openxmlformats.org/officeDocument/2006/relationships" id="256" r:id="R87193382596248b1"/>
    <p:sldId xmlns:r="http://schemas.openxmlformats.org/officeDocument/2006/relationships" id="257" r:id="Rcef62ca6dc11432a"/>
    <p:sldId xmlns:r="http://schemas.openxmlformats.org/officeDocument/2006/relationships" id="258" r:id="Rd67d6b35d4b54ae7"/>
    <p:sldId xmlns:r="http://schemas.openxmlformats.org/officeDocument/2006/relationships" id="259" r:id="Rfce92cea18d24e33"/>
    <p:sldId xmlns:r="http://schemas.openxmlformats.org/officeDocument/2006/relationships" id="260" r:id="R5116c34a7ab74541"/>
    <p:sldId xmlns:r="http://schemas.openxmlformats.org/officeDocument/2006/relationships" id="261" r:id="Rdd0827356ce74c8c"/>
    <p:sldId xmlns:r="http://schemas.openxmlformats.org/officeDocument/2006/relationships" id="262" r:id="R1c24e88765544528"/>
    <p:sldId xmlns:r="http://schemas.openxmlformats.org/officeDocument/2006/relationships" id="263" r:id="Rbfbfa118f75e4305"/>
    <p:sldId xmlns:r="http://schemas.openxmlformats.org/officeDocument/2006/relationships" id="264" r:id="R77dc879a607949c2"/>
    <p:sldId xmlns:r="http://schemas.openxmlformats.org/officeDocument/2006/relationships" id="265" r:id="Rac6851c4ceed47bd"/>
    <p:sldId xmlns:r="http://schemas.openxmlformats.org/officeDocument/2006/relationships" id="266" r:id="R84fe1f55bed84ca8"/>
    <p:sldId xmlns:r="http://schemas.openxmlformats.org/officeDocument/2006/relationships" id="267" r:id="Rf6512043907141d3"/>
    <p:sldId xmlns:r="http://schemas.openxmlformats.org/officeDocument/2006/relationships" id="268" r:id="R7ffc2b28d2804a33"/>
    <p:sldId xmlns:r="http://schemas.openxmlformats.org/officeDocument/2006/relationships" id="269" r:id="R85c062e0cabd43d9"/>
    <p:sldId xmlns:r="http://schemas.openxmlformats.org/officeDocument/2006/relationships" id="270" r:id="R7fb1010334e142a7"/>
    <p:sldId xmlns:r="http://schemas.openxmlformats.org/officeDocument/2006/relationships" id="271" r:id="Rc7bb56421ff54501"/>
    <p:sldId xmlns:r="http://schemas.openxmlformats.org/officeDocument/2006/relationships" id="272" r:id="R959686123e3144a1"/>
    <p:sldId xmlns:r="http://schemas.openxmlformats.org/officeDocument/2006/relationships" id="273" r:id="Re8ea72f4c4eb4b57"/>
    <p:sldId xmlns:r="http://schemas.openxmlformats.org/officeDocument/2006/relationships" id="274" r:id="R50fdc345234c4d0c"/>
    <p:sldId xmlns:r="http://schemas.openxmlformats.org/officeDocument/2006/relationships" id="275" r:id="Rd33b149a9c2e42f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0997175506e4638" /><Relationship Type="http://schemas.openxmlformats.org/officeDocument/2006/relationships/slideMaster" Target="/ppt/slideMasters/slideMaster1.xml" Id="R306da85fbed24c7b" /><Relationship Type="http://schemas.openxmlformats.org/officeDocument/2006/relationships/notesMaster" Target="/ppt/notesMasters/notesMaster1.xml" Id="Re64117aaa588477e" /><Relationship Type="http://schemas.openxmlformats.org/officeDocument/2006/relationships/presProps" Target="/ppt/presProps.xml" Id="R800673ab8f0f4422" /><Relationship Type="http://schemas.openxmlformats.org/officeDocument/2006/relationships/tableStyles" Target="/ppt/tableStyles.xml" Id="Rf1fd866e377543cf" /><Relationship Type="http://schemas.openxmlformats.org/officeDocument/2006/relationships/slide" Target="/ppt/slides/slide1.xml" Id="R87193382596248b1" /><Relationship Type="http://schemas.openxmlformats.org/officeDocument/2006/relationships/slide" Target="/ppt/slides/slide2.xml" Id="Rcef62ca6dc11432a" /><Relationship Type="http://schemas.openxmlformats.org/officeDocument/2006/relationships/slide" Target="/ppt/slides/slide3.xml" Id="Rd67d6b35d4b54ae7" /><Relationship Type="http://schemas.openxmlformats.org/officeDocument/2006/relationships/slide" Target="/ppt/slides/slide4.xml" Id="Rfce92cea18d24e33" /><Relationship Type="http://schemas.openxmlformats.org/officeDocument/2006/relationships/slide" Target="/ppt/slides/slide5.xml" Id="R5116c34a7ab74541" /><Relationship Type="http://schemas.openxmlformats.org/officeDocument/2006/relationships/slide" Target="/ppt/slides/slide6.xml" Id="Rdd0827356ce74c8c" /><Relationship Type="http://schemas.openxmlformats.org/officeDocument/2006/relationships/slide" Target="/ppt/slides/slide7.xml" Id="R1c24e88765544528" /><Relationship Type="http://schemas.openxmlformats.org/officeDocument/2006/relationships/slide" Target="/ppt/slides/slide8.xml" Id="Rbfbfa118f75e4305" /><Relationship Type="http://schemas.openxmlformats.org/officeDocument/2006/relationships/slide" Target="/ppt/slides/slide9.xml" Id="R77dc879a607949c2" /><Relationship Type="http://schemas.openxmlformats.org/officeDocument/2006/relationships/slide" Target="/ppt/slides/slide10.xml" Id="Rac6851c4ceed47bd" /><Relationship Type="http://schemas.openxmlformats.org/officeDocument/2006/relationships/slide" Target="/ppt/slides/slide11.xml" Id="R84fe1f55bed84ca8" /><Relationship Type="http://schemas.openxmlformats.org/officeDocument/2006/relationships/slide" Target="/ppt/slides/slide12.xml" Id="Rf6512043907141d3" /><Relationship Type="http://schemas.openxmlformats.org/officeDocument/2006/relationships/slide" Target="/ppt/slides/slide13.xml" Id="R7ffc2b28d2804a33" /><Relationship Type="http://schemas.openxmlformats.org/officeDocument/2006/relationships/slide" Target="/ppt/slides/slide14.xml" Id="R85c062e0cabd43d9" /><Relationship Type="http://schemas.openxmlformats.org/officeDocument/2006/relationships/slide" Target="/ppt/slides/slide15.xml" Id="R7fb1010334e142a7" /><Relationship Type="http://schemas.openxmlformats.org/officeDocument/2006/relationships/slide" Target="/ppt/slides/slide16.xml" Id="Rc7bb56421ff54501" /><Relationship Type="http://schemas.openxmlformats.org/officeDocument/2006/relationships/slide" Target="/ppt/slides/slide17.xml" Id="R959686123e3144a1" /><Relationship Type="http://schemas.openxmlformats.org/officeDocument/2006/relationships/slide" Target="/ppt/slides/slide18.xml" Id="Re8ea72f4c4eb4b57" /><Relationship Type="http://schemas.openxmlformats.org/officeDocument/2006/relationships/slide" Target="/ppt/slides/slide19.xml" Id="R50fdc345234c4d0c" /><Relationship Type="http://schemas.openxmlformats.org/officeDocument/2006/relationships/slide" Target="/ppt/slides/slide20.xml" Id="Rd33b149a9c2e42f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e69302e9ed9470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f9fbaa01f0840e5" /><Relationship Type="http://schemas.openxmlformats.org/officeDocument/2006/relationships/notesMaster" Target="/ppt/notesMasters/notesMaster1.xml" Id="Re268944e5cc34baf" /></Relationships>
</file>

<file path=ppt/notesSlides/_rels/notesSlide2.xml.rels>&#65279;<?xml version="1.0" encoding="utf-8"?><Relationships xmlns="http://schemas.openxmlformats.org/package/2006/relationships"><Relationship Type="http://schemas.openxmlformats.org/officeDocument/2006/relationships/slide" Target="/ppt/slides/slide2.xml" Id="Rc0742500df004c17" /><Relationship Type="http://schemas.openxmlformats.org/officeDocument/2006/relationships/notesMaster" Target="/ppt/notesMasters/notesMaster1.xml" Id="Rfbb8bac324ed42fd" /></Relationships>
</file>

<file path=ppt/notesSlides/_rels/notesSlide3.xml.rels>&#65279;<?xml version="1.0" encoding="utf-8"?><Relationships xmlns="http://schemas.openxmlformats.org/package/2006/relationships"><Relationship Type="http://schemas.openxmlformats.org/officeDocument/2006/relationships/slide" Target="/ppt/slides/slide3.xml" Id="Rb6d2554c07b74a53" /><Relationship Type="http://schemas.openxmlformats.org/officeDocument/2006/relationships/notesMaster" Target="/ppt/notesMasters/notesMaster1.xml" Id="Rfff118c663f446b1" /></Relationships>
</file>

<file path=ppt/notesSlides/_rels/notesSlide4.xml.rels>&#65279;<?xml version="1.0" encoding="utf-8"?><Relationships xmlns="http://schemas.openxmlformats.org/package/2006/relationships"><Relationship Type="http://schemas.openxmlformats.org/officeDocument/2006/relationships/slide" Target="/ppt/slides/slide4.xml" Id="R62b524c6c4ad4dd5" /><Relationship Type="http://schemas.openxmlformats.org/officeDocument/2006/relationships/notesMaster" Target="/ppt/notesMasters/notesMaster1.xml" Id="R728e742c251649d2" /></Relationships>
</file>

<file path=ppt/notesSlides/_rels/notesSlide5.xml.rels>&#65279;<?xml version="1.0" encoding="utf-8"?><Relationships xmlns="http://schemas.openxmlformats.org/package/2006/relationships"><Relationship Type="http://schemas.openxmlformats.org/officeDocument/2006/relationships/slide" Target="/ppt/slides/slide5.xml" Id="R15004206e0c14efc" /><Relationship Type="http://schemas.openxmlformats.org/officeDocument/2006/relationships/notesMaster" Target="/ppt/notesMasters/notesMaster1.xml" Id="Rdf9ce6aa35f34509" /></Relationships>
</file>

<file path=ppt/notesSlides/_rels/notesSlide6.xml.rels>&#65279;<?xml version="1.0" encoding="utf-8"?><Relationships xmlns="http://schemas.openxmlformats.org/package/2006/relationships"><Relationship Type="http://schemas.openxmlformats.org/officeDocument/2006/relationships/slide" Target="/ppt/slides/slide6.xml" Id="R476e9d1d4a06429b" /><Relationship Type="http://schemas.openxmlformats.org/officeDocument/2006/relationships/notesMaster" Target="/ppt/notesMasters/notesMaster1.xml" Id="R37dc48fb6a6f49a6" /></Relationships>
</file>

<file path=ppt/notesSlides/_rels/notesSlide7.xml.rels>&#65279;<?xml version="1.0" encoding="utf-8"?><Relationships xmlns="http://schemas.openxmlformats.org/package/2006/relationships"><Relationship Type="http://schemas.openxmlformats.org/officeDocument/2006/relationships/slide" Target="/ppt/slides/slide7.xml" Id="R233ceda797314727" /><Relationship Type="http://schemas.openxmlformats.org/officeDocument/2006/relationships/notesMaster" Target="/ppt/notesMasters/notesMaster1.xml" Id="Rb3627a6f938c4f84" /></Relationships>
</file>

<file path=ppt/notesSlides/_rels/notesSlide8.xml.rels>&#65279;<?xml version="1.0" encoding="utf-8"?><Relationships xmlns="http://schemas.openxmlformats.org/package/2006/relationships"><Relationship Type="http://schemas.openxmlformats.org/officeDocument/2006/relationships/slide" Target="/ppt/slides/slide8.xml" Id="Rca5f38c055e04dc7" /><Relationship Type="http://schemas.openxmlformats.org/officeDocument/2006/relationships/notesMaster" Target="/ppt/notesMasters/notesMaster1.xml" Id="R7c64f02797554872" /></Relationships>
</file>

<file path=ppt/notesSlides/_rels/notesSlide9.xml.rels>&#65279;<?xml version="1.0" encoding="utf-8"?><Relationships xmlns="http://schemas.openxmlformats.org/package/2006/relationships"><Relationship Type="http://schemas.openxmlformats.org/officeDocument/2006/relationships/slide" Target="/ppt/slides/slide9.xml" Id="R23737e62ca9f4b53" /><Relationship Type="http://schemas.openxmlformats.org/officeDocument/2006/relationships/notesMaster" Target="/ppt/notesMasters/notesMaster1.xml" Id="Rf7621b530c984af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347461b7c614667" /><Relationship Type="http://schemas.openxmlformats.org/officeDocument/2006/relationships/notesMaster" Target="/ppt/notesMasters/notesMaster1.xml" Id="Rd83c3f124e3f4c4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dd8639d47a74cf3" /><Relationship Type="http://schemas.openxmlformats.org/officeDocument/2006/relationships/notesMaster" Target="/ppt/notesMasters/notesMaster1.xml" Id="Rd56e810b84bd4f8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f561829e31149fd" /><Relationship Type="http://schemas.openxmlformats.org/officeDocument/2006/relationships/notesMaster" Target="/ppt/notesMasters/notesMaster1.xml" Id="Re5709c4a365c418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33e50e9a1414bd2" /><Relationship Type="http://schemas.openxmlformats.org/officeDocument/2006/relationships/notesMaster" Target="/ppt/notesMasters/notesMaster1.xml" Id="R0b4ead41b1204f9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4eb6adb56954df8" /><Relationship Type="http://schemas.openxmlformats.org/officeDocument/2006/relationships/notesMaster" Target="/ppt/notesMasters/notesMaster1.xml" Id="R1f2c86e3d504475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be5b5935fdd4d61" /><Relationship Type="http://schemas.openxmlformats.org/officeDocument/2006/relationships/notesMaster" Target="/ppt/notesMasters/notesMaster1.xml" Id="R2c9cc6e2870c413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0a615df8e1a4ded" /><Relationship Type="http://schemas.openxmlformats.org/officeDocument/2006/relationships/notesMaster" Target="/ppt/notesMasters/notesMaster1.xml" Id="R204b6062d3cd4a0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e3c250b6b4f415c" /><Relationship Type="http://schemas.openxmlformats.org/officeDocument/2006/relationships/notesMaster" Target="/ppt/notesMasters/notesMaster1.xml" Id="R53e3f134fcca4cb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5420ea090fb48eb" /><Relationship Type="http://schemas.openxmlformats.org/officeDocument/2006/relationships/notesMaster" Target="/ppt/notesMasters/notesMaster1.xml" Id="Rbcec5e2e8573465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5b783abf8b24cf5" /><Relationship Type="http://schemas.openxmlformats.org/officeDocument/2006/relationships/notesMaster" Target="/ppt/notesMasters/notesMaster1.xml" Id="R5702d4f48f534b5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85e35e88147497b" /><Relationship Type="http://schemas.openxmlformats.org/officeDocument/2006/relationships/notesMaster" Target="/ppt/notesMasters/notesMaster1.xml" Id="Ra512b80a7a5241d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この研修では、墜落・転落をフルハーネスだけの問題として扱いません。高所作業をなくせないか、作業床や手すりで墜落そのものを防げないかを先に考え、そのうえで器具、取付点、下方空間、救助までを確認します。教材で示す統計は2025年の全国確定値、法令は2026年8月27日時点で確認した内容です。数字は発生件数であり、個人の墜落確率を直接示すものではありません。この教材は社内安全研修用です。法定の特別教育、技能講習、職長教育等を代替するものではありません。対象作業に法定教育が必要かは、実際の高さ、作業床、使用器具などから別に判定してください。</a:t>
            </a:r>
          </a:p>
          <a:p xmlns:a="http://schemas.openxmlformats.org/drawingml/2006/main">
            <a:r>
              <a:t/>
            </a:r>
          </a:p>
          <a:p xmlns:a="http://schemas.openxmlformats.org/drawingml/2006/main">
            <a:r>
              <a:t>講師補足</a:t>
            </a:r>
          </a:p>
          <a:p xmlns:a="http://schemas.openxmlformats.org/drawingml/2006/main">
            <a:r>
              <a:t>- 冒頭で「修了証を出す法定教育ではない」と明言する。</a:t>
            </a:r>
          </a:p>
          <a:p xmlns:a="http://schemas.openxmlformats.org/drawingml/2006/main">
            <a:r>
              <a:t>- 参加者へ、自社で高所作業がある工程を一つ思い浮かべてもらう。</a:t>
            </a:r>
          </a:p>
          <a:p xmlns:a="http://schemas.openxmlformats.org/drawingml/2006/main">
            <a:r>
              <a:t/>
            </a:r>
          </a:p>
          <a:p xmlns:a="http://schemas.openxmlformats.org/drawingml/2006/main">
            <a:r>
              <a:t>主張ID</a:t>
            </a:r>
          </a:p>
          <a:p xmlns:a="http://schemas.openxmlformats.org/drawingml/2006/main">
            <a:r>
              <a:t>教材案内（外部事実主張なし）</a:t>
            </a:r>
          </a:p>
          <a:p xmlns:a="http://schemas.openxmlformats.org/drawingml/2006/main">
            <a:r>
              <a:t/>
            </a:r>
          </a:p>
          <a:p xmlns:a="http://schemas.openxmlformats.org/drawingml/2006/main">
            <a:r>
              <a:t>[Sources]</a:t>
            </a:r>
          </a:p>
          <a:p xmlns:a="http://schemas.openxmlformats.org/drawingml/2006/main">
            <a:r>
              <a:t>- 教材ページ: https://www.anzen-ai-portal.jp/training/safety-seminars/fall-prevention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一つ目は、器具より先に設備を見ることです。地上で組み立てられないか、安定した作業床を設けられないか、端部や開口部を手すりや覆いで守れないかを確認します。人が毎回正しく行動しなくても機能する対策を優先します。二つ目は、フルハーネスを使う場合も、着けるだけで終わらせないことです。作業高さ、使用質量、取付位置、ショックアブソーバの種類、器具表示の落下距離、実際の下方空間を一つの系として照合します。三つ目は、墜落を制止した後まで計画することです。宙づりを安全に待てる固定時間はありません。救助方法、機材、担当者、連絡方法を作業前に決めます。この三つを、今日の現場確認の共通順序にします。</a:t>
            </a:r>
          </a:p>
          <a:p xmlns:a="http://schemas.openxmlformats.org/drawingml/2006/main">
            <a:r>
              <a:t/>
            </a:r>
          </a:p>
          <a:p xmlns:a="http://schemas.openxmlformats.org/drawingml/2006/main">
            <a:r>
              <a:t>講師補足</a:t>
            </a:r>
          </a:p>
          <a:p xmlns:a="http://schemas.openxmlformats.org/drawingml/2006/main">
            <a:r>
              <a:t>- 「ハーネスを買った」ではなく「墜落防止システムを成立させたか」と問い直す。</a:t>
            </a:r>
          </a:p>
          <a:p xmlns:a="http://schemas.openxmlformats.org/drawingml/2006/main">
            <a:r>
              <a:t>- 訓練単独で事故が減るとは説明しない。</a:t>
            </a:r>
          </a:p>
          <a:p xmlns:a="http://schemas.openxmlformats.org/drawingml/2006/main">
            <a:r>
              <a:t/>
            </a:r>
          </a:p>
          <a:p xmlns:a="http://schemas.openxmlformats.org/drawingml/2006/main">
            <a:r>
              <a:t>主張ID</a:t>
            </a:r>
          </a:p>
          <a:p xmlns:a="http://schemas.openxmlformats.org/drawingml/2006/main">
            <a:r>
              <a:t>C-GUIDE-001, SCI-HIER-001, SCI-HIER-002, SCI-RESCUE-001</a:t>
            </a:r>
          </a:p>
          <a:p xmlns:a="http://schemas.openxmlformats.org/drawingml/2006/main">
            <a:r>
              <a:t/>
            </a:r>
          </a:p>
          <a:p xmlns:a="http://schemas.openxmlformats.org/drawingml/2006/main">
            <a:r>
              <a:t>[Sources]</a:t>
            </a:r>
          </a:p>
          <a:p xmlns:a="http://schemas.openxmlformats.org/drawingml/2006/main">
            <a:r>
              <a:t>- S6 GUIDE-MHLW-001: https://www.mhlw.go.jp/web/t_doc?dataId=00tc4287&amp;dataType=1&amp;pageNo=1</a:t>
            </a:r>
          </a:p>
          <a:p xmlns:a="http://schemas.openxmlformats.org/drawingml/2006/main">
            <a:r>
              <a:t>- S20 GOV-US-OSHA-FALL: https://www.osha.gov/otm/section-5-construction-operations/chapter-4</a:t>
            </a:r>
          </a:p>
          <a:p xmlns:a="http://schemas.openxmlformats.org/drawingml/2006/main">
            <a:r>
              <a:t>- S21 SCI-SUSP-REVIEW-2023: https://pmc.ncbi.nlm.nih.gov/articles/PMC10710713/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2025年1月から12月までの全国確定値では、労働災害による死亡者は700人、休業4日以上の死傷者は13万5,333人でした。いずれも新型コロナウイルス感染症へのり患による労働災害を除いた集計です。死亡者数は死亡災害報告、休業4日以上の死傷者数は労働者死傷病報告を基にしています。死傷者数には死亡者も含まれるため、700人と13万5,333人を足してはいけません。通勤災害もこの死傷者数には含まれません。事故の型が墜落・転落だったものは、全産業で死亡186人、休業4日以上の死傷2万864人です。高所作業を行う一部の職種だけの問題ではなく、幅広い現場で確認すべき災害類型です。</a:t>
            </a:r>
          </a:p>
          <a:p xmlns:a="http://schemas.openxmlformats.org/drawingml/2006/main">
            <a:r>
              <a:t/>
            </a:r>
          </a:p>
          <a:p xmlns:a="http://schemas.openxmlformats.org/drawingml/2006/main">
            <a:r>
              <a:t>講師補足</a:t>
            </a:r>
          </a:p>
          <a:p xmlns:a="http://schemas.openxmlformats.org/drawingml/2006/main">
            <a:r>
              <a:t>- 全国、2025年、確定、コロナ除外、休業4日以上を必ずセットで読む。</a:t>
            </a:r>
          </a:p>
          <a:p xmlns:a="http://schemas.openxmlformats.org/drawingml/2006/main">
            <a:r>
              <a:t>- 700人と135,333人を別母集団として加算させない。</a:t>
            </a:r>
          </a:p>
          <a:p xmlns:a="http://schemas.openxmlformats.org/drawingml/2006/main">
            <a:r>
              <a:t/>
            </a:r>
          </a:p>
          <a:p xmlns:a="http://schemas.openxmlformats.org/drawingml/2006/main">
            <a:r>
              <a:t>主張ID</a:t>
            </a:r>
          </a:p>
          <a:p xmlns:a="http://schemas.openxmlformats.org/drawingml/2006/main">
            <a:r>
              <a:t>CLM-STAT-001, CLM-STAT-007, CLM-STAT-009</a:t>
            </a:r>
          </a:p>
          <a:p xmlns:a="http://schemas.openxmlformats.org/drawingml/2006/main">
            <a:r>
              <a:t/>
            </a:r>
          </a:p>
          <a:p xmlns:a="http://schemas.openxmlformats.org/drawingml/2006/main">
            <a:r>
              <a:t>[Sources]</a:t>
            </a:r>
          </a:p>
          <a:p xmlns:a="http://schemas.openxmlformats.org/drawingml/2006/main">
            <a:r>
              <a:t>- S16 STAT-R7-FINAL-PDF: https://www.mhlw.go.jp/content/11302000/001704887.pdf</a:t>
            </a:r>
          </a:p>
          <a:p xmlns:a="http://schemas.openxmlformats.org/drawingml/2006/main">
            <a:r>
              <a:t>- S17 STAT-R7-FINAL-XLSX: https://www.mhlw.go.jp/bunya/roudoukijun/anzeneisei11/rousai-hassei/xls/25-16.xlsx</a:t>
            </a:r>
          </a:p>
          <a:p xmlns:a="http://schemas.openxmlformats.org/drawingml/2006/main">
            <a:r>
              <a:t>- S18 STAT-R7-INJURY-ANALYSIS: https://anzeninfo.mhlw.go.jp/user/anzen/tok/r7_16_sisyou_bunseki.xlsx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2025年の建設業では、死亡者214人のうち、墜落・転落が91人でした。214人を分母にすると42.5パーセントです。建設業の死亡災害を考えるとき、墜落・転落を外せないことが分かります。休業4日以上の死傷者は建設業全体で1万3,437人、そのうち墜落・転落は4,343人で、32.3パーセントです。死亡と死傷では分母も意味も異なるため、二つの割合を同じものとして扱わないでください。この割合は、個々の作業者が墜落する確率ではありません。また、フルハーネスを使用したかどうかの効果も示しません。現場で優先して確認すべき危険の大きさを理解するための構成比として使います。</a:t>
            </a:r>
          </a:p>
          <a:p xmlns:a="http://schemas.openxmlformats.org/drawingml/2006/main">
            <a:r>
              <a:t/>
            </a:r>
          </a:p>
          <a:p xmlns:a="http://schemas.openxmlformats.org/drawingml/2006/main">
            <a:r>
              <a:t>講師補足</a:t>
            </a:r>
          </a:p>
          <a:p xmlns:a="http://schemas.openxmlformats.org/drawingml/2006/main">
            <a:r>
              <a:t>- 死亡と死傷は別々の分母で示す。</a:t>
            </a:r>
          </a:p>
          <a:p xmlns:a="http://schemas.openxmlformats.org/drawingml/2006/main">
            <a:r>
              <a:t>- 42.5%減らせる、など対策効果へ読み替えない。</a:t>
            </a:r>
          </a:p>
          <a:p xmlns:a="http://schemas.openxmlformats.org/drawingml/2006/main">
            <a:r>
              <a:t/>
            </a:r>
          </a:p>
          <a:p xmlns:a="http://schemas.openxmlformats.org/drawingml/2006/main">
            <a:r>
              <a:t>主張ID</a:t>
            </a:r>
          </a:p>
          <a:p xmlns:a="http://schemas.openxmlformats.org/drawingml/2006/main">
            <a:r>
              <a:t>CLM-STAT-002, CLM-STAT-003, CLM-STAT-005, CLM-STAT-009</a:t>
            </a:r>
          </a:p>
          <a:p xmlns:a="http://schemas.openxmlformats.org/drawingml/2006/main">
            <a:r>
              <a:t/>
            </a:r>
          </a:p>
          <a:p xmlns:a="http://schemas.openxmlformats.org/drawingml/2006/main">
            <a:r>
              <a:t>[Sources]</a:t>
            </a:r>
          </a:p>
          <a:p xmlns:a="http://schemas.openxmlformats.org/drawingml/2006/main">
            <a:r>
              <a:t>- S16 STAT-R7-FINAL-PDF: https://www.mhlw.go.jp/content/11302000/001704887.pdf</a:t>
            </a:r>
          </a:p>
          <a:p xmlns:a="http://schemas.openxmlformats.org/drawingml/2006/main">
            <a:r>
              <a:t>- S17 STAT-R7-FINAL-XLSX: https://www.mhlw.go.jp/bunya/roudoukijun/anzeneisei11/rousai-hassei/xls/25-16.xlsx</a:t>
            </a:r>
          </a:p>
          <a:p xmlns:a="http://schemas.openxmlformats.org/drawingml/2006/main">
            <a:r>
              <a:t>- S18 STAT-R7-INJURY-ANALYSIS: https://anzeninfo.mhlw.go.jp/user/anzen/tok/r7_16_sisyou_bunseki.xlsx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建設業の墜落・転落を10年間で見ると、死亡者は2016年の134人から2025年の91人へ、休業4日以上の死傷者は5,184人から4,343人へ減っています。ただし一直線に減ったわけではありません。死亡者は2020年95人、2021年110人、2022年116人、2023年86人、2024年77人、2025年91人です。直近年では14人増えています。長期の減少だけを見て対策は十分と判断せず、単年の増加だけを見て特定の原因を断定もしません。就業者数や工事量などの分母を持たない件数グラフです。現場対策を緩めないための推移として読みます。</a:t>
            </a:r>
          </a:p>
          <a:p xmlns:a="http://schemas.openxmlformats.org/drawingml/2006/main">
            <a:r>
              <a:t/>
            </a:r>
          </a:p>
          <a:p xmlns:a="http://schemas.openxmlformats.org/drawingml/2006/main">
            <a:r>
              <a:t>講師補足</a:t>
            </a:r>
          </a:p>
          <a:p xmlns:a="http://schemas.openxmlformats.org/drawingml/2006/main">
            <a:r>
              <a:t>- 死亡と死傷を同一縦軸へ重ねない。Webは休業4日以上死傷の系列を表示し死亡値は本文で示す。</a:t>
            </a:r>
          </a:p>
          <a:p xmlns:a="http://schemas.openxmlformats.org/drawingml/2006/main">
            <a:r>
              <a:t>- 2025年死亡増加の原因を、この系列だけから説明しない。</a:t>
            </a:r>
          </a:p>
          <a:p xmlns:a="http://schemas.openxmlformats.org/drawingml/2006/main">
            <a:r>
              <a:t/>
            </a:r>
          </a:p>
          <a:p xmlns:a="http://schemas.openxmlformats.org/drawingml/2006/main">
            <a:r>
              <a:t>主張ID</a:t>
            </a:r>
          </a:p>
          <a:p xmlns:a="http://schemas.openxmlformats.org/drawingml/2006/main">
            <a:r>
              <a:t>CLM-STAT-004, CLM-STAT-009</a:t>
            </a:r>
          </a:p>
          <a:p xmlns:a="http://schemas.openxmlformats.org/drawingml/2006/main">
            <a:r>
              <a:t/>
            </a:r>
          </a:p>
          <a:p xmlns:a="http://schemas.openxmlformats.org/drawingml/2006/main">
            <a:r>
              <a:t>[Sources]</a:t>
            </a:r>
          </a:p>
          <a:p xmlns:a="http://schemas.openxmlformats.org/drawingml/2006/main">
            <a:r>
              <a:t>- S10 STAT-H28-FINAL-XLS: https://www.mhlw.go.jp/bunya/roudoukijun/anzeneisei11/rousai-hassei/xls/16_kakutei.xls</a:t>
            </a:r>
          </a:p>
          <a:p xmlns:a="http://schemas.openxmlformats.org/drawingml/2006/main">
            <a:r>
              <a:t>- S11 STAT-H29-FINAL-XLS: https://www.mhlw.go.jp/bunya/roudoukijun/anzeneisei11/rousai-hassei/xls/17-kakutei.xls</a:t>
            </a:r>
          </a:p>
          <a:p xmlns:a="http://schemas.openxmlformats.org/drawingml/2006/main">
            <a:r>
              <a:t>- S12 STAT-R1-FINAL-XLSX: https://www.mhlw.go.jp/bunya/roudoukijun/anzeneisei11/rousai-hassei/xls/19-16.xlsx</a:t>
            </a:r>
          </a:p>
          <a:p xmlns:a="http://schemas.openxmlformats.org/drawingml/2006/main">
            <a:r>
              <a:t>- S13 STAT-R3-FINAL-XLSX: https://www.mhlw.go.jp/bunya/roudoukijun/anzeneisei11/rousai-hassei/xls/21-16.xlsx</a:t>
            </a:r>
          </a:p>
          <a:p xmlns:a="http://schemas.openxmlformats.org/drawingml/2006/main">
            <a:r>
              <a:t>- S14 STAT-R4-FINAL-XLSX: https://www.mhlw.go.jp/bunya/roudoukijun/anzeneisei11/rousai-hassei/xls/22-16.xlsx</a:t>
            </a:r>
          </a:p>
          <a:p xmlns:a="http://schemas.openxmlformats.org/drawingml/2006/main">
            <a:r>
              <a:t>- S15 STAT-R6-FINAL-XLSX: https://www.mhlw.go.jp/bunya/roudoukijun/anzeneisei11/rousai-hassei/xls/24-16.xlsx</a:t>
            </a:r>
          </a:p>
          <a:p xmlns:a="http://schemas.openxmlformats.org/drawingml/2006/main">
            <a:r>
              <a:t>- S16 STAT-R7-FINAL-PDF: https://www.mhlw.go.jp/content/11302000/001704887.pdf</a:t>
            </a:r>
          </a:p>
          <a:p xmlns:a="http://schemas.openxmlformats.org/drawingml/2006/main">
            <a:r>
              <a:t>- S17 STAT-R7-FINAL-XLSX: https://www.mhlw.go.jp/bunya/roudoukijun/anzeneisei11/rousai-hassei/xls/25-16.xlsx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全産業の墜落・転落2万864人を起因物で見ると、階段4,286人、トラック4,258人、脚立3,060人、はしご1,019人が上位です。高層建築の足場だけを見ていては、日常の危険を見落とします。踏み台837人、建築物・構築物793人、足場677人、屋根516人、開口部451人なども確認されています。低い場所や短時間の作業でも、足元、昇降、荷台への出入り、無理な身の乗り出しを確認する必要があります。ここでの起因物は、災害を直接生じさせた物や環境の分類です。階段を使えば必ず危険という意味ではありません。作業場所、行動、設備状態を具体的に問い直す入口として使います。</a:t>
            </a:r>
          </a:p>
          <a:p xmlns:a="http://schemas.openxmlformats.org/drawingml/2006/main">
            <a:r>
              <a:t/>
            </a:r>
          </a:p>
          <a:p xmlns:a="http://schemas.openxmlformats.org/drawingml/2006/main">
            <a:r>
              <a:t>講師補足</a:t>
            </a:r>
          </a:p>
          <a:p xmlns:a="http://schemas.openxmlformats.org/drawingml/2006/main">
            <a:r>
              <a:t>- グラフは上位区分の横棒とし、建設業限定ではないことを必ず読む。</a:t>
            </a:r>
          </a:p>
          <a:p xmlns:a="http://schemas.openxmlformats.org/drawingml/2006/main">
            <a:r>
              <a:t>- 全国値を自社現場の発生率として扱わない。</a:t>
            </a:r>
          </a:p>
          <a:p xmlns:a="http://schemas.openxmlformats.org/drawingml/2006/main">
            <a:r>
              <a:t/>
            </a:r>
          </a:p>
          <a:p xmlns:a="http://schemas.openxmlformats.org/drawingml/2006/main">
            <a:r>
              <a:t>主張ID</a:t>
            </a:r>
          </a:p>
          <a:p xmlns:a="http://schemas.openxmlformats.org/drawingml/2006/main">
            <a:r>
              <a:t>CLM-STAT-003, CLM-STAT-006, CLM-STAT-009</a:t>
            </a:r>
          </a:p>
          <a:p xmlns:a="http://schemas.openxmlformats.org/drawingml/2006/main">
            <a:r>
              <a:t/>
            </a:r>
          </a:p>
          <a:p xmlns:a="http://schemas.openxmlformats.org/drawingml/2006/main">
            <a:r>
              <a:t>[Sources]</a:t>
            </a:r>
          </a:p>
          <a:p xmlns:a="http://schemas.openxmlformats.org/drawingml/2006/main">
            <a:r>
              <a:t>- S16 STAT-R7-FINAL-PDF: https://www.mhlw.go.jp/content/11302000/001704887.pdf</a:t>
            </a:r>
          </a:p>
          <a:p xmlns:a="http://schemas.openxmlformats.org/drawingml/2006/main">
            <a:r>
              <a:t>- S17 STAT-R7-FINAL-XLSX: https://www.mhlw.go.jp/bunya/roudoukijun/anzeneisei11/rousai-hassei/xls/25-16.xlsx</a:t>
            </a:r>
          </a:p>
          <a:p xmlns:a="http://schemas.openxmlformats.org/drawingml/2006/main">
            <a:r>
              <a:t>- S18 STAT-R7-INJURY-ANALYSIS: https://anzeninfo.mhlw.go.jp/user/anzen/tok/r7_16_sisyou_bunseki.xlsx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教材用のケースです。資材を受け渡すため、一時的に足場の手すりを外しました。受け渡し後も復旧されず、その近くを別の作業者が通ります。事故は一人の不注意ではなく、工程変更と復旧確認の欠落から始まっています。足場の作業床、床材間の隙間、端部の手すり等、昇降設備、組立・解体時の作業方法には、それぞれ法令上の要件があります。実際の足場種類や作業条件に応じて、該当条文と組立図を確認してください。行政ガイドラインでは、手すりを先行して設置する方法等が示されています。現場では外した人が戻すだけに頼らず、外す前の許可、代替措置、立入管理、復旧確認者、作業再開条件を決めます。</a:t>
            </a:r>
          </a:p>
          <a:p xmlns:a="http://schemas.openxmlformats.org/drawingml/2006/main">
            <a:r>
              <a:t/>
            </a:r>
          </a:p>
          <a:p xmlns:a="http://schemas.openxmlformats.org/drawingml/2006/main">
            <a:r>
              <a:t>講師補足</a:t>
            </a:r>
          </a:p>
          <a:p xmlns:a="http://schemas.openxmlformats.org/drawingml/2006/main">
            <a:r>
              <a:t>- 実災害の再現ではなく、複数要因を学ぶ教材用ケースと明示する。</a:t>
            </a:r>
          </a:p>
          <a:p xmlns:a="http://schemas.openxmlformats.org/drawingml/2006/main">
            <a:r>
              <a:t>- 誰が悪いかではなく、手すりを外さず済む受渡し方法を先に問う。</a:t>
            </a:r>
          </a:p>
          <a:p xmlns:a="http://schemas.openxmlformats.org/drawingml/2006/main">
            <a:r>
              <a:t/>
            </a:r>
          </a:p>
          <a:p xmlns:a="http://schemas.openxmlformats.org/drawingml/2006/main">
            <a:r>
              <a:t>主張ID</a:t>
            </a:r>
          </a:p>
          <a:p xmlns:a="http://schemas.openxmlformats.org/drawingml/2006/main">
            <a:r>
              <a:t>C-LAW-007, C-LAW-008, C-LAW-009, C-GUIDE-006, SCI-HIER-001</a:t>
            </a:r>
          </a:p>
          <a:p xmlns:a="http://schemas.openxmlformats.org/drawingml/2006/main">
            <a:r>
              <a:t/>
            </a:r>
          </a:p>
          <a:p xmlns:a="http://schemas.openxmlformats.org/drawingml/2006/main">
            <a:r>
              <a:t>[Sources]</a:t>
            </a:r>
          </a:p>
          <a:p xmlns:a="http://schemas.openxmlformats.org/drawingml/2006/main">
            <a:r>
              <a:t>- S3 LAW-EGOV-003: https://laws.e-gov.go.jp/law/347M50002000032</a:t>
            </a:r>
          </a:p>
          <a:p xmlns:a="http://schemas.openxmlformats.org/drawingml/2006/main">
            <a:r>
              <a:t>- S8 LAW-MHLW-006: https://www.mhlw.go.jp/content/001257200.pdf</a:t>
            </a:r>
          </a:p>
          <a:p xmlns:a="http://schemas.openxmlformats.org/drawingml/2006/main">
            <a:r>
              <a:t>- S9 GUIDE-MHLW-003: https://www.mhlw.go.jp/content/001257202.pdf</a:t>
            </a:r>
          </a:p>
          <a:p xmlns:a="http://schemas.openxmlformats.org/drawingml/2006/main">
            <a:r>
              <a:t>- S6 GUIDE-MHLW-001: https://www.mhlw.go.jp/web/t_doc?dataId=00tc4287&amp;dataType=1&amp;pageNo=1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屋根作業では、端から落ちる危険だけでなく、スレート等の弱い屋根材を踏み抜く危険、天窓や開口部、屋根への昇降経路を分けて確認します。同じ屋根上という一語でまとめないことが重要です。弱い材料でふかれた屋根には、所定の歩み板を設け、防網を張る等の踏み抜き防止措置が必要です。端部や開口部には、囲い、手すり、覆い等を設けます。覆いは動かないようにし、開口だと分かる管理も必要です。復旧漏れは注意してくださいだけでは防ぎにくい問題です。覆いを外す作業の許可、仮置き防止、復旧の相互確認、工程変更時の再KYなど、抜けを発見できる仕組みにします。</a:t>
            </a:r>
          </a:p>
          <a:p xmlns:a="http://schemas.openxmlformats.org/drawingml/2006/main">
            <a:r>
              <a:t/>
            </a:r>
          </a:p>
          <a:p xmlns:a="http://schemas.openxmlformats.org/drawingml/2006/main">
            <a:r>
              <a:t>講師補足</a:t>
            </a:r>
          </a:p>
          <a:p xmlns:a="http://schemas.openxmlformats.org/drawingml/2006/main">
            <a:r>
              <a:t>- 法令の具体寸法は使用する屋根・設備条件を確認して別資料に載せる。</a:t>
            </a:r>
          </a:p>
          <a:p xmlns:a="http://schemas.openxmlformats.org/drawingml/2006/main">
            <a:r>
              <a:t>- 写真を使う場合、開口へ不用意に近づいて撮影しない。</a:t>
            </a:r>
          </a:p>
          <a:p xmlns:a="http://schemas.openxmlformats.org/drawingml/2006/main">
            <a:r>
              <a:t/>
            </a:r>
          </a:p>
          <a:p xmlns:a="http://schemas.openxmlformats.org/drawingml/2006/main">
            <a:r>
              <a:t>主張ID</a:t>
            </a:r>
          </a:p>
          <a:p xmlns:a="http://schemas.openxmlformats.org/drawingml/2006/main">
            <a:r>
              <a:t>C-LAW-003, C-LAW-005, C-LAW-007, SCI-HIER-001, SCI-HF-001, SCI-HF-002</a:t>
            </a:r>
          </a:p>
          <a:p xmlns:a="http://schemas.openxmlformats.org/drawingml/2006/main">
            <a:r>
              <a:t/>
            </a:r>
          </a:p>
          <a:p xmlns:a="http://schemas.openxmlformats.org/drawingml/2006/main">
            <a:r>
              <a:t>[Sources]</a:t>
            </a:r>
          </a:p>
          <a:p xmlns:a="http://schemas.openxmlformats.org/drawingml/2006/main">
            <a:r>
              <a:t>- S3 LAW-EGOV-003: https://laws.e-gov.go.jp/law/347M50002000032</a:t>
            </a:r>
          </a:p>
          <a:p xmlns:a="http://schemas.openxmlformats.org/drawingml/2006/main">
            <a:r>
              <a:t>- S6 GUIDE-MHLW-001: https://www.mhlw.go.jp/web/t_doc?dataId=00tc4287&amp;dataType=1&amp;pageNo=1</a:t>
            </a:r>
          </a:p>
          <a:p xmlns:a="http://schemas.openxmlformats.org/drawingml/2006/main">
            <a:r>
              <a:t>- S22 GOV-UK-HSE-HUMAN: https://www.hse.gov.uk/humanfactors/topics/humanfail.htm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脚立やはしごは手軽なため、少しだけ、すぐ終わるという判断で使われがちです。しかし、作業床の代わりとして常に適切とは限りません。まず地上作業や安定した作業台へ置き換えられないかを確認します。移動はしごと脚立には、丈夫な構造、著しい損傷や腐食がないこと、滑り止めや開き止め等について法令上の要件があります。使用する製品の取扱説明書と現物状態も確認してください。現場では、傾斜や段差、ぬれ、通行人、扉、車両、頭上設備、工具を持った昇降、身の乗り出しを確認します。条件が変わったら、一度止めて設置方法から見直します。</a:t>
            </a:r>
          </a:p>
          <a:p xmlns:a="http://schemas.openxmlformats.org/drawingml/2006/main">
            <a:r>
              <a:t/>
            </a:r>
          </a:p>
          <a:p xmlns:a="http://schemas.openxmlformats.org/drawingml/2006/main">
            <a:r>
              <a:t>講師補足</a:t>
            </a:r>
          </a:p>
          <a:p xmlns:a="http://schemas.openxmlformats.org/drawingml/2006/main">
            <a:r>
              <a:t>- 一律に脚立禁止とせず、置換可能性と適合条件を確認させる。</a:t>
            </a:r>
          </a:p>
          <a:p xmlns:a="http://schemas.openxmlformats.org/drawingml/2006/main">
            <a:r>
              <a:t>- 現物を使う実演は平坦な安全区域で行う。</a:t>
            </a:r>
          </a:p>
          <a:p xmlns:a="http://schemas.openxmlformats.org/drawingml/2006/main">
            <a:r>
              <a:t/>
            </a:r>
          </a:p>
          <a:p xmlns:a="http://schemas.openxmlformats.org/drawingml/2006/main">
            <a:r>
              <a:t>主張ID</a:t>
            </a:r>
          </a:p>
          <a:p xmlns:a="http://schemas.openxmlformats.org/drawingml/2006/main">
            <a:r>
              <a:t>C-LAW-006, SCI-HIER-001, SCI-HIER-002, SCI-HF-001</a:t>
            </a:r>
          </a:p>
          <a:p xmlns:a="http://schemas.openxmlformats.org/drawingml/2006/main">
            <a:r>
              <a:t/>
            </a:r>
          </a:p>
          <a:p xmlns:a="http://schemas.openxmlformats.org/drawingml/2006/main">
            <a:r>
              <a:t>[Sources]</a:t>
            </a:r>
          </a:p>
          <a:p xmlns:a="http://schemas.openxmlformats.org/drawingml/2006/main">
            <a:r>
              <a:t>- S3 LAW-EGOV-003: https://laws.e-gov.go.jp/law/347M50002000032</a:t>
            </a:r>
          </a:p>
          <a:p xmlns:a="http://schemas.openxmlformats.org/drawingml/2006/main">
            <a:r>
              <a:t>- S6 GUIDE-MHLW-001: https://www.mhlw.go.jp/web/t_doc?dataId=00tc4287&amp;dataType=1&amp;pageNo=1</a:t>
            </a:r>
          </a:p>
          <a:p xmlns:a="http://schemas.openxmlformats.org/drawingml/2006/main">
            <a:r>
              <a:t>- S22 GOV-UK-HSE-HUMAN: https://www.hse.gov.uk/humanfactors/topics/humanfail.htm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最初の選択肢は、高所へ上がらない方法です。地上で組み立てる、長柄工具を使う、点検位置を変更するなど、危険源との接触をなくせるかを考えます。できなければ、次に設備的対策を検討します。作業床、手すり、囲い、覆い、防網等は、複数の作業者を守り、人が毎回フックを掛け替えることへの依存を減らします。個人用器具より先に、墜落そのものを防ぐ方法を検討するのが原則です。フルハーネスは重要ですが、墜落を発生させない器具ではありません。設備的対策を講じても残るリスクに対し、正しい選定、装着、取付け、下方空間、救助計画と一体で使用します。</a:t>
            </a:r>
          </a:p>
          <a:p xmlns:a="http://schemas.openxmlformats.org/drawingml/2006/main">
            <a:r>
              <a:t/>
            </a:r>
          </a:p>
          <a:p xmlns:a="http://schemas.openxmlformats.org/drawingml/2006/main">
            <a:r>
              <a:t>講師補足</a:t>
            </a:r>
          </a:p>
          <a:p xmlns:a="http://schemas.openxmlformats.org/drawingml/2006/main">
            <a:r>
              <a:t>- 参加者に対策カードを並べ替えさせると理解を確認しやすい。</a:t>
            </a:r>
          </a:p>
          <a:p xmlns:a="http://schemas.openxmlformats.org/drawingml/2006/main">
            <a:r>
              <a:t>- PPEは不要ではなく、単独依存しないと説明する。</a:t>
            </a:r>
          </a:p>
          <a:p xmlns:a="http://schemas.openxmlformats.org/drawingml/2006/main">
            <a:r>
              <a:t/>
            </a:r>
          </a:p>
          <a:p xmlns:a="http://schemas.openxmlformats.org/drawingml/2006/main">
            <a:r>
              <a:t>主張ID</a:t>
            </a:r>
          </a:p>
          <a:p xmlns:a="http://schemas.openxmlformats.org/drawingml/2006/main">
            <a:r>
              <a:t>C-GUIDE-001, C-GUIDE-006, SCI-HIER-001, SCI-HIER-002</a:t>
            </a:r>
          </a:p>
          <a:p xmlns:a="http://schemas.openxmlformats.org/drawingml/2006/main">
            <a:r>
              <a:t/>
            </a:r>
          </a:p>
          <a:p xmlns:a="http://schemas.openxmlformats.org/drawingml/2006/main">
            <a:r>
              <a:t>[Sources]</a:t>
            </a:r>
          </a:p>
          <a:p xmlns:a="http://schemas.openxmlformats.org/drawingml/2006/main">
            <a:r>
              <a:t>- S6 GUIDE-MHLW-001: https://www.mhlw.go.jp/web/t_doc?dataId=00tc4287&amp;dataType=1&amp;pageNo=1</a:t>
            </a:r>
          </a:p>
          <a:p xmlns:a="http://schemas.openxmlformats.org/drawingml/2006/main">
            <a:r>
              <a:t>- S9 GUIDE-MHLW-003: https://www.mhlw.go.jp/content/001257202.pdf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労働者が墜落するおそれのある場所では、事業者に危険防止措置が求められます。高さ2メートル以上の作業箇所では、原則として作業床を設けます。まず、この作業床を設けられない理由が本当にあるかを確認します。作業床の端や開口部等で墜落のおそれがある場所には、囲い、手すり、覆い等を設けます。作業の性質上これらが著しく困難な場合は、防網を張り、要求性能墜落制止用器具を使用させる等の代替措置が必要です。墜落制止用器具を使わせる場合は、安全に取り付ける設備を設け、その設備に異常がないか随時点検します。フックを掛けられそうな配管や手すりが、そのまま安全な取付設備とは限りません。</a:t>
            </a:r>
          </a:p>
          <a:p xmlns:a="http://schemas.openxmlformats.org/drawingml/2006/main">
            <a:r>
              <a:t/>
            </a:r>
          </a:p>
          <a:p xmlns:a="http://schemas.openxmlformats.org/drawingml/2006/main">
            <a:r>
              <a:t>講師補足</a:t>
            </a:r>
          </a:p>
          <a:p xmlns:a="http://schemas.openxmlformats.org/drawingml/2006/main">
            <a:r>
              <a:t>- 2m未満なら対策不要とは説明しない。2mはこれら条文の境界で、危険防止判断は残る。</a:t>
            </a:r>
          </a:p>
          <a:p xmlns:a="http://schemas.openxmlformats.org/drawingml/2006/main">
            <a:r>
              <a:t>- 作業床が難しいという現場判断を無条件で認めない。</a:t>
            </a:r>
          </a:p>
          <a:p xmlns:a="http://schemas.openxmlformats.org/drawingml/2006/main">
            <a:r>
              <a:t/>
            </a:r>
          </a:p>
          <a:p xmlns:a="http://schemas.openxmlformats.org/drawingml/2006/main">
            <a:r>
              <a:t>主張ID</a:t>
            </a:r>
          </a:p>
          <a:p xmlns:a="http://schemas.openxmlformats.org/drawingml/2006/main">
            <a:r>
              <a:t>C-LAW-001, C-LAW-002, C-LAW-003, C-LAW-004</a:t>
            </a:r>
          </a:p>
          <a:p xmlns:a="http://schemas.openxmlformats.org/drawingml/2006/main">
            <a:r>
              <a:t/>
            </a:r>
          </a:p>
          <a:p xmlns:a="http://schemas.openxmlformats.org/drawingml/2006/main">
            <a:r>
              <a:t>[Sources]</a:t>
            </a:r>
          </a:p>
          <a:p xmlns:a="http://schemas.openxmlformats.org/drawingml/2006/main">
            <a:r>
              <a:t>- S1 LAW-EGOV-001: https://laws.e-gov.go.jp/law/347AC0000000057</a:t>
            </a:r>
          </a:p>
          <a:p xmlns:a="http://schemas.openxmlformats.org/drawingml/2006/main">
            <a:r>
              <a:t>- S3 LAW-EGOV-003: https://laws.e-gov.go.jp/law/347M50002000032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ここでは二つの高さを混同しないでください。法令上、高さが6.75メートルを超える箇所ではフルハーネス型を使用します。一方、行政ガイドラインは、一般的な建設作業では5メートルを超える箇所でフルハーネス型を使用することが適当としています。5メートルは行政上の選定目安、6.75メートル超は法的な使用境界です。5メートル未満だから胴ベルト型で安全、6.75メートル以下ならフルハーネス不要、という意味ではありません。落下距離と地面等への到達も確認します。特別教育の対象は別に判定します。高さ2メートル以上で、作業床を設けることが困難な場所において、フルハーネス型を使用して行う作業に係る業務が対象です。ロープ高所作業はこの教育の対象から除かれ、別制度で扱われます。特別教育の標準カリキュラムは学科と実技を合わせて6時間です。実施記録は3年間保存します。この社内研修を視聴した時間を、そのまま法定特別教育の時間や記録へ置き換えることはできません。</a:t>
            </a:r>
          </a:p>
          <a:p xmlns:a="http://schemas.openxmlformats.org/drawingml/2006/main">
            <a:r>
              <a:t/>
            </a:r>
          </a:p>
          <a:p xmlns:a="http://schemas.openxmlformats.org/drawingml/2006/main">
            <a:r>
              <a:t>講師補足</a:t>
            </a:r>
          </a:p>
          <a:p xmlns:a="http://schemas.openxmlformats.org/drawingml/2006/main">
            <a:r>
              <a:t>- 5mを行政推奨、6.75m超を法的境界と常時表示する。</a:t>
            </a:r>
          </a:p>
          <a:p xmlns:a="http://schemas.openxmlformats.org/drawingml/2006/main">
            <a:r>
              <a:t>- 経験等による科目省略の適用は、この教材で自己判断させない。</a:t>
            </a:r>
          </a:p>
          <a:p xmlns:a="http://schemas.openxmlformats.org/drawingml/2006/main">
            <a:r>
              <a:t/>
            </a:r>
          </a:p>
          <a:p xmlns:a="http://schemas.openxmlformats.org/drawingml/2006/main">
            <a:r>
              <a:t>主張ID</a:t>
            </a:r>
          </a:p>
          <a:p xmlns:a="http://schemas.openxmlformats.org/drawingml/2006/main">
            <a:r>
              <a:t>C-LAW-013, C-LAW-014, C-LAW-015, C-LAW-016, C-GUIDE-002</a:t>
            </a:r>
          </a:p>
          <a:p xmlns:a="http://schemas.openxmlformats.org/drawingml/2006/main">
            <a:r>
              <a:t/>
            </a:r>
          </a:p>
          <a:p xmlns:a="http://schemas.openxmlformats.org/drawingml/2006/main">
            <a:r>
              <a:t>[Sources]</a:t>
            </a:r>
          </a:p>
          <a:p xmlns:a="http://schemas.openxmlformats.org/drawingml/2006/main">
            <a:r>
              <a:t>- S4 LAW-MHLW-004: https://www.mhlw.go.jp/web/t_doc?dataId=74ab6770&amp;dataType=0&amp;pageNo=1</a:t>
            </a:r>
          </a:p>
          <a:p xmlns:a="http://schemas.openxmlformats.org/drawingml/2006/main">
            <a:r>
              <a:t>- S7 GUIDE-MHLW-002: https://www.mhlw.go.jp/web/t_doc?dataId=00tc8681&amp;dataType=1&amp;pageNo=1</a:t>
            </a:r>
          </a:p>
          <a:p xmlns:a="http://schemas.openxmlformats.org/drawingml/2006/main">
            <a:r>
              <a:t>- S1 LAW-EGOV-001: https://laws.e-gov.go.jp/law/347AC0000000057</a:t>
            </a:r>
          </a:p>
          <a:p xmlns:a="http://schemas.openxmlformats.org/drawingml/2006/main">
            <a:r>
              <a:t>- S3 LAW-EGOV-003: https://laws.e-gov.go.jp/law/347M50002000032</a:t>
            </a:r>
          </a:p>
          <a:p xmlns:a="http://schemas.openxmlformats.org/drawingml/2006/main">
            <a:r>
              <a:t>- S5 LAW-MHLW-005: https://www.mhlw.go.jp/web/t_doc?dataId=74085000&amp;dataType=0&amp;pageNo=1</a:t>
            </a:r>
          </a:p>
          <a:p xmlns:a="http://schemas.openxmlformats.org/drawingml/2006/main">
            <a:r>
              <a:t>- S6 GUIDE-MHLW-001: https://www.mhlw.go.jp/web/t_doc?dataId=00tc4287&amp;dataType=1&amp;pageNo=1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電気工事士などの職種資格を持っていることと、フルハーネス型を使用する業務の特別教育を受けていることは、別に確認します。資格名だけから特別教育が不要だと判断しないでください。判定に使うのは、実際の作業高さ、作業床を設けることが困難か、フルハーネス型を使用する業務かという条件です。元請、協力会社、短期入場者を問わず、従事させる業務と教育記録を照合します。この教材は、統計、法令の考え方、現場確認を学ぶ社内研修です。法定教育の実技、講師要件、科目、時間、記録を満たしたと表示せず、修了証発行へ転用しません。</a:t>
            </a:r>
          </a:p>
          <a:p xmlns:a="http://schemas.openxmlformats.org/drawingml/2006/main">
            <a:r>
              <a:t/>
            </a:r>
          </a:p>
          <a:p xmlns:a="http://schemas.openxmlformats.org/drawingml/2006/main">
            <a:r>
              <a:t>講師補足</a:t>
            </a:r>
          </a:p>
          <a:p xmlns:a="http://schemas.openxmlformats.org/drawingml/2006/main">
            <a:r>
              <a:t>- 有資格者だから大丈夫という発言が出たら、作業条件と教育記録へ話を戻す。</a:t>
            </a:r>
          </a:p>
          <a:p xmlns:a="http://schemas.openxmlformats.org/drawingml/2006/main">
            <a:r>
              <a:t>- 受講履歴にも法定教育の修了記録ではないと表示する。</a:t>
            </a:r>
          </a:p>
          <a:p xmlns:a="http://schemas.openxmlformats.org/drawingml/2006/main">
            <a:r>
              <a:t/>
            </a:r>
          </a:p>
          <a:p xmlns:a="http://schemas.openxmlformats.org/drawingml/2006/main">
            <a:r>
              <a:t>主張ID</a:t>
            </a:r>
          </a:p>
          <a:p xmlns:a="http://schemas.openxmlformats.org/drawingml/2006/main">
            <a:r>
              <a:t>C-LAW-014, C-LAW-015, C-LAW-016</a:t>
            </a:r>
          </a:p>
          <a:p xmlns:a="http://schemas.openxmlformats.org/drawingml/2006/main">
            <a:r>
              <a:t/>
            </a:r>
          </a:p>
          <a:p xmlns:a="http://schemas.openxmlformats.org/drawingml/2006/main">
            <a:r>
              <a:t>[Sources]</a:t>
            </a:r>
          </a:p>
          <a:p xmlns:a="http://schemas.openxmlformats.org/drawingml/2006/main">
            <a:r>
              <a:t>- S1 LAW-EGOV-001: https://laws.e-gov.go.jp/law/347AC0000000057</a:t>
            </a:r>
          </a:p>
          <a:p xmlns:a="http://schemas.openxmlformats.org/drawingml/2006/main">
            <a:r>
              <a:t>- S3 LAW-EGOV-003: https://laws.e-gov.go.jp/law/347M50002000032</a:t>
            </a:r>
          </a:p>
          <a:p xmlns:a="http://schemas.openxmlformats.org/drawingml/2006/main">
            <a:r>
              <a:t>- S7 GUIDE-MHLW-002: https://www.mhlw.go.jp/web/t_doc?dataId=00tc8681&amp;dataType=1&amp;pageNo=1</a:t>
            </a:r>
          </a:p>
          <a:p xmlns:a="http://schemas.openxmlformats.org/drawingml/2006/main">
            <a:r>
              <a:t>- S5 LAW-MHLW-005: https://www.mhlw.go.jp/web/t_doc?dataId=74085000&amp;dataType=0&amp;pageNo=1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自由落下距離は、フルハーネス側のランヤード接続位置から取付設備の位置を差し引き、ランヤード長を加えて考えます。同じ長さなら、取付点がD環より低いほど自由落下距離は増えます。落下距離は自由落下距離だけではありません。ショックアブソーバ、ランヤード、ハーネス等の伸びが加わります。そのためランヤードが2メートルだから、2メートル空いていればよいとは判断できません。行政ガイドラインでは、取付設備をできるだけ高い位置に設けます。腰より高い位置への取付けを前提とする第一種と、足元取付けを想定する第二種のショックアブソーバを、作業条件に合わせて選びます。器具の組合せもメーカー表示で確認します。現場では、器具表示の落下距離、使用可能質量、取付位置、実際の床・梁・設備までの下方空間、振られによる衝突、鋭い端部への接触を確認します。全国共通の固定クリアランス値は使いません。</a:t>
            </a:r>
          </a:p>
          <a:p xmlns:a="http://schemas.openxmlformats.org/drawingml/2006/main">
            <a:r>
              <a:t/>
            </a:r>
          </a:p>
          <a:p xmlns:a="http://schemas.openxmlformats.org/drawingml/2006/main">
            <a:r>
              <a:t>講師補足</a:t>
            </a:r>
          </a:p>
          <a:p xmlns:a="http://schemas.openxmlformats.org/drawingml/2006/main">
            <a:r>
              <a:t>- 実演は実際に採用する製品の表示・説明書を使用する。</a:t>
            </a:r>
          </a:p>
          <a:p xmlns:a="http://schemas.openxmlformats.org/drawingml/2006/main">
            <a:r>
              <a:t>- 頭上取付けでも、強度、適合、振られ、端部接触を省略しない。</a:t>
            </a:r>
          </a:p>
          <a:p xmlns:a="http://schemas.openxmlformats.org/drawingml/2006/main">
            <a:r>
              <a:t/>
            </a:r>
          </a:p>
          <a:p xmlns:a="http://schemas.openxmlformats.org/drawingml/2006/main">
            <a:r>
              <a:t>主張ID</a:t>
            </a:r>
          </a:p>
          <a:p xmlns:a="http://schemas.openxmlformats.org/drawingml/2006/main">
            <a:r>
              <a:t>C-LAW-004, C-LAW-012, C-GUIDE-003, SCI-FALL-001, SCI-FALL-002, SCI-FALL-003</a:t>
            </a:r>
          </a:p>
          <a:p xmlns:a="http://schemas.openxmlformats.org/drawingml/2006/main">
            <a:r>
              <a:t/>
            </a:r>
          </a:p>
          <a:p xmlns:a="http://schemas.openxmlformats.org/drawingml/2006/main">
            <a:r>
              <a:t>[Sources]</a:t>
            </a:r>
          </a:p>
          <a:p xmlns:a="http://schemas.openxmlformats.org/drawingml/2006/main">
            <a:r>
              <a:t>- S3 LAW-EGOV-003: https://laws.e-gov.go.jp/law/347M50002000032</a:t>
            </a:r>
          </a:p>
          <a:p xmlns:a="http://schemas.openxmlformats.org/drawingml/2006/main">
            <a:r>
              <a:t>- S4 LAW-MHLW-004: https://www.mhlw.go.jp/web/t_doc?dataId=74ab6770&amp;dataType=0&amp;pageNo=1</a:t>
            </a:r>
          </a:p>
          <a:p xmlns:a="http://schemas.openxmlformats.org/drawingml/2006/main">
            <a:r>
              <a:t>- S6 GUIDE-MHLW-001: https://www.mhlw.go.jp/web/t_doc?dataId=00tc4287&amp;dataType=1&amp;pageNo=1</a:t>
            </a:r>
          </a:p>
          <a:p xmlns:a="http://schemas.openxmlformats.org/drawingml/2006/main">
            <a:r>
              <a:t>- S20 GOV-US-OSHA-FALL: https://www.osha.gov/otm/section-5-construction-operations/chapter-4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点検は、使用直前に作業者が行う確認と、責任者を定めて行う定期点検を組み合わせます。行政ガイドラインでは、定期点検の間隔を6か月を超えないようにし、管理台帳等へ記録します。ベルトの摩耗、切傷、ねじれ、熱や薬品の影響、縫糸のほつれ、金具の亀裂、変形、腐食、ランヤード、ショックアブソーバ、巻取り器のロックなどを、取扱説明書に従って確認します。墜落を制止して衝撃を受けた器具は再使用しません。外観上きれいでも隔離します。異常があるもの、衝撃履歴が分からないものも使用場所へ戻さず、責任者がメーカー基準に沿って処置します。交換年数をサイト独自に一律断定しません。</a:t>
            </a:r>
          </a:p>
          <a:p xmlns:a="http://schemas.openxmlformats.org/drawingml/2006/main">
            <a:r>
              <a:t/>
            </a:r>
          </a:p>
          <a:p xmlns:a="http://schemas.openxmlformats.org/drawingml/2006/main">
            <a:r>
              <a:t>講師補足</a:t>
            </a:r>
          </a:p>
          <a:p xmlns:a="http://schemas.openxmlformats.org/drawingml/2006/main">
            <a:r>
              <a:t>- 不適合品置場と識別タグを用意し、良品へ混ざらない運用を示す。</a:t>
            </a:r>
          </a:p>
          <a:p xmlns:a="http://schemas.openxmlformats.org/drawingml/2006/main">
            <a:r>
              <a:t>- 定期点検が使用前点検を代替するとは説明しない。</a:t>
            </a:r>
          </a:p>
          <a:p xmlns:a="http://schemas.openxmlformats.org/drawingml/2006/main">
            <a:r>
              <a:t/>
            </a:r>
          </a:p>
          <a:p xmlns:a="http://schemas.openxmlformats.org/drawingml/2006/main">
            <a:r>
              <a:t>主張ID</a:t>
            </a:r>
          </a:p>
          <a:p xmlns:a="http://schemas.openxmlformats.org/drawingml/2006/main">
            <a:r>
              <a:t>C-GUIDE-005, SCI-INSP-001, SCI-INSP-002, SCI-RETIRE-001</a:t>
            </a:r>
          </a:p>
          <a:p xmlns:a="http://schemas.openxmlformats.org/drawingml/2006/main">
            <a:r>
              <a:t/>
            </a:r>
          </a:p>
          <a:p xmlns:a="http://schemas.openxmlformats.org/drawingml/2006/main">
            <a:r>
              <a:t>[Sources]</a:t>
            </a:r>
          </a:p>
          <a:p xmlns:a="http://schemas.openxmlformats.org/drawingml/2006/main">
            <a:r>
              <a:t>- S6 GUIDE-MHLW-001: https://www.mhlw.go.jp/web/t_doc?dataId=00tc4287&amp;dataType=1&amp;pageNo=1</a:t>
            </a:r>
          </a:p>
          <a:p xmlns:a="http://schemas.openxmlformats.org/drawingml/2006/main">
            <a:r>
              <a:t>- S7 GUIDE-MHLW-002: https://www.mhlw.go.jp/web/t_doc?dataId=00tc8681&amp;dataType=1&amp;pageNo=1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よくある問題は、移動中にフックを二つとも外す、強度不明の場所へ掛ける、足元取付けなのに条件に合わないショックアブソーバを使う、ベルトが緩い、使用質量や組合せを確認しない、といった状態です。行政ガイドラインは、掛け替え時にも常時接続できる二丁掛けを推奨しています。ただし、二本あれば自動的に安全になるわけではありません。二本の接続方法、使用可能な取付設備、製品の取扱説明書を確認します。逸脱を本人の注意不足だけで終わらせると再発します。取付点が届かない、手順が実行不能、急がされる、器具が混在する、といった条件を直します。色分け、適合品のセット管理、作業前の相互確認、監督者の観察とフィードバックを組み合わせます。</a:t>
            </a:r>
          </a:p>
          <a:p xmlns:a="http://schemas.openxmlformats.org/drawingml/2006/main">
            <a:r>
              <a:t/>
            </a:r>
          </a:p>
          <a:p xmlns:a="http://schemas.openxmlformats.org/drawingml/2006/main">
            <a:r>
              <a:t>講師補足</a:t>
            </a:r>
          </a:p>
          <a:p xmlns:a="http://schemas.openxmlformats.org/drawingml/2006/main">
            <a:r>
              <a:t>- 二丁掛けは行政推奨であり、一律の法的義務と表示しない。</a:t>
            </a:r>
          </a:p>
          <a:p xmlns:a="http://schemas.openxmlformats.org/drawingml/2006/main">
            <a:r>
              <a:t>- 研修や指差し確認だけで事故を防げるとは断定しない。</a:t>
            </a:r>
          </a:p>
          <a:p xmlns:a="http://schemas.openxmlformats.org/drawingml/2006/main">
            <a:r>
              <a:t/>
            </a:r>
          </a:p>
          <a:p xmlns:a="http://schemas.openxmlformats.org/drawingml/2006/main">
            <a:r>
              <a:t>主張ID</a:t>
            </a:r>
          </a:p>
          <a:p xmlns:a="http://schemas.openxmlformats.org/drawingml/2006/main">
            <a:r>
              <a:t>C-GUIDE-003, C-GUIDE-004, C-GUIDE-005, SCI-FALL-002, SCI-HF-001, SCI-HF-002, SCI-HF-003</a:t>
            </a:r>
          </a:p>
          <a:p xmlns:a="http://schemas.openxmlformats.org/drawingml/2006/main">
            <a:r>
              <a:t/>
            </a:r>
          </a:p>
          <a:p xmlns:a="http://schemas.openxmlformats.org/drawingml/2006/main">
            <a:r>
              <a:t>[Sources]</a:t>
            </a:r>
          </a:p>
          <a:p xmlns:a="http://schemas.openxmlformats.org/drawingml/2006/main">
            <a:r>
              <a:t>- S6 GUIDE-MHLW-001: https://www.mhlw.go.jp/web/t_doc?dataId=00tc4287&amp;dataType=1&amp;pageNo=1</a:t>
            </a:r>
          </a:p>
          <a:p xmlns:a="http://schemas.openxmlformats.org/drawingml/2006/main">
            <a:r>
              <a:t>- S7 GUIDE-MHLW-002: https://www.mhlw.go.jp/web/t_doc?dataId=00tc8681&amp;dataType=1&amp;pageNo=1</a:t>
            </a:r>
          </a:p>
          <a:p xmlns:a="http://schemas.openxmlformats.org/drawingml/2006/main">
            <a:r>
              <a:t>- S20 GOV-US-OSHA-FALL: https://www.osha.gov/otm/section-5-construction-operations/chapter-4</a:t>
            </a:r>
          </a:p>
          <a:p xmlns:a="http://schemas.openxmlformats.org/drawingml/2006/main">
            <a:r>
              <a:t>- S22 GOV-UK-HSE-HUMAN: https://www.hse.gov.uk/humanfactors/topics/humanfail.htm</a:t>
            </a:r>
          </a:p>
          <a:p xmlns:a="http://schemas.openxmlformats.org/drawingml/2006/main">
            <a:r>
              <a:t>- S23 SCI-COCHRANE-2018: https://pmc.ncbi.nlm.nih.gov/articles/PMC6491133/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墜落を制止できても、作業者が宙づりになる場合があります。人体実験では前失神等が観察されていますが、発症までの時間は個人差が大きく、負傷状態や実際の作業条件へ固定時間を当てはめることはできません。15分までは安全、30分で必ず死亡、といった教え方はしません。安全な待機時間を設定せず、救助者の安全を確保しながら、できるだけ速やかに安全な救助へ移ることを基本にします。作業前に、誰が異常を発見し、どう連絡し、どの方法と機材で降ろし、誰が救助を指揮するかを決めます。救助地点へ機材を運べるか、救助担当者が訓練されているか、地上で受け入れられるかも確認します。119番通報は重要ですが、通報だけを計画のすべてにしません。無計画な救助で救助者が墜落しないようにします。救助後は意識、呼吸、外傷等を確認し、119番の指示と標準的な応急手当に従います。独自の体位ルールは教えません。</a:t>
            </a:r>
          </a:p>
          <a:p xmlns:a="http://schemas.openxmlformats.org/drawingml/2006/main">
            <a:r>
              <a:t/>
            </a:r>
          </a:p>
          <a:p xmlns:a="http://schemas.openxmlformats.org/drawingml/2006/main">
            <a:r>
              <a:t>講師補足</a:t>
            </a:r>
          </a:p>
          <a:p xmlns:a="http://schemas.openxmlformats.org/drawingml/2006/main">
            <a:r>
              <a:t>- 救助実技は有資格・熟練者の管理下で別途実施する。</a:t>
            </a:r>
          </a:p>
          <a:p xmlns:a="http://schemas.openxmlformats.org/drawingml/2006/main">
            <a:r>
              <a:t>- フットループ等を救助の代替として扱わない。</a:t>
            </a:r>
          </a:p>
          <a:p xmlns:a="http://schemas.openxmlformats.org/drawingml/2006/main">
            <a:r>
              <a:t/>
            </a:r>
          </a:p>
          <a:p xmlns:a="http://schemas.openxmlformats.org/drawingml/2006/main">
            <a:r>
              <a:t>主張ID</a:t>
            </a:r>
          </a:p>
          <a:p xmlns:a="http://schemas.openxmlformats.org/drawingml/2006/main">
            <a:r>
              <a:t>SCI-RESCUE-001, SCI-SUSP-001, SCI-SUSP-002</a:t>
            </a:r>
          </a:p>
          <a:p xmlns:a="http://schemas.openxmlformats.org/drawingml/2006/main">
            <a:r>
              <a:t/>
            </a:r>
          </a:p>
          <a:p xmlns:a="http://schemas.openxmlformats.org/drawingml/2006/main">
            <a:r>
              <a:t>[Sources]</a:t>
            </a:r>
          </a:p>
          <a:p xmlns:a="http://schemas.openxmlformats.org/drawingml/2006/main">
            <a:r>
              <a:t>- S20 GOV-US-OSHA-FALL: https://www.osha.gov/otm/section-5-construction-operations/chapter-4</a:t>
            </a:r>
          </a:p>
          <a:p xmlns:a="http://schemas.openxmlformats.org/drawingml/2006/main">
            <a:r>
              <a:t>- S21 SCI-SUSP-REVIEW-2023: https://pmc.ncbi.nlm.nih.gov/articles/PMC10710713/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これから一枚の現場画像を見ます。最初の問いは、誰が危ないことをしているか、ではありません。墜落を生む設備、工程、環境の条件を、画像から確認できる事実として挙げてください。次に、対策を順番に並べます。高所作業をなくせるか、作業床、手すり、覆い、安定した昇降設備を整えられるかを先に検討します。その後に、必要な器具、取付点、下方空間、点検状態を確認します。最後に、墜落を制止した場合の救助方法、担当者、機材、連絡方法と、作業を始めてはいけない条件を決めます。個人作業2分、グループ討議4分、全体確認3分です。</a:t>
            </a:r>
          </a:p>
          <a:p xmlns:a="http://schemas.openxmlformats.org/drawingml/2006/main">
            <a:r>
              <a:t/>
            </a:r>
          </a:p>
          <a:p xmlns:a="http://schemas.openxmlformats.org/drawingml/2006/main">
            <a:r>
              <a:t>講師補足</a:t>
            </a:r>
          </a:p>
          <a:p xmlns:a="http://schemas.openxmlformats.org/drawingml/2006/main">
            <a:r>
              <a:t>- 音声終了後に9分停止する。</a:t>
            </a:r>
          </a:p>
          <a:p xmlns:a="http://schemas.openxmlformats.org/drawingml/2006/main">
            <a:r>
              <a:t>- 正解数競争ではなく、対策の優先順位と画像だけでは確認不能な事項を評価する。</a:t>
            </a:r>
          </a:p>
          <a:p xmlns:a="http://schemas.openxmlformats.org/drawingml/2006/main">
            <a:r>
              <a:t/>
            </a:r>
          </a:p>
          <a:p xmlns:a="http://schemas.openxmlformats.org/drawingml/2006/main">
            <a:r>
              <a:t>主張ID</a:t>
            </a:r>
          </a:p>
          <a:p xmlns:a="http://schemas.openxmlformats.org/drawingml/2006/main">
            <a:r>
              <a:t>C-LAW-003, C-LAW-006, C-LAW-008, C-GUIDE-003, C-GUIDE-005, SCI-HIER-001, SCI-RESCUE-001, SCI-HF-002</a:t>
            </a:r>
          </a:p>
          <a:p xmlns:a="http://schemas.openxmlformats.org/drawingml/2006/main">
            <a:r>
              <a:t/>
            </a:r>
          </a:p>
          <a:p xmlns:a="http://schemas.openxmlformats.org/drawingml/2006/main">
            <a:r>
              <a:t>[Sources]</a:t>
            </a:r>
          </a:p>
          <a:p xmlns:a="http://schemas.openxmlformats.org/drawingml/2006/main">
            <a:r>
              <a:t>- S3 LAW-EGOV-003: https://laws.e-gov.go.jp/law/347M50002000032</a:t>
            </a:r>
          </a:p>
          <a:p xmlns:a="http://schemas.openxmlformats.org/drawingml/2006/main">
            <a:r>
              <a:t>- S6 GUIDE-MHLW-001: https://www.mhlw.go.jp/web/t_doc?dataId=00tc4287&amp;dataType=1&amp;pageNo=1</a:t>
            </a:r>
          </a:p>
          <a:p xmlns:a="http://schemas.openxmlformats.org/drawingml/2006/main">
            <a:r>
              <a:t>- S7 GUIDE-MHLW-002: https://www.mhlw.go.jp/web/t_doc?dataId=00tc8681&amp;dataType=1&amp;pageNo=1</a:t>
            </a:r>
          </a:p>
          <a:p xmlns:a="http://schemas.openxmlformats.org/drawingml/2006/main">
            <a:r>
              <a:t>- S20 GOV-US-OSHA-FALL: https://www.osha.gov/otm/section-5-construction-operations/chapter-4</a:t>
            </a:r>
          </a:p>
          <a:p xmlns:a="http://schemas.openxmlformats.org/drawingml/2006/main">
            <a:r>
              <a:t>- S21 SCI-SUSP-REVIEW-2023: https://pmc.ncbi.nlm.nih.gov/articles/PMC10710713/</a:t>
            </a:r>
          </a:p>
          <a:p xmlns:a="http://schemas.openxmlformats.org/drawingml/2006/main">
            <a:r>
              <a:t>- S22 GOV-UK-HSE-HUMAN: https://www.hse.gov.uk/humanfactors/topics/humanfail.htm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作業開始前は、まず高所作業をなくせるかを確認します。次に、作業床、端部、開口部、昇降設備を現物で見ます。いつも同じではなく、その日の工程変更、天候、周辺作業も確認します。続いて、作業高さ、作業床の設置可能性、使用器具から、フルハーネス型の選定と特別教育の要否を確認します。取付設備の強度と位置、器具表示の落下距離、使用質量、実際の下方空間も照合します。最後に、器具の点検、救助方法、担当者、機材、連絡方法、作業中止条件を確認します。一項目でも確認できなければ、推測で開始せず、責任者へエスカレーションします。チェック欄だけでなく、不適合を直した結果も記録します。</a:t>
            </a:r>
          </a:p>
          <a:p xmlns:a="http://schemas.openxmlformats.org/drawingml/2006/main">
            <a:r>
              <a:t/>
            </a:r>
          </a:p>
          <a:p xmlns:a="http://schemas.openxmlformats.org/drawingml/2006/main">
            <a:r>
              <a:t>講師補足</a:t>
            </a:r>
          </a:p>
          <a:p xmlns:a="http://schemas.openxmlformats.org/drawingml/2006/main">
            <a:r>
              <a:t>- 自社帳票へ組み込む場合もclaim脚注を残す。</a:t>
            </a:r>
          </a:p>
          <a:p xmlns:a="http://schemas.openxmlformats.org/drawingml/2006/main">
            <a:r>
              <a:t>- 適・否だけでなく、是正担当・期限・再確認を記録させる。</a:t>
            </a:r>
          </a:p>
          <a:p xmlns:a="http://schemas.openxmlformats.org/drawingml/2006/main">
            <a:r>
              <a:t/>
            </a:r>
          </a:p>
          <a:p xmlns:a="http://schemas.openxmlformats.org/drawingml/2006/main">
            <a:r>
              <a:t>主張ID</a:t>
            </a:r>
          </a:p>
          <a:p xmlns:a="http://schemas.openxmlformats.org/drawingml/2006/main">
            <a:r>
              <a:t>C-LAW-002, C-LAW-003, C-LAW-004, C-LAW-014, C-GUIDE-001, C-GUIDE-003, C-GUIDE-005, SCI-RESCUE-001, SCI-HF-002</a:t>
            </a:r>
          </a:p>
          <a:p xmlns:a="http://schemas.openxmlformats.org/drawingml/2006/main">
            <a:r>
              <a:t/>
            </a:r>
          </a:p>
          <a:p xmlns:a="http://schemas.openxmlformats.org/drawingml/2006/main">
            <a:r>
              <a:t>[Sources]</a:t>
            </a:r>
          </a:p>
          <a:p xmlns:a="http://schemas.openxmlformats.org/drawingml/2006/main">
            <a:r>
              <a:t>- S3 LAW-EGOV-003: https://laws.e-gov.go.jp/law/347M50002000032</a:t>
            </a:r>
          </a:p>
          <a:p xmlns:a="http://schemas.openxmlformats.org/drawingml/2006/main">
            <a:r>
              <a:t>- S1 LAW-EGOV-001: https://laws.e-gov.go.jp/law/347AC0000000057</a:t>
            </a:r>
          </a:p>
          <a:p xmlns:a="http://schemas.openxmlformats.org/drawingml/2006/main">
            <a:r>
              <a:t>- S7 GUIDE-MHLW-002: https://www.mhlw.go.jp/web/t_doc?dataId=00tc8681&amp;dataType=1&amp;pageNo=1</a:t>
            </a:r>
          </a:p>
          <a:p xmlns:a="http://schemas.openxmlformats.org/drawingml/2006/main">
            <a:r>
              <a:t>- S6 GUIDE-MHLW-001: https://www.mhlw.go.jp/web/t_doc?dataId=00tc4287&amp;dataType=1&amp;pageNo=1</a:t>
            </a:r>
          </a:p>
          <a:p xmlns:a="http://schemas.openxmlformats.org/drawingml/2006/main">
            <a:r>
              <a:t>- S20 GOV-US-OSHA-FALL: https://www.osha.gov/otm/section-5-construction-operations/chapter-4</a:t>
            </a:r>
          </a:p>
          <a:p xmlns:a="http://schemas.openxmlformats.org/drawingml/2006/main">
            <a:r>
              <a:t>- S21 SCI-SUSP-REVIEW-2023: https://pmc.ncbi.nlm.nih.gov/articles/PMC10710713/</a:t>
            </a:r>
          </a:p>
          <a:p xmlns:a="http://schemas.openxmlformats.org/drawingml/2006/main">
            <a:r>
              <a:t>- S22 GOV-UK-HSE-HUMAN: https://www.hse.gov.uk/humanfactors/topics/humanfail.htm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一つ目は、フルハーネスより先に、高所作業の回避、作業床、手すり、覆い等を検討することです。墜落を発生させない設備的対策を優先します。二つ目は、残るリスクに対して、作業条件に合う器具、強度を確認した高い取付点、器具表示と実際の下方空間、使用前・定期点検を一体で確認することです。三つ目は、墜落制止後の救助まで作業前に決めることです。今日の現場で一つ改善する項目を選んでください。この教材は法定の特別教育等を代替せず、必要な教育は別に実施・記録します。</a:t>
            </a:r>
          </a:p>
          <a:p xmlns:a="http://schemas.openxmlformats.org/drawingml/2006/main">
            <a:r>
              <a:t/>
            </a:r>
          </a:p>
          <a:p xmlns:a="http://schemas.openxmlformats.org/drawingml/2006/main">
            <a:r>
              <a:t>講師補足</a:t>
            </a:r>
          </a:p>
          <a:p xmlns:a="http://schemas.openxmlformats.org/drawingml/2006/main">
            <a:r>
              <a:t>- 一人ずつ、次の作業前に確認する一項目を宣言して終了する。</a:t>
            </a:r>
          </a:p>
          <a:p xmlns:a="http://schemas.openxmlformats.org/drawingml/2006/main">
            <a:r>
              <a:t>- クイズ後、誤答が多い項目だけ再説明する。</a:t>
            </a:r>
          </a:p>
          <a:p xmlns:a="http://schemas.openxmlformats.org/drawingml/2006/main">
            <a:r>
              <a:t/>
            </a:r>
          </a:p>
          <a:p xmlns:a="http://schemas.openxmlformats.org/drawingml/2006/main">
            <a:r>
              <a:t>主張ID</a:t>
            </a:r>
          </a:p>
          <a:p xmlns:a="http://schemas.openxmlformats.org/drawingml/2006/main">
            <a:r>
              <a:t>C-GUIDE-001, C-GUIDE-003, C-GUIDE-005, SCI-HIER-001, SCI-FALL-003, SCI-RESCUE-001</a:t>
            </a:r>
          </a:p>
          <a:p xmlns:a="http://schemas.openxmlformats.org/drawingml/2006/main">
            <a:r>
              <a:t/>
            </a:r>
          </a:p>
          <a:p xmlns:a="http://schemas.openxmlformats.org/drawingml/2006/main">
            <a:r>
              <a:t>[Sources]</a:t>
            </a:r>
          </a:p>
          <a:p xmlns:a="http://schemas.openxmlformats.org/drawingml/2006/main">
            <a:r>
              <a:t>- S6 GUIDE-MHLW-001: https://www.mhlw.go.jp/web/t_doc?dataId=00tc4287&amp;dataType=1&amp;pageNo=1</a:t>
            </a:r>
          </a:p>
          <a:p xmlns:a="http://schemas.openxmlformats.org/drawingml/2006/main">
            <a:r>
              <a:t>- S7 GUIDE-MHLW-002: https://www.mhlw.go.jp/web/t_doc?dataId=00tc8681&amp;dataType=1&amp;pageNo=1</a:t>
            </a:r>
          </a:p>
          <a:p xmlns:a="http://schemas.openxmlformats.org/drawingml/2006/main">
            <a:r>
              <a:t>- S20 GOV-US-OSHA-FALL: https://www.osha.gov/otm/section-5-construction-operations/chapter-4</a:t>
            </a:r>
          </a:p>
          <a:p xmlns:a="http://schemas.openxmlformats.org/drawingml/2006/main">
            <a:r>
              <a:t>- S21 SCI-SUSP-REVIEW-2023: https://pmc.ncbi.nlm.nih.gov/articles/PMC10710713/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c728d9ba8da498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0467c6a0cc74845" /><Relationship Type="http://schemas.openxmlformats.org/officeDocument/2006/relationships/slideLayout" Target="/ppt/slideLayouts/slideLayout1.xml" Id="R7045bc0f132d474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045bc0f132d474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03f70903fa548d9" /><Relationship Type="http://schemas.openxmlformats.org/officeDocument/2006/relationships/image" Target="/ppt/media/image.bin" Id="R167fa8f182034831" /><Relationship Type="http://schemas.openxmlformats.org/officeDocument/2006/relationships/notesSlide" Target="/ppt/notesSlides/notesSlide1.xml" Id="Rb40d425e1a21485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f9fc7459a674c63" /><Relationship Type="http://schemas.openxmlformats.org/officeDocument/2006/relationships/notesSlide" Target="/ppt/notesSlides/notesSlide2.xml" Id="R0bd1ac533f66484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e66c47747d84c80" /><Relationship Type="http://schemas.openxmlformats.org/officeDocument/2006/relationships/notesSlide" Target="/ppt/notesSlides/notesSlide3.xml" Id="R9e92c760963c4f0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6a0603b30884ce9" /><Relationship Type="http://schemas.openxmlformats.org/officeDocument/2006/relationships/chart" Target="/ppt/slides/charts/chart1.xml" Id="Rdfe23102d36c47e5" /><Relationship Type="http://schemas.openxmlformats.org/officeDocument/2006/relationships/notesSlide" Target="/ppt/notesSlides/notesSlide4.xml" Id="R6b514415f682479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4e7c5f49633489a" /><Relationship Type="http://schemas.openxmlformats.org/officeDocument/2006/relationships/chart" Target="/ppt/slides/charts/chart2.xml" Id="R159dd140dd424524" /><Relationship Type="http://schemas.openxmlformats.org/officeDocument/2006/relationships/notesSlide" Target="/ppt/notesSlides/notesSlide5.xml" Id="Rdc942b1b686945a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0f9f3a15acb4086" /><Relationship Type="http://schemas.openxmlformats.org/officeDocument/2006/relationships/chart" Target="/ppt/slides/charts/chart3.xml" Id="R6b81e785fb91477c" /><Relationship Type="http://schemas.openxmlformats.org/officeDocument/2006/relationships/notesSlide" Target="/ppt/notesSlides/notesSlide6.xml" Id="Re890eed58d76474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2ab7ef432c14402" /><Relationship Type="http://schemas.openxmlformats.org/officeDocument/2006/relationships/image" Target="/ppt/media/image.png" Id="R6776807a060b4221" /><Relationship Type="http://schemas.openxmlformats.org/officeDocument/2006/relationships/notesSlide" Target="/ppt/notesSlides/notesSlide7.xml" Id="R2afbbb61b76948e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f7ac536314f41e5" /><Relationship Type="http://schemas.openxmlformats.org/officeDocument/2006/relationships/image" Target="/ppt/media/image2.png" Id="R83d9ca3a34164840" /><Relationship Type="http://schemas.openxmlformats.org/officeDocument/2006/relationships/notesSlide" Target="/ppt/notesSlides/notesSlide8.xml" Id="Rdc296006a8eb463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db14a55c9584244" /><Relationship Type="http://schemas.openxmlformats.org/officeDocument/2006/relationships/image" Target="/ppt/media/image3.png" Id="R8d0665ee78014de6" /><Relationship Type="http://schemas.openxmlformats.org/officeDocument/2006/relationships/notesSlide" Target="/ppt/notesSlides/notesSlide9.xml" Id="Rb5b0061e19de407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1c3af7c6bdf4da8" /><Relationship Type="http://schemas.openxmlformats.org/officeDocument/2006/relationships/notesSlide" Target="/ppt/notesSlides/notesSlide10.xml" Id="Ra93503d1d2784b3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dbb2f8a82cc49d6" /><Relationship Type="http://schemas.openxmlformats.org/officeDocument/2006/relationships/notesSlide" Target="/ppt/notesSlides/notesSlide11.xml" Id="R3a57d23302e24b9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c88c0908ff24105" /><Relationship Type="http://schemas.openxmlformats.org/officeDocument/2006/relationships/notesSlide" Target="/ppt/notesSlides/notesSlide12.xml" Id="R7dcc27237051487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786fd19c81343f7" /><Relationship Type="http://schemas.openxmlformats.org/officeDocument/2006/relationships/notesSlide" Target="/ppt/notesSlides/notesSlide13.xml" Id="Ra875f48d00d245e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f3f125bf0924c59" /><Relationship Type="http://schemas.openxmlformats.org/officeDocument/2006/relationships/image" Target="/ppt/media/image4.png" Id="R1f03f32ff61c443d" /><Relationship Type="http://schemas.openxmlformats.org/officeDocument/2006/relationships/notesSlide" Target="/ppt/notesSlides/notesSlide14.xml" Id="R13c0688e797a4b2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2039eda792e477a" /><Relationship Type="http://schemas.openxmlformats.org/officeDocument/2006/relationships/notesSlide" Target="/ppt/notesSlides/notesSlide15.xml" Id="Rfce61b25725d40f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71bf56b99804634" /><Relationship Type="http://schemas.openxmlformats.org/officeDocument/2006/relationships/notesSlide" Target="/ppt/notesSlides/notesSlide16.xml" Id="R4a2c8b90bf3e4ea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bddac47e0834be1" /><Relationship Type="http://schemas.openxmlformats.org/officeDocument/2006/relationships/notesSlide" Target="/ppt/notesSlides/notesSlide17.xml" Id="R8aecebdf583f4bd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555ea37565664205" /><Relationship Type="http://schemas.openxmlformats.org/officeDocument/2006/relationships/image" Target="/ppt/media/image2.bin" Id="R76daab11f2674938" /><Relationship Type="http://schemas.openxmlformats.org/officeDocument/2006/relationships/image" Target="/ppt/media/image3.bin" Id="Rcc3237b805974be5" /><Relationship Type="http://schemas.openxmlformats.org/officeDocument/2006/relationships/notesSlide" Target="/ppt/notesSlides/notesSlide18.xml" Id="R67ef6c87e2ac43a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84045a19b03946bd" /><Relationship Type="http://schemas.openxmlformats.org/officeDocument/2006/relationships/notesSlide" Target="/ppt/notesSlides/notesSlide19.xml" Id="R7c2a8fa936c042d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d7ff510735b54104" /><Relationship Type="http://schemas.openxmlformats.org/officeDocument/2006/relationships/image" Target="/ppt/media/image4.bin" Id="Re76098768d7844ad" /><Relationship Type="http://schemas.openxmlformats.org/officeDocument/2006/relationships/notesSlide" Target="/ppt/notesSlides/notesSlide20.xml" Id="Rcb704cfa878b408f" /></Relationships>
</file>

<file path=ppt/slides/charts/chart1.xml><?xml version="1.0" encoding="utf-8"?>
<c:chartSpace xmlns:c="http://schemas.openxmlformats.org/drawingml/2006/chart">
  <c:lang val="en-US"/>
  <c:chart>
    <c:plotArea>
      <c:barChart>
        <c:barDir val="bar"/>
        <c:grouping val="clustered"/>
        <c:varyColors val="0"/>
        <c:ser>
          <c:idx val="0"/>
          <c:order val="0"/>
          <c:tx>
            <c:v>建設業・事故の型別</c:v>
          </c:tx>
          <c:spPr>
            <a:solidFill xmlns:a="http://schemas.openxmlformats.org/drawingml/2006/main">
              <a:srgbClr val="0B6B66"/>
            </a:solidFill>
          </c:spPr>
          <c:dPt>
            <c:idx val="0"/>
            <c:invertIfNegative val="0"/>
            <c:spPr>
              <a:solidFill xmlns:a="http://schemas.openxmlformats.org/drawingml/2006/main">
                <a:srgbClr val="0B6B66"/>
              </a:solidFill>
            </c:spPr>
          </c:dPt>
          <c:dPt>
            <c:idx val="1"/>
            <c:invertIfNegative val="0"/>
            <c:spPr>
              <a:solidFill xmlns:a="http://schemas.openxmlformats.org/drawingml/2006/main">
                <a:srgbClr val="0B6B66"/>
              </a:solidFill>
            </c:spPr>
          </c:dPt>
          <c:dPt>
            <c:idx val="2"/>
            <c:invertIfNegative val="0"/>
            <c:spPr>
              <a:solidFill xmlns:a="http://schemas.openxmlformats.org/drawingml/2006/main">
                <a:srgbClr val="0B6B66"/>
              </a:solidFill>
            </c:spPr>
          </c:dPt>
          <c:dPt>
            <c:idx val="3"/>
            <c:invertIfNegative val="0"/>
            <c:spPr>
              <a:solidFill xmlns:a="http://schemas.openxmlformats.org/drawingml/2006/main">
                <a:srgbClr val="0B6B66"/>
              </a:solidFill>
            </c:spPr>
          </c:dPt>
          <c:dPt>
            <c:idx val="4"/>
            <c:invertIfNegative val="0"/>
            <c:spPr>
              <a:solidFill xmlns:a="http://schemas.openxmlformats.org/drawingml/2006/main">
                <a:srgbClr val="0B6B66"/>
              </a:solidFill>
            </c:spPr>
          </c:dPt>
          <c:dPt>
            <c:idx val="5"/>
            <c:invertIfNegative val="0"/>
            <c:spPr>
              <a:solidFill xmlns:a="http://schemas.openxmlformats.org/drawingml/2006/main">
                <a:srgbClr val="F97316"/>
              </a:solidFill>
            </c:spPr>
          </c:dPt>
          <c:cat>
            <c:strLit>
              <c:ptCount val="6"/>
              <c:pt idx="0">
                <c:v>上位5以外（合算）</c:v>
              </c:pt>
              <c:pt idx="1">
                <c:v>飛来・落下</c:v>
              </c:pt>
              <c:pt idx="2">
                <c:v>切れ・こすれ</c:v>
              </c:pt>
              <c:pt idx="3">
                <c:v>はさまれ・巻き込まれ</c:v>
              </c:pt>
              <c:pt idx="4">
                <c:v>転倒</c:v>
              </c:pt>
              <c:pt idx="5">
                <c:v>墜落・転落</c:v>
              </c:pt>
            </c:strLit>
          </c:cat>
          <c:val>
            <c:numLit>
              <c:formatCode>#,##0</c:formatCode>
              <c:ptCount val="6"/>
              <c:pt idx="0">
                <c:v>3734</c:v>
              </c:pt>
              <c:pt idx="1">
                <c:v>1127</c:v>
              </c:pt>
              <c:pt idx="2">
                <c:v>1158</c:v>
              </c:pt>
              <c:pt idx="3">
                <c:v>1496</c:v>
              </c:pt>
              <c:pt idx="4">
                <c:v>1579</c:v>
              </c:pt>
              <c:pt idx="5">
                <c:v>4343</c:v>
              </c:pt>
            </c:numLit>
          </c:val>
        </c:ser>
        <c:dLbls>
          <c:txPr>
            <a:bodyPr xmlns:a="http://schemas.openxmlformats.org/drawingml/2006/main" anchorCtr="1"/>
            <a:lstStyle xmlns:a="http://schemas.openxmlformats.org/drawingml/2006/main"/>
            <a:p xmlns:a="http://schemas.openxmlformats.org/drawingml/2006/main">
              <a:pPr>
                <a:defRPr sz="1050" b="1">
                  <a:solidFill>
                    <a:srgbClr val="102A43"/>
                  </a:solidFill>
                </a:defRPr>
              </a:pPr>
            </a:p>
          </c:txPr>
          <c:dLblPos val="outEnd"/>
          <c:showLegendKey val="0"/>
          <c:showVal val="1"/>
          <c:showCatName val="0"/>
          <c:showSerName val="0"/>
          <c:showPercent val="0"/>
          <c:showBubbleSize val="0"/>
          <c:showLeaderLines val="0"/>
        </c:dLbls>
        <c:gapWidth val="44"/>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D3DEE3"/>
            </a:solidFill>
            <a:prstDash val="solid"/>
          </a:ln>
        </c:spPr>
        <c:txPr>
          <a:bodyPr xmlns:a="http://schemas.openxmlformats.org/drawingml/2006/main" anchorCtr="1"/>
          <a:lstStyle xmlns:a="http://schemas.openxmlformats.org/drawingml/2006/main"/>
          <a:p xmlns:a="http://schemas.openxmlformats.org/drawingml/2006/main">
            <a:pPr>
              <a:defRPr sz="1125">
                <a:solidFill>
                  <a:srgbClr val="172B3A"/>
                </a:solidFill>
              </a:defRPr>
            </a:pPr>
          </a:p>
        </c:txPr>
        <c:crossAx val="48650112"/>
        <c:crossBetween val="between"/>
      </c:valAx>
      <c:spPr>
        <a:noFill xmlns:a="http://schemas.openxmlformats.org/drawingml/2006/main"/>
      </c:spPr>
    </c:plotArea>
    <c:plotVisOnly val="1"/>
  </c:chart>
  <c:spPr>
    <a:noFill xmlns:a="http://schemas.openxmlformats.org/drawingml/2006/main"/>
    <a:ln xmlns:a="http://schemas.openxmlformats.org/drawingml/2006/main" w="0">
      <a:noFill/>
      <a:prstDash val="solid"/>
    </a:ln>
  </c:spPr>
</c:chartSpace>
</file>

<file path=ppt/slides/charts/chart2.xml><?xml version="1.0" encoding="utf-8"?>
<c:chartSpace xmlns:c="http://schemas.openxmlformats.org/drawingml/2006/chart">
  <c:lang val="en-US"/>
  <c:chart>
    <c:plotArea>
      <c:lineChart>
        <c:grouping val="standard"/>
        <c:ser>
          <c:idx val="0"/>
          <c:order val="0"/>
          <c:tx>
            <c:v>建設業・墜落転落・休業4日以上死傷</c:v>
          </c:tx>
          <c:spPr>
            <a:ln xmlns:a="http://schemas.openxmlformats.org/drawingml/2006/main" w="38100">
              <a:solidFill>
                <a:srgbClr val="0B6B66"/>
              </a:solidFill>
              <a:prstDash val="solid"/>
            </a:ln>
          </c:spPr>
          <c:marker>
            <c:symbol val="circle"/>
            <c:size val="7"/>
            <c:spPr>
              <a:solidFill xmlns:a="http://schemas.openxmlformats.org/drawingml/2006/main">
                <a:srgbClr val="0B6B66"/>
              </a:solidFill>
            </c:spPr>
          </c:marker>
          <c:dLbls>
            <c:dLbl>
              <c:idx val="0"/>
              <c:tx>
                <c:rich>
                  <a:bodyPr xmlns:a="http://schemas.openxmlformats.org/drawingml/2006/main"/>
                  <a:lstStyle xmlns:a="http://schemas.openxmlformats.org/drawingml/2006/main"/>
                  <a:p xmlns:a="http://schemas.openxmlformats.org/drawingml/2006/main">
                    <a:r>
                      <a:rPr sz="1050" b="1">
                        <a:solidFill>
                          <a:srgbClr val="064E4A"/>
                        </a:solidFill>
                      </a:rPr>
                      <a:t>5,184</a:t>
                    </a:r>
                  </a:p>
                </c:rich>
              </c:tx>
              <c:txPr>
                <a:bodyPr xmlns:a="http://schemas.openxmlformats.org/drawingml/2006/main" anchorCtr="1"/>
                <a:lstStyle xmlns:a="http://schemas.openxmlformats.org/drawingml/2006/main"/>
                <a:p xmlns:a="http://schemas.openxmlformats.org/drawingml/2006/main">
                  <a:pPr>
                    <a:defRPr sz="1050" b="1">
                      <a:solidFill>
                        <a:srgbClr val="064E4A"/>
                      </a:solidFill>
                    </a:defRPr>
                  </a:pPr>
                </a:p>
              </c:txPr>
              <c:showLegendKey val="0"/>
              <c:showVal val="0"/>
              <c:showCatName val="0"/>
              <c:showSerName val="0"/>
              <c:showPercent val="0"/>
              <c:showBubbleSize val="0"/>
            </c:dLbl>
            <c:dLbl>
              <c:idx val="9"/>
              <c:tx>
                <c:rich>
                  <a:bodyPr xmlns:a="http://schemas.openxmlformats.org/drawingml/2006/main"/>
                  <a:lstStyle xmlns:a="http://schemas.openxmlformats.org/drawingml/2006/main"/>
                  <a:p xmlns:a="http://schemas.openxmlformats.org/drawingml/2006/main">
                    <a:r>
                      <a:rPr sz="1050" b="1">
                        <a:solidFill>
                          <a:srgbClr val="064E4A"/>
                        </a:solidFill>
                      </a:rPr>
                      <a:t>4,343</a:t>
                    </a:r>
                  </a:p>
                </c:rich>
              </c:tx>
              <c:txPr>
                <a:bodyPr xmlns:a="http://schemas.openxmlformats.org/drawingml/2006/main" anchorCtr="1"/>
                <a:lstStyle xmlns:a="http://schemas.openxmlformats.org/drawingml/2006/main"/>
                <a:p xmlns:a="http://schemas.openxmlformats.org/drawingml/2006/main">
                  <a:pPr>
                    <a:defRPr sz="1050" b="1">
                      <a:solidFill>
                        <a:srgbClr val="064E4A"/>
                      </a:solidFill>
                    </a:defRPr>
                  </a:pPr>
                </a:p>
              </c:txPr>
              <c:showLegendKey val="0"/>
              <c:showVal val="0"/>
              <c:showCatName val="0"/>
              <c:showSerName val="0"/>
              <c:showPercent val="0"/>
              <c:showBubbleSize val="0"/>
            </c:dLbl>
          </c:dLbls>
          <c:cat>
            <c:numLit>
              <c:formatCode>General</c:formatCode>
              <c:ptCount val="10"/>
              <c:pt idx="0">
                <c:v>2016</c:v>
              </c:pt>
              <c:pt idx="1">
                <c:v>2017</c:v>
              </c:pt>
              <c:pt idx="2">
                <c:v>2018</c:v>
              </c:pt>
              <c:pt idx="3">
                <c:v>2019</c:v>
              </c:pt>
              <c:pt idx="4">
                <c:v>2020</c:v>
              </c:pt>
              <c:pt idx="5">
                <c:v>2021</c:v>
              </c:pt>
              <c:pt idx="6">
                <c:v>2022</c:v>
              </c:pt>
              <c:pt idx="7">
                <c:v>2023</c:v>
              </c:pt>
              <c:pt idx="8">
                <c:v>2024</c:v>
              </c:pt>
              <c:pt idx="9">
                <c:v>2025</c:v>
              </c:pt>
            </c:numLit>
          </c:cat>
          <c:val>
            <c:numLit>
              <c:formatCode>#,##0</c:formatCode>
              <c:ptCount val="10"/>
              <c:pt idx="0">
                <c:v>5184</c:v>
              </c:pt>
              <c:pt idx="1">
                <c:v>5163</c:v>
              </c:pt>
              <c:pt idx="2">
                <c:v>5154</c:v>
              </c:pt>
              <c:pt idx="3">
                <c:v>5171</c:v>
              </c:pt>
              <c:pt idx="4">
                <c:v>4756</c:v>
              </c:pt>
              <c:pt idx="5">
                <c:v>4869</c:v>
              </c:pt>
              <c:pt idx="6">
                <c:v>4594</c:v>
              </c:pt>
              <c:pt idx="7">
                <c:v>4554</c:v>
              </c:pt>
              <c:pt idx="8">
                <c:v>4351</c:v>
              </c:pt>
              <c:pt idx="9">
                <c:v>4343</c:v>
              </c:pt>
            </c:numLit>
          </c:val>
        </c:ser>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3DEE3"/>
            </a:solidFill>
            <a:prstDash val="solid"/>
          </a:ln>
        </c:spPr>
        <c:txPr>
          <a:bodyPr xmlns:a="http://schemas.openxmlformats.org/drawingml/2006/main" anchorCtr="1"/>
          <a:lstStyle xmlns:a="http://schemas.openxmlformats.org/drawingml/2006/main"/>
          <a:p xmlns:a="http://schemas.openxmlformats.org/drawingml/2006/main">
            <a:pPr>
              <a:defRPr sz="975">
                <a:solidFill>
                  <a:srgbClr val="526270"/>
                </a:solidFill>
              </a:defRPr>
            </a:pPr>
          </a:p>
        </c:txPr>
        <c:crossAx val="48672768"/>
      </c:catAx>
      <c:valAx>
        <c:axId val="48672768"/>
        <c:scaling>
          <c:orientation val="minMax"/>
          <c:max val="5400"/>
          <c:min val="4000"/>
        </c:scaling>
        <c:delete val="0"/>
        <c:axPos val="l"/>
        <c:majorGridlines>
          <c:spPr>
            <a:ln xmlns:a="http://schemas.openxmlformats.org/drawingml/2006/main" w="9525">
              <a:solidFill>
                <a:srgbClr val="DFE6E8"/>
              </a:solidFill>
              <a:prstDash val="solid"/>
            </a:ln>
          </c:spPr>
        </c:majorGridlines>
        <c:numFmt formatCode="#,##0"/>
        <c:majorTickMark val="none"/>
        <c:minorTickMark val="none"/>
        <c:spPr>
          <a:ln xmlns:a="http://schemas.openxmlformats.org/drawingml/2006/main" w="9525">
            <a:solidFill>
              <a:srgbClr val="D3DEE3"/>
            </a:solidFill>
            <a:prstDash val="solid"/>
          </a:ln>
        </c:spPr>
        <c:txPr>
          <a:bodyPr xmlns:a="http://schemas.openxmlformats.org/drawingml/2006/main" anchorCtr="1"/>
          <a:lstStyle xmlns:a="http://schemas.openxmlformats.org/drawingml/2006/main"/>
          <a:p xmlns:a="http://schemas.openxmlformats.org/drawingml/2006/main">
            <a:pPr>
              <a:defRPr sz="975">
                <a:solidFill>
                  <a:srgbClr val="526270"/>
                </a:solidFill>
              </a:defRPr>
            </a:pPr>
          </a:p>
        </c:txPr>
        <c:crossAx val="48650112"/>
        <c:crossBetween val="between"/>
        <c:majorUnit val="200"/>
      </c:valAx>
      <c:spPr>
        <a:noFill xmlns:a="http://schemas.openxmlformats.org/drawingml/2006/main"/>
      </c:spPr>
    </c:plotArea>
    <c:plotVisOnly val="1"/>
  </c:chart>
  <c:spPr>
    <a:noFill xmlns:a="http://schemas.openxmlformats.org/drawingml/2006/main"/>
    <a:ln xmlns:a="http://schemas.openxmlformats.org/drawingml/2006/main" w="0">
      <a:noFill/>
      <a:prstDash val="solid"/>
    </a:ln>
  </c:spPr>
</c:chartSpace>
</file>

<file path=ppt/slides/charts/chart3.xml><?xml version="1.0" encoding="utf-8"?>
<c:chartSpace xmlns:c="http://schemas.openxmlformats.org/drawingml/2006/chart">
  <c:lang val="en-US"/>
  <c:chart>
    <c:plotArea>
      <c:barChart>
        <c:barDir val="bar"/>
        <c:grouping val="clustered"/>
        <c:varyColors val="0"/>
        <c:ser>
          <c:idx val="0"/>
          <c:order val="0"/>
          <c:tx>
            <c:v>墜落・転落</c:v>
          </c:tx>
          <c:spPr>
            <a:solidFill xmlns:a="http://schemas.openxmlformats.org/drawingml/2006/main">
              <a:srgbClr val="0B6B66"/>
            </a:solidFill>
          </c:spPr>
          <c:dPt>
            <c:idx val="0"/>
            <c:invertIfNegative val="0"/>
            <c:spPr>
              <a:solidFill xmlns:a="http://schemas.openxmlformats.org/drawingml/2006/main">
                <a:srgbClr val="0B6B66"/>
              </a:solidFill>
            </c:spPr>
          </c:dPt>
          <c:dPt>
            <c:idx val="1"/>
            <c:invertIfNegative val="0"/>
            <c:spPr>
              <a:solidFill xmlns:a="http://schemas.openxmlformats.org/drawingml/2006/main">
                <a:srgbClr val="0B6B66"/>
              </a:solidFill>
            </c:spPr>
          </c:dPt>
          <c:dPt>
            <c:idx val="2"/>
            <c:invertIfNegative val="0"/>
            <c:spPr>
              <a:solidFill xmlns:a="http://schemas.openxmlformats.org/drawingml/2006/main">
                <a:srgbClr val="0B6B66"/>
              </a:solidFill>
            </c:spPr>
          </c:dPt>
          <c:dPt>
            <c:idx val="3"/>
            <c:invertIfNegative val="0"/>
            <c:spPr>
              <a:solidFill xmlns:a="http://schemas.openxmlformats.org/drawingml/2006/main">
                <a:srgbClr val="0B6B66"/>
              </a:solidFill>
            </c:spPr>
          </c:dPt>
          <c:dPt>
            <c:idx val="4"/>
            <c:invertIfNegative val="0"/>
            <c:spPr>
              <a:solidFill xmlns:a="http://schemas.openxmlformats.org/drawingml/2006/main">
                <a:srgbClr val="0B6B66"/>
              </a:solidFill>
            </c:spPr>
          </c:dPt>
          <c:dPt>
            <c:idx val="5"/>
            <c:invertIfNegative val="0"/>
            <c:spPr>
              <a:solidFill xmlns:a="http://schemas.openxmlformats.org/drawingml/2006/main">
                <a:srgbClr val="0B6B66"/>
              </a:solidFill>
            </c:spPr>
          </c:dPt>
          <c:dPt>
            <c:idx val="6"/>
            <c:invertIfNegative val="0"/>
            <c:spPr>
              <a:solidFill xmlns:a="http://schemas.openxmlformats.org/drawingml/2006/main">
                <a:srgbClr val="F97316"/>
              </a:solidFill>
            </c:spPr>
          </c:dPt>
          <c:dPt>
            <c:idx val="7"/>
            <c:invertIfNegative val="0"/>
            <c:spPr>
              <a:solidFill xmlns:a="http://schemas.openxmlformats.org/drawingml/2006/main">
                <a:srgbClr val="F97316"/>
              </a:solidFill>
            </c:spPr>
          </c:dPt>
          <c:dPt>
            <c:idx val="8"/>
            <c:invertIfNegative val="0"/>
            <c:spPr>
              <a:solidFill xmlns:a="http://schemas.openxmlformats.org/drawingml/2006/main">
                <a:srgbClr val="F97316"/>
              </a:solidFill>
            </c:spPr>
          </c:dPt>
          <c:cat>
            <c:strLit>
              <c:ptCount val="9"/>
              <c:pt idx="0">
                <c:v>開口部</c:v>
              </c:pt>
              <c:pt idx="1">
                <c:v>屋根・はり等</c:v>
              </c:pt>
              <c:pt idx="2">
                <c:v>足場</c:v>
              </c:pt>
              <c:pt idx="3">
                <c:v>建築物・構築物</c:v>
              </c:pt>
              <c:pt idx="4">
                <c:v>踏み台等</c:v>
              </c:pt>
              <c:pt idx="5">
                <c:v>はしご</c:v>
              </c:pt>
              <c:pt idx="6">
                <c:v>脚立</c:v>
              </c:pt>
              <c:pt idx="7">
                <c:v>トラック</c:v>
              </c:pt>
              <c:pt idx="8">
                <c:v>階段・桟橋</c:v>
              </c:pt>
            </c:strLit>
          </c:cat>
          <c:val>
            <c:numLit>
              <c:formatCode>#,##0</c:formatCode>
              <c:ptCount val="9"/>
              <c:pt idx="0">
                <c:v>451</c:v>
              </c:pt>
              <c:pt idx="1">
                <c:v>516</c:v>
              </c:pt>
              <c:pt idx="2">
                <c:v>677</c:v>
              </c:pt>
              <c:pt idx="3">
                <c:v>793</c:v>
              </c:pt>
              <c:pt idx="4">
                <c:v>837</c:v>
              </c:pt>
              <c:pt idx="5">
                <c:v>1019</c:v>
              </c:pt>
              <c:pt idx="6">
                <c:v>3060</c:v>
              </c:pt>
              <c:pt idx="7">
                <c:v>4258</c:v>
              </c:pt>
              <c:pt idx="8">
                <c:v>4286</c:v>
              </c:pt>
            </c:numLit>
          </c:val>
        </c:ser>
        <c:dLbls>
          <c:txPr>
            <a:bodyPr xmlns:a="http://schemas.openxmlformats.org/drawingml/2006/main" anchorCtr="1"/>
            <a:lstStyle xmlns:a="http://schemas.openxmlformats.org/drawingml/2006/main"/>
            <a:p xmlns:a="http://schemas.openxmlformats.org/drawingml/2006/main">
              <a:pPr>
                <a:defRPr sz="1050" b="1">
                  <a:solidFill>
                    <a:srgbClr val="102A43"/>
                  </a:solidFill>
                </a:defRPr>
              </a:pPr>
            </a:p>
          </c:txPr>
          <c:dLblPos val="outEnd"/>
          <c:showLegendKey val="0"/>
          <c:showVal val="1"/>
          <c:showCatName val="0"/>
          <c:showSerName val="0"/>
          <c:showPercent val="0"/>
          <c:showBubbleSize val="0"/>
          <c:showLeaderLines val="0"/>
        </c:dLbls>
        <c:gapWidth val="36"/>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D3DEE3"/>
            </a:solidFill>
            <a:prstDash val="solid"/>
          </a:ln>
        </c:spPr>
        <c:txPr>
          <a:bodyPr xmlns:a="http://schemas.openxmlformats.org/drawingml/2006/main" anchorCtr="1"/>
          <a:lstStyle xmlns:a="http://schemas.openxmlformats.org/drawingml/2006/main"/>
          <a:p xmlns:a="http://schemas.openxmlformats.org/drawingml/2006/main">
            <a:pPr>
              <a:defRPr sz="1125">
                <a:solidFill>
                  <a:srgbClr val="172B3A"/>
                </a:solidFill>
              </a:defRPr>
            </a:pPr>
          </a:p>
        </c:txPr>
        <c:crossAx val="48650112"/>
        <c:crossBetween val="between"/>
      </c:valAx>
      <c:spPr>
        <a:noFill xmlns:a="http://schemas.openxmlformats.org/drawingml/2006/main"/>
      </c:spPr>
    </c:plotArea>
    <c:plotVisOnly val="1"/>
  </c:chart>
  <c:spPr>
    <a:noFill xmlns:a="http://schemas.openxmlformats.org/drawingml/2006/main"/>
    <a:ln xmlns:a="http://schemas.openxmlformats.org/drawingml/2006/main" w="0">
      <a:noFill/>
      <a:prstDash val="solid"/>
    </a:ln>
  </c:spPr>
</c:chartSpace>
</file>

<file path=ppt/slides/slide1.xml><?xml version="1.0" encoding="utf-8"?>
<p:sld xmlns:p="http://schemas.openxmlformats.org/presentationml/2006/main">
  <p:cSld>
    <p:bg>
      <p:bgPr>
        <a:solidFill xmlns:a="http://schemas.openxmlformats.org/drawingml/2006/main">
          <a:srgbClr val="064E4A"/>
        </a:solidFill>
      </p:bgPr>
    </p:bg>
    <p:spTree>
      <p:nvGrpSpPr>
        <p:cNvPr id="1" name=""/>
        <p:cNvGrpSpPr/>
        <p:nvPr/>
      </p:nvGrpSpPr>
      <p:grpSpPr>
        <a:xfrm xmlns:a="http://schemas.openxmlformats.org/drawingml/2006/main"/>
      </p:grpSpPr>
      <p:sp>
        <p:nvSpPr>
          <p:cNvPr id="12" name="cover-orange-bar">
            <a:extLst xmlns:a="http://schemas.openxmlformats.org/drawingml/2006/main">
              <a:ext uri="{FF2B5EF4-FFF2-40B4-BE49-F238E27FC236}">
                <a16:creationId xmlns:a16="http://schemas.microsoft.com/office/drawing/2014/main" id="{7F0807FE-1914-4DDC-9988-E6A75C5DB5FF}"/>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2" name="cover-kicker">
            <a:extLst xmlns:a="http://schemas.openxmlformats.org/drawingml/2006/main">
              <a:ext uri="{FF2B5EF4-FFF2-40B4-BE49-F238E27FC236}">
                <a16:creationId xmlns:a16="http://schemas.microsoft.com/office/drawing/2014/main" id="{7F911451-3CE0-4E11-94B2-420D98A3EB51}"/>
              </a:ext>
            </a:extLst>
          </p:cNvPr>
          <p:cNvSpPr>
            <a:spLocks xmlns:a="http://schemas.openxmlformats.org/drawingml/2006/main" noGrp="1"/>
          </p:cNvSpPr>
          <p:nvPr/>
        </p:nvSpPr>
        <p:spPr>
          <a:xfrm xmlns:a="http://schemas.openxmlformats.org/drawingml/2006/main">
            <a:off x="781050" y="590550"/>
            <a:ext cx="533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1">
                <a:solidFill>
                  <a:srgbClr val="BDE8E2"/>
                </a:solidFill>
              </a:defRPr>
            </a:pPr>
            <a:r>
              <a:rPr sz="1500" b="1">
                <a:solidFill>
                  <a:srgbClr val="BDE8E2"/>
                </a:solidFill>
              </a:rPr>
              <a:t>安全研修ライブラリ</a:t>
            </a:r>
          </a:p>
        </p:txBody>
      </p:sp>
      <p:sp>
        <p:nvSpPr>
          <p:cNvPr id="3" name="cover-title">
            <a:extLst xmlns:a="http://schemas.openxmlformats.org/drawingml/2006/main">
              <a:ext uri="{FF2B5EF4-FFF2-40B4-BE49-F238E27FC236}">
                <a16:creationId xmlns:a16="http://schemas.microsoft.com/office/drawing/2014/main" id="{C234D529-80F7-4E72-83D9-424A460433A8}"/>
              </a:ext>
            </a:extLst>
          </p:cNvPr>
          <p:cNvSpPr>
            <a:spLocks xmlns:a="http://schemas.openxmlformats.org/drawingml/2006/main" noGrp="1"/>
          </p:cNvSpPr>
          <p:nvPr/>
        </p:nvSpPr>
        <p:spPr>
          <a:xfrm xmlns:a="http://schemas.openxmlformats.org/drawingml/2006/main">
            <a:off x="781050" y="1257300"/>
            <a:ext cx="71437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4350" b="1">
                <a:solidFill>
                  <a:srgbClr val="FFFFFF"/>
                </a:solidFill>
              </a:defRPr>
            </a:pPr>
            <a:r>
              <a:rPr sz="4350" b="1">
                <a:solidFill>
                  <a:srgbClr val="FFFFFF"/>
                </a:solidFill>
              </a:rPr>
              <a:t>墜落・転落防止とフルハーネスの実務</a:t>
            </a:r>
          </a:p>
        </p:txBody>
      </p:sp>
      <p:sp>
        <p:nvSpPr>
          <p:cNvPr id="4" name="cover-subtitle">
            <a:extLst xmlns:a="http://schemas.openxmlformats.org/drawingml/2006/main">
              <a:ext uri="{FF2B5EF4-FFF2-40B4-BE49-F238E27FC236}">
                <a16:creationId xmlns:a16="http://schemas.microsoft.com/office/drawing/2014/main" id="{52A5A1A8-9BF5-43A2-BBF6-6A6084057652}"/>
              </a:ext>
            </a:extLst>
          </p:cNvPr>
          <p:cNvSpPr>
            <a:spLocks xmlns:a="http://schemas.openxmlformats.org/drawingml/2006/main" noGrp="1"/>
          </p:cNvSpPr>
          <p:nvPr/>
        </p:nvSpPr>
        <p:spPr>
          <a:xfrm xmlns:a="http://schemas.openxmlformats.org/drawingml/2006/main">
            <a:off x="819150" y="3086100"/>
            <a:ext cx="6667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0">
                <a:solidFill>
                  <a:srgbClr val="E2F4F1"/>
                </a:solidFill>
              </a:defRPr>
            </a:pPr>
            <a:r>
              <a:rPr sz="1725" b="0">
                <a:solidFill>
                  <a:srgbClr val="E2F4F1"/>
                </a:solidFill>
              </a:rPr>
              <a:t>統計と一次資料から、現場で確認するポイントを学ぶ社内安全研修。基準日2026年8月27日。</a:t>
            </a:r>
          </a:p>
        </p:txBody>
      </p:sp>
      <p:sp>
        <p:nvSpPr>
          <p:cNvPr id="5" name="cover-time-rule">
            <a:extLst xmlns:a="http://schemas.openxmlformats.org/drawingml/2006/main">
              <a:ext uri="{FF2B5EF4-FFF2-40B4-BE49-F238E27FC236}">
                <a16:creationId xmlns:a16="http://schemas.microsoft.com/office/drawing/2014/main" id="{15A49AC2-4437-47CB-BC27-F6528B8F2B91}"/>
              </a:ext>
            </a:extLst>
          </p:cNvPr>
          <p:cNvSpPr>
            <a:spLocks xmlns:a="http://schemas.openxmlformats.org/drawingml/2006/main" noGrp="1"/>
          </p:cNvSpPr>
          <p:nvPr/>
        </p:nvSpPr>
        <p:spPr>
          <a:xfrm xmlns:a="http://schemas.openxmlformats.org/drawingml/2006/main">
            <a:off x="819150" y="4229100"/>
            <a:ext cx="5143500" cy="19050"/>
          </a:xfrm>
          <a:prstGeom xmlns:a="http://schemas.openxmlformats.org/drawingml/2006/main" prst="rect">
            <a:avLst/>
          </a:prstGeom>
          <a:solidFill xmlns:a="http://schemas.openxmlformats.org/drawingml/2006/main">
            <a:srgbClr val="77BEB7"/>
          </a:solidFill>
          <a:ln xmlns:a="http://schemas.openxmlformats.org/drawingml/2006/main" w="0">
            <a:noFill/>
            <a:prstDash val="solid"/>
          </a:ln>
        </p:spPr>
      </p:sp>
      <p:sp>
        <p:nvSpPr>
          <p:cNvPr id="6" name="cover-time">
            <a:extLst xmlns:a="http://schemas.openxmlformats.org/drawingml/2006/main">
              <a:ext uri="{FF2B5EF4-FFF2-40B4-BE49-F238E27FC236}">
                <a16:creationId xmlns:a16="http://schemas.microsoft.com/office/drawing/2014/main" id="{333EF825-5FF6-45A1-9D83-066C29A9BC2D}"/>
              </a:ext>
            </a:extLst>
          </p:cNvPr>
          <p:cNvSpPr>
            <a:spLocks xmlns:a="http://schemas.openxmlformats.org/drawingml/2006/main" noGrp="1"/>
          </p:cNvSpPr>
          <p:nvPr/>
        </p:nvSpPr>
        <p:spPr>
          <a:xfrm xmlns:a="http://schemas.openxmlformats.org/drawingml/2006/main">
            <a:off x="819150" y="4400550"/>
            <a:ext cx="619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1">
                <a:solidFill>
                  <a:srgbClr val="FFFFFF"/>
                </a:solidFill>
              </a:defRPr>
            </a:pPr>
            <a:r>
              <a:rPr sz="1500" b="1">
                <a:solidFill>
                  <a:srgbClr val="FFFFFF"/>
                </a:solidFill>
              </a:rPr>
              <a:t>音声付き 約35〜50分　｜　演習・討議込み 約60分</a:t>
            </a:r>
          </a:p>
        </p:txBody>
      </p:sp>
      <p:sp>
        <p:nvSpPr>
          <p:cNvPr id="7" name="cover-boundary">
            <a:extLst xmlns:a="http://schemas.openxmlformats.org/drawingml/2006/main">
              <a:ext uri="{FF2B5EF4-FFF2-40B4-BE49-F238E27FC236}">
                <a16:creationId xmlns:a16="http://schemas.microsoft.com/office/drawing/2014/main" id="{9EFF02E4-3321-41DE-B92A-022FC1183775}"/>
              </a:ext>
            </a:extLst>
          </p:cNvPr>
          <p:cNvSpPr>
            <a:spLocks xmlns:a="http://schemas.openxmlformats.org/drawingml/2006/main" noGrp="1"/>
          </p:cNvSpPr>
          <p:nvPr/>
        </p:nvSpPr>
        <p:spPr>
          <a:xfrm xmlns:a="http://schemas.openxmlformats.org/drawingml/2006/main">
            <a:off x="819150" y="5829300"/>
            <a:ext cx="790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C6E7E3"/>
                </a:solidFill>
              </a:defRPr>
            </a:pPr>
            <a:r>
              <a:rPr sz="1200" b="0">
                <a:solidFill>
                  <a:srgbClr val="C6E7E3"/>
                </a:solidFill>
              </a:rPr>
              <a:t>この教材は社内安全研修用です。法定の特別教育等を代替するものではありません。</a:t>
            </a:r>
          </a:p>
        </p:txBody>
      </p:sp>
      <p:sp>
        <p:nvSpPr>
          <p:cNvPr id="8" name="cover-date">
            <a:extLst xmlns:a="http://schemas.openxmlformats.org/drawingml/2006/main">
              <a:ext uri="{FF2B5EF4-FFF2-40B4-BE49-F238E27FC236}">
                <a16:creationId xmlns:a16="http://schemas.microsoft.com/office/drawing/2014/main" id="{A2878BA0-2BC0-4B3B-9157-BC8CAC78DB50}"/>
              </a:ext>
            </a:extLst>
          </p:cNvPr>
          <p:cNvSpPr>
            <a:spLocks xmlns:a="http://schemas.openxmlformats.org/drawingml/2006/main" noGrp="1"/>
          </p:cNvSpPr>
          <p:nvPr/>
        </p:nvSpPr>
        <p:spPr>
          <a:xfrm xmlns:a="http://schemas.openxmlformats.org/drawingml/2006/main">
            <a:off x="819150" y="61912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92CBC4"/>
                </a:solidFill>
              </a:defRPr>
            </a:pPr>
            <a:r>
              <a:rPr sz="1050" b="0">
                <a:solidFill>
                  <a:srgbClr val="92CBC4"/>
                </a:solidFill>
              </a:rPr>
              <a:t>基準日 2026年8月27日</a:t>
            </a:r>
          </a:p>
        </p:txBody>
      </p:sp>
      <p:sp>
        <p:nvSpPr>
          <p:cNvPr id="9" name="cover-mascot-disc">
            <a:extLst xmlns:a="http://schemas.openxmlformats.org/drawingml/2006/main">
              <a:ext uri="{FF2B5EF4-FFF2-40B4-BE49-F238E27FC236}">
                <a16:creationId xmlns:a16="http://schemas.microsoft.com/office/drawing/2014/main" id="{4AD05C50-A436-4200-BFA0-4E63ABD6CFC1}"/>
              </a:ext>
            </a:extLst>
          </p:cNvPr>
          <p:cNvSpPr>
            <a:spLocks xmlns:a="http://schemas.openxmlformats.org/drawingml/2006/main" noGrp="1"/>
          </p:cNvSpPr>
          <p:nvPr/>
        </p:nvSpPr>
        <p:spPr>
          <a:xfrm xmlns:a="http://schemas.openxmlformats.org/drawingml/2006/main">
            <a:off x="8458200" y="1295400"/>
            <a:ext cx="2667000" cy="2667000"/>
          </a:xfrm>
          <a:prstGeom xmlns:a="http://schemas.openxmlformats.org/drawingml/2006/main" prst="ellipse">
            <a:avLst/>
          </a:prstGeom>
          <a:solidFill xmlns:a="http://schemas.openxmlformats.org/drawingml/2006/main">
            <a:srgbClr val="EAF6F4"/>
          </a:solidFill>
          <a:ln xmlns:a="http://schemas.openxmlformats.org/drawingml/2006/main" w="0">
            <a:no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167fa8f182034831"/>
          <a:stretch xmlns:a="http://schemas.openxmlformats.org/drawingml/2006/main"/>
        </p:blipFill>
        <p:spPr>
          <a:xfrm xmlns:a="http://schemas.openxmlformats.org/drawingml/2006/main">
            <a:off x="8458200" y="1295400"/>
            <a:ext cx="2667000" cy="2667000"/>
          </a:xfrm>
          <a:prstGeom xmlns:a="http://schemas.openxmlformats.org/drawingml/2006/main" prst="roundRect">
            <a:avLst>
              <a:gd name="adj" fmla="val 50000"/>
            </a:avLst>
          </a:prstGeom>
        </p:spPr>
      </p:pic>
      <p:sp>
        <p:nvSpPr>
          <p:cNvPr id="11" name="cover-slide-no">
            <a:extLst xmlns:a="http://schemas.openxmlformats.org/drawingml/2006/main">
              <a:ext uri="{FF2B5EF4-FFF2-40B4-BE49-F238E27FC236}">
                <a16:creationId xmlns:a16="http://schemas.microsoft.com/office/drawing/2014/main" id="{C05A01E9-0734-46B2-AFFC-062E0FB82FB2}"/>
              </a:ext>
            </a:extLst>
          </p:cNvPr>
          <p:cNvSpPr>
            <a:spLocks xmlns:a="http://schemas.openxmlformats.org/drawingml/2006/main" noGrp="1"/>
          </p:cNvSpPr>
          <p:nvPr/>
        </p:nvSpPr>
        <p:spPr>
          <a:xfrm xmlns:a="http://schemas.openxmlformats.org/drawingml/2006/main">
            <a:off x="10287000" y="6229350"/>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0">
                <a:solidFill>
                  <a:srgbClr val="92CBC4"/>
                </a:solidFill>
              </a:defRPr>
            </a:pPr>
            <a:r>
              <a:rPr sz="1050" b="0">
                <a:solidFill>
                  <a:srgbClr val="92CBC4"/>
                </a:solidFill>
              </a:rPr>
              <a:t>01 / 20</a:t>
            </a:r>
          </a:p>
        </p:txBody>
      </p:sp>
    </p:spTree>
    <p:extLst>
      <p:ext uri="{BB962C8B-B14F-4D97-AF65-F5344CB8AC3E}">
        <p14:creationId xmlns:p14="http://schemas.microsoft.com/office/powerpoint/2010/main" val="699057930"/>
      </p:ext>
    </p:extLst>
  </p:cSld>
</p:sld>
</file>

<file path=ppt/slides/slide2.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4" name="accent-2">
            <a:extLst xmlns:a="http://schemas.openxmlformats.org/drawingml/2006/main">
              <a:ext uri="{FF2B5EF4-FFF2-40B4-BE49-F238E27FC236}">
                <a16:creationId xmlns:a16="http://schemas.microsoft.com/office/drawing/2014/main" id="{F659B69B-D7D8-433C-95AD-7C79CDF292C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2">
            <a:extLst xmlns:a="http://schemas.openxmlformats.org/drawingml/2006/main">
              <a:ext uri="{FF2B5EF4-FFF2-40B4-BE49-F238E27FC236}">
                <a16:creationId xmlns:a16="http://schemas.microsoft.com/office/drawing/2014/main" id="{C21162A1-CD77-415A-90EE-7A1A3F19960B}"/>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研修のゴール</a:t>
            </a:r>
          </a:p>
        </p:txBody>
      </p:sp>
      <p:sp>
        <p:nvSpPr>
          <p:cNvPr id="3" name="label-2">
            <a:extLst xmlns:a="http://schemas.openxmlformats.org/drawingml/2006/main">
              <a:ext uri="{FF2B5EF4-FFF2-40B4-BE49-F238E27FC236}">
                <a16:creationId xmlns:a16="http://schemas.microsoft.com/office/drawing/2014/main" id="{4C7C1028-D07E-4879-9E49-0EF920ADDA11}"/>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行政推奨</a:t>
            </a:r>
          </a:p>
        </p:txBody>
      </p:sp>
      <p:sp>
        <p:nvSpPr>
          <p:cNvPr id="4" name="title-2">
            <a:extLst xmlns:a="http://schemas.openxmlformats.org/drawingml/2006/main">
              <a:ext uri="{FF2B5EF4-FFF2-40B4-BE49-F238E27FC236}">
                <a16:creationId xmlns:a16="http://schemas.microsoft.com/office/drawing/2014/main" id="{5EB0FED7-B486-4C59-9C38-2239EEB6BAF4}"/>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今日持ち帰る3点</a:t>
            </a:r>
          </a:p>
        </p:txBody>
      </p:sp>
      <p:sp>
        <p:nvSpPr>
          <p:cNvPr id="5" name="title-rule-2">
            <a:extLst xmlns:a="http://schemas.openxmlformats.org/drawingml/2006/main">
              <a:ext uri="{FF2B5EF4-FFF2-40B4-BE49-F238E27FC236}">
                <a16:creationId xmlns:a16="http://schemas.microsoft.com/office/drawing/2014/main" id="{B136BD2B-5E9B-44BD-B5AC-32C79EBCA3E9}"/>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2">
            <a:extLst xmlns:a="http://schemas.openxmlformats.org/drawingml/2006/main">
              <a:ext uri="{FF2B5EF4-FFF2-40B4-BE49-F238E27FC236}">
                <a16:creationId xmlns:a16="http://schemas.microsoft.com/office/drawing/2014/main" id="{65C49B16-27E9-4D76-A0F0-EACC875DBD3A}"/>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設備で防ぐ。条件に合う器具と下方空間を確かめる。宙づり後の救助まで作業前に決める。</a:t>
            </a:r>
          </a:p>
        </p:txBody>
      </p:sp>
      <p:sp>
        <p:nvSpPr>
          <p:cNvPr id="7" name="step-no-2-0">
            <a:extLst xmlns:a="http://schemas.openxmlformats.org/drawingml/2006/main">
              <a:ext uri="{FF2B5EF4-FFF2-40B4-BE49-F238E27FC236}">
                <a16:creationId xmlns:a16="http://schemas.microsoft.com/office/drawing/2014/main" id="{27BA828D-F640-449E-B2AA-B756733314C8}"/>
              </a:ext>
            </a:extLst>
          </p:cNvPr>
          <p:cNvSpPr>
            <a:spLocks xmlns:a="http://schemas.openxmlformats.org/drawingml/2006/main" noGrp="1"/>
          </p:cNvSpPr>
          <p:nvPr/>
        </p:nvSpPr>
        <p:spPr>
          <a:xfrm xmlns:a="http://schemas.openxmlformats.org/drawingml/2006/main">
            <a:off x="647700"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0B6B66"/>
                </a:solidFill>
              </a:defRPr>
            </a:pPr>
            <a:r>
              <a:rPr sz="3900" b="1">
                <a:solidFill>
                  <a:srgbClr val="0B6B66"/>
                </a:solidFill>
              </a:rPr>
              <a:t>01</a:t>
            </a:r>
          </a:p>
        </p:txBody>
      </p:sp>
      <p:sp>
        <p:nvSpPr>
          <p:cNvPr id="8" name="step-rule-2-0">
            <a:extLst xmlns:a="http://schemas.openxmlformats.org/drawingml/2006/main">
              <a:ext uri="{FF2B5EF4-FFF2-40B4-BE49-F238E27FC236}">
                <a16:creationId xmlns:a16="http://schemas.microsoft.com/office/drawing/2014/main" id="{DC5AE8F7-7995-4575-BF5C-A8DA46810E76}"/>
              </a:ext>
            </a:extLst>
          </p:cNvPr>
          <p:cNvSpPr>
            <a:spLocks xmlns:a="http://schemas.openxmlformats.org/drawingml/2006/main" noGrp="1"/>
          </p:cNvSpPr>
          <p:nvPr/>
        </p:nvSpPr>
        <p:spPr>
          <a:xfrm xmlns:a="http://schemas.openxmlformats.org/drawingml/2006/main">
            <a:off x="647700" y="3105150"/>
            <a:ext cx="3257550" cy="381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9" name="step-label-2-0">
            <a:extLst xmlns:a="http://schemas.openxmlformats.org/drawingml/2006/main">
              <a:ext uri="{FF2B5EF4-FFF2-40B4-BE49-F238E27FC236}">
                <a16:creationId xmlns:a16="http://schemas.microsoft.com/office/drawing/2014/main" id="{8739639E-CEB0-454C-B88C-6FB5CBA65486}"/>
              </a:ext>
            </a:extLst>
          </p:cNvPr>
          <p:cNvSpPr>
            <a:spLocks xmlns:a="http://schemas.openxmlformats.org/drawingml/2006/main" noGrp="1"/>
          </p:cNvSpPr>
          <p:nvPr/>
        </p:nvSpPr>
        <p:spPr>
          <a:xfrm xmlns:a="http://schemas.openxmlformats.org/drawingml/2006/main">
            <a:off x="647700"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設備で防ぐ</a:t>
            </a:r>
          </a:p>
        </p:txBody>
      </p:sp>
      <p:sp>
        <p:nvSpPr>
          <p:cNvPr id="10" name="step-detail-2-0">
            <a:extLst xmlns:a="http://schemas.openxmlformats.org/drawingml/2006/main">
              <a:ext uri="{FF2B5EF4-FFF2-40B4-BE49-F238E27FC236}">
                <a16:creationId xmlns:a16="http://schemas.microsoft.com/office/drawing/2014/main" id="{0D268487-B207-4386-A8EB-857EFEDA575C}"/>
              </a:ext>
            </a:extLst>
          </p:cNvPr>
          <p:cNvSpPr>
            <a:spLocks xmlns:a="http://schemas.openxmlformats.org/drawingml/2006/main" noGrp="1"/>
          </p:cNvSpPr>
          <p:nvPr/>
        </p:nvSpPr>
        <p:spPr>
          <a:xfrm xmlns:a="http://schemas.openxmlformats.org/drawingml/2006/main">
            <a:off x="647700"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高所作業の回避、作業床、手すり、覆いを先に検討</a:t>
            </a:r>
          </a:p>
        </p:txBody>
      </p:sp>
      <p:sp>
        <p:nvSpPr>
          <p:cNvPr id="11" name="step-arrow-2-0">
            <a:extLst xmlns:a="http://schemas.openxmlformats.org/drawingml/2006/main">
              <a:ext uri="{FF2B5EF4-FFF2-40B4-BE49-F238E27FC236}">
                <a16:creationId xmlns:a16="http://schemas.microsoft.com/office/drawing/2014/main" id="{29CE5C24-3EE1-4516-AAC7-A774E995AE4B}"/>
              </a:ext>
            </a:extLst>
          </p:cNvPr>
          <p:cNvSpPr>
            <a:spLocks xmlns:a="http://schemas.openxmlformats.org/drawingml/2006/main" noGrp="1"/>
          </p:cNvSpPr>
          <p:nvPr/>
        </p:nvSpPr>
        <p:spPr>
          <a:xfrm xmlns:a="http://schemas.openxmlformats.org/drawingml/2006/main">
            <a:off x="3971925" y="3009900"/>
            <a:ext cx="22860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2" name="step-no-2-1">
            <a:extLst xmlns:a="http://schemas.openxmlformats.org/drawingml/2006/main">
              <a:ext uri="{FF2B5EF4-FFF2-40B4-BE49-F238E27FC236}">
                <a16:creationId xmlns:a16="http://schemas.microsoft.com/office/drawing/2014/main" id="{C0EC188E-9744-4E9D-9F82-A1B8FDCF4FFE}"/>
              </a:ext>
            </a:extLst>
          </p:cNvPr>
          <p:cNvSpPr>
            <a:spLocks xmlns:a="http://schemas.openxmlformats.org/drawingml/2006/main" noGrp="1"/>
          </p:cNvSpPr>
          <p:nvPr/>
        </p:nvSpPr>
        <p:spPr>
          <a:xfrm xmlns:a="http://schemas.openxmlformats.org/drawingml/2006/main">
            <a:off x="4257675"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F97316"/>
                </a:solidFill>
              </a:defRPr>
            </a:pPr>
            <a:r>
              <a:rPr sz="3900" b="1">
                <a:solidFill>
                  <a:srgbClr val="F97316"/>
                </a:solidFill>
              </a:rPr>
              <a:t>02</a:t>
            </a:r>
          </a:p>
        </p:txBody>
      </p:sp>
      <p:sp>
        <p:nvSpPr>
          <p:cNvPr id="13" name="step-rule-2-1">
            <a:extLst xmlns:a="http://schemas.openxmlformats.org/drawingml/2006/main">
              <a:ext uri="{FF2B5EF4-FFF2-40B4-BE49-F238E27FC236}">
                <a16:creationId xmlns:a16="http://schemas.microsoft.com/office/drawing/2014/main" id="{AB2E641A-3EDF-4DC3-B030-EB61164C5234}"/>
              </a:ext>
            </a:extLst>
          </p:cNvPr>
          <p:cNvSpPr>
            <a:spLocks xmlns:a="http://schemas.openxmlformats.org/drawingml/2006/main" noGrp="1"/>
          </p:cNvSpPr>
          <p:nvPr/>
        </p:nvSpPr>
        <p:spPr>
          <a:xfrm xmlns:a="http://schemas.openxmlformats.org/drawingml/2006/main">
            <a:off x="4257675" y="3105150"/>
            <a:ext cx="3257550" cy="381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4" name="step-label-2-1">
            <a:extLst xmlns:a="http://schemas.openxmlformats.org/drawingml/2006/main">
              <a:ext uri="{FF2B5EF4-FFF2-40B4-BE49-F238E27FC236}">
                <a16:creationId xmlns:a16="http://schemas.microsoft.com/office/drawing/2014/main" id="{3B216D81-C423-4BBF-A7F1-541C83EEBD39}"/>
              </a:ext>
            </a:extLst>
          </p:cNvPr>
          <p:cNvSpPr>
            <a:spLocks xmlns:a="http://schemas.openxmlformats.org/drawingml/2006/main" noGrp="1"/>
          </p:cNvSpPr>
          <p:nvPr/>
        </p:nvSpPr>
        <p:spPr>
          <a:xfrm xmlns:a="http://schemas.openxmlformats.org/drawingml/2006/main">
            <a:off x="4257675"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系として照合</a:t>
            </a:r>
          </a:p>
        </p:txBody>
      </p:sp>
      <p:sp>
        <p:nvSpPr>
          <p:cNvPr id="15" name="step-detail-2-1">
            <a:extLst xmlns:a="http://schemas.openxmlformats.org/drawingml/2006/main">
              <a:ext uri="{FF2B5EF4-FFF2-40B4-BE49-F238E27FC236}">
                <a16:creationId xmlns:a16="http://schemas.microsoft.com/office/drawing/2014/main" id="{03F63334-ED48-43F4-9A22-69BF3907E6E0}"/>
              </a:ext>
            </a:extLst>
          </p:cNvPr>
          <p:cNvSpPr>
            <a:spLocks xmlns:a="http://schemas.openxmlformats.org/drawingml/2006/main" noGrp="1"/>
          </p:cNvSpPr>
          <p:nvPr/>
        </p:nvSpPr>
        <p:spPr>
          <a:xfrm xmlns:a="http://schemas.openxmlformats.org/drawingml/2006/main">
            <a:off x="4257675"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器具、取付点、使用質量、落下距離、下方空間</a:t>
            </a:r>
          </a:p>
        </p:txBody>
      </p:sp>
      <p:sp>
        <p:nvSpPr>
          <p:cNvPr id="16" name="step-arrow-2-1">
            <a:extLst xmlns:a="http://schemas.openxmlformats.org/drawingml/2006/main">
              <a:ext uri="{FF2B5EF4-FFF2-40B4-BE49-F238E27FC236}">
                <a16:creationId xmlns:a16="http://schemas.microsoft.com/office/drawing/2014/main" id="{7D51B560-D5E3-4637-BED5-03E060825438}"/>
              </a:ext>
            </a:extLst>
          </p:cNvPr>
          <p:cNvSpPr>
            <a:spLocks xmlns:a="http://schemas.openxmlformats.org/drawingml/2006/main" noGrp="1"/>
          </p:cNvSpPr>
          <p:nvPr/>
        </p:nvSpPr>
        <p:spPr>
          <a:xfrm xmlns:a="http://schemas.openxmlformats.org/drawingml/2006/main">
            <a:off x="7581900" y="3009900"/>
            <a:ext cx="22860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7" name="step-no-2-2">
            <a:extLst xmlns:a="http://schemas.openxmlformats.org/drawingml/2006/main">
              <a:ext uri="{FF2B5EF4-FFF2-40B4-BE49-F238E27FC236}">
                <a16:creationId xmlns:a16="http://schemas.microsoft.com/office/drawing/2014/main" id="{7B48A3E0-D236-46EB-AA03-8A1ACF8F03AE}"/>
              </a:ext>
            </a:extLst>
          </p:cNvPr>
          <p:cNvSpPr>
            <a:spLocks xmlns:a="http://schemas.openxmlformats.org/drawingml/2006/main" noGrp="1"/>
          </p:cNvSpPr>
          <p:nvPr/>
        </p:nvSpPr>
        <p:spPr>
          <a:xfrm xmlns:a="http://schemas.openxmlformats.org/drawingml/2006/main">
            <a:off x="7867650"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102A43"/>
                </a:solidFill>
              </a:defRPr>
            </a:pPr>
            <a:r>
              <a:rPr sz="3900" b="1">
                <a:solidFill>
                  <a:srgbClr val="102A43"/>
                </a:solidFill>
              </a:rPr>
              <a:t>03</a:t>
            </a:r>
          </a:p>
        </p:txBody>
      </p:sp>
      <p:sp>
        <p:nvSpPr>
          <p:cNvPr id="18" name="step-rule-2-2">
            <a:extLst xmlns:a="http://schemas.openxmlformats.org/drawingml/2006/main">
              <a:ext uri="{FF2B5EF4-FFF2-40B4-BE49-F238E27FC236}">
                <a16:creationId xmlns:a16="http://schemas.microsoft.com/office/drawing/2014/main" id="{7E854F3C-5DAB-480C-AA0E-9792F9C0088A}"/>
              </a:ext>
            </a:extLst>
          </p:cNvPr>
          <p:cNvSpPr>
            <a:spLocks xmlns:a="http://schemas.openxmlformats.org/drawingml/2006/main" noGrp="1"/>
          </p:cNvSpPr>
          <p:nvPr/>
        </p:nvSpPr>
        <p:spPr>
          <a:xfrm xmlns:a="http://schemas.openxmlformats.org/drawingml/2006/main">
            <a:off x="7867650" y="3105150"/>
            <a:ext cx="3257550" cy="38100"/>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19" name="step-label-2-2">
            <a:extLst xmlns:a="http://schemas.openxmlformats.org/drawingml/2006/main">
              <a:ext uri="{FF2B5EF4-FFF2-40B4-BE49-F238E27FC236}">
                <a16:creationId xmlns:a16="http://schemas.microsoft.com/office/drawing/2014/main" id="{6E20B950-6B30-4EA5-99B1-572984ADB663}"/>
              </a:ext>
            </a:extLst>
          </p:cNvPr>
          <p:cNvSpPr>
            <a:spLocks xmlns:a="http://schemas.openxmlformats.org/drawingml/2006/main" noGrp="1"/>
          </p:cNvSpPr>
          <p:nvPr/>
        </p:nvSpPr>
        <p:spPr>
          <a:xfrm xmlns:a="http://schemas.openxmlformats.org/drawingml/2006/main">
            <a:off x="7867650"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救助まで決める</a:t>
            </a:r>
          </a:p>
        </p:txBody>
      </p:sp>
      <p:sp>
        <p:nvSpPr>
          <p:cNvPr id="20" name="step-detail-2-2">
            <a:extLst xmlns:a="http://schemas.openxmlformats.org/drawingml/2006/main">
              <a:ext uri="{FF2B5EF4-FFF2-40B4-BE49-F238E27FC236}">
                <a16:creationId xmlns:a16="http://schemas.microsoft.com/office/drawing/2014/main" id="{86475207-6049-4DC9-9D0D-C8D8244FE025}"/>
              </a:ext>
            </a:extLst>
          </p:cNvPr>
          <p:cNvSpPr>
            <a:spLocks xmlns:a="http://schemas.openxmlformats.org/drawingml/2006/main" noGrp="1"/>
          </p:cNvSpPr>
          <p:nvPr/>
        </p:nvSpPr>
        <p:spPr>
          <a:xfrm xmlns:a="http://schemas.openxmlformats.org/drawingml/2006/main">
            <a:off x="7867650"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方法、機材、担当者、連絡、訓練を作業前に確認</a:t>
            </a:r>
          </a:p>
        </p:txBody>
      </p:sp>
      <p:sp>
        <p:nvSpPr>
          <p:cNvPr id="21" name="footer-rule-2">
            <a:extLst xmlns:a="http://schemas.openxmlformats.org/drawingml/2006/main">
              <a:ext uri="{FF2B5EF4-FFF2-40B4-BE49-F238E27FC236}">
                <a16:creationId xmlns:a16="http://schemas.microsoft.com/office/drawing/2014/main" id="{EAF96DF9-FE5E-44B5-BC8C-50717085F065}"/>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2" name="footer-sources-2">
            <a:extLst xmlns:a="http://schemas.openxmlformats.org/drawingml/2006/main">
              <a:ext uri="{FF2B5EF4-FFF2-40B4-BE49-F238E27FC236}">
                <a16:creationId xmlns:a16="http://schemas.microsoft.com/office/drawing/2014/main" id="{7C2375CD-6B63-4A4D-BF68-F32D7963005F}"/>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S6・S20・S21（詳細はノート）</a:t>
            </a:r>
          </a:p>
        </p:txBody>
      </p:sp>
      <p:sp>
        <p:nvSpPr>
          <p:cNvPr id="23" name="footer-page-2">
            <a:extLst xmlns:a="http://schemas.openxmlformats.org/drawingml/2006/main">
              <a:ext uri="{FF2B5EF4-FFF2-40B4-BE49-F238E27FC236}">
                <a16:creationId xmlns:a16="http://schemas.microsoft.com/office/drawing/2014/main" id="{FA921F4E-CDA6-40E1-8756-E8F3AD9521DB}"/>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02 / 20</a:t>
            </a:r>
          </a:p>
        </p:txBody>
      </p:sp>
    </p:spTree>
    <p:extLst>
      <p:ext uri="{BB962C8B-B14F-4D97-AF65-F5344CB8AC3E}">
        <p14:creationId xmlns:p14="http://schemas.microsoft.com/office/powerpoint/2010/main" val="1779834313"/>
      </p:ext>
    </p:extLst>
  </p:cSld>
</p:sld>
</file>

<file path=ppt/slides/slide3.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1" name="accent-3">
            <a:extLst xmlns:a="http://schemas.openxmlformats.org/drawingml/2006/main">
              <a:ext uri="{FF2B5EF4-FFF2-40B4-BE49-F238E27FC236}">
                <a16:creationId xmlns:a16="http://schemas.microsoft.com/office/drawing/2014/main" id="{AFEF2CD4-77A7-4D5D-96F8-61CB6D873524}"/>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3">
            <a:extLst xmlns:a="http://schemas.openxmlformats.org/drawingml/2006/main">
              <a:ext uri="{FF2B5EF4-FFF2-40B4-BE49-F238E27FC236}">
                <a16:creationId xmlns:a16="http://schemas.microsoft.com/office/drawing/2014/main" id="{3B71DC9A-8910-47EC-A4CA-D541B866C7FC}"/>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全国・確定値</a:t>
            </a:r>
          </a:p>
        </p:txBody>
      </p:sp>
      <p:sp>
        <p:nvSpPr>
          <p:cNvPr id="3" name="label-3">
            <a:extLst xmlns:a="http://schemas.openxmlformats.org/drawingml/2006/main">
              <a:ext uri="{FF2B5EF4-FFF2-40B4-BE49-F238E27FC236}">
                <a16:creationId xmlns:a16="http://schemas.microsoft.com/office/drawing/2014/main" id="{D2CFB854-EEFD-4524-88D9-D8822BE9C854}"/>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統計・確定値</a:t>
            </a:r>
          </a:p>
        </p:txBody>
      </p:sp>
      <p:sp>
        <p:nvSpPr>
          <p:cNvPr id="4" name="title-3">
            <a:extLst xmlns:a="http://schemas.openxmlformats.org/drawingml/2006/main">
              <a:ext uri="{FF2B5EF4-FFF2-40B4-BE49-F238E27FC236}">
                <a16:creationId xmlns:a16="http://schemas.microsoft.com/office/drawing/2014/main" id="{985A1AC4-F9E0-4095-9609-CF0015BAF6FD}"/>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2025年の全国労働災害</a:t>
            </a:r>
          </a:p>
        </p:txBody>
      </p:sp>
      <p:sp>
        <p:nvSpPr>
          <p:cNvPr id="5" name="title-rule-3">
            <a:extLst xmlns:a="http://schemas.openxmlformats.org/drawingml/2006/main">
              <a:ext uri="{FF2B5EF4-FFF2-40B4-BE49-F238E27FC236}">
                <a16:creationId xmlns:a16="http://schemas.microsoft.com/office/drawing/2014/main" id="{EF3FD7EA-A53E-455B-92E7-60F0BBC5C037}"/>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3">
            <a:extLst xmlns:a="http://schemas.openxmlformats.org/drawingml/2006/main">
              <a:ext uri="{FF2B5EF4-FFF2-40B4-BE49-F238E27FC236}">
                <a16:creationId xmlns:a16="http://schemas.microsoft.com/office/drawing/2014/main" id="{3B6AC3D4-2C9F-45E7-AACE-8AD507C875F4}"/>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2025年全国確定値、新型コロナ除外。死亡700人、休業4日以上の死傷135,333人。</a:t>
            </a:r>
          </a:p>
        </p:txBody>
      </p:sp>
      <p:sp>
        <p:nvSpPr>
          <p:cNvPr id="7" name="metric-value-3-0">
            <a:extLst xmlns:a="http://schemas.openxmlformats.org/drawingml/2006/main">
              <a:ext uri="{FF2B5EF4-FFF2-40B4-BE49-F238E27FC236}">
                <a16:creationId xmlns:a16="http://schemas.microsoft.com/office/drawing/2014/main" id="{7C22EF16-014B-44BF-A584-B1B4A35C4A3A}"/>
              </a:ext>
            </a:extLst>
          </p:cNvPr>
          <p:cNvSpPr>
            <a:spLocks xmlns:a="http://schemas.openxmlformats.org/drawingml/2006/main" noGrp="1"/>
          </p:cNvSpPr>
          <p:nvPr/>
        </p:nvSpPr>
        <p:spPr>
          <a:xfrm xmlns:a="http://schemas.openxmlformats.org/drawingml/2006/main">
            <a:off x="647700" y="2324100"/>
            <a:ext cx="4095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600" b="1">
                <a:solidFill>
                  <a:srgbClr val="0B6B66"/>
                </a:solidFill>
              </a:defRPr>
            </a:pPr>
            <a:r>
              <a:rPr sz="3600" b="1">
                <a:solidFill>
                  <a:srgbClr val="0B6B66"/>
                </a:solidFill>
              </a:rPr>
              <a:t>700人</a:t>
            </a:r>
          </a:p>
        </p:txBody>
      </p:sp>
      <p:sp>
        <p:nvSpPr>
          <p:cNvPr id="8" name="metric-label-3-0">
            <a:extLst xmlns:a="http://schemas.openxmlformats.org/drawingml/2006/main">
              <a:ext uri="{FF2B5EF4-FFF2-40B4-BE49-F238E27FC236}">
                <a16:creationId xmlns:a16="http://schemas.microsoft.com/office/drawing/2014/main" id="{181BA901-85D0-4463-B90D-C8BA05A5E03D}"/>
              </a:ext>
            </a:extLst>
          </p:cNvPr>
          <p:cNvSpPr>
            <a:spLocks xmlns:a="http://schemas.openxmlformats.org/drawingml/2006/main" noGrp="1"/>
          </p:cNvSpPr>
          <p:nvPr/>
        </p:nvSpPr>
        <p:spPr>
          <a:xfrm xmlns:a="http://schemas.openxmlformats.org/drawingml/2006/main">
            <a:off x="647700" y="2952750"/>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02A43"/>
                </a:solidFill>
              </a:defRPr>
            </a:pPr>
            <a:r>
              <a:rPr sz="1425" b="1">
                <a:solidFill>
                  <a:srgbClr val="102A43"/>
                </a:solidFill>
              </a:rPr>
              <a:t>全産業・死亡</a:t>
            </a:r>
          </a:p>
        </p:txBody>
      </p:sp>
      <p:sp>
        <p:nvSpPr>
          <p:cNvPr id="9" name="metric-note-3-0">
            <a:extLst xmlns:a="http://schemas.openxmlformats.org/drawingml/2006/main">
              <a:ext uri="{FF2B5EF4-FFF2-40B4-BE49-F238E27FC236}">
                <a16:creationId xmlns:a16="http://schemas.microsoft.com/office/drawing/2014/main" id="{BD1041BC-0051-4AD6-B1D1-BAA47B11462C}"/>
              </a:ext>
            </a:extLst>
          </p:cNvPr>
          <p:cNvSpPr>
            <a:spLocks xmlns:a="http://schemas.openxmlformats.org/drawingml/2006/main" noGrp="1"/>
          </p:cNvSpPr>
          <p:nvPr/>
        </p:nvSpPr>
        <p:spPr>
          <a:xfrm xmlns:a="http://schemas.openxmlformats.org/drawingml/2006/main">
            <a:off x="647700" y="3267075"/>
            <a:ext cx="447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0">
                <a:solidFill>
                  <a:srgbClr val="526270"/>
                </a:solidFill>
              </a:defRPr>
            </a:pPr>
            <a:r>
              <a:rPr sz="1125" b="0">
                <a:solidFill>
                  <a:srgbClr val="526270"/>
                </a:solidFill>
              </a:rPr>
              <a:t>全国・2025年確定</a:t>
            </a:r>
          </a:p>
        </p:txBody>
      </p:sp>
      <p:sp>
        <p:nvSpPr>
          <p:cNvPr id="10" name="metric-value-3-1">
            <a:extLst xmlns:a="http://schemas.openxmlformats.org/drawingml/2006/main">
              <a:ext uri="{FF2B5EF4-FFF2-40B4-BE49-F238E27FC236}">
                <a16:creationId xmlns:a16="http://schemas.microsoft.com/office/drawing/2014/main" id="{279AB6CC-7E18-4DED-9610-01B925A972B6}"/>
              </a:ext>
            </a:extLst>
          </p:cNvPr>
          <p:cNvSpPr>
            <a:spLocks xmlns:a="http://schemas.openxmlformats.org/drawingml/2006/main" noGrp="1"/>
          </p:cNvSpPr>
          <p:nvPr/>
        </p:nvSpPr>
        <p:spPr>
          <a:xfrm xmlns:a="http://schemas.openxmlformats.org/drawingml/2006/main">
            <a:off x="5962650" y="2324100"/>
            <a:ext cx="4095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600" b="1">
                <a:solidFill>
                  <a:srgbClr val="F97316"/>
                </a:solidFill>
              </a:defRPr>
            </a:pPr>
            <a:r>
              <a:rPr sz="3600" b="1">
                <a:solidFill>
                  <a:srgbClr val="F97316"/>
                </a:solidFill>
              </a:rPr>
              <a:t>135,333人</a:t>
            </a:r>
          </a:p>
        </p:txBody>
      </p:sp>
      <p:sp>
        <p:nvSpPr>
          <p:cNvPr id="11" name="metric-label-3-1">
            <a:extLst xmlns:a="http://schemas.openxmlformats.org/drawingml/2006/main">
              <a:ext uri="{FF2B5EF4-FFF2-40B4-BE49-F238E27FC236}">
                <a16:creationId xmlns:a16="http://schemas.microsoft.com/office/drawing/2014/main" id="{E8DB1CF2-68D1-4A98-8E5B-0CBD076FB905}"/>
              </a:ext>
            </a:extLst>
          </p:cNvPr>
          <p:cNvSpPr>
            <a:spLocks xmlns:a="http://schemas.openxmlformats.org/drawingml/2006/main" noGrp="1"/>
          </p:cNvSpPr>
          <p:nvPr/>
        </p:nvSpPr>
        <p:spPr>
          <a:xfrm xmlns:a="http://schemas.openxmlformats.org/drawingml/2006/main">
            <a:off x="5962650" y="2952750"/>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02A43"/>
                </a:solidFill>
              </a:defRPr>
            </a:pPr>
            <a:r>
              <a:rPr sz="1425" b="1">
                <a:solidFill>
                  <a:srgbClr val="102A43"/>
                </a:solidFill>
              </a:rPr>
              <a:t>全産業・休業4日以上死傷</a:t>
            </a:r>
          </a:p>
        </p:txBody>
      </p:sp>
      <p:sp>
        <p:nvSpPr>
          <p:cNvPr id="12" name="metric-note-3-1">
            <a:extLst xmlns:a="http://schemas.openxmlformats.org/drawingml/2006/main">
              <a:ext uri="{FF2B5EF4-FFF2-40B4-BE49-F238E27FC236}">
                <a16:creationId xmlns:a16="http://schemas.microsoft.com/office/drawing/2014/main" id="{0B9DA732-6819-459F-B16A-42EEC74C02AE}"/>
              </a:ext>
            </a:extLst>
          </p:cNvPr>
          <p:cNvSpPr>
            <a:spLocks xmlns:a="http://schemas.openxmlformats.org/drawingml/2006/main" noGrp="1"/>
          </p:cNvSpPr>
          <p:nvPr/>
        </p:nvSpPr>
        <p:spPr>
          <a:xfrm xmlns:a="http://schemas.openxmlformats.org/drawingml/2006/main">
            <a:off x="5962650" y="3267075"/>
            <a:ext cx="447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0">
                <a:solidFill>
                  <a:srgbClr val="526270"/>
                </a:solidFill>
              </a:defRPr>
            </a:pPr>
            <a:r>
              <a:rPr sz="1125" b="0">
                <a:solidFill>
                  <a:srgbClr val="526270"/>
                </a:solidFill>
              </a:rPr>
              <a:t>死亡を含む</a:t>
            </a:r>
          </a:p>
        </p:txBody>
      </p:sp>
      <p:sp>
        <p:nvSpPr>
          <p:cNvPr id="13" name="metric-value-3-2">
            <a:extLst xmlns:a="http://schemas.openxmlformats.org/drawingml/2006/main">
              <a:ext uri="{FF2B5EF4-FFF2-40B4-BE49-F238E27FC236}">
                <a16:creationId xmlns:a16="http://schemas.microsoft.com/office/drawing/2014/main" id="{E0F64A3A-F4A1-4106-ACD2-118FA172460E}"/>
              </a:ext>
            </a:extLst>
          </p:cNvPr>
          <p:cNvSpPr>
            <a:spLocks xmlns:a="http://schemas.openxmlformats.org/drawingml/2006/main" noGrp="1"/>
          </p:cNvSpPr>
          <p:nvPr/>
        </p:nvSpPr>
        <p:spPr>
          <a:xfrm xmlns:a="http://schemas.openxmlformats.org/drawingml/2006/main">
            <a:off x="647700" y="3781425"/>
            <a:ext cx="4095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600" b="1">
                <a:solidFill>
                  <a:srgbClr val="0B6B66"/>
                </a:solidFill>
              </a:defRPr>
            </a:pPr>
            <a:r>
              <a:rPr sz="3600" b="1">
                <a:solidFill>
                  <a:srgbClr val="0B6B66"/>
                </a:solidFill>
              </a:rPr>
              <a:t>186人</a:t>
            </a:r>
          </a:p>
        </p:txBody>
      </p:sp>
      <p:sp>
        <p:nvSpPr>
          <p:cNvPr id="14" name="metric-label-3-2">
            <a:extLst xmlns:a="http://schemas.openxmlformats.org/drawingml/2006/main">
              <a:ext uri="{FF2B5EF4-FFF2-40B4-BE49-F238E27FC236}">
                <a16:creationId xmlns:a16="http://schemas.microsoft.com/office/drawing/2014/main" id="{02F1A3B9-DB13-4CE5-BA81-817FDDA2FD2D}"/>
              </a:ext>
            </a:extLst>
          </p:cNvPr>
          <p:cNvSpPr>
            <a:spLocks xmlns:a="http://schemas.openxmlformats.org/drawingml/2006/main" noGrp="1"/>
          </p:cNvSpPr>
          <p:nvPr/>
        </p:nvSpPr>
        <p:spPr>
          <a:xfrm xmlns:a="http://schemas.openxmlformats.org/drawingml/2006/main">
            <a:off x="647700" y="4410075"/>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02A43"/>
                </a:solidFill>
              </a:defRPr>
            </a:pPr>
            <a:r>
              <a:rPr sz="1425" b="1">
                <a:solidFill>
                  <a:srgbClr val="102A43"/>
                </a:solidFill>
              </a:rPr>
              <a:t>墜落・転落・死亡</a:t>
            </a:r>
          </a:p>
        </p:txBody>
      </p:sp>
      <p:sp>
        <p:nvSpPr>
          <p:cNvPr id="15" name="metric-value-3-3">
            <a:extLst xmlns:a="http://schemas.openxmlformats.org/drawingml/2006/main">
              <a:ext uri="{FF2B5EF4-FFF2-40B4-BE49-F238E27FC236}">
                <a16:creationId xmlns:a16="http://schemas.microsoft.com/office/drawing/2014/main" id="{0D53736B-A9C5-44C4-99CF-D91940E07591}"/>
              </a:ext>
            </a:extLst>
          </p:cNvPr>
          <p:cNvSpPr>
            <a:spLocks xmlns:a="http://schemas.openxmlformats.org/drawingml/2006/main" noGrp="1"/>
          </p:cNvSpPr>
          <p:nvPr/>
        </p:nvSpPr>
        <p:spPr>
          <a:xfrm xmlns:a="http://schemas.openxmlformats.org/drawingml/2006/main">
            <a:off x="5962650" y="3781425"/>
            <a:ext cx="4095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600" b="1">
                <a:solidFill>
                  <a:srgbClr val="F97316"/>
                </a:solidFill>
              </a:defRPr>
            </a:pPr>
            <a:r>
              <a:rPr sz="3600" b="1">
                <a:solidFill>
                  <a:srgbClr val="F97316"/>
                </a:solidFill>
              </a:rPr>
              <a:t>20,864人</a:t>
            </a:r>
          </a:p>
        </p:txBody>
      </p:sp>
      <p:sp>
        <p:nvSpPr>
          <p:cNvPr id="16" name="metric-label-3-3">
            <a:extLst xmlns:a="http://schemas.openxmlformats.org/drawingml/2006/main">
              <a:ext uri="{FF2B5EF4-FFF2-40B4-BE49-F238E27FC236}">
                <a16:creationId xmlns:a16="http://schemas.microsoft.com/office/drawing/2014/main" id="{86939B5B-8063-4A36-897F-0B99114D5233}"/>
              </a:ext>
            </a:extLst>
          </p:cNvPr>
          <p:cNvSpPr>
            <a:spLocks xmlns:a="http://schemas.openxmlformats.org/drawingml/2006/main" noGrp="1"/>
          </p:cNvSpPr>
          <p:nvPr/>
        </p:nvSpPr>
        <p:spPr>
          <a:xfrm xmlns:a="http://schemas.openxmlformats.org/drawingml/2006/main">
            <a:off x="5962650" y="4410075"/>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02A43"/>
                </a:solidFill>
              </a:defRPr>
            </a:pPr>
            <a:r>
              <a:rPr sz="1425" b="1">
                <a:solidFill>
                  <a:srgbClr val="102A43"/>
                </a:solidFill>
              </a:rPr>
              <a:t>墜落・転落・死傷</a:t>
            </a:r>
          </a:p>
        </p:txBody>
      </p:sp>
      <p:sp>
        <p:nvSpPr>
          <p:cNvPr id="17" name="body-line-3">
            <a:extLst xmlns:a="http://schemas.openxmlformats.org/drawingml/2006/main">
              <a:ext uri="{FF2B5EF4-FFF2-40B4-BE49-F238E27FC236}">
                <a16:creationId xmlns:a16="http://schemas.microsoft.com/office/drawing/2014/main" id="{FD1448ED-02A0-41BC-ACF3-ABEF645A5380}"/>
              </a:ext>
            </a:extLst>
          </p:cNvPr>
          <p:cNvSpPr>
            <a:spLocks xmlns:a="http://schemas.openxmlformats.org/drawingml/2006/main" noGrp="1"/>
          </p:cNvSpPr>
          <p:nvPr/>
        </p:nvSpPr>
        <p:spPr>
          <a:xfrm xmlns:a="http://schemas.openxmlformats.org/drawingml/2006/main">
            <a:off x="647700" y="5314950"/>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526270"/>
                </a:solidFill>
              </a:defRPr>
            </a:pPr>
            <a:r>
              <a:rPr sz="1200" b="0">
                <a:solidFill>
                  <a:srgbClr val="526270"/>
                </a:solidFill>
              </a:rPr>
              <a:t>墜落・転落は死亡186人、休業4日以上死傷20,864人　｜　死亡と死傷は加算しない</a:t>
            </a:r>
          </a:p>
        </p:txBody>
      </p:sp>
      <p:sp>
        <p:nvSpPr>
          <p:cNvPr id="18" name="footer-rule-3">
            <a:extLst xmlns:a="http://schemas.openxmlformats.org/drawingml/2006/main">
              <a:ext uri="{FF2B5EF4-FFF2-40B4-BE49-F238E27FC236}">
                <a16:creationId xmlns:a16="http://schemas.microsoft.com/office/drawing/2014/main" id="{07584384-2A5E-4158-88D0-CEC91DBBEAA3}"/>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9" name="footer-sources-3">
            <a:extLst xmlns:a="http://schemas.openxmlformats.org/drawingml/2006/main">
              <a:ext uri="{FF2B5EF4-FFF2-40B4-BE49-F238E27FC236}">
                <a16:creationId xmlns:a16="http://schemas.microsoft.com/office/drawing/2014/main" id="{9B871671-C7C4-440C-8DC4-3BE7E806F31F}"/>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S16・S17・S18（詳細はノート）</a:t>
            </a:r>
          </a:p>
        </p:txBody>
      </p:sp>
      <p:sp>
        <p:nvSpPr>
          <p:cNvPr id="20" name="footer-page-3">
            <a:extLst xmlns:a="http://schemas.openxmlformats.org/drawingml/2006/main">
              <a:ext uri="{FF2B5EF4-FFF2-40B4-BE49-F238E27FC236}">
                <a16:creationId xmlns:a16="http://schemas.microsoft.com/office/drawing/2014/main" id="{3A245E75-ABB0-4D45-BF9A-04E5E8D73EAD}"/>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03 / 20</a:t>
            </a:r>
          </a:p>
        </p:txBody>
      </p:sp>
    </p:spTree>
    <p:extLst>
      <p:ext uri="{BB962C8B-B14F-4D97-AF65-F5344CB8AC3E}">
        <p14:creationId xmlns:p14="http://schemas.microsoft.com/office/powerpoint/2010/main" val="800045527"/>
      </p:ext>
    </p:extLst>
  </p:cSld>
</p:sld>
</file>

<file path=ppt/slides/slide4.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7" name="accent-4">
            <a:extLst xmlns:a="http://schemas.openxmlformats.org/drawingml/2006/main">
              <a:ext uri="{FF2B5EF4-FFF2-40B4-BE49-F238E27FC236}">
                <a16:creationId xmlns:a16="http://schemas.microsoft.com/office/drawing/2014/main" id="{970BBFEE-06B3-433D-BBD4-F7BFDA0A331E}"/>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4">
            <a:extLst xmlns:a="http://schemas.openxmlformats.org/drawingml/2006/main">
              <a:ext uri="{FF2B5EF4-FFF2-40B4-BE49-F238E27FC236}">
                <a16:creationId xmlns:a16="http://schemas.microsoft.com/office/drawing/2014/main" id="{5FEA16FB-6D1B-4A24-B2A4-05624D3F0F3D}"/>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建設業・確定値</a:t>
            </a:r>
          </a:p>
        </p:txBody>
      </p:sp>
      <p:sp>
        <p:nvSpPr>
          <p:cNvPr id="3" name="label-4">
            <a:extLst xmlns:a="http://schemas.openxmlformats.org/drawingml/2006/main">
              <a:ext uri="{FF2B5EF4-FFF2-40B4-BE49-F238E27FC236}">
                <a16:creationId xmlns:a16="http://schemas.microsoft.com/office/drawing/2014/main" id="{5412FA07-5F9C-43E0-8351-EC9232D89E2F}"/>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統計・確定値</a:t>
            </a:r>
          </a:p>
        </p:txBody>
      </p:sp>
      <p:sp>
        <p:nvSpPr>
          <p:cNvPr id="4" name="title-4">
            <a:extLst xmlns:a="http://schemas.openxmlformats.org/drawingml/2006/main">
              <a:ext uri="{FF2B5EF4-FFF2-40B4-BE49-F238E27FC236}">
                <a16:creationId xmlns:a16="http://schemas.microsoft.com/office/drawing/2014/main" id="{867FA8AB-2C60-4D91-8F23-ECF2247FE5A3}"/>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建設業では比重が大きい</a:t>
            </a:r>
          </a:p>
        </p:txBody>
      </p:sp>
      <p:sp>
        <p:nvSpPr>
          <p:cNvPr id="5" name="title-rule-4">
            <a:extLst xmlns:a="http://schemas.openxmlformats.org/drawingml/2006/main">
              <a:ext uri="{FF2B5EF4-FFF2-40B4-BE49-F238E27FC236}">
                <a16:creationId xmlns:a16="http://schemas.microsoft.com/office/drawing/2014/main" id="{DECB0C74-6675-41C6-BE49-9BA982E4AF4C}"/>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4">
            <a:extLst xmlns:a="http://schemas.openxmlformats.org/drawingml/2006/main">
              <a:ext uri="{FF2B5EF4-FFF2-40B4-BE49-F238E27FC236}">
                <a16:creationId xmlns:a16="http://schemas.microsoft.com/office/drawing/2014/main" id="{C87EB243-E134-446C-9959-1A70A36E751C}"/>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建設業の死亡214人中91人、休業4日以上死傷13,437人中4,343人が墜落・転落。</a:t>
            </a:r>
          </a:p>
        </p:txBody>
      </p:sp>
      <p:graphicFrame>
        <p:nvGraphicFramePr>
          <p:cNvPr id="23" name="Chart"/>
          <p:cNvGraphicFramePr/>
          <p:nvPr/>
        </p:nvGraphicFramePr>
        <p:xfrm>
          <a:off xmlns:a="http://schemas.openxmlformats.org/drawingml/2006/main" x="590550" y="2171700"/>
          <a:ext xmlns:a="http://schemas.openxmlformats.org/drawingml/2006/main" cx="8020050" cy="3333750"/>
        </p:xfrm>
        <a:graphic xmlns:a="http://schemas.openxmlformats.org/drawingml/2006/main">
          <a:graphicData uri="http://schemas.openxmlformats.org/drawingml/2006/chart">
            <c:chart xmlns:r="http://schemas.openxmlformats.org/officeDocument/2006/relationships" xmlns:c="http://schemas.openxmlformats.org/drawingml/2006/chart" r:id="Rdfe23102d36c47e5"/>
          </a:graphicData>
        </a:graphic>
      </p:graphicFrame>
      <p:sp>
        <p:nvSpPr>
          <p:cNvPr id="8" name="construction-type-rule">
            <a:extLst xmlns:a="http://schemas.openxmlformats.org/drawingml/2006/main">
              <a:ext uri="{FF2B5EF4-FFF2-40B4-BE49-F238E27FC236}">
                <a16:creationId xmlns:a16="http://schemas.microsoft.com/office/drawing/2014/main" id="{3269CD58-8ABA-4CBB-A694-02F7C4489188}"/>
              </a:ext>
            </a:extLst>
          </p:cNvPr>
          <p:cNvSpPr>
            <a:spLocks xmlns:a="http://schemas.openxmlformats.org/drawingml/2006/main" noGrp="1"/>
          </p:cNvSpPr>
          <p:nvPr/>
        </p:nvSpPr>
        <p:spPr>
          <a:xfrm xmlns:a="http://schemas.openxmlformats.org/drawingml/2006/main">
            <a:off x="9029700" y="2419350"/>
            <a:ext cx="38100" cy="234315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9" name="construction-death-label">
            <a:extLst xmlns:a="http://schemas.openxmlformats.org/drawingml/2006/main">
              <a:ext uri="{FF2B5EF4-FFF2-40B4-BE49-F238E27FC236}">
                <a16:creationId xmlns:a16="http://schemas.microsoft.com/office/drawing/2014/main" id="{B50D2C78-6A88-46DA-84CB-84CE94B7BA4F}"/>
              </a:ext>
            </a:extLst>
          </p:cNvPr>
          <p:cNvSpPr>
            <a:spLocks xmlns:a="http://schemas.openxmlformats.org/drawingml/2006/main" noGrp="1"/>
          </p:cNvSpPr>
          <p:nvPr/>
        </p:nvSpPr>
        <p:spPr>
          <a:xfrm xmlns:a="http://schemas.openxmlformats.org/drawingml/2006/main">
            <a:off x="9334500" y="24193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1">
                <a:solidFill>
                  <a:srgbClr val="102A43"/>
                </a:solidFill>
              </a:defRPr>
            </a:pPr>
            <a:r>
              <a:rPr sz="1500" b="1">
                <a:solidFill>
                  <a:srgbClr val="102A43"/>
                </a:solidFill>
              </a:rPr>
              <a:t>墜落・転落死亡</a:t>
            </a:r>
          </a:p>
        </p:txBody>
      </p:sp>
      <p:sp>
        <p:nvSpPr>
          <p:cNvPr id="10" name="construction-death-value">
            <a:extLst xmlns:a="http://schemas.openxmlformats.org/drawingml/2006/main">
              <a:ext uri="{FF2B5EF4-FFF2-40B4-BE49-F238E27FC236}">
                <a16:creationId xmlns:a16="http://schemas.microsoft.com/office/drawing/2014/main" id="{4CA7FFF9-BF3F-4664-BFA4-BD48E884021A}"/>
              </a:ext>
            </a:extLst>
          </p:cNvPr>
          <p:cNvSpPr>
            <a:spLocks xmlns:a="http://schemas.openxmlformats.org/drawingml/2006/main" noGrp="1"/>
          </p:cNvSpPr>
          <p:nvPr/>
        </p:nvSpPr>
        <p:spPr>
          <a:xfrm xmlns:a="http://schemas.openxmlformats.org/drawingml/2006/main">
            <a:off x="9334500" y="2876550"/>
            <a:ext cx="2000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F97316"/>
                </a:solidFill>
              </a:defRPr>
            </a:pPr>
            <a:r>
              <a:rPr sz="3900" b="1">
                <a:solidFill>
                  <a:srgbClr val="F97316"/>
                </a:solidFill>
              </a:rPr>
              <a:t>91人</a:t>
            </a:r>
          </a:p>
        </p:txBody>
      </p:sp>
      <p:sp>
        <p:nvSpPr>
          <p:cNvPr id="11" name="construction-death-share">
            <a:extLst xmlns:a="http://schemas.openxmlformats.org/drawingml/2006/main">
              <a:ext uri="{FF2B5EF4-FFF2-40B4-BE49-F238E27FC236}">
                <a16:creationId xmlns:a16="http://schemas.microsoft.com/office/drawing/2014/main" id="{2DDB2B0A-D258-4595-85F1-96FE8AAE0A3C}"/>
              </a:ext>
            </a:extLst>
          </p:cNvPr>
          <p:cNvSpPr>
            <a:spLocks xmlns:a="http://schemas.openxmlformats.org/drawingml/2006/main" noGrp="1"/>
          </p:cNvSpPr>
          <p:nvPr/>
        </p:nvSpPr>
        <p:spPr>
          <a:xfrm xmlns:a="http://schemas.openxmlformats.org/drawingml/2006/main">
            <a:off x="9334500" y="3638550"/>
            <a:ext cx="209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1">
                <a:solidFill>
                  <a:srgbClr val="172B3A"/>
                </a:solidFill>
              </a:defRPr>
            </a:pPr>
            <a:r>
              <a:rPr sz="1500" b="1">
                <a:solidFill>
                  <a:srgbClr val="172B3A"/>
                </a:solidFill>
              </a:rPr>
              <a:t>214人中 42.5%</a:t>
            </a:r>
          </a:p>
        </p:txBody>
      </p:sp>
      <p:sp>
        <p:nvSpPr>
          <p:cNvPr id="12" name="construction-injury-share">
            <a:extLst xmlns:a="http://schemas.openxmlformats.org/drawingml/2006/main">
              <a:ext uri="{FF2B5EF4-FFF2-40B4-BE49-F238E27FC236}">
                <a16:creationId xmlns:a16="http://schemas.microsoft.com/office/drawing/2014/main" id="{1CA84F31-3DAC-4905-A0D5-C1C8B209612E}"/>
              </a:ext>
            </a:extLst>
          </p:cNvPr>
          <p:cNvSpPr>
            <a:spLocks xmlns:a="http://schemas.openxmlformats.org/drawingml/2006/main" noGrp="1"/>
          </p:cNvSpPr>
          <p:nvPr/>
        </p:nvSpPr>
        <p:spPr>
          <a:xfrm xmlns:a="http://schemas.openxmlformats.org/drawingml/2006/main">
            <a:off x="9334500" y="4267200"/>
            <a:ext cx="2095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350" b="0">
                <a:solidFill>
                  <a:srgbClr val="526270"/>
                </a:solidFill>
              </a:defRPr>
            </a:pPr>
            <a:r>
              <a:rPr sz="1350" b="0">
                <a:solidFill>
                  <a:srgbClr val="526270"/>
                </a:solidFill>
              </a:rPr>
              <a:t>死傷：13,437人中</a:t>
            </a:r>
          </a:p>
          <a:p xmlns:a="http://schemas.openxmlformats.org/drawingml/2006/main">
            <a:pPr algn="l">
              <a:defRPr sz="1350" b="0">
                <a:solidFill>
                  <a:srgbClr val="526270"/>
                </a:solidFill>
              </a:defRPr>
            </a:pPr>
            <a:r>
              <a:rPr sz="1350" b="0">
                <a:solidFill>
                  <a:srgbClr val="526270"/>
                </a:solidFill>
              </a:rPr>
              <a:t>4,343人（32.3%）</a:t>
            </a:r>
          </a:p>
        </p:txBody>
      </p:sp>
      <p:sp>
        <p:nvSpPr>
          <p:cNvPr id="13" name="construction-type-definition">
            <a:extLst xmlns:a="http://schemas.openxmlformats.org/drawingml/2006/main">
              <a:ext uri="{FF2B5EF4-FFF2-40B4-BE49-F238E27FC236}">
                <a16:creationId xmlns:a16="http://schemas.microsoft.com/office/drawing/2014/main" id="{E3D97434-B90F-498B-8301-DBC2D451AEFB}"/>
              </a:ext>
            </a:extLst>
          </p:cNvPr>
          <p:cNvSpPr>
            <a:spLocks xmlns:a="http://schemas.openxmlformats.org/drawingml/2006/main" noGrp="1"/>
          </p:cNvSpPr>
          <p:nvPr/>
        </p:nvSpPr>
        <p:spPr>
          <a:xfrm xmlns:a="http://schemas.openxmlformats.org/drawingml/2006/main">
            <a:off x="647700" y="5619750"/>
            <a:ext cx="10572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526270"/>
                </a:solidFill>
              </a:defRPr>
            </a:pPr>
            <a:r>
              <a:rPr sz="1050" b="0">
                <a:solidFill>
                  <a:srgbClr val="526270"/>
                </a:solidFill>
              </a:rPr>
              <a:t>全国・建設業・2025年確定／休業4日以上死傷（死亡を含む）／COVID-19罹患災害を除外</a:t>
            </a:r>
          </a:p>
        </p:txBody>
      </p:sp>
      <p:sp>
        <p:nvSpPr>
          <p:cNvPr id="14" name="footer-rule-4">
            <a:extLst xmlns:a="http://schemas.openxmlformats.org/drawingml/2006/main">
              <a:ext uri="{FF2B5EF4-FFF2-40B4-BE49-F238E27FC236}">
                <a16:creationId xmlns:a16="http://schemas.microsoft.com/office/drawing/2014/main" id="{BE6A6117-9332-49CE-8BE6-9F5B7D040C3F}"/>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5" name="footer-sources-4">
            <a:extLst xmlns:a="http://schemas.openxmlformats.org/drawingml/2006/main">
              <a:ext uri="{FF2B5EF4-FFF2-40B4-BE49-F238E27FC236}">
                <a16:creationId xmlns:a16="http://schemas.microsoft.com/office/drawing/2014/main" id="{318B648D-BE8B-431C-B81F-BACBA0E32ACA}"/>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S16・S17・S18（詳細はノート）</a:t>
            </a:r>
          </a:p>
        </p:txBody>
      </p:sp>
      <p:sp>
        <p:nvSpPr>
          <p:cNvPr id="16" name="footer-page-4">
            <a:extLst xmlns:a="http://schemas.openxmlformats.org/drawingml/2006/main">
              <a:ext uri="{FF2B5EF4-FFF2-40B4-BE49-F238E27FC236}">
                <a16:creationId xmlns:a16="http://schemas.microsoft.com/office/drawing/2014/main" id="{E9CE24AB-DAEE-431F-986D-BCE83BBB958C}"/>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04 / 20</a:t>
            </a:r>
          </a:p>
        </p:txBody>
      </p:sp>
    </p:spTree>
    <p:extLst>
      <p:ext uri="{BB962C8B-B14F-4D97-AF65-F5344CB8AC3E}">
        <p14:creationId xmlns:p14="http://schemas.microsoft.com/office/powerpoint/2010/main" val="1098580745"/>
      </p:ext>
    </p:extLst>
  </p:cSld>
</p:sld>
</file>

<file path=ppt/slides/slide5.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8" name="accent-5">
            <a:extLst xmlns:a="http://schemas.openxmlformats.org/drawingml/2006/main">
              <a:ext uri="{FF2B5EF4-FFF2-40B4-BE49-F238E27FC236}">
                <a16:creationId xmlns:a16="http://schemas.microsoft.com/office/drawing/2014/main" id="{31D088A0-886A-4247-BDB4-09E9D6D9121B}"/>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5">
            <a:extLst xmlns:a="http://schemas.openxmlformats.org/drawingml/2006/main">
              <a:ext uri="{FF2B5EF4-FFF2-40B4-BE49-F238E27FC236}">
                <a16:creationId xmlns:a16="http://schemas.microsoft.com/office/drawing/2014/main" id="{5663D72B-7F96-4C41-BAC7-E259B3043784}"/>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建設業・全国確定</a:t>
            </a:r>
          </a:p>
        </p:txBody>
      </p:sp>
      <p:sp>
        <p:nvSpPr>
          <p:cNvPr id="3" name="label-5">
            <a:extLst xmlns:a="http://schemas.openxmlformats.org/drawingml/2006/main">
              <a:ext uri="{FF2B5EF4-FFF2-40B4-BE49-F238E27FC236}">
                <a16:creationId xmlns:a16="http://schemas.microsoft.com/office/drawing/2014/main" id="{661C4C75-6B8E-4FC4-8BFA-9FD275A34FB9}"/>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統計・確定値</a:t>
            </a:r>
          </a:p>
        </p:txBody>
      </p:sp>
      <p:sp>
        <p:nvSpPr>
          <p:cNvPr id="4" name="title-5">
            <a:extLst xmlns:a="http://schemas.openxmlformats.org/drawingml/2006/main">
              <a:ext uri="{FF2B5EF4-FFF2-40B4-BE49-F238E27FC236}">
                <a16:creationId xmlns:a16="http://schemas.microsoft.com/office/drawing/2014/main" id="{F5B3EF2C-5A56-4897-80DF-8340E0392631}"/>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2016〜2025年の推移</a:t>
            </a:r>
          </a:p>
        </p:txBody>
      </p:sp>
      <p:sp>
        <p:nvSpPr>
          <p:cNvPr id="5" name="title-rule-5">
            <a:extLst xmlns:a="http://schemas.openxmlformats.org/drawingml/2006/main">
              <a:ext uri="{FF2B5EF4-FFF2-40B4-BE49-F238E27FC236}">
                <a16:creationId xmlns:a16="http://schemas.microsoft.com/office/drawing/2014/main" id="{7CE55DCE-AB31-4881-A3D0-96739A9E7091}"/>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5">
            <a:extLst xmlns:a="http://schemas.openxmlformats.org/drawingml/2006/main">
              <a:ext uri="{FF2B5EF4-FFF2-40B4-BE49-F238E27FC236}">
                <a16:creationId xmlns:a16="http://schemas.microsoft.com/office/drawing/2014/main" id="{89419582-9688-4830-9E33-7E51EA735B8D}"/>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10年で死亡134→91人、休業4日以上死傷5,184→4,343人。ただし直近死亡は77→91人。</a:t>
            </a:r>
          </a:p>
        </p:txBody>
      </p:sp>
      <p:graphicFrame>
        <p:nvGraphicFramePr>
          <p:cNvPr id="24" name="Chart"/>
          <p:cNvGraphicFramePr/>
          <p:nvPr/>
        </p:nvGraphicFramePr>
        <p:xfrm>
          <a:off xmlns:a="http://schemas.openxmlformats.org/drawingml/2006/main" x="647700" y="2247900"/>
          <a:ext xmlns:a="http://schemas.openxmlformats.org/drawingml/2006/main" cx="7810500" cy="3105150"/>
        </p:xfrm>
        <a:graphic xmlns:a="http://schemas.openxmlformats.org/drawingml/2006/main">
          <a:graphicData uri="http://schemas.openxmlformats.org/drawingml/2006/chart">
            <c:chart xmlns:r="http://schemas.openxmlformats.org/officeDocument/2006/relationships" xmlns:c="http://schemas.openxmlformats.org/drawingml/2006/chart" r:id="R159dd140dd424524"/>
          </a:graphicData>
        </a:graphic>
      </p:graphicFrame>
      <p:sp>
        <p:nvSpPr>
          <p:cNvPr id="8" name="trend-unit">
            <a:extLst xmlns:a="http://schemas.openxmlformats.org/drawingml/2006/main">
              <a:ext uri="{FF2B5EF4-FFF2-40B4-BE49-F238E27FC236}">
                <a16:creationId xmlns:a16="http://schemas.microsoft.com/office/drawing/2014/main" id="{7E30CEAF-EAF6-4C8F-95A8-C6144CD3A724}"/>
              </a:ext>
            </a:extLst>
          </p:cNvPr>
          <p:cNvSpPr>
            <a:spLocks xmlns:a="http://schemas.openxmlformats.org/drawingml/2006/main" noGrp="1"/>
          </p:cNvSpPr>
          <p:nvPr/>
        </p:nvSpPr>
        <p:spPr>
          <a:xfrm xmlns:a="http://schemas.openxmlformats.org/drawingml/2006/main">
            <a:off x="714375" y="20955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526270"/>
                </a:solidFill>
              </a:defRPr>
            </a:pPr>
            <a:r>
              <a:rPr sz="1050" b="0">
                <a:solidFill>
                  <a:srgbClr val="526270"/>
                </a:solidFill>
              </a:rPr>
              <a:t>休業4日以上死傷（人）</a:t>
            </a:r>
          </a:p>
        </p:txBody>
      </p:sp>
      <p:sp>
        <p:nvSpPr>
          <p:cNvPr id="9" name="trend-side-rule">
            <a:extLst xmlns:a="http://schemas.openxmlformats.org/drawingml/2006/main">
              <a:ext uri="{FF2B5EF4-FFF2-40B4-BE49-F238E27FC236}">
                <a16:creationId xmlns:a16="http://schemas.microsoft.com/office/drawing/2014/main" id="{042122E9-B8F3-4C14-921E-E3FBE9D9750B}"/>
              </a:ext>
            </a:extLst>
          </p:cNvPr>
          <p:cNvSpPr>
            <a:spLocks xmlns:a="http://schemas.openxmlformats.org/drawingml/2006/main" noGrp="1"/>
          </p:cNvSpPr>
          <p:nvPr/>
        </p:nvSpPr>
        <p:spPr>
          <a:xfrm xmlns:a="http://schemas.openxmlformats.org/drawingml/2006/main">
            <a:off x="8858250" y="2343150"/>
            <a:ext cx="38100" cy="268605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0" name="trend-death-label">
            <a:extLst xmlns:a="http://schemas.openxmlformats.org/drawingml/2006/main">
              <a:ext uri="{FF2B5EF4-FFF2-40B4-BE49-F238E27FC236}">
                <a16:creationId xmlns:a16="http://schemas.microsoft.com/office/drawing/2014/main" id="{0731D843-47D2-4D41-9C9F-B9EB8D182379}"/>
              </a:ext>
            </a:extLst>
          </p:cNvPr>
          <p:cNvSpPr>
            <a:spLocks xmlns:a="http://schemas.openxmlformats.org/drawingml/2006/main" noGrp="1"/>
          </p:cNvSpPr>
          <p:nvPr/>
        </p:nvSpPr>
        <p:spPr>
          <a:xfrm xmlns:a="http://schemas.openxmlformats.org/drawingml/2006/main">
            <a:off x="9191625" y="2400300"/>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650" b="1">
                <a:solidFill>
                  <a:srgbClr val="102A43"/>
                </a:solidFill>
              </a:defRPr>
            </a:pPr>
            <a:r>
              <a:rPr sz="1650" b="1">
                <a:solidFill>
                  <a:srgbClr val="102A43"/>
                </a:solidFill>
              </a:rPr>
              <a:t>死亡者数</a:t>
            </a:r>
          </a:p>
        </p:txBody>
      </p:sp>
      <p:sp>
        <p:nvSpPr>
          <p:cNvPr id="11" name="trend-death-2016">
            <a:extLst xmlns:a="http://schemas.openxmlformats.org/drawingml/2006/main">
              <a:ext uri="{FF2B5EF4-FFF2-40B4-BE49-F238E27FC236}">
                <a16:creationId xmlns:a16="http://schemas.microsoft.com/office/drawing/2014/main" id="{F06740E1-32B9-47EC-9B7C-9E24A97628FB}"/>
              </a:ext>
            </a:extLst>
          </p:cNvPr>
          <p:cNvSpPr>
            <a:spLocks xmlns:a="http://schemas.openxmlformats.org/drawingml/2006/main" noGrp="1"/>
          </p:cNvSpPr>
          <p:nvPr/>
        </p:nvSpPr>
        <p:spPr>
          <a:xfrm xmlns:a="http://schemas.openxmlformats.org/drawingml/2006/main">
            <a:off x="9191625" y="2886075"/>
            <a:ext cx="1809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100" b="1">
                <a:solidFill>
                  <a:srgbClr val="526270"/>
                </a:solidFill>
              </a:defRPr>
            </a:pPr>
            <a:r>
              <a:rPr sz="2100" b="1">
                <a:solidFill>
                  <a:srgbClr val="526270"/>
                </a:solidFill>
              </a:rPr>
              <a:t>2016</a:t>
            </a:r>
          </a:p>
          <a:p xmlns:a="http://schemas.openxmlformats.org/drawingml/2006/main">
            <a:pPr algn="l">
              <a:defRPr sz="2100" b="1">
                <a:solidFill>
                  <a:srgbClr val="526270"/>
                </a:solidFill>
              </a:defRPr>
            </a:pPr>
            <a:r>
              <a:rPr sz="2100" b="1">
                <a:solidFill>
                  <a:srgbClr val="526270"/>
                </a:solidFill>
              </a:rPr>
              <a:t>134人</a:t>
            </a:r>
          </a:p>
        </p:txBody>
      </p:sp>
      <p:sp>
        <p:nvSpPr>
          <p:cNvPr id="12" name="trend-death-2025">
            <a:extLst xmlns:a="http://schemas.openxmlformats.org/drawingml/2006/main">
              <a:ext uri="{FF2B5EF4-FFF2-40B4-BE49-F238E27FC236}">
                <a16:creationId xmlns:a16="http://schemas.microsoft.com/office/drawing/2014/main" id="{4D38F35C-ED88-4AA0-AA06-523527C66123}"/>
              </a:ext>
            </a:extLst>
          </p:cNvPr>
          <p:cNvSpPr>
            <a:spLocks xmlns:a="http://schemas.openxmlformats.org/drawingml/2006/main" noGrp="1"/>
          </p:cNvSpPr>
          <p:nvPr/>
        </p:nvSpPr>
        <p:spPr>
          <a:xfrm xmlns:a="http://schemas.openxmlformats.org/drawingml/2006/main">
            <a:off x="9191625" y="3857625"/>
            <a:ext cx="1809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100" b="1">
                <a:solidFill>
                  <a:srgbClr val="F97316"/>
                </a:solidFill>
              </a:defRPr>
            </a:pPr>
            <a:r>
              <a:rPr sz="2100" b="1">
                <a:solidFill>
                  <a:srgbClr val="F97316"/>
                </a:solidFill>
              </a:rPr>
              <a:t>2025</a:t>
            </a:r>
          </a:p>
          <a:p xmlns:a="http://schemas.openxmlformats.org/drawingml/2006/main">
            <a:pPr algn="l">
              <a:defRPr sz="2100" b="1">
                <a:solidFill>
                  <a:srgbClr val="F97316"/>
                </a:solidFill>
              </a:defRPr>
            </a:pPr>
            <a:r>
              <a:rPr sz="2100" b="1">
                <a:solidFill>
                  <a:srgbClr val="F97316"/>
                </a:solidFill>
              </a:rPr>
              <a:t>91人</a:t>
            </a:r>
          </a:p>
        </p:txBody>
      </p:sp>
      <p:sp>
        <p:nvSpPr>
          <p:cNvPr id="13" name="trend-warning">
            <a:extLst xmlns:a="http://schemas.openxmlformats.org/drawingml/2006/main">
              <a:ext uri="{FF2B5EF4-FFF2-40B4-BE49-F238E27FC236}">
                <a16:creationId xmlns:a16="http://schemas.microsoft.com/office/drawing/2014/main" id="{DC05E7E2-0563-498A-9D39-442B8CB3D13A}"/>
              </a:ext>
            </a:extLst>
          </p:cNvPr>
          <p:cNvSpPr>
            <a:spLocks xmlns:a="http://schemas.openxmlformats.org/drawingml/2006/main" noGrp="1"/>
          </p:cNvSpPr>
          <p:nvPr/>
        </p:nvSpPr>
        <p:spPr>
          <a:xfrm xmlns:a="http://schemas.openxmlformats.org/drawingml/2006/main">
            <a:off x="9191625" y="47244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B42318"/>
                </a:solidFill>
              </a:defRPr>
            </a:pPr>
            <a:r>
              <a:rPr sz="1275" b="1">
                <a:solidFill>
                  <a:srgbClr val="B42318"/>
                </a:solidFill>
              </a:rPr>
              <a:t>直近：77 → 91人</a:t>
            </a:r>
          </a:p>
        </p:txBody>
      </p:sp>
      <p:sp>
        <p:nvSpPr>
          <p:cNvPr id="14" name="trend-definition">
            <a:extLst xmlns:a="http://schemas.openxmlformats.org/drawingml/2006/main">
              <a:ext uri="{FF2B5EF4-FFF2-40B4-BE49-F238E27FC236}">
                <a16:creationId xmlns:a16="http://schemas.microsoft.com/office/drawing/2014/main" id="{C6C4E1A2-9A15-4502-8CED-00F0769BDB4F}"/>
              </a:ext>
            </a:extLst>
          </p:cNvPr>
          <p:cNvSpPr>
            <a:spLocks xmlns:a="http://schemas.openxmlformats.org/drawingml/2006/main" noGrp="1"/>
          </p:cNvSpPr>
          <p:nvPr/>
        </p:nvSpPr>
        <p:spPr>
          <a:xfrm xmlns:a="http://schemas.openxmlformats.org/drawingml/2006/main">
            <a:off x="647700" y="5410200"/>
            <a:ext cx="1028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0">
                <a:solidFill>
                  <a:srgbClr val="526270"/>
                </a:solidFill>
              </a:defRPr>
            </a:pPr>
            <a:r>
              <a:rPr sz="1125" b="0">
                <a:solidFill>
                  <a:srgbClr val="526270"/>
                </a:solidFill>
              </a:rPr>
              <a:t>全国・建設業・2016〜2025年確定／単位：人／件数（発生率ではない）</a:t>
            </a:r>
          </a:p>
        </p:txBody>
      </p:sp>
      <p:sp>
        <p:nvSpPr>
          <p:cNvPr id="15" name="footer-rule-5">
            <a:extLst xmlns:a="http://schemas.openxmlformats.org/drawingml/2006/main">
              <a:ext uri="{FF2B5EF4-FFF2-40B4-BE49-F238E27FC236}">
                <a16:creationId xmlns:a16="http://schemas.microsoft.com/office/drawing/2014/main" id="{055BC1D7-B23D-40F4-A291-F2B36BBC1FB8}"/>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6" name="footer-sources-5">
            <a:extLst xmlns:a="http://schemas.openxmlformats.org/drawingml/2006/main">
              <a:ext uri="{FF2B5EF4-FFF2-40B4-BE49-F238E27FC236}">
                <a16:creationId xmlns:a16="http://schemas.microsoft.com/office/drawing/2014/main" id="{1980505B-C1FE-4E5B-929A-03EE05A3B524}"/>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S10・S11・S12・S13・S14・S15・S16・S17（詳細はノート）</a:t>
            </a:r>
          </a:p>
        </p:txBody>
      </p:sp>
      <p:sp>
        <p:nvSpPr>
          <p:cNvPr id="17" name="footer-page-5">
            <a:extLst xmlns:a="http://schemas.openxmlformats.org/drawingml/2006/main">
              <a:ext uri="{FF2B5EF4-FFF2-40B4-BE49-F238E27FC236}">
                <a16:creationId xmlns:a16="http://schemas.microsoft.com/office/drawing/2014/main" id="{16494C9E-1E22-407D-8E71-6ADF5FE6A246}"/>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05 / 20</a:t>
            </a:r>
          </a:p>
        </p:txBody>
      </p:sp>
    </p:spTree>
    <p:extLst>
      <p:ext uri="{BB962C8B-B14F-4D97-AF65-F5344CB8AC3E}">
        <p14:creationId xmlns:p14="http://schemas.microsoft.com/office/powerpoint/2010/main" val="1955446835"/>
      </p:ext>
    </p:extLst>
  </p:cSld>
</p:sld>
</file>

<file path=ppt/slides/slide6.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2" name="accent-6">
            <a:extLst xmlns:a="http://schemas.openxmlformats.org/drawingml/2006/main">
              <a:ext uri="{FF2B5EF4-FFF2-40B4-BE49-F238E27FC236}">
                <a16:creationId xmlns:a16="http://schemas.microsoft.com/office/drawing/2014/main" id="{070A4496-F839-434C-825B-1D6924B303FD}"/>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6">
            <a:extLst xmlns:a="http://schemas.openxmlformats.org/drawingml/2006/main">
              <a:ext uri="{FF2B5EF4-FFF2-40B4-BE49-F238E27FC236}">
                <a16:creationId xmlns:a16="http://schemas.microsoft.com/office/drawing/2014/main" id="{29264539-E6EE-4215-A678-25AEFBCCEBFD}"/>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2025年・全産業</a:t>
            </a:r>
          </a:p>
        </p:txBody>
      </p:sp>
      <p:sp>
        <p:nvSpPr>
          <p:cNvPr id="3" name="label-6">
            <a:extLst xmlns:a="http://schemas.openxmlformats.org/drawingml/2006/main">
              <a:ext uri="{FF2B5EF4-FFF2-40B4-BE49-F238E27FC236}">
                <a16:creationId xmlns:a16="http://schemas.microsoft.com/office/drawing/2014/main" id="{2CC6CCA7-D2DF-4BF6-B7F9-39749650FE10}"/>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統計・確定値</a:t>
            </a:r>
          </a:p>
        </p:txBody>
      </p:sp>
      <p:sp>
        <p:nvSpPr>
          <p:cNvPr id="4" name="title-6">
            <a:extLst xmlns:a="http://schemas.openxmlformats.org/drawingml/2006/main">
              <a:ext uri="{FF2B5EF4-FFF2-40B4-BE49-F238E27FC236}">
                <a16:creationId xmlns:a16="http://schemas.microsoft.com/office/drawing/2014/main" id="{E392DEEF-3B98-455F-BEEF-67FB36877831}"/>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高層の足場だけではない</a:t>
            </a:r>
          </a:p>
        </p:txBody>
      </p:sp>
      <p:sp>
        <p:nvSpPr>
          <p:cNvPr id="5" name="title-rule-6">
            <a:extLst xmlns:a="http://schemas.openxmlformats.org/drawingml/2006/main">
              <a:ext uri="{FF2B5EF4-FFF2-40B4-BE49-F238E27FC236}">
                <a16:creationId xmlns:a16="http://schemas.microsoft.com/office/drawing/2014/main" id="{432CDC76-CF0A-43C8-8B03-E488E04512FD}"/>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6">
            <a:extLst xmlns:a="http://schemas.openxmlformats.org/drawingml/2006/main">
              <a:ext uri="{FF2B5EF4-FFF2-40B4-BE49-F238E27FC236}">
                <a16:creationId xmlns:a16="http://schemas.microsoft.com/office/drawing/2014/main" id="{762C50F1-1840-4103-9286-D161B0159E4A}"/>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墜落・転落20,864人の主な起因物は、階段・桟橋、トラック、脚立、はしご。</a:t>
            </a:r>
          </a:p>
        </p:txBody>
      </p:sp>
      <p:graphicFrame>
        <p:nvGraphicFramePr>
          <p:cNvPr id="18" name="Chart"/>
          <p:cNvGraphicFramePr/>
          <p:nvPr/>
        </p:nvGraphicFramePr>
        <p:xfrm>
          <a:off xmlns:a="http://schemas.openxmlformats.org/drawingml/2006/main" x="590550" y="2190750"/>
          <a:ext xmlns:a="http://schemas.openxmlformats.org/drawingml/2006/main" cx="10382250" cy="3562350"/>
        </p:xfrm>
        <a:graphic xmlns:a="http://schemas.openxmlformats.org/drawingml/2006/main">
          <a:graphicData uri="http://schemas.openxmlformats.org/drawingml/2006/chart">
            <c:chart xmlns:r="http://schemas.openxmlformats.org/officeDocument/2006/relationships" xmlns:c="http://schemas.openxmlformats.org/drawingml/2006/chart" r:id="R6b81e785fb91477c"/>
          </a:graphicData>
        </a:graphic>
      </p:graphicFrame>
      <p:sp>
        <p:nvSpPr>
          <p:cNvPr id="8" name="bar-definition">
            <a:extLst xmlns:a="http://schemas.openxmlformats.org/drawingml/2006/main">
              <a:ext uri="{FF2B5EF4-FFF2-40B4-BE49-F238E27FC236}">
                <a16:creationId xmlns:a16="http://schemas.microsoft.com/office/drawing/2014/main" id="{C8560533-3C8C-4B36-8CDA-FA64865257F6}"/>
              </a:ext>
            </a:extLst>
          </p:cNvPr>
          <p:cNvSpPr>
            <a:spLocks xmlns:a="http://schemas.openxmlformats.org/drawingml/2006/main" noGrp="1"/>
          </p:cNvSpPr>
          <p:nvPr/>
        </p:nvSpPr>
        <p:spPr>
          <a:xfrm xmlns:a="http://schemas.openxmlformats.org/drawingml/2006/main">
            <a:off x="647700" y="5715000"/>
            <a:ext cx="10572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526270"/>
                </a:solidFill>
              </a:defRPr>
            </a:pPr>
            <a:r>
              <a:rPr sz="1050" b="0">
                <a:solidFill>
                  <a:srgbClr val="526270"/>
                </a:solidFill>
              </a:rPr>
              <a:t>全国・全産業・2025年確定／休業4日以上死傷（死亡を含む）／COVID-19罹患災害を除外</a:t>
            </a:r>
          </a:p>
        </p:txBody>
      </p:sp>
      <p:sp>
        <p:nvSpPr>
          <p:cNvPr id="9" name="footer-rule-6">
            <a:extLst xmlns:a="http://schemas.openxmlformats.org/drawingml/2006/main">
              <a:ext uri="{FF2B5EF4-FFF2-40B4-BE49-F238E27FC236}">
                <a16:creationId xmlns:a16="http://schemas.microsoft.com/office/drawing/2014/main" id="{84C8CBC8-59E2-4F13-920E-2637FC95BA92}"/>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0" name="footer-sources-6">
            <a:extLst xmlns:a="http://schemas.openxmlformats.org/drawingml/2006/main">
              <a:ext uri="{FF2B5EF4-FFF2-40B4-BE49-F238E27FC236}">
                <a16:creationId xmlns:a16="http://schemas.microsoft.com/office/drawing/2014/main" id="{EB071021-459F-4153-84A1-6598FA050A98}"/>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S16・S17・S18（詳細はノート）</a:t>
            </a:r>
          </a:p>
        </p:txBody>
      </p:sp>
      <p:sp>
        <p:nvSpPr>
          <p:cNvPr id="11" name="footer-page-6">
            <a:extLst xmlns:a="http://schemas.openxmlformats.org/drawingml/2006/main">
              <a:ext uri="{FF2B5EF4-FFF2-40B4-BE49-F238E27FC236}">
                <a16:creationId xmlns:a16="http://schemas.microsoft.com/office/drawing/2014/main" id="{23E34B42-CE79-444E-AACE-BAD92AD06DC5}"/>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06 / 20</a:t>
            </a:r>
          </a:p>
        </p:txBody>
      </p:sp>
    </p:spTree>
    <p:extLst>
      <p:ext uri="{BB962C8B-B14F-4D97-AF65-F5344CB8AC3E}">
        <p14:creationId xmlns:p14="http://schemas.microsoft.com/office/powerpoint/2010/main" val="502898511"/>
      </p:ext>
    </p:extLst>
  </p:cSld>
</p:sld>
</file>

<file path=ppt/slides/slide7.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6" name="accent-7">
            <a:extLst xmlns:a="http://schemas.openxmlformats.org/drawingml/2006/main">
              <a:ext uri="{FF2B5EF4-FFF2-40B4-BE49-F238E27FC236}">
                <a16:creationId xmlns:a16="http://schemas.microsoft.com/office/drawing/2014/main" id="{D62FC78E-E1F8-4992-A97A-7C6D07A02DAE}"/>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7">
            <a:extLst xmlns:a="http://schemas.openxmlformats.org/drawingml/2006/main">
              <a:ext uri="{FF2B5EF4-FFF2-40B4-BE49-F238E27FC236}">
                <a16:creationId xmlns:a16="http://schemas.microsoft.com/office/drawing/2014/main" id="{207FF63D-2705-457B-B6D8-CEFE7C786078}"/>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典型災害を仕組みで見る</a:t>
            </a:r>
          </a:p>
        </p:txBody>
      </p:sp>
      <p:sp>
        <p:nvSpPr>
          <p:cNvPr id="3" name="label-7">
            <a:extLst xmlns:a="http://schemas.openxmlformats.org/drawingml/2006/main">
              <a:ext uri="{FF2B5EF4-FFF2-40B4-BE49-F238E27FC236}">
                <a16:creationId xmlns:a16="http://schemas.microsoft.com/office/drawing/2014/main" id="{E0CFE501-B5BC-4BB3-BE06-2D5A0A0EBB23}"/>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B42318"/>
                </a:solidFill>
              </a:defRPr>
            </a:pPr>
            <a:r>
              <a:rPr sz="1050" b="1">
                <a:solidFill>
                  <a:srgbClr val="B42318"/>
                </a:solidFill>
              </a:rPr>
              <a:t>法定義務</a:t>
            </a:r>
          </a:p>
        </p:txBody>
      </p:sp>
      <p:sp>
        <p:nvSpPr>
          <p:cNvPr id="4" name="title-7">
            <a:extLst xmlns:a="http://schemas.openxmlformats.org/drawingml/2006/main">
              <a:ext uri="{FF2B5EF4-FFF2-40B4-BE49-F238E27FC236}">
                <a16:creationId xmlns:a16="http://schemas.microsoft.com/office/drawing/2014/main" id="{A39B03AC-DDC2-477F-BF65-E946592FF3EB}"/>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教材用ケース① 足場</a:t>
            </a:r>
          </a:p>
        </p:txBody>
      </p:sp>
      <p:sp>
        <p:nvSpPr>
          <p:cNvPr id="5" name="title-rule-7">
            <a:extLst xmlns:a="http://schemas.openxmlformats.org/drawingml/2006/main">
              <a:ext uri="{FF2B5EF4-FFF2-40B4-BE49-F238E27FC236}">
                <a16:creationId xmlns:a16="http://schemas.microsoft.com/office/drawing/2014/main" id="{7B2FCA20-6702-4D5E-9E38-EA53111AA461}"/>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7">
            <a:extLst xmlns:a="http://schemas.openxmlformats.org/drawingml/2006/main">
              <a:ext uri="{FF2B5EF4-FFF2-40B4-BE49-F238E27FC236}">
                <a16:creationId xmlns:a16="http://schemas.microsoft.com/office/drawing/2014/main" id="{1DF20644-5097-499B-B3BB-64400C0F3B95}"/>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作業床・端部・開口・昇降路を一体で確認。手すりを外す工程と復旧確認まで計画する。</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6776807a060b4221"/>
          <a:stretch xmlns:a="http://schemas.openxmlformats.org/drawingml/2006/main"/>
        </p:blipFill>
        <p:spPr>
          <a:xfrm xmlns:a="http://schemas.openxmlformats.org/drawingml/2006/main">
            <a:off x="7699375" y="2209800"/>
            <a:ext cx="2127250" cy="3190875"/>
          </a:xfrm>
          <a:prstGeom xmlns:a="http://schemas.openxmlformats.org/drawingml/2006/main" prst="roundRect">
            <a:avLst>
              <a:gd name="adj" fmla="val 4776"/>
            </a:avLst>
          </a:prstGeom>
        </p:spPr>
      </p:pic>
      <p:sp>
        <p:nvSpPr>
          <p:cNvPr id="8" name="image-caption-rule-7">
            <a:extLst xmlns:a="http://schemas.openxmlformats.org/drawingml/2006/main">
              <a:ext uri="{FF2B5EF4-FFF2-40B4-BE49-F238E27FC236}">
                <a16:creationId xmlns:a16="http://schemas.microsoft.com/office/drawing/2014/main" id="{0A81378B-DFDA-431B-BC35-52AEF83580E1}"/>
              </a:ext>
            </a:extLst>
          </p:cNvPr>
          <p:cNvSpPr>
            <a:spLocks xmlns:a="http://schemas.openxmlformats.org/drawingml/2006/main" noGrp="1"/>
          </p:cNvSpPr>
          <p:nvPr/>
        </p:nvSpPr>
        <p:spPr>
          <a:xfrm xmlns:a="http://schemas.openxmlformats.org/drawingml/2006/main">
            <a:off x="6238875" y="5534025"/>
            <a:ext cx="5048250" cy="19050"/>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9" name="image-caption-7">
            <a:extLst xmlns:a="http://schemas.openxmlformats.org/drawingml/2006/main">
              <a:ext uri="{FF2B5EF4-FFF2-40B4-BE49-F238E27FC236}">
                <a16:creationId xmlns:a16="http://schemas.microsoft.com/office/drawing/2014/main" id="{509BD0B3-67BE-46C5-A24C-6142C901B715}"/>
              </a:ext>
            </a:extLst>
          </p:cNvPr>
          <p:cNvSpPr>
            <a:spLocks xmlns:a="http://schemas.openxmlformats.org/drawingml/2006/main" noGrp="1"/>
          </p:cNvSpPr>
          <p:nvPr/>
        </p:nvSpPr>
        <p:spPr>
          <a:xfrm xmlns:a="http://schemas.openxmlformats.org/drawingml/2006/main">
            <a:off x="6238875" y="5600700"/>
            <a:ext cx="504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プロジェクト所有の教材用オリジナル画像</a:t>
            </a:r>
          </a:p>
        </p:txBody>
      </p:sp>
      <p:sp>
        <p:nvSpPr>
          <p:cNvPr id="10" name="image-message-7">
            <a:extLst xmlns:a="http://schemas.openxmlformats.org/drawingml/2006/main">
              <a:ext uri="{FF2B5EF4-FFF2-40B4-BE49-F238E27FC236}">
                <a16:creationId xmlns:a16="http://schemas.microsoft.com/office/drawing/2014/main" id="{D96F11F7-1528-45A4-93CB-5BED6252D6B3}"/>
              </a:ext>
            </a:extLst>
          </p:cNvPr>
          <p:cNvSpPr>
            <a:spLocks xmlns:a="http://schemas.openxmlformats.org/drawingml/2006/main" noGrp="1"/>
          </p:cNvSpPr>
          <p:nvPr/>
        </p:nvSpPr>
        <p:spPr>
          <a:xfrm xmlns:a="http://schemas.openxmlformats.org/drawingml/2006/main">
            <a:off x="647700" y="2571750"/>
            <a:ext cx="4953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100" b="1">
                <a:solidFill>
                  <a:srgbClr val="064E4A"/>
                </a:solidFill>
              </a:defRPr>
            </a:pPr>
            <a:r>
              <a:rPr sz="2100" b="1">
                <a:solidFill>
                  <a:srgbClr val="064E4A"/>
                </a:solidFill>
              </a:rPr>
              <a:t>法令要件は足場種類・作業条件で確認</a:t>
            </a:r>
          </a:p>
        </p:txBody>
      </p:sp>
      <p:sp>
        <p:nvSpPr>
          <p:cNvPr id="11" name="image-rule-7">
            <a:extLst xmlns:a="http://schemas.openxmlformats.org/drawingml/2006/main">
              <a:ext uri="{FF2B5EF4-FFF2-40B4-BE49-F238E27FC236}">
                <a16:creationId xmlns:a16="http://schemas.microsoft.com/office/drawing/2014/main" id="{B7AA16BE-4EFF-4871-8312-1A420C9CD798}"/>
              </a:ext>
            </a:extLst>
          </p:cNvPr>
          <p:cNvSpPr>
            <a:spLocks xmlns:a="http://schemas.openxmlformats.org/drawingml/2006/main" noGrp="1"/>
          </p:cNvSpPr>
          <p:nvPr/>
        </p:nvSpPr>
        <p:spPr>
          <a:xfrm xmlns:a="http://schemas.openxmlformats.org/drawingml/2006/main">
            <a:off x="647700" y="3629025"/>
            <a:ext cx="4095750" cy="381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2" name="image-body-7">
            <a:extLst xmlns:a="http://schemas.openxmlformats.org/drawingml/2006/main">
              <a:ext uri="{FF2B5EF4-FFF2-40B4-BE49-F238E27FC236}">
                <a16:creationId xmlns:a16="http://schemas.microsoft.com/office/drawing/2014/main" id="{CFBAAF97-0C03-4609-87FE-A88FBC981C5F}"/>
              </a:ext>
            </a:extLst>
          </p:cNvPr>
          <p:cNvSpPr>
            <a:spLocks xmlns:a="http://schemas.openxmlformats.org/drawingml/2006/main" noGrp="1"/>
          </p:cNvSpPr>
          <p:nvPr/>
        </p:nvSpPr>
        <p:spPr>
          <a:xfrm xmlns:a="http://schemas.openxmlformats.org/drawingml/2006/main">
            <a:off x="647700" y="3867150"/>
            <a:ext cx="4857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0">
                <a:solidFill>
                  <a:srgbClr val="172B3A"/>
                </a:solidFill>
              </a:defRPr>
            </a:pPr>
            <a:r>
              <a:rPr sz="1725" b="0">
                <a:solidFill>
                  <a:srgbClr val="172B3A"/>
                </a:solidFill>
              </a:rPr>
              <a:t>個人の不注意ではなく工程と設備を問う</a:t>
            </a:r>
          </a:p>
        </p:txBody>
      </p:sp>
      <p:sp>
        <p:nvSpPr>
          <p:cNvPr id="13" name="footer-rule-7">
            <a:extLst xmlns:a="http://schemas.openxmlformats.org/drawingml/2006/main">
              <a:ext uri="{FF2B5EF4-FFF2-40B4-BE49-F238E27FC236}">
                <a16:creationId xmlns:a16="http://schemas.microsoft.com/office/drawing/2014/main" id="{1D65423B-81AD-4740-8355-B5E982B949DF}"/>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4" name="footer-sources-7">
            <a:extLst xmlns:a="http://schemas.openxmlformats.org/drawingml/2006/main">
              <a:ext uri="{FF2B5EF4-FFF2-40B4-BE49-F238E27FC236}">
                <a16:creationId xmlns:a16="http://schemas.microsoft.com/office/drawing/2014/main" id="{F1C0A2F6-63F9-47C4-9FFA-5C451F6E4E3E}"/>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S3・S8・S9・S6（詳細はノート）</a:t>
            </a:r>
          </a:p>
        </p:txBody>
      </p:sp>
      <p:sp>
        <p:nvSpPr>
          <p:cNvPr id="15" name="footer-page-7">
            <a:extLst xmlns:a="http://schemas.openxmlformats.org/drawingml/2006/main">
              <a:ext uri="{FF2B5EF4-FFF2-40B4-BE49-F238E27FC236}">
                <a16:creationId xmlns:a16="http://schemas.microsoft.com/office/drawing/2014/main" id="{DC00C962-946D-4749-9C9B-DF322E15E493}"/>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07 / 20</a:t>
            </a:r>
          </a:p>
        </p:txBody>
      </p:sp>
    </p:spTree>
    <p:extLst>
      <p:ext uri="{BB962C8B-B14F-4D97-AF65-F5344CB8AC3E}">
        <p14:creationId xmlns:p14="http://schemas.microsoft.com/office/powerpoint/2010/main" val="1178740061"/>
      </p:ext>
    </p:extLst>
  </p:cSld>
</p:sld>
</file>

<file path=ppt/slides/slide8.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6" name="accent-8">
            <a:extLst xmlns:a="http://schemas.openxmlformats.org/drawingml/2006/main">
              <a:ext uri="{FF2B5EF4-FFF2-40B4-BE49-F238E27FC236}">
                <a16:creationId xmlns:a16="http://schemas.microsoft.com/office/drawing/2014/main" id="{3C5759DF-DF7D-441F-B0BC-981AB49312C7}"/>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8">
            <a:extLst xmlns:a="http://schemas.openxmlformats.org/drawingml/2006/main">
              <a:ext uri="{FF2B5EF4-FFF2-40B4-BE49-F238E27FC236}">
                <a16:creationId xmlns:a16="http://schemas.microsoft.com/office/drawing/2014/main" id="{54CBF466-E6EE-4B45-ABB6-81E7F3E55BED}"/>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危険を分けて確認</a:t>
            </a:r>
          </a:p>
        </p:txBody>
      </p:sp>
      <p:sp>
        <p:nvSpPr>
          <p:cNvPr id="3" name="label-8">
            <a:extLst xmlns:a="http://schemas.openxmlformats.org/drawingml/2006/main">
              <a:ext uri="{FF2B5EF4-FFF2-40B4-BE49-F238E27FC236}">
                <a16:creationId xmlns:a16="http://schemas.microsoft.com/office/drawing/2014/main" id="{90C3D6BB-04B0-487F-9830-39C3FD4386D4}"/>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B42318"/>
                </a:solidFill>
              </a:defRPr>
            </a:pPr>
            <a:r>
              <a:rPr sz="1050" b="1">
                <a:solidFill>
                  <a:srgbClr val="B42318"/>
                </a:solidFill>
              </a:rPr>
              <a:t>法定義務</a:t>
            </a:r>
          </a:p>
        </p:txBody>
      </p:sp>
      <p:sp>
        <p:nvSpPr>
          <p:cNvPr id="4" name="title-8">
            <a:extLst xmlns:a="http://schemas.openxmlformats.org/drawingml/2006/main">
              <a:ext uri="{FF2B5EF4-FFF2-40B4-BE49-F238E27FC236}">
                <a16:creationId xmlns:a16="http://schemas.microsoft.com/office/drawing/2014/main" id="{9CC7DC22-10B5-4F03-9B90-AD4907DA42BE}"/>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教材用ケース② 屋根・開口部</a:t>
            </a:r>
          </a:p>
        </p:txBody>
      </p:sp>
      <p:sp>
        <p:nvSpPr>
          <p:cNvPr id="5" name="title-rule-8">
            <a:extLst xmlns:a="http://schemas.openxmlformats.org/drawingml/2006/main">
              <a:ext uri="{FF2B5EF4-FFF2-40B4-BE49-F238E27FC236}">
                <a16:creationId xmlns:a16="http://schemas.microsoft.com/office/drawing/2014/main" id="{441FE9C2-D4CF-4256-B750-28A872488C52}"/>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8">
            <a:extLst xmlns:a="http://schemas.openxmlformats.org/drawingml/2006/main">
              <a:ext uri="{FF2B5EF4-FFF2-40B4-BE49-F238E27FC236}">
                <a16:creationId xmlns:a16="http://schemas.microsoft.com/office/drawing/2014/main" id="{3A9262E6-E2A6-4923-85FC-FC62031B29BB}"/>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踏み抜き、端部、開口、昇降を分ける。覆いのずれ・識別不足・復旧漏れを仕組みで防ぐ。</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83d9ca3a34164840"/>
          <a:stretch xmlns:a="http://schemas.openxmlformats.org/drawingml/2006/main"/>
        </p:blipFill>
        <p:spPr>
          <a:xfrm xmlns:a="http://schemas.openxmlformats.org/drawingml/2006/main">
            <a:off x="6238875" y="2543175"/>
            <a:ext cx="5048250" cy="2524125"/>
          </a:xfrm>
          <a:prstGeom xmlns:a="http://schemas.openxmlformats.org/drawingml/2006/main" prst="roundRect">
            <a:avLst>
              <a:gd name="adj" fmla="val 4776"/>
            </a:avLst>
          </a:prstGeom>
        </p:spPr>
      </p:pic>
      <p:sp>
        <p:nvSpPr>
          <p:cNvPr id="8" name="image-caption-rule-8">
            <a:extLst xmlns:a="http://schemas.openxmlformats.org/drawingml/2006/main">
              <a:ext uri="{FF2B5EF4-FFF2-40B4-BE49-F238E27FC236}">
                <a16:creationId xmlns:a16="http://schemas.microsoft.com/office/drawing/2014/main" id="{B11C08E2-2A84-4CB7-899A-9F0F9C022C74}"/>
              </a:ext>
            </a:extLst>
          </p:cNvPr>
          <p:cNvSpPr>
            <a:spLocks xmlns:a="http://schemas.openxmlformats.org/drawingml/2006/main" noGrp="1"/>
          </p:cNvSpPr>
          <p:nvPr/>
        </p:nvSpPr>
        <p:spPr>
          <a:xfrm xmlns:a="http://schemas.openxmlformats.org/drawingml/2006/main">
            <a:off x="6238875" y="5534025"/>
            <a:ext cx="5048250" cy="19050"/>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9" name="image-caption-8">
            <a:extLst xmlns:a="http://schemas.openxmlformats.org/drawingml/2006/main">
              <a:ext uri="{FF2B5EF4-FFF2-40B4-BE49-F238E27FC236}">
                <a16:creationId xmlns:a16="http://schemas.microsoft.com/office/drawing/2014/main" id="{A5D8A216-37CD-481B-B1CE-C957B8E1E1F9}"/>
              </a:ext>
            </a:extLst>
          </p:cNvPr>
          <p:cNvSpPr>
            <a:spLocks xmlns:a="http://schemas.openxmlformats.org/drawingml/2006/main" noGrp="1"/>
          </p:cNvSpPr>
          <p:nvPr/>
        </p:nvSpPr>
        <p:spPr>
          <a:xfrm xmlns:a="http://schemas.openxmlformats.org/drawingml/2006/main">
            <a:off x="6238875" y="5600700"/>
            <a:ext cx="504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プロジェクト所有の教材用オリジナル画像</a:t>
            </a:r>
          </a:p>
        </p:txBody>
      </p:sp>
      <p:sp>
        <p:nvSpPr>
          <p:cNvPr id="10" name="image-message-8">
            <a:extLst xmlns:a="http://schemas.openxmlformats.org/drawingml/2006/main">
              <a:ext uri="{FF2B5EF4-FFF2-40B4-BE49-F238E27FC236}">
                <a16:creationId xmlns:a16="http://schemas.microsoft.com/office/drawing/2014/main" id="{D99D41AA-5081-4785-B396-72017FD0F1BE}"/>
              </a:ext>
            </a:extLst>
          </p:cNvPr>
          <p:cNvSpPr>
            <a:spLocks xmlns:a="http://schemas.openxmlformats.org/drawingml/2006/main" noGrp="1"/>
          </p:cNvSpPr>
          <p:nvPr/>
        </p:nvSpPr>
        <p:spPr>
          <a:xfrm xmlns:a="http://schemas.openxmlformats.org/drawingml/2006/main">
            <a:off x="647700" y="2571750"/>
            <a:ext cx="4953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100" b="1">
                <a:solidFill>
                  <a:srgbClr val="064E4A"/>
                </a:solidFill>
              </a:defRPr>
            </a:pPr>
            <a:r>
              <a:rPr sz="2100" b="1">
                <a:solidFill>
                  <a:srgbClr val="064E4A"/>
                </a:solidFill>
              </a:rPr>
              <a:t>弱い屋根材には歩み板、防網等</a:t>
            </a:r>
          </a:p>
        </p:txBody>
      </p:sp>
      <p:sp>
        <p:nvSpPr>
          <p:cNvPr id="11" name="image-rule-8">
            <a:extLst xmlns:a="http://schemas.openxmlformats.org/drawingml/2006/main">
              <a:ext uri="{FF2B5EF4-FFF2-40B4-BE49-F238E27FC236}">
                <a16:creationId xmlns:a16="http://schemas.microsoft.com/office/drawing/2014/main" id="{AC964C6B-2AB8-476D-BA7C-D9B5FC10FFD8}"/>
              </a:ext>
            </a:extLst>
          </p:cNvPr>
          <p:cNvSpPr>
            <a:spLocks xmlns:a="http://schemas.openxmlformats.org/drawingml/2006/main" noGrp="1"/>
          </p:cNvSpPr>
          <p:nvPr/>
        </p:nvSpPr>
        <p:spPr>
          <a:xfrm xmlns:a="http://schemas.openxmlformats.org/drawingml/2006/main">
            <a:off x="647700" y="3629025"/>
            <a:ext cx="4095750" cy="381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2" name="image-body-8">
            <a:extLst xmlns:a="http://schemas.openxmlformats.org/drawingml/2006/main">
              <a:ext uri="{FF2B5EF4-FFF2-40B4-BE49-F238E27FC236}">
                <a16:creationId xmlns:a16="http://schemas.microsoft.com/office/drawing/2014/main" id="{6EDBEBA4-4E74-4F8F-80AF-697691D344DE}"/>
              </a:ext>
            </a:extLst>
          </p:cNvPr>
          <p:cNvSpPr>
            <a:spLocks xmlns:a="http://schemas.openxmlformats.org/drawingml/2006/main" noGrp="1"/>
          </p:cNvSpPr>
          <p:nvPr/>
        </p:nvSpPr>
        <p:spPr>
          <a:xfrm xmlns:a="http://schemas.openxmlformats.org/drawingml/2006/main">
            <a:off x="647700" y="3867150"/>
            <a:ext cx="4857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0">
                <a:solidFill>
                  <a:srgbClr val="172B3A"/>
                </a:solidFill>
              </a:defRPr>
            </a:pPr>
            <a:r>
              <a:rPr sz="1725" b="0">
                <a:solidFill>
                  <a:srgbClr val="172B3A"/>
                </a:solidFill>
              </a:rPr>
              <a:t>端部・開口には囲い、手すり、覆い等</a:t>
            </a:r>
          </a:p>
        </p:txBody>
      </p:sp>
      <p:sp>
        <p:nvSpPr>
          <p:cNvPr id="13" name="footer-rule-8">
            <a:extLst xmlns:a="http://schemas.openxmlformats.org/drawingml/2006/main">
              <a:ext uri="{FF2B5EF4-FFF2-40B4-BE49-F238E27FC236}">
                <a16:creationId xmlns:a16="http://schemas.microsoft.com/office/drawing/2014/main" id="{481D50AF-68AA-40FD-A73D-3EFCBCB4EC9B}"/>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4" name="footer-sources-8">
            <a:extLst xmlns:a="http://schemas.openxmlformats.org/drawingml/2006/main">
              <a:ext uri="{FF2B5EF4-FFF2-40B4-BE49-F238E27FC236}">
                <a16:creationId xmlns:a16="http://schemas.microsoft.com/office/drawing/2014/main" id="{95CE1E0B-FDA5-4067-AF91-F6A49C83E864}"/>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S3・S6・S22（詳細はノート）</a:t>
            </a:r>
          </a:p>
        </p:txBody>
      </p:sp>
      <p:sp>
        <p:nvSpPr>
          <p:cNvPr id="15" name="footer-page-8">
            <a:extLst xmlns:a="http://schemas.openxmlformats.org/drawingml/2006/main">
              <a:ext uri="{FF2B5EF4-FFF2-40B4-BE49-F238E27FC236}">
                <a16:creationId xmlns:a16="http://schemas.microsoft.com/office/drawing/2014/main" id="{993178F4-F986-406C-952F-12180C4B6E66}"/>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08 / 20</a:t>
            </a:r>
          </a:p>
        </p:txBody>
      </p:sp>
    </p:spTree>
    <p:extLst>
      <p:ext uri="{BB962C8B-B14F-4D97-AF65-F5344CB8AC3E}">
        <p14:creationId xmlns:p14="http://schemas.microsoft.com/office/powerpoint/2010/main" val="739257326"/>
      </p:ext>
    </p:extLst>
  </p:cSld>
</p:sld>
</file>

<file path=ppt/slides/slide9.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6" name="accent-9">
            <a:extLst xmlns:a="http://schemas.openxmlformats.org/drawingml/2006/main">
              <a:ext uri="{FF2B5EF4-FFF2-40B4-BE49-F238E27FC236}">
                <a16:creationId xmlns:a16="http://schemas.microsoft.com/office/drawing/2014/main" id="{A38A7C44-B646-483A-BFD5-AB73A84BAD64}"/>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9">
            <a:extLst xmlns:a="http://schemas.openxmlformats.org/drawingml/2006/main">
              <a:ext uri="{FF2B5EF4-FFF2-40B4-BE49-F238E27FC236}">
                <a16:creationId xmlns:a16="http://schemas.microsoft.com/office/drawing/2014/main" id="{3ED5EABF-D87B-4D31-97F8-E9D1237FE8FF}"/>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短時間でも置換を検討</a:t>
            </a:r>
          </a:p>
        </p:txBody>
      </p:sp>
      <p:sp>
        <p:nvSpPr>
          <p:cNvPr id="3" name="label-9">
            <a:extLst xmlns:a="http://schemas.openxmlformats.org/drawingml/2006/main">
              <a:ext uri="{FF2B5EF4-FFF2-40B4-BE49-F238E27FC236}">
                <a16:creationId xmlns:a16="http://schemas.microsoft.com/office/drawing/2014/main" id="{74C11024-8A39-49DA-A0E9-4CBA345CAD92}"/>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B42318"/>
                </a:solidFill>
              </a:defRPr>
            </a:pPr>
            <a:r>
              <a:rPr sz="1050" b="1">
                <a:solidFill>
                  <a:srgbClr val="B42318"/>
                </a:solidFill>
              </a:rPr>
              <a:t>法定義務</a:t>
            </a:r>
          </a:p>
        </p:txBody>
      </p:sp>
      <p:sp>
        <p:nvSpPr>
          <p:cNvPr id="4" name="title-9">
            <a:extLst xmlns:a="http://schemas.openxmlformats.org/drawingml/2006/main">
              <a:ext uri="{FF2B5EF4-FFF2-40B4-BE49-F238E27FC236}">
                <a16:creationId xmlns:a16="http://schemas.microsoft.com/office/drawing/2014/main" id="{D5064A0B-4592-4716-85FE-47C8FE7CE178}"/>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教材用ケース③ 脚立・はしご</a:t>
            </a:r>
          </a:p>
        </p:txBody>
      </p:sp>
      <p:sp>
        <p:nvSpPr>
          <p:cNvPr id="5" name="title-rule-9">
            <a:extLst xmlns:a="http://schemas.openxmlformats.org/drawingml/2006/main">
              <a:ext uri="{FF2B5EF4-FFF2-40B4-BE49-F238E27FC236}">
                <a16:creationId xmlns:a16="http://schemas.microsoft.com/office/drawing/2014/main" id="{E15AB338-9D44-406E-AAC6-FF9DF5D73F4D}"/>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9">
            <a:extLst xmlns:a="http://schemas.openxmlformats.org/drawingml/2006/main">
              <a:ext uri="{FF2B5EF4-FFF2-40B4-BE49-F238E27FC236}">
                <a16:creationId xmlns:a16="http://schemas.microsoft.com/office/drawing/2014/main" id="{9EC8A56E-B3C0-430F-9C6C-7D7A18652F98}"/>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高所作業の万能な代用品にしない。安定した作業床へ置換できるかを先に検討する。</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8d0665ee78014de6"/>
          <a:stretch xmlns:a="http://schemas.openxmlformats.org/drawingml/2006/main"/>
        </p:blipFill>
        <p:spPr>
          <a:xfrm xmlns:a="http://schemas.openxmlformats.org/drawingml/2006/main">
            <a:off x="7699375" y="2209800"/>
            <a:ext cx="2127250" cy="3190875"/>
          </a:xfrm>
          <a:prstGeom xmlns:a="http://schemas.openxmlformats.org/drawingml/2006/main" prst="roundRect">
            <a:avLst>
              <a:gd name="adj" fmla="val 4776"/>
            </a:avLst>
          </a:prstGeom>
        </p:spPr>
      </p:pic>
      <p:sp>
        <p:nvSpPr>
          <p:cNvPr id="8" name="image-caption-rule-9">
            <a:extLst xmlns:a="http://schemas.openxmlformats.org/drawingml/2006/main">
              <a:ext uri="{FF2B5EF4-FFF2-40B4-BE49-F238E27FC236}">
                <a16:creationId xmlns:a16="http://schemas.microsoft.com/office/drawing/2014/main" id="{43105915-6264-4468-B5CE-5B2A4DB2C0CD}"/>
              </a:ext>
            </a:extLst>
          </p:cNvPr>
          <p:cNvSpPr>
            <a:spLocks xmlns:a="http://schemas.openxmlformats.org/drawingml/2006/main" noGrp="1"/>
          </p:cNvSpPr>
          <p:nvPr/>
        </p:nvSpPr>
        <p:spPr>
          <a:xfrm xmlns:a="http://schemas.openxmlformats.org/drawingml/2006/main">
            <a:off x="6238875" y="5534025"/>
            <a:ext cx="5048250" cy="19050"/>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9" name="image-caption-9">
            <a:extLst xmlns:a="http://schemas.openxmlformats.org/drawingml/2006/main">
              <a:ext uri="{FF2B5EF4-FFF2-40B4-BE49-F238E27FC236}">
                <a16:creationId xmlns:a16="http://schemas.microsoft.com/office/drawing/2014/main" id="{DBD67620-62B4-431C-9609-2ACBC0E46643}"/>
              </a:ext>
            </a:extLst>
          </p:cNvPr>
          <p:cNvSpPr>
            <a:spLocks xmlns:a="http://schemas.openxmlformats.org/drawingml/2006/main" noGrp="1"/>
          </p:cNvSpPr>
          <p:nvPr/>
        </p:nvSpPr>
        <p:spPr>
          <a:xfrm xmlns:a="http://schemas.openxmlformats.org/drawingml/2006/main">
            <a:off x="6238875" y="5600700"/>
            <a:ext cx="504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プロジェクト所有の教材用オリジナル画像</a:t>
            </a:r>
          </a:p>
        </p:txBody>
      </p:sp>
      <p:sp>
        <p:nvSpPr>
          <p:cNvPr id="10" name="image-message-9">
            <a:extLst xmlns:a="http://schemas.openxmlformats.org/drawingml/2006/main">
              <a:ext uri="{FF2B5EF4-FFF2-40B4-BE49-F238E27FC236}">
                <a16:creationId xmlns:a16="http://schemas.microsoft.com/office/drawing/2014/main" id="{F713F8B5-784B-41CC-9A5C-1304219BF87C}"/>
              </a:ext>
            </a:extLst>
          </p:cNvPr>
          <p:cNvSpPr>
            <a:spLocks xmlns:a="http://schemas.openxmlformats.org/drawingml/2006/main" noGrp="1"/>
          </p:cNvSpPr>
          <p:nvPr/>
        </p:nvSpPr>
        <p:spPr>
          <a:xfrm xmlns:a="http://schemas.openxmlformats.org/drawingml/2006/main">
            <a:off x="647700" y="2571750"/>
            <a:ext cx="4953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100" b="1">
                <a:solidFill>
                  <a:srgbClr val="064E4A"/>
                </a:solidFill>
              </a:defRPr>
            </a:pPr>
            <a:r>
              <a:rPr sz="2100" b="1">
                <a:solidFill>
                  <a:srgbClr val="064E4A"/>
                </a:solidFill>
              </a:rPr>
              <a:t>設置・固定・足元・周囲</a:t>
            </a:r>
          </a:p>
          <a:p xmlns:a="http://schemas.openxmlformats.org/drawingml/2006/main">
            <a:pPr algn="l">
              <a:defRPr sz="2100" b="1">
                <a:solidFill>
                  <a:srgbClr val="064E4A"/>
                </a:solidFill>
              </a:defRPr>
            </a:pPr>
            <a:r>
              <a:rPr sz="2100" b="1">
                <a:solidFill>
                  <a:srgbClr val="064E4A"/>
                </a:solidFill>
              </a:rPr>
              <a:t>製品説明書を確認</a:t>
            </a:r>
          </a:p>
        </p:txBody>
      </p:sp>
      <p:sp>
        <p:nvSpPr>
          <p:cNvPr id="11" name="image-rule-9">
            <a:extLst xmlns:a="http://schemas.openxmlformats.org/drawingml/2006/main">
              <a:ext uri="{FF2B5EF4-FFF2-40B4-BE49-F238E27FC236}">
                <a16:creationId xmlns:a16="http://schemas.microsoft.com/office/drawing/2014/main" id="{8777B987-7762-4A31-B4C2-31AC7721512C}"/>
              </a:ext>
            </a:extLst>
          </p:cNvPr>
          <p:cNvSpPr>
            <a:spLocks xmlns:a="http://schemas.openxmlformats.org/drawingml/2006/main" noGrp="1"/>
          </p:cNvSpPr>
          <p:nvPr/>
        </p:nvSpPr>
        <p:spPr>
          <a:xfrm xmlns:a="http://schemas.openxmlformats.org/drawingml/2006/main">
            <a:off x="647700" y="3629025"/>
            <a:ext cx="4095750" cy="381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2" name="image-body-9">
            <a:extLst xmlns:a="http://schemas.openxmlformats.org/drawingml/2006/main">
              <a:ext uri="{FF2B5EF4-FFF2-40B4-BE49-F238E27FC236}">
                <a16:creationId xmlns:a16="http://schemas.microsoft.com/office/drawing/2014/main" id="{5B813C79-AADC-44F8-B252-D7E5426AEAB8}"/>
              </a:ext>
            </a:extLst>
          </p:cNvPr>
          <p:cNvSpPr>
            <a:spLocks xmlns:a="http://schemas.openxmlformats.org/drawingml/2006/main" noGrp="1"/>
          </p:cNvSpPr>
          <p:nvPr/>
        </p:nvSpPr>
        <p:spPr>
          <a:xfrm xmlns:a="http://schemas.openxmlformats.org/drawingml/2006/main">
            <a:off x="647700" y="3867150"/>
            <a:ext cx="4857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0">
                <a:solidFill>
                  <a:srgbClr val="172B3A"/>
                </a:solidFill>
              </a:defRPr>
            </a:pPr>
            <a:r>
              <a:rPr sz="1725" b="0">
                <a:solidFill>
                  <a:srgbClr val="172B3A"/>
                </a:solidFill>
              </a:rPr>
              <a:t>条件が変わったら設置方法から見直す</a:t>
            </a:r>
          </a:p>
        </p:txBody>
      </p:sp>
      <p:sp>
        <p:nvSpPr>
          <p:cNvPr id="13" name="footer-rule-9">
            <a:extLst xmlns:a="http://schemas.openxmlformats.org/drawingml/2006/main">
              <a:ext uri="{FF2B5EF4-FFF2-40B4-BE49-F238E27FC236}">
                <a16:creationId xmlns:a16="http://schemas.microsoft.com/office/drawing/2014/main" id="{F489DE6E-C26A-4CC6-BD44-6380B0374604}"/>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4" name="footer-sources-9">
            <a:extLst xmlns:a="http://schemas.openxmlformats.org/drawingml/2006/main">
              <a:ext uri="{FF2B5EF4-FFF2-40B4-BE49-F238E27FC236}">
                <a16:creationId xmlns:a16="http://schemas.microsoft.com/office/drawing/2014/main" id="{E27F5126-20F8-49BF-B5CC-AFA84DD1B951}"/>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S3・S6・S22（詳細はノート）</a:t>
            </a:r>
          </a:p>
        </p:txBody>
      </p:sp>
      <p:sp>
        <p:nvSpPr>
          <p:cNvPr id="15" name="footer-page-9">
            <a:extLst xmlns:a="http://schemas.openxmlformats.org/drawingml/2006/main">
              <a:ext uri="{FF2B5EF4-FFF2-40B4-BE49-F238E27FC236}">
                <a16:creationId xmlns:a16="http://schemas.microsoft.com/office/drawing/2014/main" id="{F264A2FE-655B-4F48-A46F-2EB0DDDDB9A1}"/>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09 / 20</a:t>
            </a:r>
          </a:p>
        </p:txBody>
      </p:sp>
    </p:spTree>
    <p:extLst>
      <p:ext uri="{BB962C8B-B14F-4D97-AF65-F5344CB8AC3E}">
        <p14:creationId xmlns:p14="http://schemas.microsoft.com/office/powerpoint/2010/main" val="738723980"/>
      </p:ext>
    </p:extLst>
  </p:cSld>
</p:sld>
</file>

<file path=ppt/slides/slide10.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4" name="accent-10">
            <a:extLst xmlns:a="http://schemas.openxmlformats.org/drawingml/2006/main">
              <a:ext uri="{FF2B5EF4-FFF2-40B4-BE49-F238E27FC236}">
                <a16:creationId xmlns:a16="http://schemas.microsoft.com/office/drawing/2014/main" id="{9B799D0F-40DE-492B-9384-0FC03295FA20}"/>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0">
            <a:extLst xmlns:a="http://schemas.openxmlformats.org/drawingml/2006/main">
              <a:ext uri="{FF2B5EF4-FFF2-40B4-BE49-F238E27FC236}">
                <a16:creationId xmlns:a16="http://schemas.microsoft.com/office/drawing/2014/main" id="{4E61CB1D-35D6-45B2-A229-3F6527E840F9}"/>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器具より先に設備</a:t>
            </a:r>
          </a:p>
        </p:txBody>
      </p:sp>
      <p:sp>
        <p:nvSpPr>
          <p:cNvPr id="3" name="label-10">
            <a:extLst xmlns:a="http://schemas.openxmlformats.org/drawingml/2006/main">
              <a:ext uri="{FF2B5EF4-FFF2-40B4-BE49-F238E27FC236}">
                <a16:creationId xmlns:a16="http://schemas.microsoft.com/office/drawing/2014/main" id="{15B75123-2388-4A49-B19A-692C60E496CD}"/>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行政推奨</a:t>
            </a:r>
          </a:p>
        </p:txBody>
      </p:sp>
      <p:sp>
        <p:nvSpPr>
          <p:cNvPr id="4" name="title-10">
            <a:extLst xmlns:a="http://schemas.openxmlformats.org/drawingml/2006/main">
              <a:ext uri="{FF2B5EF4-FFF2-40B4-BE49-F238E27FC236}">
                <a16:creationId xmlns:a16="http://schemas.microsoft.com/office/drawing/2014/main" id="{E5D14E40-B347-4CCD-9F0D-33821FB21E78}"/>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対策の優先順位</a:t>
            </a:r>
          </a:p>
        </p:txBody>
      </p:sp>
      <p:sp>
        <p:nvSpPr>
          <p:cNvPr id="5" name="title-rule-10">
            <a:extLst xmlns:a="http://schemas.openxmlformats.org/drawingml/2006/main">
              <a:ext uri="{FF2B5EF4-FFF2-40B4-BE49-F238E27FC236}">
                <a16:creationId xmlns:a16="http://schemas.microsoft.com/office/drawing/2014/main" id="{C820E1C3-F384-4129-954D-1E67031AA6C7}"/>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0">
            <a:extLst xmlns:a="http://schemas.openxmlformats.org/drawingml/2006/main">
              <a:ext uri="{FF2B5EF4-FFF2-40B4-BE49-F238E27FC236}">
                <a16:creationId xmlns:a16="http://schemas.microsoft.com/office/drawing/2014/main" id="{55BCCB3D-898B-4FA5-AF07-E67EED82882C}"/>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高所作業をなくす。作業床・手すり・覆いで防ぐ。残るリスクへ個人用器具を使う。</a:t>
            </a:r>
          </a:p>
        </p:txBody>
      </p:sp>
      <p:sp>
        <p:nvSpPr>
          <p:cNvPr id="7" name="step-no-10-0">
            <a:extLst xmlns:a="http://schemas.openxmlformats.org/drawingml/2006/main">
              <a:ext uri="{FF2B5EF4-FFF2-40B4-BE49-F238E27FC236}">
                <a16:creationId xmlns:a16="http://schemas.microsoft.com/office/drawing/2014/main" id="{CB2949AE-722B-46E6-9723-2C554B36F42B}"/>
              </a:ext>
            </a:extLst>
          </p:cNvPr>
          <p:cNvSpPr>
            <a:spLocks xmlns:a="http://schemas.openxmlformats.org/drawingml/2006/main" noGrp="1"/>
          </p:cNvSpPr>
          <p:nvPr/>
        </p:nvSpPr>
        <p:spPr>
          <a:xfrm xmlns:a="http://schemas.openxmlformats.org/drawingml/2006/main">
            <a:off x="647700"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0B6B66"/>
                </a:solidFill>
              </a:defRPr>
            </a:pPr>
            <a:r>
              <a:rPr sz="3900" b="1">
                <a:solidFill>
                  <a:srgbClr val="0B6B66"/>
                </a:solidFill>
              </a:rPr>
              <a:t>01</a:t>
            </a:r>
          </a:p>
        </p:txBody>
      </p:sp>
      <p:sp>
        <p:nvSpPr>
          <p:cNvPr id="8" name="step-rule-10-0">
            <a:extLst xmlns:a="http://schemas.openxmlformats.org/drawingml/2006/main">
              <a:ext uri="{FF2B5EF4-FFF2-40B4-BE49-F238E27FC236}">
                <a16:creationId xmlns:a16="http://schemas.microsoft.com/office/drawing/2014/main" id="{76F955C5-3F0B-4BC4-A0D1-9AD323D1873A}"/>
              </a:ext>
            </a:extLst>
          </p:cNvPr>
          <p:cNvSpPr>
            <a:spLocks xmlns:a="http://schemas.openxmlformats.org/drawingml/2006/main" noGrp="1"/>
          </p:cNvSpPr>
          <p:nvPr/>
        </p:nvSpPr>
        <p:spPr>
          <a:xfrm xmlns:a="http://schemas.openxmlformats.org/drawingml/2006/main">
            <a:off x="647700" y="3105150"/>
            <a:ext cx="3257550" cy="381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9" name="step-label-10-0">
            <a:extLst xmlns:a="http://schemas.openxmlformats.org/drawingml/2006/main">
              <a:ext uri="{FF2B5EF4-FFF2-40B4-BE49-F238E27FC236}">
                <a16:creationId xmlns:a16="http://schemas.microsoft.com/office/drawing/2014/main" id="{406C75C4-EB4C-4305-83FB-0975B8835704}"/>
              </a:ext>
            </a:extLst>
          </p:cNvPr>
          <p:cNvSpPr>
            <a:spLocks xmlns:a="http://schemas.openxmlformats.org/drawingml/2006/main" noGrp="1"/>
          </p:cNvSpPr>
          <p:nvPr/>
        </p:nvSpPr>
        <p:spPr>
          <a:xfrm xmlns:a="http://schemas.openxmlformats.org/drawingml/2006/main">
            <a:off x="647700"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高所作業をなくす</a:t>
            </a:r>
          </a:p>
        </p:txBody>
      </p:sp>
      <p:sp>
        <p:nvSpPr>
          <p:cNvPr id="10" name="step-detail-10-0">
            <a:extLst xmlns:a="http://schemas.openxmlformats.org/drawingml/2006/main">
              <a:ext uri="{FF2B5EF4-FFF2-40B4-BE49-F238E27FC236}">
                <a16:creationId xmlns:a16="http://schemas.microsoft.com/office/drawing/2014/main" id="{FBC9DC69-E344-4539-AFD1-F9FCD2AC7256}"/>
              </a:ext>
            </a:extLst>
          </p:cNvPr>
          <p:cNvSpPr>
            <a:spLocks xmlns:a="http://schemas.openxmlformats.org/drawingml/2006/main" noGrp="1"/>
          </p:cNvSpPr>
          <p:nvPr/>
        </p:nvSpPr>
        <p:spPr>
          <a:xfrm xmlns:a="http://schemas.openxmlformats.org/drawingml/2006/main">
            <a:off x="647700"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地上組立、長柄工具、点検位置の変更</a:t>
            </a:r>
          </a:p>
        </p:txBody>
      </p:sp>
      <p:sp>
        <p:nvSpPr>
          <p:cNvPr id="11" name="step-arrow-10-0">
            <a:extLst xmlns:a="http://schemas.openxmlformats.org/drawingml/2006/main">
              <a:ext uri="{FF2B5EF4-FFF2-40B4-BE49-F238E27FC236}">
                <a16:creationId xmlns:a16="http://schemas.microsoft.com/office/drawing/2014/main" id="{A7E589AF-682B-4D0B-A9C5-6CEC9263B401}"/>
              </a:ext>
            </a:extLst>
          </p:cNvPr>
          <p:cNvSpPr>
            <a:spLocks xmlns:a="http://schemas.openxmlformats.org/drawingml/2006/main" noGrp="1"/>
          </p:cNvSpPr>
          <p:nvPr/>
        </p:nvSpPr>
        <p:spPr>
          <a:xfrm xmlns:a="http://schemas.openxmlformats.org/drawingml/2006/main">
            <a:off x="3971925" y="3009900"/>
            <a:ext cx="22860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2" name="step-no-10-1">
            <a:extLst xmlns:a="http://schemas.openxmlformats.org/drawingml/2006/main">
              <a:ext uri="{FF2B5EF4-FFF2-40B4-BE49-F238E27FC236}">
                <a16:creationId xmlns:a16="http://schemas.microsoft.com/office/drawing/2014/main" id="{258D9D4F-1E1D-4F74-9A7C-C8057724AAA6}"/>
              </a:ext>
            </a:extLst>
          </p:cNvPr>
          <p:cNvSpPr>
            <a:spLocks xmlns:a="http://schemas.openxmlformats.org/drawingml/2006/main" noGrp="1"/>
          </p:cNvSpPr>
          <p:nvPr/>
        </p:nvSpPr>
        <p:spPr>
          <a:xfrm xmlns:a="http://schemas.openxmlformats.org/drawingml/2006/main">
            <a:off x="4257675"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F97316"/>
                </a:solidFill>
              </a:defRPr>
            </a:pPr>
            <a:r>
              <a:rPr sz="3900" b="1">
                <a:solidFill>
                  <a:srgbClr val="F97316"/>
                </a:solidFill>
              </a:rPr>
              <a:t>02</a:t>
            </a:r>
          </a:p>
        </p:txBody>
      </p:sp>
      <p:sp>
        <p:nvSpPr>
          <p:cNvPr id="13" name="step-rule-10-1">
            <a:extLst xmlns:a="http://schemas.openxmlformats.org/drawingml/2006/main">
              <a:ext uri="{FF2B5EF4-FFF2-40B4-BE49-F238E27FC236}">
                <a16:creationId xmlns:a16="http://schemas.microsoft.com/office/drawing/2014/main" id="{B45A66F8-560C-4266-94B5-307B64E9429E}"/>
              </a:ext>
            </a:extLst>
          </p:cNvPr>
          <p:cNvSpPr>
            <a:spLocks xmlns:a="http://schemas.openxmlformats.org/drawingml/2006/main" noGrp="1"/>
          </p:cNvSpPr>
          <p:nvPr/>
        </p:nvSpPr>
        <p:spPr>
          <a:xfrm xmlns:a="http://schemas.openxmlformats.org/drawingml/2006/main">
            <a:off x="4257675" y="3105150"/>
            <a:ext cx="3257550" cy="381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4" name="step-label-10-1">
            <a:extLst xmlns:a="http://schemas.openxmlformats.org/drawingml/2006/main">
              <a:ext uri="{FF2B5EF4-FFF2-40B4-BE49-F238E27FC236}">
                <a16:creationId xmlns:a16="http://schemas.microsoft.com/office/drawing/2014/main" id="{E1B8F222-DA85-4512-99B7-6274D5E55727}"/>
              </a:ext>
            </a:extLst>
          </p:cNvPr>
          <p:cNvSpPr>
            <a:spLocks xmlns:a="http://schemas.openxmlformats.org/drawingml/2006/main" noGrp="1"/>
          </p:cNvSpPr>
          <p:nvPr/>
        </p:nvSpPr>
        <p:spPr>
          <a:xfrm xmlns:a="http://schemas.openxmlformats.org/drawingml/2006/main">
            <a:off x="4257675"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墜落そのものを防ぐ</a:t>
            </a:r>
          </a:p>
        </p:txBody>
      </p:sp>
      <p:sp>
        <p:nvSpPr>
          <p:cNvPr id="15" name="step-detail-10-1">
            <a:extLst xmlns:a="http://schemas.openxmlformats.org/drawingml/2006/main">
              <a:ext uri="{FF2B5EF4-FFF2-40B4-BE49-F238E27FC236}">
                <a16:creationId xmlns:a16="http://schemas.microsoft.com/office/drawing/2014/main" id="{5BEB5CF8-5201-484E-8BBD-C783702BDB79}"/>
              </a:ext>
            </a:extLst>
          </p:cNvPr>
          <p:cNvSpPr>
            <a:spLocks xmlns:a="http://schemas.openxmlformats.org/drawingml/2006/main" noGrp="1"/>
          </p:cNvSpPr>
          <p:nvPr/>
        </p:nvSpPr>
        <p:spPr>
          <a:xfrm xmlns:a="http://schemas.openxmlformats.org/drawingml/2006/main">
            <a:off x="4257675"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作業床、手すり、囲い、覆い、防網</a:t>
            </a:r>
          </a:p>
        </p:txBody>
      </p:sp>
      <p:sp>
        <p:nvSpPr>
          <p:cNvPr id="16" name="step-arrow-10-1">
            <a:extLst xmlns:a="http://schemas.openxmlformats.org/drawingml/2006/main">
              <a:ext uri="{FF2B5EF4-FFF2-40B4-BE49-F238E27FC236}">
                <a16:creationId xmlns:a16="http://schemas.microsoft.com/office/drawing/2014/main" id="{0A9EFCF8-8E00-4A8E-826D-19966B23B5AA}"/>
              </a:ext>
            </a:extLst>
          </p:cNvPr>
          <p:cNvSpPr>
            <a:spLocks xmlns:a="http://schemas.openxmlformats.org/drawingml/2006/main" noGrp="1"/>
          </p:cNvSpPr>
          <p:nvPr/>
        </p:nvSpPr>
        <p:spPr>
          <a:xfrm xmlns:a="http://schemas.openxmlformats.org/drawingml/2006/main">
            <a:off x="7581900" y="3009900"/>
            <a:ext cx="22860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7" name="step-no-10-2">
            <a:extLst xmlns:a="http://schemas.openxmlformats.org/drawingml/2006/main">
              <a:ext uri="{FF2B5EF4-FFF2-40B4-BE49-F238E27FC236}">
                <a16:creationId xmlns:a16="http://schemas.microsoft.com/office/drawing/2014/main" id="{61338CB2-F36B-4B26-A709-3B2B7B396BDA}"/>
              </a:ext>
            </a:extLst>
          </p:cNvPr>
          <p:cNvSpPr>
            <a:spLocks xmlns:a="http://schemas.openxmlformats.org/drawingml/2006/main" noGrp="1"/>
          </p:cNvSpPr>
          <p:nvPr/>
        </p:nvSpPr>
        <p:spPr>
          <a:xfrm xmlns:a="http://schemas.openxmlformats.org/drawingml/2006/main">
            <a:off x="7867650"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102A43"/>
                </a:solidFill>
              </a:defRPr>
            </a:pPr>
            <a:r>
              <a:rPr sz="3900" b="1">
                <a:solidFill>
                  <a:srgbClr val="102A43"/>
                </a:solidFill>
              </a:rPr>
              <a:t>03</a:t>
            </a:r>
          </a:p>
        </p:txBody>
      </p:sp>
      <p:sp>
        <p:nvSpPr>
          <p:cNvPr id="18" name="step-rule-10-2">
            <a:extLst xmlns:a="http://schemas.openxmlformats.org/drawingml/2006/main">
              <a:ext uri="{FF2B5EF4-FFF2-40B4-BE49-F238E27FC236}">
                <a16:creationId xmlns:a16="http://schemas.microsoft.com/office/drawing/2014/main" id="{3952027A-D390-43C1-80EF-59ADAFADF201}"/>
              </a:ext>
            </a:extLst>
          </p:cNvPr>
          <p:cNvSpPr>
            <a:spLocks xmlns:a="http://schemas.openxmlformats.org/drawingml/2006/main" noGrp="1"/>
          </p:cNvSpPr>
          <p:nvPr/>
        </p:nvSpPr>
        <p:spPr>
          <a:xfrm xmlns:a="http://schemas.openxmlformats.org/drawingml/2006/main">
            <a:off x="7867650" y="3105150"/>
            <a:ext cx="3257550" cy="38100"/>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19" name="step-label-10-2">
            <a:extLst xmlns:a="http://schemas.openxmlformats.org/drawingml/2006/main">
              <a:ext uri="{FF2B5EF4-FFF2-40B4-BE49-F238E27FC236}">
                <a16:creationId xmlns:a16="http://schemas.microsoft.com/office/drawing/2014/main" id="{6FF5DBE2-A598-4A7B-AA71-FAAACABD0543}"/>
              </a:ext>
            </a:extLst>
          </p:cNvPr>
          <p:cNvSpPr>
            <a:spLocks xmlns:a="http://schemas.openxmlformats.org/drawingml/2006/main" noGrp="1"/>
          </p:cNvSpPr>
          <p:nvPr/>
        </p:nvSpPr>
        <p:spPr>
          <a:xfrm xmlns:a="http://schemas.openxmlformats.org/drawingml/2006/main">
            <a:off x="7867650"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残留リスクを制止する</a:t>
            </a:r>
          </a:p>
        </p:txBody>
      </p:sp>
      <p:sp>
        <p:nvSpPr>
          <p:cNvPr id="20" name="step-detail-10-2">
            <a:extLst xmlns:a="http://schemas.openxmlformats.org/drawingml/2006/main">
              <a:ext uri="{FF2B5EF4-FFF2-40B4-BE49-F238E27FC236}">
                <a16:creationId xmlns:a16="http://schemas.microsoft.com/office/drawing/2014/main" id="{D55AF09D-A3E3-4A48-9284-06D4EB7317F2}"/>
              </a:ext>
            </a:extLst>
          </p:cNvPr>
          <p:cNvSpPr>
            <a:spLocks xmlns:a="http://schemas.openxmlformats.org/drawingml/2006/main" noGrp="1"/>
          </p:cNvSpPr>
          <p:nvPr/>
        </p:nvSpPr>
        <p:spPr>
          <a:xfrm xmlns:a="http://schemas.openxmlformats.org/drawingml/2006/main">
            <a:off x="7867650"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適合器具、取付点、下方空間、救助を一体化</a:t>
            </a:r>
          </a:p>
        </p:txBody>
      </p:sp>
      <p:sp>
        <p:nvSpPr>
          <p:cNvPr id="21" name="footer-rule-10">
            <a:extLst xmlns:a="http://schemas.openxmlformats.org/drawingml/2006/main">
              <a:ext uri="{FF2B5EF4-FFF2-40B4-BE49-F238E27FC236}">
                <a16:creationId xmlns:a16="http://schemas.microsoft.com/office/drawing/2014/main" id="{A81CE10B-7B94-400B-9871-2D462BF3B4A7}"/>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2" name="footer-sources-10">
            <a:extLst xmlns:a="http://schemas.openxmlformats.org/drawingml/2006/main">
              <a:ext uri="{FF2B5EF4-FFF2-40B4-BE49-F238E27FC236}">
                <a16:creationId xmlns:a16="http://schemas.microsoft.com/office/drawing/2014/main" id="{58DA5061-4CF5-4B09-BE13-63484243682D}"/>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S6・S9（詳細はノート）</a:t>
            </a:r>
          </a:p>
        </p:txBody>
      </p:sp>
      <p:sp>
        <p:nvSpPr>
          <p:cNvPr id="23" name="footer-page-10">
            <a:extLst xmlns:a="http://schemas.openxmlformats.org/drawingml/2006/main">
              <a:ext uri="{FF2B5EF4-FFF2-40B4-BE49-F238E27FC236}">
                <a16:creationId xmlns:a16="http://schemas.microsoft.com/office/drawing/2014/main" id="{2F69AC0C-826F-4F43-AE42-00A3597B9FD3}"/>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10 / 20</a:t>
            </a:r>
          </a:p>
        </p:txBody>
      </p:sp>
    </p:spTree>
    <p:extLst>
      <p:ext uri="{BB962C8B-B14F-4D97-AF65-F5344CB8AC3E}">
        <p14:creationId xmlns:p14="http://schemas.microsoft.com/office/powerpoint/2010/main" val="1036702843"/>
      </p:ext>
    </p:extLst>
  </p:cSld>
</p:sld>
</file>

<file path=ppt/slides/slide11.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35" name="accent-11">
            <a:extLst xmlns:a="http://schemas.openxmlformats.org/drawingml/2006/main">
              <a:ext uri="{FF2B5EF4-FFF2-40B4-BE49-F238E27FC236}">
                <a16:creationId xmlns:a16="http://schemas.microsoft.com/office/drawing/2014/main" id="{ED8A4E3A-4976-4DA1-8648-68E40C5EB5F3}"/>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1">
            <a:extLst xmlns:a="http://schemas.openxmlformats.org/drawingml/2006/main">
              <a:ext uri="{FF2B5EF4-FFF2-40B4-BE49-F238E27FC236}">
                <a16:creationId xmlns:a16="http://schemas.microsoft.com/office/drawing/2014/main" id="{AC749328-CB2F-4536-B973-2985E72421F6}"/>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法定義務</a:t>
            </a:r>
          </a:p>
        </p:txBody>
      </p:sp>
      <p:sp>
        <p:nvSpPr>
          <p:cNvPr id="3" name="label-11">
            <a:extLst xmlns:a="http://schemas.openxmlformats.org/drawingml/2006/main">
              <a:ext uri="{FF2B5EF4-FFF2-40B4-BE49-F238E27FC236}">
                <a16:creationId xmlns:a16="http://schemas.microsoft.com/office/drawing/2014/main" id="{E2ABE3AE-4187-40BD-8809-59DA92CCBF51}"/>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B42318"/>
                </a:solidFill>
              </a:defRPr>
            </a:pPr>
            <a:r>
              <a:rPr sz="1050" b="1">
                <a:solidFill>
                  <a:srgbClr val="B42318"/>
                </a:solidFill>
              </a:rPr>
              <a:t>法定義務</a:t>
            </a:r>
          </a:p>
        </p:txBody>
      </p:sp>
      <p:sp>
        <p:nvSpPr>
          <p:cNvPr id="4" name="title-11">
            <a:extLst xmlns:a="http://schemas.openxmlformats.org/drawingml/2006/main">
              <a:ext uri="{FF2B5EF4-FFF2-40B4-BE49-F238E27FC236}">
                <a16:creationId xmlns:a16="http://schemas.microsoft.com/office/drawing/2014/main" id="{99FE0010-213A-44FC-B413-E61938BC5D30}"/>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作業床・手すり・開口部養生</a:t>
            </a:r>
          </a:p>
        </p:txBody>
      </p:sp>
      <p:sp>
        <p:nvSpPr>
          <p:cNvPr id="5" name="title-rule-11">
            <a:extLst xmlns:a="http://schemas.openxmlformats.org/drawingml/2006/main">
              <a:ext uri="{FF2B5EF4-FFF2-40B4-BE49-F238E27FC236}">
                <a16:creationId xmlns:a16="http://schemas.microsoft.com/office/drawing/2014/main" id="{9F7CC8A4-44CB-4D90-AE1B-26C7FD9A52D1}"/>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1">
            <a:extLst xmlns:a="http://schemas.openxmlformats.org/drawingml/2006/main">
              <a:ext uri="{FF2B5EF4-FFF2-40B4-BE49-F238E27FC236}">
                <a16:creationId xmlns:a16="http://schemas.microsoft.com/office/drawing/2014/main" id="{90EDCB5E-2C03-464F-9900-0B0A4C792B94}"/>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高さ2m以上では作業床が原則。困難な場合は防網や墜落制止用器具等を用いる。</a:t>
            </a:r>
          </a:p>
        </p:txBody>
      </p:sp>
      <p:sp>
        <p:nvSpPr>
          <p:cNvPr id="7" name="check-dot-11-0">
            <a:extLst xmlns:a="http://schemas.openxmlformats.org/drawingml/2006/main">
              <a:ext uri="{FF2B5EF4-FFF2-40B4-BE49-F238E27FC236}">
                <a16:creationId xmlns:a16="http://schemas.microsoft.com/office/drawing/2014/main" id="{7D091021-3B4D-43BE-AE86-DFF52D3549EF}"/>
              </a:ext>
            </a:extLst>
          </p:cNvPr>
          <p:cNvSpPr>
            <a:spLocks xmlns:a="http://schemas.openxmlformats.org/drawingml/2006/main" noGrp="1"/>
          </p:cNvSpPr>
          <p:nvPr/>
        </p:nvSpPr>
        <p:spPr>
          <a:xfrm xmlns:a="http://schemas.openxmlformats.org/drawingml/2006/main">
            <a:off x="647700" y="22860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8" name="check-mark-11-0">
            <a:extLst xmlns:a="http://schemas.openxmlformats.org/drawingml/2006/main">
              <a:ext uri="{FF2B5EF4-FFF2-40B4-BE49-F238E27FC236}">
                <a16:creationId xmlns:a16="http://schemas.microsoft.com/office/drawing/2014/main" id="{C7AA9FAB-9815-4AEE-A8CE-6EE2FDA1049B}"/>
              </a:ext>
            </a:extLst>
          </p:cNvPr>
          <p:cNvSpPr>
            <a:spLocks xmlns:a="http://schemas.openxmlformats.org/drawingml/2006/main" noGrp="1"/>
          </p:cNvSpPr>
          <p:nvPr/>
        </p:nvSpPr>
        <p:spPr>
          <a:xfrm xmlns:a="http://schemas.openxmlformats.org/drawingml/2006/main">
            <a:off x="647700" y="22764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9" name="check-item-11-0">
            <a:extLst xmlns:a="http://schemas.openxmlformats.org/drawingml/2006/main">
              <a:ext uri="{FF2B5EF4-FFF2-40B4-BE49-F238E27FC236}">
                <a16:creationId xmlns:a16="http://schemas.microsoft.com/office/drawing/2014/main" id="{38D2B0CC-FC77-4547-A83B-D8B76F29F1FB}"/>
              </a:ext>
            </a:extLst>
          </p:cNvPr>
          <p:cNvSpPr>
            <a:spLocks xmlns:a="http://schemas.openxmlformats.org/drawingml/2006/main" noGrp="1"/>
          </p:cNvSpPr>
          <p:nvPr/>
        </p:nvSpPr>
        <p:spPr>
          <a:xfrm xmlns:a="http://schemas.openxmlformats.org/drawingml/2006/main">
            <a:off x="1104900" y="22288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作業床を設けられるか</a:t>
            </a:r>
          </a:p>
        </p:txBody>
      </p:sp>
      <p:sp>
        <p:nvSpPr>
          <p:cNvPr id="10" name="check-line-11-0">
            <a:extLst xmlns:a="http://schemas.openxmlformats.org/drawingml/2006/main">
              <a:ext uri="{FF2B5EF4-FFF2-40B4-BE49-F238E27FC236}">
                <a16:creationId xmlns:a16="http://schemas.microsoft.com/office/drawing/2014/main" id="{83326ADC-E252-4B1F-A86E-38CBCDFEB51C}"/>
              </a:ext>
            </a:extLst>
          </p:cNvPr>
          <p:cNvSpPr>
            <a:spLocks xmlns:a="http://schemas.openxmlformats.org/drawingml/2006/main" noGrp="1"/>
          </p:cNvSpPr>
          <p:nvPr/>
        </p:nvSpPr>
        <p:spPr>
          <a:xfrm xmlns:a="http://schemas.openxmlformats.org/drawingml/2006/main">
            <a:off x="1104900" y="27336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1" name="check-dot-11-1">
            <a:extLst xmlns:a="http://schemas.openxmlformats.org/drawingml/2006/main">
              <a:ext uri="{FF2B5EF4-FFF2-40B4-BE49-F238E27FC236}">
                <a16:creationId xmlns:a16="http://schemas.microsoft.com/office/drawing/2014/main" id="{C25C6B35-ECF3-4F51-967A-71B964CEFCF6}"/>
              </a:ext>
            </a:extLst>
          </p:cNvPr>
          <p:cNvSpPr>
            <a:spLocks xmlns:a="http://schemas.openxmlformats.org/drawingml/2006/main" noGrp="1"/>
          </p:cNvSpPr>
          <p:nvPr/>
        </p:nvSpPr>
        <p:spPr>
          <a:xfrm xmlns:a="http://schemas.openxmlformats.org/drawingml/2006/main">
            <a:off x="647700" y="306705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12" name="check-mark-11-1">
            <a:extLst xmlns:a="http://schemas.openxmlformats.org/drawingml/2006/main">
              <a:ext uri="{FF2B5EF4-FFF2-40B4-BE49-F238E27FC236}">
                <a16:creationId xmlns:a16="http://schemas.microsoft.com/office/drawing/2014/main" id="{F1F9D102-F24C-43D6-92BD-798622D07B73}"/>
              </a:ext>
            </a:extLst>
          </p:cNvPr>
          <p:cNvSpPr>
            <a:spLocks xmlns:a="http://schemas.openxmlformats.org/drawingml/2006/main" noGrp="1"/>
          </p:cNvSpPr>
          <p:nvPr/>
        </p:nvSpPr>
        <p:spPr>
          <a:xfrm xmlns:a="http://schemas.openxmlformats.org/drawingml/2006/main">
            <a:off x="647700" y="305752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13" name="check-item-11-1">
            <a:extLst xmlns:a="http://schemas.openxmlformats.org/drawingml/2006/main">
              <a:ext uri="{FF2B5EF4-FFF2-40B4-BE49-F238E27FC236}">
                <a16:creationId xmlns:a16="http://schemas.microsoft.com/office/drawing/2014/main" id="{141D072F-CFCE-4C36-AC10-C42A30201B9B}"/>
              </a:ext>
            </a:extLst>
          </p:cNvPr>
          <p:cNvSpPr>
            <a:spLocks xmlns:a="http://schemas.openxmlformats.org/drawingml/2006/main" noGrp="1"/>
          </p:cNvSpPr>
          <p:nvPr/>
        </p:nvSpPr>
        <p:spPr>
          <a:xfrm xmlns:a="http://schemas.openxmlformats.org/drawingml/2006/main">
            <a:off x="1104900" y="300990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端部・開口を囲えるか</a:t>
            </a:r>
          </a:p>
        </p:txBody>
      </p:sp>
      <p:sp>
        <p:nvSpPr>
          <p:cNvPr id="14" name="check-line-11-1">
            <a:extLst xmlns:a="http://schemas.openxmlformats.org/drawingml/2006/main">
              <a:ext uri="{FF2B5EF4-FFF2-40B4-BE49-F238E27FC236}">
                <a16:creationId xmlns:a16="http://schemas.microsoft.com/office/drawing/2014/main" id="{07D2C81E-0002-4208-AFD5-FE2ED7051F84}"/>
              </a:ext>
            </a:extLst>
          </p:cNvPr>
          <p:cNvSpPr>
            <a:spLocks xmlns:a="http://schemas.openxmlformats.org/drawingml/2006/main" noGrp="1"/>
          </p:cNvSpPr>
          <p:nvPr/>
        </p:nvSpPr>
        <p:spPr>
          <a:xfrm xmlns:a="http://schemas.openxmlformats.org/drawingml/2006/main">
            <a:off x="1104900" y="351472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5" name="check-dot-11-2">
            <a:extLst xmlns:a="http://schemas.openxmlformats.org/drawingml/2006/main">
              <a:ext uri="{FF2B5EF4-FFF2-40B4-BE49-F238E27FC236}">
                <a16:creationId xmlns:a16="http://schemas.microsoft.com/office/drawing/2014/main" id="{3BDD1175-E788-46CB-A0C2-44CC2E190E61}"/>
              </a:ext>
            </a:extLst>
          </p:cNvPr>
          <p:cNvSpPr>
            <a:spLocks xmlns:a="http://schemas.openxmlformats.org/drawingml/2006/main" noGrp="1"/>
          </p:cNvSpPr>
          <p:nvPr/>
        </p:nvSpPr>
        <p:spPr>
          <a:xfrm xmlns:a="http://schemas.openxmlformats.org/drawingml/2006/main">
            <a:off x="647700" y="38481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16" name="check-mark-11-2">
            <a:extLst xmlns:a="http://schemas.openxmlformats.org/drawingml/2006/main">
              <a:ext uri="{FF2B5EF4-FFF2-40B4-BE49-F238E27FC236}">
                <a16:creationId xmlns:a16="http://schemas.microsoft.com/office/drawing/2014/main" id="{88223012-8AE4-461D-A828-5A8D19327DAB}"/>
              </a:ext>
            </a:extLst>
          </p:cNvPr>
          <p:cNvSpPr>
            <a:spLocks xmlns:a="http://schemas.openxmlformats.org/drawingml/2006/main" noGrp="1"/>
          </p:cNvSpPr>
          <p:nvPr/>
        </p:nvSpPr>
        <p:spPr>
          <a:xfrm xmlns:a="http://schemas.openxmlformats.org/drawingml/2006/main">
            <a:off x="647700" y="38385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17" name="check-item-11-2">
            <a:extLst xmlns:a="http://schemas.openxmlformats.org/drawingml/2006/main">
              <a:ext uri="{FF2B5EF4-FFF2-40B4-BE49-F238E27FC236}">
                <a16:creationId xmlns:a16="http://schemas.microsoft.com/office/drawing/2014/main" id="{DBF71B61-4DD1-4393-9139-C1F3548BB4BB}"/>
              </a:ext>
            </a:extLst>
          </p:cNvPr>
          <p:cNvSpPr>
            <a:spLocks xmlns:a="http://schemas.openxmlformats.org/drawingml/2006/main" noGrp="1"/>
          </p:cNvSpPr>
          <p:nvPr/>
        </p:nvSpPr>
        <p:spPr>
          <a:xfrm xmlns:a="http://schemas.openxmlformats.org/drawingml/2006/main">
            <a:off x="1104900" y="37909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覆いは固定・識別したか</a:t>
            </a:r>
          </a:p>
        </p:txBody>
      </p:sp>
      <p:sp>
        <p:nvSpPr>
          <p:cNvPr id="18" name="check-line-11-2">
            <a:extLst xmlns:a="http://schemas.openxmlformats.org/drawingml/2006/main">
              <a:ext uri="{FF2B5EF4-FFF2-40B4-BE49-F238E27FC236}">
                <a16:creationId xmlns:a16="http://schemas.microsoft.com/office/drawing/2014/main" id="{128CDFB1-FB4A-4158-B0E4-A1602DA74E98}"/>
              </a:ext>
            </a:extLst>
          </p:cNvPr>
          <p:cNvSpPr>
            <a:spLocks xmlns:a="http://schemas.openxmlformats.org/drawingml/2006/main" noGrp="1"/>
          </p:cNvSpPr>
          <p:nvPr/>
        </p:nvSpPr>
        <p:spPr>
          <a:xfrm xmlns:a="http://schemas.openxmlformats.org/drawingml/2006/main">
            <a:off x="1104900" y="42957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9" name="check-dot-11-3">
            <a:extLst xmlns:a="http://schemas.openxmlformats.org/drawingml/2006/main">
              <a:ext uri="{FF2B5EF4-FFF2-40B4-BE49-F238E27FC236}">
                <a16:creationId xmlns:a16="http://schemas.microsoft.com/office/drawing/2014/main" id="{550ABF12-9876-4139-973D-8FF5E35FBC2F}"/>
              </a:ext>
            </a:extLst>
          </p:cNvPr>
          <p:cNvSpPr>
            <a:spLocks xmlns:a="http://schemas.openxmlformats.org/drawingml/2006/main" noGrp="1"/>
          </p:cNvSpPr>
          <p:nvPr/>
        </p:nvSpPr>
        <p:spPr>
          <a:xfrm xmlns:a="http://schemas.openxmlformats.org/drawingml/2006/main">
            <a:off x="6248400" y="22860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0" name="check-mark-11-3">
            <a:extLst xmlns:a="http://schemas.openxmlformats.org/drawingml/2006/main">
              <a:ext uri="{FF2B5EF4-FFF2-40B4-BE49-F238E27FC236}">
                <a16:creationId xmlns:a16="http://schemas.microsoft.com/office/drawing/2014/main" id="{A6310B5F-30E2-4217-84F0-6C859B96FD77}"/>
              </a:ext>
            </a:extLst>
          </p:cNvPr>
          <p:cNvSpPr>
            <a:spLocks xmlns:a="http://schemas.openxmlformats.org/drawingml/2006/main" noGrp="1"/>
          </p:cNvSpPr>
          <p:nvPr/>
        </p:nvSpPr>
        <p:spPr>
          <a:xfrm xmlns:a="http://schemas.openxmlformats.org/drawingml/2006/main">
            <a:off x="6248400" y="22764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21" name="check-item-11-3">
            <a:extLst xmlns:a="http://schemas.openxmlformats.org/drawingml/2006/main">
              <a:ext uri="{FF2B5EF4-FFF2-40B4-BE49-F238E27FC236}">
                <a16:creationId xmlns:a16="http://schemas.microsoft.com/office/drawing/2014/main" id="{B24DE350-C346-4E15-9658-281A48153ACD}"/>
              </a:ext>
            </a:extLst>
          </p:cNvPr>
          <p:cNvSpPr>
            <a:spLocks xmlns:a="http://schemas.openxmlformats.org/drawingml/2006/main" noGrp="1"/>
          </p:cNvSpPr>
          <p:nvPr/>
        </p:nvSpPr>
        <p:spPr>
          <a:xfrm xmlns:a="http://schemas.openxmlformats.org/drawingml/2006/main">
            <a:off x="6705600" y="22288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安全な取付設備か</a:t>
            </a:r>
          </a:p>
        </p:txBody>
      </p:sp>
      <p:sp>
        <p:nvSpPr>
          <p:cNvPr id="22" name="check-line-11-3">
            <a:extLst xmlns:a="http://schemas.openxmlformats.org/drawingml/2006/main">
              <a:ext uri="{FF2B5EF4-FFF2-40B4-BE49-F238E27FC236}">
                <a16:creationId xmlns:a16="http://schemas.microsoft.com/office/drawing/2014/main" id="{B340FB89-D123-4B6D-832D-A756705C4BD3}"/>
              </a:ext>
            </a:extLst>
          </p:cNvPr>
          <p:cNvSpPr>
            <a:spLocks xmlns:a="http://schemas.openxmlformats.org/drawingml/2006/main" noGrp="1"/>
          </p:cNvSpPr>
          <p:nvPr/>
        </p:nvSpPr>
        <p:spPr>
          <a:xfrm xmlns:a="http://schemas.openxmlformats.org/drawingml/2006/main">
            <a:off x="6705600" y="27336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3" name="check-dot-11-4">
            <a:extLst xmlns:a="http://schemas.openxmlformats.org/drawingml/2006/main">
              <a:ext uri="{FF2B5EF4-FFF2-40B4-BE49-F238E27FC236}">
                <a16:creationId xmlns:a16="http://schemas.microsoft.com/office/drawing/2014/main" id="{EED13AFB-1CDD-4111-A2B8-FA596678DBF0}"/>
              </a:ext>
            </a:extLst>
          </p:cNvPr>
          <p:cNvSpPr>
            <a:spLocks xmlns:a="http://schemas.openxmlformats.org/drawingml/2006/main" noGrp="1"/>
          </p:cNvSpPr>
          <p:nvPr/>
        </p:nvSpPr>
        <p:spPr>
          <a:xfrm xmlns:a="http://schemas.openxmlformats.org/drawingml/2006/main">
            <a:off x="6248400" y="306705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4" name="check-mark-11-4">
            <a:extLst xmlns:a="http://schemas.openxmlformats.org/drawingml/2006/main">
              <a:ext uri="{FF2B5EF4-FFF2-40B4-BE49-F238E27FC236}">
                <a16:creationId xmlns:a16="http://schemas.microsoft.com/office/drawing/2014/main" id="{E1A14F0E-B851-475B-839E-BE37C46488ED}"/>
              </a:ext>
            </a:extLst>
          </p:cNvPr>
          <p:cNvSpPr>
            <a:spLocks xmlns:a="http://schemas.openxmlformats.org/drawingml/2006/main" noGrp="1"/>
          </p:cNvSpPr>
          <p:nvPr/>
        </p:nvSpPr>
        <p:spPr>
          <a:xfrm xmlns:a="http://schemas.openxmlformats.org/drawingml/2006/main">
            <a:off x="6248400" y="305752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25" name="check-item-11-4">
            <a:extLst xmlns:a="http://schemas.openxmlformats.org/drawingml/2006/main">
              <a:ext uri="{FF2B5EF4-FFF2-40B4-BE49-F238E27FC236}">
                <a16:creationId xmlns:a16="http://schemas.microsoft.com/office/drawing/2014/main" id="{46D71270-83EB-41B5-BD72-C877FF6B41FF}"/>
              </a:ext>
            </a:extLst>
          </p:cNvPr>
          <p:cNvSpPr>
            <a:spLocks xmlns:a="http://schemas.openxmlformats.org/drawingml/2006/main" noGrp="1"/>
          </p:cNvSpPr>
          <p:nvPr/>
        </p:nvSpPr>
        <p:spPr>
          <a:xfrm xmlns:a="http://schemas.openxmlformats.org/drawingml/2006/main">
            <a:off x="6705600" y="300990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設備の異常を点検したか</a:t>
            </a:r>
          </a:p>
        </p:txBody>
      </p:sp>
      <p:sp>
        <p:nvSpPr>
          <p:cNvPr id="26" name="check-line-11-4">
            <a:extLst xmlns:a="http://schemas.openxmlformats.org/drawingml/2006/main">
              <a:ext uri="{FF2B5EF4-FFF2-40B4-BE49-F238E27FC236}">
                <a16:creationId xmlns:a16="http://schemas.microsoft.com/office/drawing/2014/main" id="{8E6FE719-8350-49B0-9AF5-2B0CA260411D}"/>
              </a:ext>
            </a:extLst>
          </p:cNvPr>
          <p:cNvSpPr>
            <a:spLocks xmlns:a="http://schemas.openxmlformats.org/drawingml/2006/main" noGrp="1"/>
          </p:cNvSpPr>
          <p:nvPr/>
        </p:nvSpPr>
        <p:spPr>
          <a:xfrm xmlns:a="http://schemas.openxmlformats.org/drawingml/2006/main">
            <a:off x="6705600" y="351472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7" name="check-dot-11-5">
            <a:extLst xmlns:a="http://schemas.openxmlformats.org/drawingml/2006/main">
              <a:ext uri="{FF2B5EF4-FFF2-40B4-BE49-F238E27FC236}">
                <a16:creationId xmlns:a16="http://schemas.microsoft.com/office/drawing/2014/main" id="{10A6BD8A-A931-4D98-9A21-C307BC3C6341}"/>
              </a:ext>
            </a:extLst>
          </p:cNvPr>
          <p:cNvSpPr>
            <a:spLocks xmlns:a="http://schemas.openxmlformats.org/drawingml/2006/main" noGrp="1"/>
          </p:cNvSpPr>
          <p:nvPr/>
        </p:nvSpPr>
        <p:spPr>
          <a:xfrm xmlns:a="http://schemas.openxmlformats.org/drawingml/2006/main">
            <a:off x="6248400" y="38481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8" name="check-mark-11-5">
            <a:extLst xmlns:a="http://schemas.openxmlformats.org/drawingml/2006/main">
              <a:ext uri="{FF2B5EF4-FFF2-40B4-BE49-F238E27FC236}">
                <a16:creationId xmlns:a16="http://schemas.microsoft.com/office/drawing/2014/main" id="{21AA3E5A-9153-4C49-9D6F-7F886BDA92F9}"/>
              </a:ext>
            </a:extLst>
          </p:cNvPr>
          <p:cNvSpPr>
            <a:spLocks xmlns:a="http://schemas.openxmlformats.org/drawingml/2006/main" noGrp="1"/>
          </p:cNvSpPr>
          <p:nvPr/>
        </p:nvSpPr>
        <p:spPr>
          <a:xfrm xmlns:a="http://schemas.openxmlformats.org/drawingml/2006/main">
            <a:off x="6248400" y="38385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29" name="check-item-11-5">
            <a:extLst xmlns:a="http://schemas.openxmlformats.org/drawingml/2006/main">
              <a:ext uri="{FF2B5EF4-FFF2-40B4-BE49-F238E27FC236}">
                <a16:creationId xmlns:a16="http://schemas.microsoft.com/office/drawing/2014/main" id="{1DC8F7BC-3AE8-4258-82F8-B4B850C5A323}"/>
              </a:ext>
            </a:extLst>
          </p:cNvPr>
          <p:cNvSpPr>
            <a:spLocks xmlns:a="http://schemas.openxmlformats.org/drawingml/2006/main" noGrp="1"/>
          </p:cNvSpPr>
          <p:nvPr/>
        </p:nvSpPr>
        <p:spPr>
          <a:xfrm xmlns:a="http://schemas.openxmlformats.org/drawingml/2006/main">
            <a:off x="6705600" y="37909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2m未満も危険を評価したか</a:t>
            </a:r>
          </a:p>
        </p:txBody>
      </p:sp>
      <p:sp>
        <p:nvSpPr>
          <p:cNvPr id="30" name="check-line-11-5">
            <a:extLst xmlns:a="http://schemas.openxmlformats.org/drawingml/2006/main">
              <a:ext uri="{FF2B5EF4-FFF2-40B4-BE49-F238E27FC236}">
                <a16:creationId xmlns:a16="http://schemas.microsoft.com/office/drawing/2014/main" id="{A3289748-4E97-4E84-8BBC-518E533440D3}"/>
              </a:ext>
            </a:extLst>
          </p:cNvPr>
          <p:cNvSpPr>
            <a:spLocks xmlns:a="http://schemas.openxmlformats.org/drawingml/2006/main" noGrp="1"/>
          </p:cNvSpPr>
          <p:nvPr/>
        </p:nvSpPr>
        <p:spPr>
          <a:xfrm xmlns:a="http://schemas.openxmlformats.org/drawingml/2006/main">
            <a:off x="6705600" y="42957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1" name="body-line-11">
            <a:extLst xmlns:a="http://schemas.openxmlformats.org/drawingml/2006/main">
              <a:ext uri="{FF2B5EF4-FFF2-40B4-BE49-F238E27FC236}">
                <a16:creationId xmlns:a16="http://schemas.microsoft.com/office/drawing/2014/main" id="{18E48CBB-473F-41B4-9CE7-51856ADD2ABF}"/>
              </a:ext>
            </a:extLst>
          </p:cNvPr>
          <p:cNvSpPr>
            <a:spLocks xmlns:a="http://schemas.openxmlformats.org/drawingml/2006/main" noGrp="1"/>
          </p:cNvSpPr>
          <p:nvPr/>
        </p:nvSpPr>
        <p:spPr>
          <a:xfrm xmlns:a="http://schemas.openxmlformats.org/drawingml/2006/main">
            <a:off x="647700" y="5543550"/>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526270"/>
                </a:solidFill>
              </a:defRPr>
            </a:pPr>
            <a:r>
              <a:rPr sz="1200" b="0">
                <a:solidFill>
                  <a:srgbClr val="526270"/>
                </a:solidFill>
              </a:rPr>
              <a:t>端・開口は囲い、手すり、覆い等　｜　器具を使わせる場合は安全な取付設備と随時点検</a:t>
            </a:r>
          </a:p>
        </p:txBody>
      </p:sp>
      <p:sp>
        <p:nvSpPr>
          <p:cNvPr id="32" name="footer-rule-11">
            <a:extLst xmlns:a="http://schemas.openxmlformats.org/drawingml/2006/main">
              <a:ext uri="{FF2B5EF4-FFF2-40B4-BE49-F238E27FC236}">
                <a16:creationId xmlns:a16="http://schemas.microsoft.com/office/drawing/2014/main" id="{C21F0844-4AA5-4E17-8958-FF81E7902960}"/>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3" name="footer-sources-11">
            <a:extLst xmlns:a="http://schemas.openxmlformats.org/drawingml/2006/main">
              <a:ext uri="{FF2B5EF4-FFF2-40B4-BE49-F238E27FC236}">
                <a16:creationId xmlns:a16="http://schemas.microsoft.com/office/drawing/2014/main" id="{E7500BE4-B2A8-4761-AC6C-032529890382}"/>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S1・S3（詳細はノート）</a:t>
            </a:r>
          </a:p>
        </p:txBody>
      </p:sp>
      <p:sp>
        <p:nvSpPr>
          <p:cNvPr id="34" name="footer-page-11">
            <a:extLst xmlns:a="http://schemas.openxmlformats.org/drawingml/2006/main">
              <a:ext uri="{FF2B5EF4-FFF2-40B4-BE49-F238E27FC236}">
                <a16:creationId xmlns:a16="http://schemas.microsoft.com/office/drawing/2014/main" id="{07740678-8C52-4711-B911-8D9E9138426B}"/>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11 / 20</a:t>
            </a:r>
          </a:p>
        </p:txBody>
      </p:sp>
    </p:spTree>
    <p:extLst>
      <p:ext uri="{BB962C8B-B14F-4D97-AF65-F5344CB8AC3E}">
        <p14:creationId xmlns:p14="http://schemas.microsoft.com/office/powerpoint/2010/main" val="2075897043"/>
      </p:ext>
    </p:extLst>
  </p:cSld>
</p:sld>
</file>

<file path=ppt/slides/slide12.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3" name="accent-12">
            <a:extLst xmlns:a="http://schemas.openxmlformats.org/drawingml/2006/main">
              <a:ext uri="{FF2B5EF4-FFF2-40B4-BE49-F238E27FC236}">
                <a16:creationId xmlns:a16="http://schemas.microsoft.com/office/drawing/2014/main" id="{1CC10E9C-D697-4E65-820B-0390D14B4173}"/>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2">
            <a:extLst xmlns:a="http://schemas.openxmlformats.org/drawingml/2006/main">
              <a:ext uri="{FF2B5EF4-FFF2-40B4-BE49-F238E27FC236}">
                <a16:creationId xmlns:a16="http://schemas.microsoft.com/office/drawing/2014/main" id="{974E2C9A-F244-405C-9928-2DE05177318A}"/>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5mと6.75mを混同しない</a:t>
            </a:r>
          </a:p>
        </p:txBody>
      </p:sp>
      <p:sp>
        <p:nvSpPr>
          <p:cNvPr id="3" name="label-12">
            <a:extLst xmlns:a="http://schemas.openxmlformats.org/drawingml/2006/main">
              <a:ext uri="{FF2B5EF4-FFF2-40B4-BE49-F238E27FC236}">
                <a16:creationId xmlns:a16="http://schemas.microsoft.com/office/drawing/2014/main" id="{47137711-4420-43E3-B5E3-3D72C93406F1}"/>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B42318"/>
                </a:solidFill>
              </a:defRPr>
            </a:pPr>
            <a:r>
              <a:rPr sz="1050" b="1">
                <a:solidFill>
                  <a:srgbClr val="B42318"/>
                </a:solidFill>
              </a:rPr>
              <a:t>法定義務</a:t>
            </a:r>
          </a:p>
        </p:txBody>
      </p:sp>
      <p:sp>
        <p:nvSpPr>
          <p:cNvPr id="4" name="title-12">
            <a:extLst xmlns:a="http://schemas.openxmlformats.org/drawingml/2006/main">
              <a:ext uri="{FF2B5EF4-FFF2-40B4-BE49-F238E27FC236}">
                <a16:creationId xmlns:a16="http://schemas.microsoft.com/office/drawing/2014/main" id="{2297E3A6-6087-4CC8-B8C0-0305CE44B25D}"/>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フルハーネスと特別教育の境界</a:t>
            </a:r>
          </a:p>
        </p:txBody>
      </p:sp>
      <p:sp>
        <p:nvSpPr>
          <p:cNvPr id="5" name="title-rule-12">
            <a:extLst xmlns:a="http://schemas.openxmlformats.org/drawingml/2006/main">
              <a:ext uri="{FF2B5EF4-FFF2-40B4-BE49-F238E27FC236}">
                <a16:creationId xmlns:a16="http://schemas.microsoft.com/office/drawing/2014/main" id="{9BD69B49-F02D-4011-B98C-C96D8FFBD32C}"/>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2">
            <a:extLst xmlns:a="http://schemas.openxmlformats.org/drawingml/2006/main">
              <a:ext uri="{FF2B5EF4-FFF2-40B4-BE49-F238E27FC236}">
                <a16:creationId xmlns:a16="http://schemas.microsoft.com/office/drawing/2014/main" id="{18291698-8AF2-4396-9777-85FDF40DE47B}"/>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6.75m超は法的境界。一般的な建設作業の5m超は行政上の選定目安。</a:t>
            </a:r>
          </a:p>
        </p:txBody>
      </p:sp>
      <p:sp>
        <p:nvSpPr>
          <p:cNvPr id="7" name="metric-value-12-0">
            <a:extLst xmlns:a="http://schemas.openxmlformats.org/drawingml/2006/main">
              <a:ext uri="{FF2B5EF4-FFF2-40B4-BE49-F238E27FC236}">
                <a16:creationId xmlns:a16="http://schemas.microsoft.com/office/drawing/2014/main" id="{A661413F-1D3E-44FF-BA75-AA33782E0E67}"/>
              </a:ext>
            </a:extLst>
          </p:cNvPr>
          <p:cNvSpPr>
            <a:spLocks xmlns:a="http://schemas.openxmlformats.org/drawingml/2006/main" noGrp="1"/>
          </p:cNvSpPr>
          <p:nvPr/>
        </p:nvSpPr>
        <p:spPr>
          <a:xfrm xmlns:a="http://schemas.openxmlformats.org/drawingml/2006/main">
            <a:off x="647700" y="2324100"/>
            <a:ext cx="4095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600" b="1">
                <a:solidFill>
                  <a:srgbClr val="0B6B66"/>
                </a:solidFill>
              </a:defRPr>
            </a:pPr>
            <a:r>
              <a:rPr sz="3600" b="1">
                <a:solidFill>
                  <a:srgbClr val="0B6B66"/>
                </a:solidFill>
              </a:rPr>
              <a:t>5m超</a:t>
            </a:r>
          </a:p>
        </p:txBody>
      </p:sp>
      <p:sp>
        <p:nvSpPr>
          <p:cNvPr id="8" name="metric-label-12-0">
            <a:extLst xmlns:a="http://schemas.openxmlformats.org/drawingml/2006/main">
              <a:ext uri="{FF2B5EF4-FFF2-40B4-BE49-F238E27FC236}">
                <a16:creationId xmlns:a16="http://schemas.microsoft.com/office/drawing/2014/main" id="{92D43AEA-DC39-4B8F-B1FE-250B8A7D983E}"/>
              </a:ext>
            </a:extLst>
          </p:cNvPr>
          <p:cNvSpPr>
            <a:spLocks xmlns:a="http://schemas.openxmlformats.org/drawingml/2006/main" noGrp="1"/>
          </p:cNvSpPr>
          <p:nvPr/>
        </p:nvSpPr>
        <p:spPr>
          <a:xfrm xmlns:a="http://schemas.openxmlformats.org/drawingml/2006/main">
            <a:off x="647700" y="2952750"/>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02A43"/>
                </a:solidFill>
              </a:defRPr>
            </a:pPr>
            <a:r>
              <a:rPr sz="1425" b="1">
                <a:solidFill>
                  <a:srgbClr val="102A43"/>
                </a:solidFill>
              </a:rPr>
              <a:t>行政上の選定目安</a:t>
            </a:r>
          </a:p>
        </p:txBody>
      </p:sp>
      <p:sp>
        <p:nvSpPr>
          <p:cNvPr id="9" name="metric-note-12-0">
            <a:extLst xmlns:a="http://schemas.openxmlformats.org/drawingml/2006/main">
              <a:ext uri="{FF2B5EF4-FFF2-40B4-BE49-F238E27FC236}">
                <a16:creationId xmlns:a16="http://schemas.microsoft.com/office/drawing/2014/main" id="{7D8800BE-2B7F-4981-BA11-4453FA9D791E}"/>
              </a:ext>
            </a:extLst>
          </p:cNvPr>
          <p:cNvSpPr>
            <a:spLocks xmlns:a="http://schemas.openxmlformats.org/drawingml/2006/main" noGrp="1"/>
          </p:cNvSpPr>
          <p:nvPr/>
        </p:nvSpPr>
        <p:spPr>
          <a:xfrm xmlns:a="http://schemas.openxmlformats.org/drawingml/2006/main">
            <a:off x="647700" y="3267075"/>
            <a:ext cx="447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0">
                <a:solidFill>
                  <a:srgbClr val="526270"/>
                </a:solidFill>
              </a:defRPr>
            </a:pPr>
            <a:r>
              <a:rPr sz="1125" b="0">
                <a:solidFill>
                  <a:srgbClr val="526270"/>
                </a:solidFill>
              </a:rPr>
              <a:t>一般的な建設作業</a:t>
            </a:r>
          </a:p>
        </p:txBody>
      </p:sp>
      <p:sp>
        <p:nvSpPr>
          <p:cNvPr id="10" name="metric-value-12-1">
            <a:extLst xmlns:a="http://schemas.openxmlformats.org/drawingml/2006/main">
              <a:ext uri="{FF2B5EF4-FFF2-40B4-BE49-F238E27FC236}">
                <a16:creationId xmlns:a16="http://schemas.microsoft.com/office/drawing/2014/main" id="{0CE08BC6-1547-4717-BD57-7F408EF3F63A}"/>
              </a:ext>
            </a:extLst>
          </p:cNvPr>
          <p:cNvSpPr>
            <a:spLocks xmlns:a="http://schemas.openxmlformats.org/drawingml/2006/main" noGrp="1"/>
          </p:cNvSpPr>
          <p:nvPr/>
        </p:nvSpPr>
        <p:spPr>
          <a:xfrm xmlns:a="http://schemas.openxmlformats.org/drawingml/2006/main">
            <a:off x="5962650" y="2324100"/>
            <a:ext cx="4095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600" b="1">
                <a:solidFill>
                  <a:srgbClr val="F97316"/>
                </a:solidFill>
              </a:defRPr>
            </a:pPr>
            <a:r>
              <a:rPr sz="3600" b="1">
                <a:solidFill>
                  <a:srgbClr val="F97316"/>
                </a:solidFill>
              </a:rPr>
              <a:t>6.75m超</a:t>
            </a:r>
          </a:p>
        </p:txBody>
      </p:sp>
      <p:sp>
        <p:nvSpPr>
          <p:cNvPr id="11" name="metric-label-12-1">
            <a:extLst xmlns:a="http://schemas.openxmlformats.org/drawingml/2006/main">
              <a:ext uri="{FF2B5EF4-FFF2-40B4-BE49-F238E27FC236}">
                <a16:creationId xmlns:a16="http://schemas.microsoft.com/office/drawing/2014/main" id="{23B37747-075D-4DE1-B951-C501F17503EC}"/>
              </a:ext>
            </a:extLst>
          </p:cNvPr>
          <p:cNvSpPr>
            <a:spLocks xmlns:a="http://schemas.openxmlformats.org/drawingml/2006/main" noGrp="1"/>
          </p:cNvSpPr>
          <p:nvPr/>
        </p:nvSpPr>
        <p:spPr>
          <a:xfrm xmlns:a="http://schemas.openxmlformats.org/drawingml/2006/main">
            <a:off x="5962650" y="2952750"/>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02A43"/>
                </a:solidFill>
              </a:defRPr>
            </a:pPr>
            <a:r>
              <a:rPr sz="1425" b="1">
                <a:solidFill>
                  <a:srgbClr val="102A43"/>
                </a:solidFill>
              </a:rPr>
              <a:t>告示上の法的境界</a:t>
            </a:r>
          </a:p>
        </p:txBody>
      </p:sp>
      <p:sp>
        <p:nvSpPr>
          <p:cNvPr id="12" name="metric-note-12-1">
            <a:extLst xmlns:a="http://schemas.openxmlformats.org/drawingml/2006/main">
              <a:ext uri="{FF2B5EF4-FFF2-40B4-BE49-F238E27FC236}">
                <a16:creationId xmlns:a16="http://schemas.microsoft.com/office/drawing/2014/main" id="{7D54C962-5A0F-4762-9500-696654FBF2F9}"/>
              </a:ext>
            </a:extLst>
          </p:cNvPr>
          <p:cNvSpPr>
            <a:spLocks xmlns:a="http://schemas.openxmlformats.org/drawingml/2006/main" noGrp="1"/>
          </p:cNvSpPr>
          <p:nvPr/>
        </p:nvSpPr>
        <p:spPr>
          <a:xfrm xmlns:a="http://schemas.openxmlformats.org/drawingml/2006/main">
            <a:off x="5962650" y="3267075"/>
            <a:ext cx="447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0">
                <a:solidFill>
                  <a:srgbClr val="526270"/>
                </a:solidFill>
              </a:defRPr>
            </a:pPr>
            <a:r>
              <a:rPr sz="1125" b="0">
                <a:solidFill>
                  <a:srgbClr val="526270"/>
                </a:solidFill>
              </a:rPr>
              <a:t>フルハーネス型</a:t>
            </a:r>
          </a:p>
        </p:txBody>
      </p:sp>
      <p:sp>
        <p:nvSpPr>
          <p:cNvPr id="13" name="metric-value-12-2">
            <a:extLst xmlns:a="http://schemas.openxmlformats.org/drawingml/2006/main">
              <a:ext uri="{FF2B5EF4-FFF2-40B4-BE49-F238E27FC236}">
                <a16:creationId xmlns:a16="http://schemas.microsoft.com/office/drawing/2014/main" id="{6C7F0711-3394-450B-9608-E873716A3980}"/>
              </a:ext>
            </a:extLst>
          </p:cNvPr>
          <p:cNvSpPr>
            <a:spLocks xmlns:a="http://schemas.openxmlformats.org/drawingml/2006/main" noGrp="1"/>
          </p:cNvSpPr>
          <p:nvPr/>
        </p:nvSpPr>
        <p:spPr>
          <a:xfrm xmlns:a="http://schemas.openxmlformats.org/drawingml/2006/main">
            <a:off x="647700" y="3781425"/>
            <a:ext cx="4095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600" b="1">
                <a:solidFill>
                  <a:srgbClr val="0B6B66"/>
                </a:solidFill>
              </a:defRPr>
            </a:pPr>
            <a:r>
              <a:rPr sz="3600" b="1">
                <a:solidFill>
                  <a:srgbClr val="0B6B66"/>
                </a:solidFill>
              </a:rPr>
              <a:t>6時間</a:t>
            </a:r>
          </a:p>
        </p:txBody>
      </p:sp>
      <p:sp>
        <p:nvSpPr>
          <p:cNvPr id="14" name="metric-label-12-2">
            <a:extLst xmlns:a="http://schemas.openxmlformats.org/drawingml/2006/main">
              <a:ext uri="{FF2B5EF4-FFF2-40B4-BE49-F238E27FC236}">
                <a16:creationId xmlns:a16="http://schemas.microsoft.com/office/drawing/2014/main" id="{8C796610-53AF-406B-BF12-BFF549FF1145}"/>
              </a:ext>
            </a:extLst>
          </p:cNvPr>
          <p:cNvSpPr>
            <a:spLocks xmlns:a="http://schemas.openxmlformats.org/drawingml/2006/main" noGrp="1"/>
          </p:cNvSpPr>
          <p:nvPr/>
        </p:nvSpPr>
        <p:spPr>
          <a:xfrm xmlns:a="http://schemas.openxmlformats.org/drawingml/2006/main">
            <a:off x="647700" y="4410075"/>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02A43"/>
                </a:solidFill>
              </a:defRPr>
            </a:pPr>
            <a:r>
              <a:rPr sz="1425" b="1">
                <a:solidFill>
                  <a:srgbClr val="102A43"/>
                </a:solidFill>
              </a:rPr>
              <a:t>法定特別教育</a:t>
            </a:r>
          </a:p>
        </p:txBody>
      </p:sp>
      <p:sp>
        <p:nvSpPr>
          <p:cNvPr id="15" name="metric-note-12-2">
            <a:extLst xmlns:a="http://schemas.openxmlformats.org/drawingml/2006/main">
              <a:ext uri="{FF2B5EF4-FFF2-40B4-BE49-F238E27FC236}">
                <a16:creationId xmlns:a16="http://schemas.microsoft.com/office/drawing/2014/main" id="{FDBD53D7-FECE-4BB9-B01D-22FBE9555A6B}"/>
              </a:ext>
            </a:extLst>
          </p:cNvPr>
          <p:cNvSpPr>
            <a:spLocks xmlns:a="http://schemas.openxmlformats.org/drawingml/2006/main" noGrp="1"/>
          </p:cNvSpPr>
          <p:nvPr/>
        </p:nvSpPr>
        <p:spPr>
          <a:xfrm xmlns:a="http://schemas.openxmlformats.org/drawingml/2006/main">
            <a:off x="647700" y="4724400"/>
            <a:ext cx="447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0">
                <a:solidFill>
                  <a:srgbClr val="526270"/>
                </a:solidFill>
              </a:defRPr>
            </a:pPr>
            <a:r>
              <a:rPr sz="1125" b="0">
                <a:solidFill>
                  <a:srgbClr val="526270"/>
                </a:solidFill>
              </a:rPr>
              <a:t>学科4.5＋実技1.5</a:t>
            </a:r>
          </a:p>
        </p:txBody>
      </p:sp>
      <p:sp>
        <p:nvSpPr>
          <p:cNvPr id="16" name="metric-value-12-3">
            <a:extLst xmlns:a="http://schemas.openxmlformats.org/drawingml/2006/main">
              <a:ext uri="{FF2B5EF4-FFF2-40B4-BE49-F238E27FC236}">
                <a16:creationId xmlns:a16="http://schemas.microsoft.com/office/drawing/2014/main" id="{28EED855-F2C7-47A6-8625-17D62B77F37E}"/>
              </a:ext>
            </a:extLst>
          </p:cNvPr>
          <p:cNvSpPr>
            <a:spLocks xmlns:a="http://schemas.openxmlformats.org/drawingml/2006/main" noGrp="1"/>
          </p:cNvSpPr>
          <p:nvPr/>
        </p:nvSpPr>
        <p:spPr>
          <a:xfrm xmlns:a="http://schemas.openxmlformats.org/drawingml/2006/main">
            <a:off x="5962650" y="3781425"/>
            <a:ext cx="4095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600" b="1">
                <a:solidFill>
                  <a:srgbClr val="F97316"/>
                </a:solidFill>
              </a:defRPr>
            </a:pPr>
            <a:r>
              <a:rPr sz="3600" b="1">
                <a:solidFill>
                  <a:srgbClr val="F97316"/>
                </a:solidFill>
              </a:rPr>
              <a:t>3年</a:t>
            </a:r>
          </a:p>
        </p:txBody>
      </p:sp>
      <p:sp>
        <p:nvSpPr>
          <p:cNvPr id="17" name="metric-label-12-3">
            <a:extLst xmlns:a="http://schemas.openxmlformats.org/drawingml/2006/main">
              <a:ext uri="{FF2B5EF4-FFF2-40B4-BE49-F238E27FC236}">
                <a16:creationId xmlns:a16="http://schemas.microsoft.com/office/drawing/2014/main" id="{11DDCF18-B0BD-4103-B9E1-6968D0011160}"/>
              </a:ext>
            </a:extLst>
          </p:cNvPr>
          <p:cNvSpPr>
            <a:spLocks xmlns:a="http://schemas.openxmlformats.org/drawingml/2006/main" noGrp="1"/>
          </p:cNvSpPr>
          <p:nvPr/>
        </p:nvSpPr>
        <p:spPr>
          <a:xfrm xmlns:a="http://schemas.openxmlformats.org/drawingml/2006/main">
            <a:off x="5962650" y="4410075"/>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02A43"/>
                </a:solidFill>
              </a:defRPr>
            </a:pPr>
            <a:r>
              <a:rPr sz="1425" b="1">
                <a:solidFill>
                  <a:srgbClr val="102A43"/>
                </a:solidFill>
              </a:rPr>
              <a:t>教育記録</a:t>
            </a:r>
          </a:p>
        </p:txBody>
      </p:sp>
      <p:sp>
        <p:nvSpPr>
          <p:cNvPr id="18" name="metric-note-12-3">
            <a:extLst xmlns:a="http://schemas.openxmlformats.org/drawingml/2006/main">
              <a:ext uri="{FF2B5EF4-FFF2-40B4-BE49-F238E27FC236}">
                <a16:creationId xmlns:a16="http://schemas.microsoft.com/office/drawing/2014/main" id="{99EB3622-57E5-481B-BEA1-53D988E1D281}"/>
              </a:ext>
            </a:extLst>
          </p:cNvPr>
          <p:cNvSpPr>
            <a:spLocks xmlns:a="http://schemas.openxmlformats.org/drawingml/2006/main" noGrp="1"/>
          </p:cNvSpPr>
          <p:nvPr/>
        </p:nvSpPr>
        <p:spPr>
          <a:xfrm xmlns:a="http://schemas.openxmlformats.org/drawingml/2006/main">
            <a:off x="5962650" y="4724400"/>
            <a:ext cx="447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0">
                <a:solidFill>
                  <a:srgbClr val="526270"/>
                </a:solidFill>
              </a:defRPr>
            </a:pPr>
            <a:r>
              <a:rPr sz="1125" b="0">
                <a:solidFill>
                  <a:srgbClr val="526270"/>
                </a:solidFill>
              </a:rPr>
              <a:t>受講者・科目等</a:t>
            </a:r>
          </a:p>
        </p:txBody>
      </p:sp>
      <p:sp>
        <p:nvSpPr>
          <p:cNvPr id="19" name="body-line-12">
            <a:extLst xmlns:a="http://schemas.openxmlformats.org/drawingml/2006/main">
              <a:ext uri="{FF2B5EF4-FFF2-40B4-BE49-F238E27FC236}">
                <a16:creationId xmlns:a16="http://schemas.microsoft.com/office/drawing/2014/main" id="{0F9CF3EC-4A6F-4266-95E4-083450733213}"/>
              </a:ext>
            </a:extLst>
          </p:cNvPr>
          <p:cNvSpPr>
            <a:spLocks xmlns:a="http://schemas.openxmlformats.org/drawingml/2006/main" noGrp="1"/>
          </p:cNvSpPr>
          <p:nvPr/>
        </p:nvSpPr>
        <p:spPr>
          <a:xfrm xmlns:a="http://schemas.openxmlformats.org/drawingml/2006/main">
            <a:off x="647700" y="5314950"/>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526270"/>
                </a:solidFill>
              </a:defRPr>
            </a:pPr>
            <a:r>
              <a:rPr sz="1200" b="0">
                <a:solidFill>
                  <a:srgbClr val="526270"/>
                </a:solidFill>
              </a:rPr>
              <a:t>特別教育は高さ2m以上＋作業床設置困難＋フルハーネス型使用の全条件　｜　学科4.5時間＋実技1.5時間、記録3年</a:t>
            </a:r>
          </a:p>
        </p:txBody>
      </p:sp>
      <p:sp>
        <p:nvSpPr>
          <p:cNvPr id="20" name="footer-rule-12">
            <a:extLst xmlns:a="http://schemas.openxmlformats.org/drawingml/2006/main">
              <a:ext uri="{FF2B5EF4-FFF2-40B4-BE49-F238E27FC236}">
                <a16:creationId xmlns:a16="http://schemas.microsoft.com/office/drawing/2014/main" id="{18E8F2BA-0DD7-40B0-AF27-CFB7469FDCF6}"/>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1" name="footer-sources-12">
            <a:extLst xmlns:a="http://schemas.openxmlformats.org/drawingml/2006/main">
              <a:ext uri="{FF2B5EF4-FFF2-40B4-BE49-F238E27FC236}">
                <a16:creationId xmlns:a16="http://schemas.microsoft.com/office/drawing/2014/main" id="{4BA2FBA7-768F-4790-BA60-1D04F4AD8473}"/>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S4・S7・S1・S3・S5・S6（詳細はノート）</a:t>
            </a:r>
          </a:p>
        </p:txBody>
      </p:sp>
      <p:sp>
        <p:nvSpPr>
          <p:cNvPr id="22" name="footer-page-12">
            <a:extLst xmlns:a="http://schemas.openxmlformats.org/drawingml/2006/main">
              <a:ext uri="{FF2B5EF4-FFF2-40B4-BE49-F238E27FC236}">
                <a16:creationId xmlns:a16="http://schemas.microsoft.com/office/drawing/2014/main" id="{457082FD-A8D9-458E-BE09-08E32F90DD26}"/>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12 / 20</a:t>
            </a:r>
          </a:p>
        </p:txBody>
      </p:sp>
    </p:spTree>
    <p:extLst>
      <p:ext uri="{BB962C8B-B14F-4D97-AF65-F5344CB8AC3E}">
        <p14:creationId xmlns:p14="http://schemas.microsoft.com/office/powerpoint/2010/main" val="73737092"/>
      </p:ext>
    </p:extLst>
  </p:cSld>
</p:sld>
</file>

<file path=ppt/slides/slide13.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5" name="accent-13">
            <a:extLst xmlns:a="http://schemas.openxmlformats.org/drawingml/2006/main">
              <a:ext uri="{FF2B5EF4-FFF2-40B4-BE49-F238E27FC236}">
                <a16:creationId xmlns:a16="http://schemas.microsoft.com/office/drawing/2014/main" id="{347C5FA5-EB5A-4A15-9568-8419CCB07218}"/>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3">
            <a:extLst xmlns:a="http://schemas.openxmlformats.org/drawingml/2006/main">
              <a:ext uri="{FF2B5EF4-FFF2-40B4-BE49-F238E27FC236}">
                <a16:creationId xmlns:a16="http://schemas.microsoft.com/office/drawing/2014/main" id="{873B049E-1B2B-4CE1-BD84-9E6D7F218396}"/>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制度を混同しない</a:t>
            </a:r>
          </a:p>
        </p:txBody>
      </p:sp>
      <p:sp>
        <p:nvSpPr>
          <p:cNvPr id="3" name="label-13">
            <a:extLst xmlns:a="http://schemas.openxmlformats.org/drawingml/2006/main">
              <a:ext uri="{FF2B5EF4-FFF2-40B4-BE49-F238E27FC236}">
                <a16:creationId xmlns:a16="http://schemas.microsoft.com/office/drawing/2014/main" id="{0B351E96-0B0C-485E-B507-361F467AE37E}"/>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B42318"/>
                </a:solidFill>
              </a:defRPr>
            </a:pPr>
            <a:r>
              <a:rPr sz="1050" b="1">
                <a:solidFill>
                  <a:srgbClr val="B42318"/>
                </a:solidFill>
              </a:rPr>
              <a:t>法定義務</a:t>
            </a:r>
          </a:p>
        </p:txBody>
      </p:sp>
      <p:sp>
        <p:nvSpPr>
          <p:cNvPr id="4" name="title-13">
            <a:extLst xmlns:a="http://schemas.openxmlformats.org/drawingml/2006/main">
              <a:ext uri="{FF2B5EF4-FFF2-40B4-BE49-F238E27FC236}">
                <a16:creationId xmlns:a16="http://schemas.microsoft.com/office/drawing/2014/main" id="{1464250D-C07E-4627-AF66-DC0A75B668CF}"/>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職種資格・特別教育・社内研修は別</a:t>
            </a:r>
          </a:p>
        </p:txBody>
      </p:sp>
      <p:sp>
        <p:nvSpPr>
          <p:cNvPr id="5" name="title-rule-13">
            <a:extLst xmlns:a="http://schemas.openxmlformats.org/drawingml/2006/main">
              <a:ext uri="{FF2B5EF4-FFF2-40B4-BE49-F238E27FC236}">
                <a16:creationId xmlns:a16="http://schemas.microsoft.com/office/drawing/2014/main" id="{5F3E9A8C-5DA3-4931-9BC9-12E3AA609063}"/>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3">
            <a:extLst xmlns:a="http://schemas.openxmlformats.org/drawingml/2006/main">
              <a:ext uri="{FF2B5EF4-FFF2-40B4-BE49-F238E27FC236}">
                <a16:creationId xmlns:a16="http://schemas.microsoft.com/office/drawing/2014/main" id="{50686960-D6D3-46B2-9735-B97EB170ED8F}"/>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電気工事士等の職種資格、フルハーネス特別教育、この社内研修は別制度。</a:t>
            </a:r>
          </a:p>
        </p:txBody>
      </p:sp>
      <p:sp>
        <p:nvSpPr>
          <p:cNvPr id="7" name="step-no-13-0">
            <a:extLst xmlns:a="http://schemas.openxmlformats.org/drawingml/2006/main">
              <a:ext uri="{FF2B5EF4-FFF2-40B4-BE49-F238E27FC236}">
                <a16:creationId xmlns:a16="http://schemas.microsoft.com/office/drawing/2014/main" id="{774BD71D-E278-410A-B498-AC692BDA3432}"/>
              </a:ext>
            </a:extLst>
          </p:cNvPr>
          <p:cNvSpPr>
            <a:spLocks xmlns:a="http://schemas.openxmlformats.org/drawingml/2006/main" noGrp="1"/>
          </p:cNvSpPr>
          <p:nvPr/>
        </p:nvSpPr>
        <p:spPr>
          <a:xfrm xmlns:a="http://schemas.openxmlformats.org/drawingml/2006/main">
            <a:off x="647700"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0B6B66"/>
                </a:solidFill>
              </a:defRPr>
            </a:pPr>
            <a:r>
              <a:rPr sz="3900" b="1">
                <a:solidFill>
                  <a:srgbClr val="0B6B66"/>
                </a:solidFill>
              </a:rPr>
              <a:t>01</a:t>
            </a:r>
          </a:p>
        </p:txBody>
      </p:sp>
      <p:sp>
        <p:nvSpPr>
          <p:cNvPr id="8" name="step-rule-13-0">
            <a:extLst xmlns:a="http://schemas.openxmlformats.org/drawingml/2006/main">
              <a:ext uri="{FF2B5EF4-FFF2-40B4-BE49-F238E27FC236}">
                <a16:creationId xmlns:a16="http://schemas.microsoft.com/office/drawing/2014/main" id="{7FCF9E68-38C3-487B-AA13-7BA5A3ED2C4B}"/>
              </a:ext>
            </a:extLst>
          </p:cNvPr>
          <p:cNvSpPr>
            <a:spLocks xmlns:a="http://schemas.openxmlformats.org/drawingml/2006/main" noGrp="1"/>
          </p:cNvSpPr>
          <p:nvPr/>
        </p:nvSpPr>
        <p:spPr>
          <a:xfrm xmlns:a="http://schemas.openxmlformats.org/drawingml/2006/main">
            <a:off x="647700" y="3105150"/>
            <a:ext cx="3257550" cy="381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9" name="step-label-13-0">
            <a:extLst xmlns:a="http://schemas.openxmlformats.org/drawingml/2006/main">
              <a:ext uri="{FF2B5EF4-FFF2-40B4-BE49-F238E27FC236}">
                <a16:creationId xmlns:a16="http://schemas.microsoft.com/office/drawing/2014/main" id="{1B6F6EC3-90B4-488A-AD1D-75A96432ACC3}"/>
              </a:ext>
            </a:extLst>
          </p:cNvPr>
          <p:cNvSpPr>
            <a:spLocks xmlns:a="http://schemas.openxmlformats.org/drawingml/2006/main" noGrp="1"/>
          </p:cNvSpPr>
          <p:nvPr/>
        </p:nvSpPr>
        <p:spPr>
          <a:xfrm xmlns:a="http://schemas.openxmlformats.org/drawingml/2006/main">
            <a:off x="647700"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職種資格</a:t>
            </a:r>
          </a:p>
        </p:txBody>
      </p:sp>
      <p:sp>
        <p:nvSpPr>
          <p:cNvPr id="10" name="step-detail-13-0">
            <a:extLst xmlns:a="http://schemas.openxmlformats.org/drawingml/2006/main">
              <a:ext uri="{FF2B5EF4-FFF2-40B4-BE49-F238E27FC236}">
                <a16:creationId xmlns:a16="http://schemas.microsoft.com/office/drawing/2014/main" id="{B3911BEA-6907-4D2B-9AB2-C77DDE8EDEDE}"/>
              </a:ext>
            </a:extLst>
          </p:cNvPr>
          <p:cNvSpPr>
            <a:spLocks xmlns:a="http://schemas.openxmlformats.org/drawingml/2006/main" noGrp="1"/>
          </p:cNvSpPr>
          <p:nvPr/>
        </p:nvSpPr>
        <p:spPr>
          <a:xfrm xmlns:a="http://schemas.openxmlformats.org/drawingml/2006/main">
            <a:off x="647700"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資格が示す業務範囲を個別確認</a:t>
            </a:r>
          </a:p>
        </p:txBody>
      </p:sp>
      <p:sp>
        <p:nvSpPr>
          <p:cNvPr id="11" name="step-arrow-13-0">
            <a:extLst xmlns:a="http://schemas.openxmlformats.org/drawingml/2006/main">
              <a:ext uri="{FF2B5EF4-FFF2-40B4-BE49-F238E27FC236}">
                <a16:creationId xmlns:a16="http://schemas.microsoft.com/office/drawing/2014/main" id="{EBA658BB-A638-41BB-8A99-7A418BAC2D4F}"/>
              </a:ext>
            </a:extLst>
          </p:cNvPr>
          <p:cNvSpPr>
            <a:spLocks xmlns:a="http://schemas.openxmlformats.org/drawingml/2006/main" noGrp="1"/>
          </p:cNvSpPr>
          <p:nvPr/>
        </p:nvSpPr>
        <p:spPr>
          <a:xfrm xmlns:a="http://schemas.openxmlformats.org/drawingml/2006/main">
            <a:off x="3971925" y="3009900"/>
            <a:ext cx="22860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2" name="step-no-13-1">
            <a:extLst xmlns:a="http://schemas.openxmlformats.org/drawingml/2006/main">
              <a:ext uri="{FF2B5EF4-FFF2-40B4-BE49-F238E27FC236}">
                <a16:creationId xmlns:a16="http://schemas.microsoft.com/office/drawing/2014/main" id="{5D49D2B9-0816-458E-8DE6-D6B1574012E8}"/>
              </a:ext>
            </a:extLst>
          </p:cNvPr>
          <p:cNvSpPr>
            <a:spLocks xmlns:a="http://schemas.openxmlformats.org/drawingml/2006/main" noGrp="1"/>
          </p:cNvSpPr>
          <p:nvPr/>
        </p:nvSpPr>
        <p:spPr>
          <a:xfrm xmlns:a="http://schemas.openxmlformats.org/drawingml/2006/main">
            <a:off x="4257675"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F97316"/>
                </a:solidFill>
              </a:defRPr>
            </a:pPr>
            <a:r>
              <a:rPr sz="3900" b="1">
                <a:solidFill>
                  <a:srgbClr val="F97316"/>
                </a:solidFill>
              </a:rPr>
              <a:t>02</a:t>
            </a:r>
          </a:p>
        </p:txBody>
      </p:sp>
      <p:sp>
        <p:nvSpPr>
          <p:cNvPr id="13" name="step-rule-13-1">
            <a:extLst xmlns:a="http://schemas.openxmlformats.org/drawingml/2006/main">
              <a:ext uri="{FF2B5EF4-FFF2-40B4-BE49-F238E27FC236}">
                <a16:creationId xmlns:a16="http://schemas.microsoft.com/office/drawing/2014/main" id="{888D9021-FC90-4B33-9F82-FF5506251E94}"/>
              </a:ext>
            </a:extLst>
          </p:cNvPr>
          <p:cNvSpPr>
            <a:spLocks xmlns:a="http://schemas.openxmlformats.org/drawingml/2006/main" noGrp="1"/>
          </p:cNvSpPr>
          <p:nvPr/>
        </p:nvSpPr>
        <p:spPr>
          <a:xfrm xmlns:a="http://schemas.openxmlformats.org/drawingml/2006/main">
            <a:off x="4257675" y="3105150"/>
            <a:ext cx="3257550" cy="381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4" name="step-label-13-1">
            <a:extLst xmlns:a="http://schemas.openxmlformats.org/drawingml/2006/main">
              <a:ext uri="{FF2B5EF4-FFF2-40B4-BE49-F238E27FC236}">
                <a16:creationId xmlns:a16="http://schemas.microsoft.com/office/drawing/2014/main" id="{C9222D2E-6C40-462F-AEBE-CD35301F7035}"/>
              </a:ext>
            </a:extLst>
          </p:cNvPr>
          <p:cNvSpPr>
            <a:spLocks xmlns:a="http://schemas.openxmlformats.org/drawingml/2006/main" noGrp="1"/>
          </p:cNvSpPr>
          <p:nvPr/>
        </p:nvSpPr>
        <p:spPr>
          <a:xfrm xmlns:a="http://schemas.openxmlformats.org/drawingml/2006/main">
            <a:off x="4257675"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特別教育</a:t>
            </a:r>
          </a:p>
        </p:txBody>
      </p:sp>
      <p:sp>
        <p:nvSpPr>
          <p:cNvPr id="15" name="step-detail-13-1">
            <a:extLst xmlns:a="http://schemas.openxmlformats.org/drawingml/2006/main">
              <a:ext uri="{FF2B5EF4-FFF2-40B4-BE49-F238E27FC236}">
                <a16:creationId xmlns:a16="http://schemas.microsoft.com/office/drawing/2014/main" id="{780902C9-F30F-48A7-BACE-EF8CABD35A44}"/>
              </a:ext>
            </a:extLst>
          </p:cNvPr>
          <p:cNvSpPr>
            <a:spLocks xmlns:a="http://schemas.openxmlformats.org/drawingml/2006/main" noGrp="1"/>
          </p:cNvSpPr>
          <p:nvPr/>
        </p:nvSpPr>
        <p:spPr>
          <a:xfrm xmlns:a="http://schemas.openxmlformats.org/drawingml/2006/main">
            <a:off x="4257675"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実際の高さ・作業床・使用器具で対象判定</a:t>
            </a:r>
          </a:p>
        </p:txBody>
      </p:sp>
      <p:sp>
        <p:nvSpPr>
          <p:cNvPr id="16" name="step-arrow-13-1">
            <a:extLst xmlns:a="http://schemas.openxmlformats.org/drawingml/2006/main">
              <a:ext uri="{FF2B5EF4-FFF2-40B4-BE49-F238E27FC236}">
                <a16:creationId xmlns:a16="http://schemas.microsoft.com/office/drawing/2014/main" id="{0BFA4CEE-1D17-4684-B6A8-1ADCEC6DDAEA}"/>
              </a:ext>
            </a:extLst>
          </p:cNvPr>
          <p:cNvSpPr>
            <a:spLocks xmlns:a="http://schemas.openxmlformats.org/drawingml/2006/main" noGrp="1"/>
          </p:cNvSpPr>
          <p:nvPr/>
        </p:nvSpPr>
        <p:spPr>
          <a:xfrm xmlns:a="http://schemas.openxmlformats.org/drawingml/2006/main">
            <a:off x="7581900" y="3009900"/>
            <a:ext cx="22860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7" name="step-no-13-2">
            <a:extLst xmlns:a="http://schemas.openxmlformats.org/drawingml/2006/main">
              <a:ext uri="{FF2B5EF4-FFF2-40B4-BE49-F238E27FC236}">
                <a16:creationId xmlns:a16="http://schemas.microsoft.com/office/drawing/2014/main" id="{0FC46953-F4E9-4BFA-AE28-6B7A4279D3C5}"/>
              </a:ext>
            </a:extLst>
          </p:cNvPr>
          <p:cNvSpPr>
            <a:spLocks xmlns:a="http://schemas.openxmlformats.org/drawingml/2006/main" noGrp="1"/>
          </p:cNvSpPr>
          <p:nvPr/>
        </p:nvSpPr>
        <p:spPr>
          <a:xfrm xmlns:a="http://schemas.openxmlformats.org/drawingml/2006/main">
            <a:off x="7867650"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102A43"/>
                </a:solidFill>
              </a:defRPr>
            </a:pPr>
            <a:r>
              <a:rPr sz="3900" b="1">
                <a:solidFill>
                  <a:srgbClr val="102A43"/>
                </a:solidFill>
              </a:rPr>
              <a:t>03</a:t>
            </a:r>
          </a:p>
        </p:txBody>
      </p:sp>
      <p:sp>
        <p:nvSpPr>
          <p:cNvPr id="18" name="step-rule-13-2">
            <a:extLst xmlns:a="http://schemas.openxmlformats.org/drawingml/2006/main">
              <a:ext uri="{FF2B5EF4-FFF2-40B4-BE49-F238E27FC236}">
                <a16:creationId xmlns:a16="http://schemas.microsoft.com/office/drawing/2014/main" id="{E5D2B948-3117-463C-BEF6-5BDFAD4F181B}"/>
              </a:ext>
            </a:extLst>
          </p:cNvPr>
          <p:cNvSpPr>
            <a:spLocks xmlns:a="http://schemas.openxmlformats.org/drawingml/2006/main" noGrp="1"/>
          </p:cNvSpPr>
          <p:nvPr/>
        </p:nvSpPr>
        <p:spPr>
          <a:xfrm xmlns:a="http://schemas.openxmlformats.org/drawingml/2006/main">
            <a:off x="7867650" y="3105150"/>
            <a:ext cx="3257550" cy="38100"/>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19" name="step-label-13-2">
            <a:extLst xmlns:a="http://schemas.openxmlformats.org/drawingml/2006/main">
              <a:ext uri="{FF2B5EF4-FFF2-40B4-BE49-F238E27FC236}">
                <a16:creationId xmlns:a16="http://schemas.microsoft.com/office/drawing/2014/main" id="{3F64034A-9EB1-4B96-B4C1-ACAB88499A09}"/>
              </a:ext>
            </a:extLst>
          </p:cNvPr>
          <p:cNvSpPr>
            <a:spLocks xmlns:a="http://schemas.openxmlformats.org/drawingml/2006/main" noGrp="1"/>
          </p:cNvSpPr>
          <p:nvPr/>
        </p:nvSpPr>
        <p:spPr>
          <a:xfrm xmlns:a="http://schemas.openxmlformats.org/drawingml/2006/main">
            <a:off x="7867650"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社内安全研修</a:t>
            </a:r>
          </a:p>
        </p:txBody>
      </p:sp>
      <p:sp>
        <p:nvSpPr>
          <p:cNvPr id="20" name="step-detail-13-2">
            <a:extLst xmlns:a="http://schemas.openxmlformats.org/drawingml/2006/main">
              <a:ext uri="{FF2B5EF4-FFF2-40B4-BE49-F238E27FC236}">
                <a16:creationId xmlns:a16="http://schemas.microsoft.com/office/drawing/2014/main" id="{CD0D40DE-81DD-4926-81AB-827ED63D296F}"/>
              </a:ext>
            </a:extLst>
          </p:cNvPr>
          <p:cNvSpPr>
            <a:spLocks xmlns:a="http://schemas.openxmlformats.org/drawingml/2006/main" noGrp="1"/>
          </p:cNvSpPr>
          <p:nvPr/>
        </p:nvSpPr>
        <p:spPr>
          <a:xfrm xmlns:a="http://schemas.openxmlformats.org/drawingml/2006/main">
            <a:off x="7867650"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統計・法令の考え方・現場確認を学ぶ。代替不可</a:t>
            </a:r>
          </a:p>
        </p:txBody>
      </p:sp>
      <p:sp>
        <p:nvSpPr>
          <p:cNvPr id="21" name="body-line-13">
            <a:extLst xmlns:a="http://schemas.openxmlformats.org/drawingml/2006/main">
              <a:ext uri="{FF2B5EF4-FFF2-40B4-BE49-F238E27FC236}">
                <a16:creationId xmlns:a16="http://schemas.microsoft.com/office/drawing/2014/main" id="{1AC95E12-2179-407C-81D8-75E75BBA6D81}"/>
              </a:ext>
            </a:extLst>
          </p:cNvPr>
          <p:cNvSpPr>
            <a:spLocks xmlns:a="http://schemas.openxmlformats.org/drawingml/2006/main" noGrp="1"/>
          </p:cNvSpPr>
          <p:nvPr/>
        </p:nvSpPr>
        <p:spPr>
          <a:xfrm xmlns:a="http://schemas.openxmlformats.org/drawingml/2006/main">
            <a:off x="647700" y="5286375"/>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526270"/>
                </a:solidFill>
              </a:defRPr>
            </a:pPr>
            <a:r>
              <a:rPr sz="1200" b="0">
                <a:solidFill>
                  <a:srgbClr val="526270"/>
                </a:solidFill>
              </a:rPr>
              <a:t>資格名ではなく実際の作業条件で判定　｜　この教材で法定教育の修了証は発行しない</a:t>
            </a:r>
          </a:p>
        </p:txBody>
      </p:sp>
      <p:sp>
        <p:nvSpPr>
          <p:cNvPr id="22" name="footer-rule-13">
            <a:extLst xmlns:a="http://schemas.openxmlformats.org/drawingml/2006/main">
              <a:ext uri="{FF2B5EF4-FFF2-40B4-BE49-F238E27FC236}">
                <a16:creationId xmlns:a16="http://schemas.microsoft.com/office/drawing/2014/main" id="{D5A20736-0BA0-48D1-89A7-FB01BB15844C}"/>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3" name="footer-sources-13">
            <a:extLst xmlns:a="http://schemas.openxmlformats.org/drawingml/2006/main">
              <a:ext uri="{FF2B5EF4-FFF2-40B4-BE49-F238E27FC236}">
                <a16:creationId xmlns:a16="http://schemas.microsoft.com/office/drawing/2014/main" id="{CDDA34FF-B816-45C6-B564-52C91BA5214C}"/>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S1・S3・S7・S5（詳細はノート）</a:t>
            </a:r>
          </a:p>
        </p:txBody>
      </p:sp>
      <p:sp>
        <p:nvSpPr>
          <p:cNvPr id="24" name="footer-page-13">
            <a:extLst xmlns:a="http://schemas.openxmlformats.org/drawingml/2006/main">
              <a:ext uri="{FF2B5EF4-FFF2-40B4-BE49-F238E27FC236}">
                <a16:creationId xmlns:a16="http://schemas.microsoft.com/office/drawing/2014/main" id="{D88A010E-1D75-4CB1-90B1-ED5839558CB1}"/>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13 / 20</a:t>
            </a:r>
          </a:p>
        </p:txBody>
      </p:sp>
    </p:spTree>
    <p:extLst>
      <p:ext uri="{BB962C8B-B14F-4D97-AF65-F5344CB8AC3E}">
        <p14:creationId xmlns:p14="http://schemas.microsoft.com/office/powerpoint/2010/main" val="735116199"/>
      </p:ext>
    </p:extLst>
  </p:cSld>
</p:sld>
</file>

<file path=ppt/slides/slide14.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6" name="accent-14">
            <a:extLst xmlns:a="http://schemas.openxmlformats.org/drawingml/2006/main">
              <a:ext uri="{FF2B5EF4-FFF2-40B4-BE49-F238E27FC236}">
                <a16:creationId xmlns:a16="http://schemas.microsoft.com/office/drawing/2014/main" id="{7B8283CD-B0EE-4330-AA19-1804C46AF302}"/>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4">
            <a:extLst xmlns:a="http://schemas.openxmlformats.org/drawingml/2006/main">
              <a:ext uri="{FF2B5EF4-FFF2-40B4-BE49-F238E27FC236}">
                <a16:creationId xmlns:a16="http://schemas.microsoft.com/office/drawing/2014/main" id="{DBD2558E-5EE6-4CAB-969B-F04C1F367D14}"/>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固定クリアランス値を使わない</a:t>
            </a:r>
          </a:p>
        </p:txBody>
      </p:sp>
      <p:sp>
        <p:nvSpPr>
          <p:cNvPr id="3" name="label-14">
            <a:extLst xmlns:a="http://schemas.openxmlformats.org/drawingml/2006/main">
              <a:ext uri="{FF2B5EF4-FFF2-40B4-BE49-F238E27FC236}">
                <a16:creationId xmlns:a16="http://schemas.microsoft.com/office/drawing/2014/main" id="{052EF91B-7E10-401E-B332-FF9537A7DAB5}"/>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科学的知見</a:t>
            </a:r>
          </a:p>
        </p:txBody>
      </p:sp>
      <p:sp>
        <p:nvSpPr>
          <p:cNvPr id="4" name="title-14">
            <a:extLst xmlns:a="http://schemas.openxmlformats.org/drawingml/2006/main">
              <a:ext uri="{FF2B5EF4-FFF2-40B4-BE49-F238E27FC236}">
                <a16:creationId xmlns:a16="http://schemas.microsoft.com/office/drawing/2014/main" id="{A1EA5A25-E9F5-48B3-B491-6F54FA42B065}"/>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取付点と下方空間</a:t>
            </a:r>
          </a:p>
        </p:txBody>
      </p:sp>
      <p:sp>
        <p:nvSpPr>
          <p:cNvPr id="5" name="title-rule-14">
            <a:extLst xmlns:a="http://schemas.openxmlformats.org/drawingml/2006/main">
              <a:ext uri="{FF2B5EF4-FFF2-40B4-BE49-F238E27FC236}">
                <a16:creationId xmlns:a16="http://schemas.microsoft.com/office/drawing/2014/main" id="{0704C5E8-6015-43C2-AE88-963DA234CE12}"/>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4">
            <a:extLst xmlns:a="http://schemas.openxmlformats.org/drawingml/2006/main">
              <a:ext uri="{FF2B5EF4-FFF2-40B4-BE49-F238E27FC236}">
                <a16:creationId xmlns:a16="http://schemas.microsoft.com/office/drawing/2014/main" id="{3CDC88C7-3E3A-4667-A352-36E7A4E48E2B}"/>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同じランヤードなら取付点が低いほど自由落下距離は増える。製品・現場条件を照合する。</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1f03f32ff61c443d"/>
          <a:srcRect xmlns:a="http://schemas.openxmlformats.org/drawingml/2006/main" l="0" t="28931" r="0" b="28931"/>
          <a:stretch xmlns:a="http://schemas.openxmlformats.org/drawingml/2006/main">
            <a:fillRect l="0" t="0" r="0" b="0"/>
          </a:stretch>
        </p:blipFill>
        <p:spPr>
          <a:xfrm xmlns:a="http://schemas.openxmlformats.org/drawingml/2006/main">
            <a:off x="6238875" y="2209800"/>
            <a:ext cx="5048250" cy="3190875"/>
          </a:xfrm>
          <a:prstGeom xmlns:a="http://schemas.openxmlformats.org/drawingml/2006/main" prst="roundRect">
            <a:avLst>
              <a:gd name="adj" fmla="val 4776"/>
            </a:avLst>
          </a:prstGeom>
        </p:spPr>
      </p:pic>
      <p:sp>
        <p:nvSpPr>
          <p:cNvPr id="8" name="image-caption-rule-14">
            <a:extLst xmlns:a="http://schemas.openxmlformats.org/drawingml/2006/main">
              <a:ext uri="{FF2B5EF4-FFF2-40B4-BE49-F238E27FC236}">
                <a16:creationId xmlns:a16="http://schemas.microsoft.com/office/drawing/2014/main" id="{EC2D38F4-1123-440E-899C-B09D99E7E191}"/>
              </a:ext>
            </a:extLst>
          </p:cNvPr>
          <p:cNvSpPr>
            <a:spLocks xmlns:a="http://schemas.openxmlformats.org/drawingml/2006/main" noGrp="1"/>
          </p:cNvSpPr>
          <p:nvPr/>
        </p:nvSpPr>
        <p:spPr>
          <a:xfrm xmlns:a="http://schemas.openxmlformats.org/drawingml/2006/main">
            <a:off x="6238875" y="5534025"/>
            <a:ext cx="5048250" cy="19050"/>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9" name="image-caption-14">
            <a:extLst xmlns:a="http://schemas.openxmlformats.org/drawingml/2006/main">
              <a:ext uri="{FF2B5EF4-FFF2-40B4-BE49-F238E27FC236}">
                <a16:creationId xmlns:a16="http://schemas.microsoft.com/office/drawing/2014/main" id="{C43853F4-E8D8-405F-B110-0C0744DE9ABE}"/>
              </a:ext>
            </a:extLst>
          </p:cNvPr>
          <p:cNvSpPr>
            <a:spLocks xmlns:a="http://schemas.openxmlformats.org/drawingml/2006/main" noGrp="1"/>
          </p:cNvSpPr>
          <p:nvPr/>
        </p:nvSpPr>
        <p:spPr>
          <a:xfrm xmlns:a="http://schemas.openxmlformats.org/drawingml/2006/main">
            <a:off x="6238875" y="5600700"/>
            <a:ext cx="504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プロジェクト所有の教材用オリジナル画像</a:t>
            </a:r>
          </a:p>
        </p:txBody>
      </p:sp>
      <p:sp>
        <p:nvSpPr>
          <p:cNvPr id="10" name="image-message-14">
            <a:extLst xmlns:a="http://schemas.openxmlformats.org/drawingml/2006/main">
              <a:ext uri="{FF2B5EF4-FFF2-40B4-BE49-F238E27FC236}">
                <a16:creationId xmlns:a16="http://schemas.microsoft.com/office/drawing/2014/main" id="{98ED6070-8F2C-40F8-8B30-6B2A252BAD71}"/>
              </a:ext>
            </a:extLst>
          </p:cNvPr>
          <p:cNvSpPr>
            <a:spLocks xmlns:a="http://schemas.openxmlformats.org/drawingml/2006/main" noGrp="1"/>
          </p:cNvSpPr>
          <p:nvPr/>
        </p:nvSpPr>
        <p:spPr>
          <a:xfrm xmlns:a="http://schemas.openxmlformats.org/drawingml/2006/main">
            <a:off x="647700" y="2571750"/>
            <a:ext cx="4953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100" b="1">
                <a:solidFill>
                  <a:srgbClr val="064E4A"/>
                </a:solidFill>
              </a:defRPr>
            </a:pPr>
            <a:r>
              <a:rPr sz="2100" b="1">
                <a:solidFill>
                  <a:srgbClr val="064E4A"/>
                </a:solidFill>
              </a:rPr>
              <a:t>自由落下距離と伸びを含む落下距離は別</a:t>
            </a:r>
          </a:p>
        </p:txBody>
      </p:sp>
      <p:sp>
        <p:nvSpPr>
          <p:cNvPr id="11" name="image-rule-14">
            <a:extLst xmlns:a="http://schemas.openxmlformats.org/drawingml/2006/main">
              <a:ext uri="{FF2B5EF4-FFF2-40B4-BE49-F238E27FC236}">
                <a16:creationId xmlns:a16="http://schemas.microsoft.com/office/drawing/2014/main" id="{1D7FA4E4-03C4-4473-8D58-5BBEC62C3E2A}"/>
              </a:ext>
            </a:extLst>
          </p:cNvPr>
          <p:cNvSpPr>
            <a:spLocks xmlns:a="http://schemas.openxmlformats.org/drawingml/2006/main" noGrp="1"/>
          </p:cNvSpPr>
          <p:nvPr/>
        </p:nvSpPr>
        <p:spPr>
          <a:xfrm xmlns:a="http://schemas.openxmlformats.org/drawingml/2006/main">
            <a:off x="647700" y="3629025"/>
            <a:ext cx="4095750" cy="381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2" name="image-body-14">
            <a:extLst xmlns:a="http://schemas.openxmlformats.org/drawingml/2006/main">
              <a:ext uri="{FF2B5EF4-FFF2-40B4-BE49-F238E27FC236}">
                <a16:creationId xmlns:a16="http://schemas.microsoft.com/office/drawing/2014/main" id="{395A05DD-6222-4D5A-A3C3-403E58F49A36}"/>
              </a:ext>
            </a:extLst>
          </p:cNvPr>
          <p:cNvSpPr>
            <a:spLocks xmlns:a="http://schemas.openxmlformats.org/drawingml/2006/main" noGrp="1"/>
          </p:cNvSpPr>
          <p:nvPr/>
        </p:nvSpPr>
        <p:spPr>
          <a:xfrm xmlns:a="http://schemas.openxmlformats.org/drawingml/2006/main">
            <a:off x="647700" y="3867150"/>
            <a:ext cx="4857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0">
                <a:solidFill>
                  <a:srgbClr val="172B3A"/>
                </a:solidFill>
              </a:defRPr>
            </a:pPr>
            <a:r>
              <a:rPr sz="1725" b="0">
                <a:solidFill>
                  <a:srgbClr val="172B3A"/>
                </a:solidFill>
              </a:rPr>
              <a:t>振られ、端部接触、床・梁・設備までの空間も確認</a:t>
            </a:r>
          </a:p>
        </p:txBody>
      </p:sp>
      <p:sp>
        <p:nvSpPr>
          <p:cNvPr id="13" name="footer-rule-14">
            <a:extLst xmlns:a="http://schemas.openxmlformats.org/drawingml/2006/main">
              <a:ext uri="{FF2B5EF4-FFF2-40B4-BE49-F238E27FC236}">
                <a16:creationId xmlns:a16="http://schemas.microsoft.com/office/drawing/2014/main" id="{6D2A03A1-C829-4B34-88BC-B9310D718033}"/>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4" name="footer-sources-14">
            <a:extLst xmlns:a="http://schemas.openxmlformats.org/drawingml/2006/main">
              <a:ext uri="{FF2B5EF4-FFF2-40B4-BE49-F238E27FC236}">
                <a16:creationId xmlns:a16="http://schemas.microsoft.com/office/drawing/2014/main" id="{44A206C5-1142-4DE5-B808-A709CD4E8A83}"/>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S3・S4・S6・S20（詳細はノート）</a:t>
            </a:r>
          </a:p>
        </p:txBody>
      </p:sp>
      <p:sp>
        <p:nvSpPr>
          <p:cNvPr id="15" name="footer-page-14">
            <a:extLst xmlns:a="http://schemas.openxmlformats.org/drawingml/2006/main">
              <a:ext uri="{FF2B5EF4-FFF2-40B4-BE49-F238E27FC236}">
                <a16:creationId xmlns:a16="http://schemas.microsoft.com/office/drawing/2014/main" id="{52A2B8BC-10A8-45AE-9A5E-6496EA94040A}"/>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14 / 20</a:t>
            </a:r>
          </a:p>
        </p:txBody>
      </p:sp>
    </p:spTree>
    <p:extLst>
      <p:ext uri="{BB962C8B-B14F-4D97-AF65-F5344CB8AC3E}">
        <p14:creationId xmlns:p14="http://schemas.microsoft.com/office/powerpoint/2010/main" val="1645132954"/>
      </p:ext>
    </p:extLst>
  </p:cSld>
</p:sld>
</file>

<file path=ppt/slides/slide15.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43" name="accent-15">
            <a:extLst xmlns:a="http://schemas.openxmlformats.org/drawingml/2006/main">
              <a:ext uri="{FF2B5EF4-FFF2-40B4-BE49-F238E27FC236}">
                <a16:creationId xmlns:a16="http://schemas.microsoft.com/office/drawing/2014/main" id="{88F46ACE-0BA6-40AB-84C3-6BE33F867451}"/>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5">
            <a:extLst xmlns:a="http://schemas.openxmlformats.org/drawingml/2006/main">
              <a:ext uri="{FF2B5EF4-FFF2-40B4-BE49-F238E27FC236}">
                <a16:creationId xmlns:a16="http://schemas.microsoft.com/office/drawing/2014/main" id="{D8E16C27-B622-4D7B-A043-BB669082A605}"/>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行政推奨と現場運用</a:t>
            </a:r>
          </a:p>
        </p:txBody>
      </p:sp>
      <p:sp>
        <p:nvSpPr>
          <p:cNvPr id="3" name="label-15">
            <a:extLst xmlns:a="http://schemas.openxmlformats.org/drawingml/2006/main">
              <a:ext uri="{FF2B5EF4-FFF2-40B4-BE49-F238E27FC236}">
                <a16:creationId xmlns:a16="http://schemas.microsoft.com/office/drawing/2014/main" id="{5BDDD023-59A5-4AAB-AE0A-4BF2C62F880E}"/>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行政推奨</a:t>
            </a:r>
          </a:p>
        </p:txBody>
      </p:sp>
      <p:sp>
        <p:nvSpPr>
          <p:cNvPr id="4" name="title-15">
            <a:extLst xmlns:a="http://schemas.openxmlformats.org/drawingml/2006/main">
              <a:ext uri="{FF2B5EF4-FFF2-40B4-BE49-F238E27FC236}">
                <a16:creationId xmlns:a16="http://schemas.microsoft.com/office/drawing/2014/main" id="{2383A399-7038-420F-97EC-B1DCC622E518}"/>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使用前点検・定期点検・交換</a:t>
            </a:r>
          </a:p>
        </p:txBody>
      </p:sp>
      <p:sp>
        <p:nvSpPr>
          <p:cNvPr id="5" name="title-rule-15">
            <a:extLst xmlns:a="http://schemas.openxmlformats.org/drawingml/2006/main">
              <a:ext uri="{FF2B5EF4-FFF2-40B4-BE49-F238E27FC236}">
                <a16:creationId xmlns:a16="http://schemas.microsoft.com/office/drawing/2014/main" id="{FDC2B6AE-31DF-470C-9BA3-345CFABC1971}"/>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5">
            <a:extLst xmlns:a="http://schemas.openxmlformats.org/drawingml/2006/main">
              <a:ext uri="{FF2B5EF4-FFF2-40B4-BE49-F238E27FC236}">
                <a16:creationId xmlns:a16="http://schemas.microsoft.com/office/drawing/2014/main" id="{0B62410C-E04F-46C8-AF9A-F283A7C75202}"/>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使用前・日常点検に加え、6か月を超えない間隔で定期点検し、記録する。</a:t>
            </a:r>
          </a:p>
        </p:txBody>
      </p:sp>
      <p:sp>
        <p:nvSpPr>
          <p:cNvPr id="7" name="check-dot-15-0">
            <a:extLst xmlns:a="http://schemas.openxmlformats.org/drawingml/2006/main">
              <a:ext uri="{FF2B5EF4-FFF2-40B4-BE49-F238E27FC236}">
                <a16:creationId xmlns:a16="http://schemas.microsoft.com/office/drawing/2014/main" id="{EA0B4D69-7E32-4016-8B9D-9F1B61B4ADC0}"/>
              </a:ext>
            </a:extLst>
          </p:cNvPr>
          <p:cNvSpPr>
            <a:spLocks xmlns:a="http://schemas.openxmlformats.org/drawingml/2006/main" noGrp="1"/>
          </p:cNvSpPr>
          <p:nvPr/>
        </p:nvSpPr>
        <p:spPr>
          <a:xfrm xmlns:a="http://schemas.openxmlformats.org/drawingml/2006/main">
            <a:off x="647700" y="22860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8" name="check-mark-15-0">
            <a:extLst xmlns:a="http://schemas.openxmlformats.org/drawingml/2006/main">
              <a:ext uri="{FF2B5EF4-FFF2-40B4-BE49-F238E27FC236}">
                <a16:creationId xmlns:a16="http://schemas.microsoft.com/office/drawing/2014/main" id="{35A941C2-AF59-4767-A903-95A0A3B76EDA}"/>
              </a:ext>
            </a:extLst>
          </p:cNvPr>
          <p:cNvSpPr>
            <a:spLocks xmlns:a="http://schemas.openxmlformats.org/drawingml/2006/main" noGrp="1"/>
          </p:cNvSpPr>
          <p:nvPr/>
        </p:nvSpPr>
        <p:spPr>
          <a:xfrm xmlns:a="http://schemas.openxmlformats.org/drawingml/2006/main">
            <a:off x="647700" y="22764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9" name="check-item-15-0">
            <a:extLst xmlns:a="http://schemas.openxmlformats.org/drawingml/2006/main">
              <a:ext uri="{FF2B5EF4-FFF2-40B4-BE49-F238E27FC236}">
                <a16:creationId xmlns:a16="http://schemas.microsoft.com/office/drawing/2014/main" id="{8EE862C1-37B3-40C4-8565-0C93C82CDF49}"/>
              </a:ext>
            </a:extLst>
          </p:cNvPr>
          <p:cNvSpPr>
            <a:spLocks xmlns:a="http://schemas.openxmlformats.org/drawingml/2006/main" noGrp="1"/>
          </p:cNvSpPr>
          <p:nvPr/>
        </p:nvSpPr>
        <p:spPr>
          <a:xfrm xmlns:a="http://schemas.openxmlformats.org/drawingml/2006/main">
            <a:off x="1104900" y="22288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72B3A"/>
                </a:solidFill>
              </a:defRPr>
            </a:pPr>
            <a:r>
              <a:rPr sz="1425" b="1">
                <a:solidFill>
                  <a:srgbClr val="172B3A"/>
                </a:solidFill>
              </a:rPr>
              <a:t>ベルトの摩耗・切傷・ねじれ</a:t>
            </a:r>
          </a:p>
        </p:txBody>
      </p:sp>
      <p:sp>
        <p:nvSpPr>
          <p:cNvPr id="10" name="check-line-15-0">
            <a:extLst xmlns:a="http://schemas.openxmlformats.org/drawingml/2006/main">
              <a:ext uri="{FF2B5EF4-FFF2-40B4-BE49-F238E27FC236}">
                <a16:creationId xmlns:a16="http://schemas.microsoft.com/office/drawing/2014/main" id="{465B939C-67D3-4A1A-8DE1-47EEC5381867}"/>
              </a:ext>
            </a:extLst>
          </p:cNvPr>
          <p:cNvSpPr>
            <a:spLocks xmlns:a="http://schemas.openxmlformats.org/drawingml/2006/main" noGrp="1"/>
          </p:cNvSpPr>
          <p:nvPr/>
        </p:nvSpPr>
        <p:spPr>
          <a:xfrm xmlns:a="http://schemas.openxmlformats.org/drawingml/2006/main">
            <a:off x="1104900" y="27336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1" name="check-dot-15-1">
            <a:extLst xmlns:a="http://schemas.openxmlformats.org/drawingml/2006/main">
              <a:ext uri="{FF2B5EF4-FFF2-40B4-BE49-F238E27FC236}">
                <a16:creationId xmlns:a16="http://schemas.microsoft.com/office/drawing/2014/main" id="{902F4E55-07AD-407A-907B-F13E7B9A29C9}"/>
              </a:ext>
            </a:extLst>
          </p:cNvPr>
          <p:cNvSpPr>
            <a:spLocks xmlns:a="http://schemas.openxmlformats.org/drawingml/2006/main" noGrp="1"/>
          </p:cNvSpPr>
          <p:nvPr/>
        </p:nvSpPr>
        <p:spPr>
          <a:xfrm xmlns:a="http://schemas.openxmlformats.org/drawingml/2006/main">
            <a:off x="647700" y="29718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12" name="check-mark-15-1">
            <a:extLst xmlns:a="http://schemas.openxmlformats.org/drawingml/2006/main">
              <a:ext uri="{FF2B5EF4-FFF2-40B4-BE49-F238E27FC236}">
                <a16:creationId xmlns:a16="http://schemas.microsoft.com/office/drawing/2014/main" id="{E822892D-D616-48A1-BBF6-01D9AA1DB42A}"/>
              </a:ext>
            </a:extLst>
          </p:cNvPr>
          <p:cNvSpPr>
            <a:spLocks xmlns:a="http://schemas.openxmlformats.org/drawingml/2006/main" noGrp="1"/>
          </p:cNvSpPr>
          <p:nvPr/>
        </p:nvSpPr>
        <p:spPr>
          <a:xfrm xmlns:a="http://schemas.openxmlformats.org/drawingml/2006/main">
            <a:off x="647700" y="29622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13" name="check-item-15-1">
            <a:extLst xmlns:a="http://schemas.openxmlformats.org/drawingml/2006/main">
              <a:ext uri="{FF2B5EF4-FFF2-40B4-BE49-F238E27FC236}">
                <a16:creationId xmlns:a16="http://schemas.microsoft.com/office/drawing/2014/main" id="{96B7A0DD-00BF-4FFE-9C67-1913BBDE4174}"/>
              </a:ext>
            </a:extLst>
          </p:cNvPr>
          <p:cNvSpPr>
            <a:spLocks xmlns:a="http://schemas.openxmlformats.org/drawingml/2006/main" noGrp="1"/>
          </p:cNvSpPr>
          <p:nvPr/>
        </p:nvSpPr>
        <p:spPr>
          <a:xfrm xmlns:a="http://schemas.openxmlformats.org/drawingml/2006/main">
            <a:off x="1104900" y="29146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72B3A"/>
                </a:solidFill>
              </a:defRPr>
            </a:pPr>
            <a:r>
              <a:rPr sz="1425" b="1">
                <a:solidFill>
                  <a:srgbClr val="172B3A"/>
                </a:solidFill>
              </a:rPr>
              <a:t>熱・薬品の影響</a:t>
            </a:r>
          </a:p>
        </p:txBody>
      </p:sp>
      <p:sp>
        <p:nvSpPr>
          <p:cNvPr id="14" name="check-line-15-1">
            <a:extLst xmlns:a="http://schemas.openxmlformats.org/drawingml/2006/main">
              <a:ext uri="{FF2B5EF4-FFF2-40B4-BE49-F238E27FC236}">
                <a16:creationId xmlns:a16="http://schemas.microsoft.com/office/drawing/2014/main" id="{661B19C4-9202-4674-9C8C-39E79F90AFD7}"/>
              </a:ext>
            </a:extLst>
          </p:cNvPr>
          <p:cNvSpPr>
            <a:spLocks xmlns:a="http://schemas.openxmlformats.org/drawingml/2006/main" noGrp="1"/>
          </p:cNvSpPr>
          <p:nvPr/>
        </p:nvSpPr>
        <p:spPr>
          <a:xfrm xmlns:a="http://schemas.openxmlformats.org/drawingml/2006/main">
            <a:off x="1104900" y="34194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5" name="check-dot-15-2">
            <a:extLst xmlns:a="http://schemas.openxmlformats.org/drawingml/2006/main">
              <a:ext uri="{FF2B5EF4-FFF2-40B4-BE49-F238E27FC236}">
                <a16:creationId xmlns:a16="http://schemas.microsoft.com/office/drawing/2014/main" id="{2DCB82A7-4367-4304-9001-429509F6E8A3}"/>
              </a:ext>
            </a:extLst>
          </p:cNvPr>
          <p:cNvSpPr>
            <a:spLocks xmlns:a="http://schemas.openxmlformats.org/drawingml/2006/main" noGrp="1"/>
          </p:cNvSpPr>
          <p:nvPr/>
        </p:nvSpPr>
        <p:spPr>
          <a:xfrm xmlns:a="http://schemas.openxmlformats.org/drawingml/2006/main">
            <a:off x="647700" y="36576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16" name="check-mark-15-2">
            <a:extLst xmlns:a="http://schemas.openxmlformats.org/drawingml/2006/main">
              <a:ext uri="{FF2B5EF4-FFF2-40B4-BE49-F238E27FC236}">
                <a16:creationId xmlns:a16="http://schemas.microsoft.com/office/drawing/2014/main" id="{E44ACDFF-3E95-420B-9AC6-418A3FD965B4}"/>
              </a:ext>
            </a:extLst>
          </p:cNvPr>
          <p:cNvSpPr>
            <a:spLocks xmlns:a="http://schemas.openxmlformats.org/drawingml/2006/main" noGrp="1"/>
          </p:cNvSpPr>
          <p:nvPr/>
        </p:nvSpPr>
        <p:spPr>
          <a:xfrm xmlns:a="http://schemas.openxmlformats.org/drawingml/2006/main">
            <a:off x="647700" y="36480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17" name="check-item-15-2">
            <a:extLst xmlns:a="http://schemas.openxmlformats.org/drawingml/2006/main">
              <a:ext uri="{FF2B5EF4-FFF2-40B4-BE49-F238E27FC236}">
                <a16:creationId xmlns:a16="http://schemas.microsoft.com/office/drawing/2014/main" id="{8C889EE5-5895-448E-AD09-B38A36CC8F77}"/>
              </a:ext>
            </a:extLst>
          </p:cNvPr>
          <p:cNvSpPr>
            <a:spLocks xmlns:a="http://schemas.openxmlformats.org/drawingml/2006/main" noGrp="1"/>
          </p:cNvSpPr>
          <p:nvPr/>
        </p:nvSpPr>
        <p:spPr>
          <a:xfrm xmlns:a="http://schemas.openxmlformats.org/drawingml/2006/main">
            <a:off x="1104900" y="36004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72B3A"/>
                </a:solidFill>
              </a:defRPr>
            </a:pPr>
            <a:r>
              <a:rPr sz="1425" b="1">
                <a:solidFill>
                  <a:srgbClr val="172B3A"/>
                </a:solidFill>
              </a:rPr>
              <a:t>縫糸のほつれ</a:t>
            </a:r>
          </a:p>
        </p:txBody>
      </p:sp>
      <p:sp>
        <p:nvSpPr>
          <p:cNvPr id="18" name="check-line-15-2">
            <a:extLst xmlns:a="http://schemas.openxmlformats.org/drawingml/2006/main">
              <a:ext uri="{FF2B5EF4-FFF2-40B4-BE49-F238E27FC236}">
                <a16:creationId xmlns:a16="http://schemas.microsoft.com/office/drawing/2014/main" id="{D777B887-A464-4013-B29C-132D775F51EA}"/>
              </a:ext>
            </a:extLst>
          </p:cNvPr>
          <p:cNvSpPr>
            <a:spLocks xmlns:a="http://schemas.openxmlformats.org/drawingml/2006/main" noGrp="1"/>
          </p:cNvSpPr>
          <p:nvPr/>
        </p:nvSpPr>
        <p:spPr>
          <a:xfrm xmlns:a="http://schemas.openxmlformats.org/drawingml/2006/main">
            <a:off x="1104900" y="41052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9" name="check-dot-15-3">
            <a:extLst xmlns:a="http://schemas.openxmlformats.org/drawingml/2006/main">
              <a:ext uri="{FF2B5EF4-FFF2-40B4-BE49-F238E27FC236}">
                <a16:creationId xmlns:a16="http://schemas.microsoft.com/office/drawing/2014/main" id="{3E22361A-FEFC-4153-B195-CC17175E6C1E}"/>
              </a:ext>
            </a:extLst>
          </p:cNvPr>
          <p:cNvSpPr>
            <a:spLocks xmlns:a="http://schemas.openxmlformats.org/drawingml/2006/main" noGrp="1"/>
          </p:cNvSpPr>
          <p:nvPr/>
        </p:nvSpPr>
        <p:spPr>
          <a:xfrm xmlns:a="http://schemas.openxmlformats.org/drawingml/2006/main">
            <a:off x="647700" y="43434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0" name="check-mark-15-3">
            <a:extLst xmlns:a="http://schemas.openxmlformats.org/drawingml/2006/main">
              <a:ext uri="{FF2B5EF4-FFF2-40B4-BE49-F238E27FC236}">
                <a16:creationId xmlns:a16="http://schemas.microsoft.com/office/drawing/2014/main" id="{CE943151-4F12-46E5-BAF2-ED328AE2B5D7}"/>
              </a:ext>
            </a:extLst>
          </p:cNvPr>
          <p:cNvSpPr>
            <a:spLocks xmlns:a="http://schemas.openxmlformats.org/drawingml/2006/main" noGrp="1"/>
          </p:cNvSpPr>
          <p:nvPr/>
        </p:nvSpPr>
        <p:spPr>
          <a:xfrm xmlns:a="http://schemas.openxmlformats.org/drawingml/2006/main">
            <a:off x="647700" y="43338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21" name="check-item-15-3">
            <a:extLst xmlns:a="http://schemas.openxmlformats.org/drawingml/2006/main">
              <a:ext uri="{FF2B5EF4-FFF2-40B4-BE49-F238E27FC236}">
                <a16:creationId xmlns:a16="http://schemas.microsoft.com/office/drawing/2014/main" id="{47297E8D-4A56-4E6D-88B9-797BB6D54BFA}"/>
              </a:ext>
            </a:extLst>
          </p:cNvPr>
          <p:cNvSpPr>
            <a:spLocks xmlns:a="http://schemas.openxmlformats.org/drawingml/2006/main" noGrp="1"/>
          </p:cNvSpPr>
          <p:nvPr/>
        </p:nvSpPr>
        <p:spPr>
          <a:xfrm xmlns:a="http://schemas.openxmlformats.org/drawingml/2006/main">
            <a:off x="1104900" y="42862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72B3A"/>
                </a:solidFill>
              </a:defRPr>
            </a:pPr>
            <a:r>
              <a:rPr sz="1425" b="1">
                <a:solidFill>
                  <a:srgbClr val="172B3A"/>
                </a:solidFill>
              </a:rPr>
              <a:t>金具の亀裂・変形・腐食</a:t>
            </a:r>
          </a:p>
        </p:txBody>
      </p:sp>
      <p:sp>
        <p:nvSpPr>
          <p:cNvPr id="22" name="check-line-15-3">
            <a:extLst xmlns:a="http://schemas.openxmlformats.org/drawingml/2006/main">
              <a:ext uri="{FF2B5EF4-FFF2-40B4-BE49-F238E27FC236}">
                <a16:creationId xmlns:a16="http://schemas.microsoft.com/office/drawing/2014/main" id="{AF6C06E0-CD65-4CF1-88F9-986BCA253307}"/>
              </a:ext>
            </a:extLst>
          </p:cNvPr>
          <p:cNvSpPr>
            <a:spLocks xmlns:a="http://schemas.openxmlformats.org/drawingml/2006/main" noGrp="1"/>
          </p:cNvSpPr>
          <p:nvPr/>
        </p:nvSpPr>
        <p:spPr>
          <a:xfrm xmlns:a="http://schemas.openxmlformats.org/drawingml/2006/main">
            <a:off x="1104900" y="47910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3" name="check-dot-15-4">
            <a:extLst xmlns:a="http://schemas.openxmlformats.org/drawingml/2006/main">
              <a:ext uri="{FF2B5EF4-FFF2-40B4-BE49-F238E27FC236}">
                <a16:creationId xmlns:a16="http://schemas.microsoft.com/office/drawing/2014/main" id="{C04D291E-C2CE-473D-BFE3-8782DF8FEB0B}"/>
              </a:ext>
            </a:extLst>
          </p:cNvPr>
          <p:cNvSpPr>
            <a:spLocks xmlns:a="http://schemas.openxmlformats.org/drawingml/2006/main" noGrp="1"/>
          </p:cNvSpPr>
          <p:nvPr/>
        </p:nvSpPr>
        <p:spPr>
          <a:xfrm xmlns:a="http://schemas.openxmlformats.org/drawingml/2006/main">
            <a:off x="6248400" y="22860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4" name="check-mark-15-4">
            <a:extLst xmlns:a="http://schemas.openxmlformats.org/drawingml/2006/main">
              <a:ext uri="{FF2B5EF4-FFF2-40B4-BE49-F238E27FC236}">
                <a16:creationId xmlns:a16="http://schemas.microsoft.com/office/drawing/2014/main" id="{EEE8D3E8-24C8-46DB-8C13-F443C85F03FC}"/>
              </a:ext>
            </a:extLst>
          </p:cNvPr>
          <p:cNvSpPr>
            <a:spLocks xmlns:a="http://schemas.openxmlformats.org/drawingml/2006/main" noGrp="1"/>
          </p:cNvSpPr>
          <p:nvPr/>
        </p:nvSpPr>
        <p:spPr>
          <a:xfrm xmlns:a="http://schemas.openxmlformats.org/drawingml/2006/main">
            <a:off x="6248400" y="22764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25" name="check-item-15-4">
            <a:extLst xmlns:a="http://schemas.openxmlformats.org/drawingml/2006/main">
              <a:ext uri="{FF2B5EF4-FFF2-40B4-BE49-F238E27FC236}">
                <a16:creationId xmlns:a16="http://schemas.microsoft.com/office/drawing/2014/main" id="{28423D32-716F-4A2B-89E5-F88670C537EC}"/>
              </a:ext>
            </a:extLst>
          </p:cNvPr>
          <p:cNvSpPr>
            <a:spLocks xmlns:a="http://schemas.openxmlformats.org/drawingml/2006/main" noGrp="1"/>
          </p:cNvSpPr>
          <p:nvPr/>
        </p:nvSpPr>
        <p:spPr>
          <a:xfrm xmlns:a="http://schemas.openxmlformats.org/drawingml/2006/main">
            <a:off x="6705600" y="22288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72B3A"/>
                </a:solidFill>
              </a:defRPr>
            </a:pPr>
            <a:r>
              <a:rPr sz="1425" b="1">
                <a:solidFill>
                  <a:srgbClr val="172B3A"/>
                </a:solidFill>
              </a:rPr>
              <a:t>ランヤード・アブソーバ</a:t>
            </a:r>
          </a:p>
        </p:txBody>
      </p:sp>
      <p:sp>
        <p:nvSpPr>
          <p:cNvPr id="26" name="check-line-15-4">
            <a:extLst xmlns:a="http://schemas.openxmlformats.org/drawingml/2006/main">
              <a:ext uri="{FF2B5EF4-FFF2-40B4-BE49-F238E27FC236}">
                <a16:creationId xmlns:a16="http://schemas.microsoft.com/office/drawing/2014/main" id="{1A8CB692-F6D7-4A56-9440-FB9E1C4E2BE0}"/>
              </a:ext>
            </a:extLst>
          </p:cNvPr>
          <p:cNvSpPr>
            <a:spLocks xmlns:a="http://schemas.openxmlformats.org/drawingml/2006/main" noGrp="1"/>
          </p:cNvSpPr>
          <p:nvPr/>
        </p:nvSpPr>
        <p:spPr>
          <a:xfrm xmlns:a="http://schemas.openxmlformats.org/drawingml/2006/main">
            <a:off x="6705600" y="27336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7" name="check-dot-15-5">
            <a:extLst xmlns:a="http://schemas.openxmlformats.org/drawingml/2006/main">
              <a:ext uri="{FF2B5EF4-FFF2-40B4-BE49-F238E27FC236}">
                <a16:creationId xmlns:a16="http://schemas.microsoft.com/office/drawing/2014/main" id="{A7AEA742-8440-40EE-801E-ED06A7D4B1F2}"/>
              </a:ext>
            </a:extLst>
          </p:cNvPr>
          <p:cNvSpPr>
            <a:spLocks xmlns:a="http://schemas.openxmlformats.org/drawingml/2006/main" noGrp="1"/>
          </p:cNvSpPr>
          <p:nvPr/>
        </p:nvSpPr>
        <p:spPr>
          <a:xfrm xmlns:a="http://schemas.openxmlformats.org/drawingml/2006/main">
            <a:off x="6248400" y="29718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8" name="check-mark-15-5">
            <a:extLst xmlns:a="http://schemas.openxmlformats.org/drawingml/2006/main">
              <a:ext uri="{FF2B5EF4-FFF2-40B4-BE49-F238E27FC236}">
                <a16:creationId xmlns:a16="http://schemas.microsoft.com/office/drawing/2014/main" id="{9E972F60-6E8A-4B7B-A423-5D95D151F1DE}"/>
              </a:ext>
            </a:extLst>
          </p:cNvPr>
          <p:cNvSpPr>
            <a:spLocks xmlns:a="http://schemas.openxmlformats.org/drawingml/2006/main" noGrp="1"/>
          </p:cNvSpPr>
          <p:nvPr/>
        </p:nvSpPr>
        <p:spPr>
          <a:xfrm xmlns:a="http://schemas.openxmlformats.org/drawingml/2006/main">
            <a:off x="6248400" y="29622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29" name="check-item-15-5">
            <a:extLst xmlns:a="http://schemas.openxmlformats.org/drawingml/2006/main">
              <a:ext uri="{FF2B5EF4-FFF2-40B4-BE49-F238E27FC236}">
                <a16:creationId xmlns:a16="http://schemas.microsoft.com/office/drawing/2014/main" id="{45B6DBB2-A39E-49BB-B092-C69648F10C43}"/>
              </a:ext>
            </a:extLst>
          </p:cNvPr>
          <p:cNvSpPr>
            <a:spLocks xmlns:a="http://schemas.openxmlformats.org/drawingml/2006/main" noGrp="1"/>
          </p:cNvSpPr>
          <p:nvPr/>
        </p:nvSpPr>
        <p:spPr>
          <a:xfrm xmlns:a="http://schemas.openxmlformats.org/drawingml/2006/main">
            <a:off x="6705600" y="29146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72B3A"/>
                </a:solidFill>
              </a:defRPr>
            </a:pPr>
            <a:r>
              <a:rPr sz="1425" b="1">
                <a:solidFill>
                  <a:srgbClr val="172B3A"/>
                </a:solidFill>
              </a:rPr>
              <a:t>巻取り器のロック</a:t>
            </a:r>
          </a:p>
        </p:txBody>
      </p:sp>
      <p:sp>
        <p:nvSpPr>
          <p:cNvPr id="30" name="check-line-15-5">
            <a:extLst xmlns:a="http://schemas.openxmlformats.org/drawingml/2006/main">
              <a:ext uri="{FF2B5EF4-FFF2-40B4-BE49-F238E27FC236}">
                <a16:creationId xmlns:a16="http://schemas.microsoft.com/office/drawing/2014/main" id="{F11F140D-C891-45CD-A44D-32865621D510}"/>
              </a:ext>
            </a:extLst>
          </p:cNvPr>
          <p:cNvSpPr>
            <a:spLocks xmlns:a="http://schemas.openxmlformats.org/drawingml/2006/main" noGrp="1"/>
          </p:cNvSpPr>
          <p:nvPr/>
        </p:nvSpPr>
        <p:spPr>
          <a:xfrm xmlns:a="http://schemas.openxmlformats.org/drawingml/2006/main">
            <a:off x="6705600" y="34194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1" name="check-dot-15-6">
            <a:extLst xmlns:a="http://schemas.openxmlformats.org/drawingml/2006/main">
              <a:ext uri="{FF2B5EF4-FFF2-40B4-BE49-F238E27FC236}">
                <a16:creationId xmlns:a16="http://schemas.microsoft.com/office/drawing/2014/main" id="{B5C9B845-4254-44C3-983A-CFF13E770297}"/>
              </a:ext>
            </a:extLst>
          </p:cNvPr>
          <p:cNvSpPr>
            <a:spLocks xmlns:a="http://schemas.openxmlformats.org/drawingml/2006/main" noGrp="1"/>
          </p:cNvSpPr>
          <p:nvPr/>
        </p:nvSpPr>
        <p:spPr>
          <a:xfrm xmlns:a="http://schemas.openxmlformats.org/drawingml/2006/main">
            <a:off x="6248400" y="36576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32" name="check-mark-15-6">
            <a:extLst xmlns:a="http://schemas.openxmlformats.org/drawingml/2006/main">
              <a:ext uri="{FF2B5EF4-FFF2-40B4-BE49-F238E27FC236}">
                <a16:creationId xmlns:a16="http://schemas.microsoft.com/office/drawing/2014/main" id="{718FC8ED-F9B2-479B-A29F-A4D66F04ADDE}"/>
              </a:ext>
            </a:extLst>
          </p:cNvPr>
          <p:cNvSpPr>
            <a:spLocks xmlns:a="http://schemas.openxmlformats.org/drawingml/2006/main" noGrp="1"/>
          </p:cNvSpPr>
          <p:nvPr/>
        </p:nvSpPr>
        <p:spPr>
          <a:xfrm xmlns:a="http://schemas.openxmlformats.org/drawingml/2006/main">
            <a:off x="6248400" y="36480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33" name="check-item-15-6">
            <a:extLst xmlns:a="http://schemas.openxmlformats.org/drawingml/2006/main">
              <a:ext uri="{FF2B5EF4-FFF2-40B4-BE49-F238E27FC236}">
                <a16:creationId xmlns:a16="http://schemas.microsoft.com/office/drawing/2014/main" id="{F89A6D16-42BB-4B56-9F25-940E8B41C155}"/>
              </a:ext>
            </a:extLst>
          </p:cNvPr>
          <p:cNvSpPr>
            <a:spLocks xmlns:a="http://schemas.openxmlformats.org/drawingml/2006/main" noGrp="1"/>
          </p:cNvSpPr>
          <p:nvPr/>
        </p:nvSpPr>
        <p:spPr>
          <a:xfrm xmlns:a="http://schemas.openxmlformats.org/drawingml/2006/main">
            <a:off x="6705600" y="36004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72B3A"/>
                </a:solidFill>
              </a:defRPr>
            </a:pPr>
            <a:r>
              <a:rPr sz="1425" b="1">
                <a:solidFill>
                  <a:srgbClr val="172B3A"/>
                </a:solidFill>
              </a:rPr>
              <a:t>衝撃・使用・保管履歴</a:t>
            </a:r>
          </a:p>
        </p:txBody>
      </p:sp>
      <p:sp>
        <p:nvSpPr>
          <p:cNvPr id="34" name="check-line-15-6">
            <a:extLst xmlns:a="http://schemas.openxmlformats.org/drawingml/2006/main">
              <a:ext uri="{FF2B5EF4-FFF2-40B4-BE49-F238E27FC236}">
                <a16:creationId xmlns:a16="http://schemas.microsoft.com/office/drawing/2014/main" id="{13DCEDE8-CF06-4A41-B9B6-42072509D298}"/>
              </a:ext>
            </a:extLst>
          </p:cNvPr>
          <p:cNvSpPr>
            <a:spLocks xmlns:a="http://schemas.openxmlformats.org/drawingml/2006/main" noGrp="1"/>
          </p:cNvSpPr>
          <p:nvPr/>
        </p:nvSpPr>
        <p:spPr>
          <a:xfrm xmlns:a="http://schemas.openxmlformats.org/drawingml/2006/main">
            <a:off x="6705600" y="41052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5" name="check-dot-15-7">
            <a:extLst xmlns:a="http://schemas.openxmlformats.org/drawingml/2006/main">
              <a:ext uri="{FF2B5EF4-FFF2-40B4-BE49-F238E27FC236}">
                <a16:creationId xmlns:a16="http://schemas.microsoft.com/office/drawing/2014/main" id="{A23E70B8-26B6-4A37-B353-0B07F980268F}"/>
              </a:ext>
            </a:extLst>
          </p:cNvPr>
          <p:cNvSpPr>
            <a:spLocks xmlns:a="http://schemas.openxmlformats.org/drawingml/2006/main" noGrp="1"/>
          </p:cNvSpPr>
          <p:nvPr/>
        </p:nvSpPr>
        <p:spPr>
          <a:xfrm xmlns:a="http://schemas.openxmlformats.org/drawingml/2006/main">
            <a:off x="6248400" y="43434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36" name="check-mark-15-7">
            <a:extLst xmlns:a="http://schemas.openxmlformats.org/drawingml/2006/main">
              <a:ext uri="{FF2B5EF4-FFF2-40B4-BE49-F238E27FC236}">
                <a16:creationId xmlns:a16="http://schemas.microsoft.com/office/drawing/2014/main" id="{E55F6151-9447-41D8-805E-21240B3CAD60}"/>
              </a:ext>
            </a:extLst>
          </p:cNvPr>
          <p:cNvSpPr>
            <a:spLocks xmlns:a="http://schemas.openxmlformats.org/drawingml/2006/main" noGrp="1"/>
          </p:cNvSpPr>
          <p:nvPr/>
        </p:nvSpPr>
        <p:spPr>
          <a:xfrm xmlns:a="http://schemas.openxmlformats.org/drawingml/2006/main">
            <a:off x="6248400" y="43338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37" name="check-item-15-7">
            <a:extLst xmlns:a="http://schemas.openxmlformats.org/drawingml/2006/main">
              <a:ext uri="{FF2B5EF4-FFF2-40B4-BE49-F238E27FC236}">
                <a16:creationId xmlns:a16="http://schemas.microsoft.com/office/drawing/2014/main" id="{AC6FD9C3-B3EF-48E7-B1A2-3828029A71E0}"/>
              </a:ext>
            </a:extLst>
          </p:cNvPr>
          <p:cNvSpPr>
            <a:spLocks xmlns:a="http://schemas.openxmlformats.org/drawingml/2006/main" noGrp="1"/>
          </p:cNvSpPr>
          <p:nvPr/>
        </p:nvSpPr>
        <p:spPr>
          <a:xfrm xmlns:a="http://schemas.openxmlformats.org/drawingml/2006/main">
            <a:off x="6705600" y="42862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72B3A"/>
                </a:solidFill>
              </a:defRPr>
            </a:pPr>
            <a:r>
              <a:rPr sz="1425" b="1">
                <a:solidFill>
                  <a:srgbClr val="172B3A"/>
                </a:solidFill>
              </a:rPr>
              <a:t>不適合品の隔離</a:t>
            </a:r>
          </a:p>
        </p:txBody>
      </p:sp>
      <p:sp>
        <p:nvSpPr>
          <p:cNvPr id="38" name="check-line-15-7">
            <a:extLst xmlns:a="http://schemas.openxmlformats.org/drawingml/2006/main">
              <a:ext uri="{FF2B5EF4-FFF2-40B4-BE49-F238E27FC236}">
                <a16:creationId xmlns:a16="http://schemas.microsoft.com/office/drawing/2014/main" id="{4701B823-6AF6-4B4D-A2F4-E8C59745425C}"/>
              </a:ext>
            </a:extLst>
          </p:cNvPr>
          <p:cNvSpPr>
            <a:spLocks xmlns:a="http://schemas.openxmlformats.org/drawingml/2006/main" noGrp="1"/>
          </p:cNvSpPr>
          <p:nvPr/>
        </p:nvSpPr>
        <p:spPr>
          <a:xfrm xmlns:a="http://schemas.openxmlformats.org/drawingml/2006/main">
            <a:off x="6705600" y="47910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9" name="body-line-15">
            <a:extLst xmlns:a="http://schemas.openxmlformats.org/drawingml/2006/main">
              <a:ext uri="{FF2B5EF4-FFF2-40B4-BE49-F238E27FC236}">
                <a16:creationId xmlns:a16="http://schemas.microsoft.com/office/drawing/2014/main" id="{7DD4959E-8F2A-4F48-BE79-7EA7CF127339}"/>
              </a:ext>
            </a:extLst>
          </p:cNvPr>
          <p:cNvSpPr>
            <a:spLocks xmlns:a="http://schemas.openxmlformats.org/drawingml/2006/main" noGrp="1"/>
          </p:cNvSpPr>
          <p:nvPr/>
        </p:nvSpPr>
        <p:spPr>
          <a:xfrm xmlns:a="http://schemas.openxmlformats.org/drawingml/2006/main">
            <a:off x="647700" y="5543550"/>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526270"/>
                </a:solidFill>
              </a:defRPr>
            </a:pPr>
            <a:r>
              <a:rPr sz="1200" b="0">
                <a:solidFill>
                  <a:srgbClr val="526270"/>
                </a:solidFill>
              </a:rPr>
              <a:t>衝撃を受けた器具は再使用しない　｜　異常品・履歴不明品は識別して隔離</a:t>
            </a:r>
          </a:p>
        </p:txBody>
      </p:sp>
      <p:sp>
        <p:nvSpPr>
          <p:cNvPr id="40" name="footer-rule-15">
            <a:extLst xmlns:a="http://schemas.openxmlformats.org/drawingml/2006/main">
              <a:ext uri="{FF2B5EF4-FFF2-40B4-BE49-F238E27FC236}">
                <a16:creationId xmlns:a16="http://schemas.microsoft.com/office/drawing/2014/main" id="{074EE1AA-F0E0-47EF-8907-5F2B5CBBEE0A}"/>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41" name="footer-sources-15">
            <a:extLst xmlns:a="http://schemas.openxmlformats.org/drawingml/2006/main">
              <a:ext uri="{FF2B5EF4-FFF2-40B4-BE49-F238E27FC236}">
                <a16:creationId xmlns:a16="http://schemas.microsoft.com/office/drawing/2014/main" id="{4B032566-6F17-4346-BF5C-48F2B8112008}"/>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S6・S7（詳細はノート）</a:t>
            </a:r>
          </a:p>
        </p:txBody>
      </p:sp>
      <p:sp>
        <p:nvSpPr>
          <p:cNvPr id="42" name="footer-page-15">
            <a:extLst xmlns:a="http://schemas.openxmlformats.org/drawingml/2006/main">
              <a:ext uri="{FF2B5EF4-FFF2-40B4-BE49-F238E27FC236}">
                <a16:creationId xmlns:a16="http://schemas.microsoft.com/office/drawing/2014/main" id="{2F68E080-7934-4E06-BED3-26DDD0765432}"/>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15 / 20</a:t>
            </a:r>
          </a:p>
        </p:txBody>
      </p:sp>
    </p:spTree>
    <p:extLst>
      <p:ext uri="{BB962C8B-B14F-4D97-AF65-F5344CB8AC3E}">
        <p14:creationId xmlns:p14="http://schemas.microsoft.com/office/powerpoint/2010/main" val="1105845519"/>
      </p:ext>
    </p:extLst>
  </p:cSld>
</p:sld>
</file>

<file path=ppt/slides/slide16.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5" name="accent-16">
            <a:extLst xmlns:a="http://schemas.openxmlformats.org/drawingml/2006/main">
              <a:ext uri="{FF2B5EF4-FFF2-40B4-BE49-F238E27FC236}">
                <a16:creationId xmlns:a16="http://schemas.microsoft.com/office/drawing/2014/main" id="{FC3171AA-FDA0-4652-8FC5-A2B8645E6F35}"/>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6">
            <a:extLst xmlns:a="http://schemas.openxmlformats.org/drawingml/2006/main">
              <a:ext uri="{FF2B5EF4-FFF2-40B4-BE49-F238E27FC236}">
                <a16:creationId xmlns:a16="http://schemas.microsoft.com/office/drawing/2014/main" id="{66D1AC1E-749D-410E-9545-7706612683E3}"/>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注意不足で終わらせない</a:t>
            </a:r>
          </a:p>
        </p:txBody>
      </p:sp>
      <p:sp>
        <p:nvSpPr>
          <p:cNvPr id="3" name="label-16">
            <a:extLst xmlns:a="http://schemas.openxmlformats.org/drawingml/2006/main">
              <a:ext uri="{FF2B5EF4-FFF2-40B4-BE49-F238E27FC236}">
                <a16:creationId xmlns:a16="http://schemas.microsoft.com/office/drawing/2014/main" id="{8914C743-8851-4373-9705-5F4E02B5BCEC}"/>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科学的知見</a:t>
            </a:r>
          </a:p>
        </p:txBody>
      </p:sp>
      <p:sp>
        <p:nvSpPr>
          <p:cNvPr id="4" name="title-16">
            <a:extLst xmlns:a="http://schemas.openxmlformats.org/drawingml/2006/main">
              <a:ext uri="{FF2B5EF4-FFF2-40B4-BE49-F238E27FC236}">
                <a16:creationId xmlns:a16="http://schemas.microsoft.com/office/drawing/2014/main" id="{CB554F0F-C049-4C91-8520-594C17E71418}"/>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誤使用を仕組みで防ぐ</a:t>
            </a:r>
          </a:p>
        </p:txBody>
      </p:sp>
      <p:sp>
        <p:nvSpPr>
          <p:cNvPr id="5" name="title-rule-16">
            <a:extLst xmlns:a="http://schemas.openxmlformats.org/drawingml/2006/main">
              <a:ext uri="{FF2B5EF4-FFF2-40B4-BE49-F238E27FC236}">
                <a16:creationId xmlns:a16="http://schemas.microsoft.com/office/drawing/2014/main" id="{FA2C0097-357F-41B9-87CE-04C94A0ED833}"/>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6">
            <a:extLst xmlns:a="http://schemas.openxmlformats.org/drawingml/2006/main">
              <a:ext uri="{FF2B5EF4-FFF2-40B4-BE49-F238E27FC236}">
                <a16:creationId xmlns:a16="http://schemas.microsoft.com/office/drawing/2014/main" id="{08E6FD46-032F-47C8-BCDA-AB59DCF2CB20}"/>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未接続時間、低い取付点、誤った組合せ、緩い装着を、設備・手順・相互確認で防ぐ。</a:t>
            </a:r>
          </a:p>
        </p:txBody>
      </p:sp>
      <p:sp>
        <p:nvSpPr>
          <p:cNvPr id="7" name="step-no-16-0">
            <a:extLst xmlns:a="http://schemas.openxmlformats.org/drawingml/2006/main">
              <a:ext uri="{FF2B5EF4-FFF2-40B4-BE49-F238E27FC236}">
                <a16:creationId xmlns:a16="http://schemas.microsoft.com/office/drawing/2014/main" id="{989BB402-CDE9-4E6D-97CE-8D80613F50AA}"/>
              </a:ext>
            </a:extLst>
          </p:cNvPr>
          <p:cNvSpPr>
            <a:spLocks xmlns:a="http://schemas.openxmlformats.org/drawingml/2006/main" noGrp="1"/>
          </p:cNvSpPr>
          <p:nvPr/>
        </p:nvSpPr>
        <p:spPr>
          <a:xfrm xmlns:a="http://schemas.openxmlformats.org/drawingml/2006/main">
            <a:off x="647700"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0B6B66"/>
                </a:solidFill>
              </a:defRPr>
            </a:pPr>
            <a:r>
              <a:rPr sz="3900" b="1">
                <a:solidFill>
                  <a:srgbClr val="0B6B66"/>
                </a:solidFill>
              </a:rPr>
              <a:t>01</a:t>
            </a:r>
          </a:p>
        </p:txBody>
      </p:sp>
      <p:sp>
        <p:nvSpPr>
          <p:cNvPr id="8" name="step-rule-16-0">
            <a:extLst xmlns:a="http://schemas.openxmlformats.org/drawingml/2006/main">
              <a:ext uri="{FF2B5EF4-FFF2-40B4-BE49-F238E27FC236}">
                <a16:creationId xmlns:a16="http://schemas.microsoft.com/office/drawing/2014/main" id="{2405E0BD-D378-43B1-8C6D-0B5CA2E5E9B8}"/>
              </a:ext>
            </a:extLst>
          </p:cNvPr>
          <p:cNvSpPr>
            <a:spLocks xmlns:a="http://schemas.openxmlformats.org/drawingml/2006/main" noGrp="1"/>
          </p:cNvSpPr>
          <p:nvPr/>
        </p:nvSpPr>
        <p:spPr>
          <a:xfrm xmlns:a="http://schemas.openxmlformats.org/drawingml/2006/main">
            <a:off x="647700" y="3105150"/>
            <a:ext cx="3257550" cy="381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9" name="step-label-16-0">
            <a:extLst xmlns:a="http://schemas.openxmlformats.org/drawingml/2006/main">
              <a:ext uri="{FF2B5EF4-FFF2-40B4-BE49-F238E27FC236}">
                <a16:creationId xmlns:a16="http://schemas.microsoft.com/office/drawing/2014/main" id="{817D5DD4-CC71-4E43-925E-6C13DD3BACE8}"/>
              </a:ext>
            </a:extLst>
          </p:cNvPr>
          <p:cNvSpPr>
            <a:spLocks xmlns:a="http://schemas.openxmlformats.org/drawingml/2006/main" noGrp="1"/>
          </p:cNvSpPr>
          <p:nvPr/>
        </p:nvSpPr>
        <p:spPr>
          <a:xfrm xmlns:a="http://schemas.openxmlformats.org/drawingml/2006/main">
            <a:off x="647700"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起きる条件を見る</a:t>
            </a:r>
          </a:p>
        </p:txBody>
      </p:sp>
      <p:sp>
        <p:nvSpPr>
          <p:cNvPr id="10" name="step-detail-16-0">
            <a:extLst xmlns:a="http://schemas.openxmlformats.org/drawingml/2006/main">
              <a:ext uri="{FF2B5EF4-FFF2-40B4-BE49-F238E27FC236}">
                <a16:creationId xmlns:a16="http://schemas.microsoft.com/office/drawing/2014/main" id="{B4B52026-AC29-4CC4-94AE-367A6C7CB4A0}"/>
              </a:ext>
            </a:extLst>
          </p:cNvPr>
          <p:cNvSpPr>
            <a:spLocks xmlns:a="http://schemas.openxmlformats.org/drawingml/2006/main" noGrp="1"/>
          </p:cNvSpPr>
          <p:nvPr/>
        </p:nvSpPr>
        <p:spPr>
          <a:xfrm xmlns:a="http://schemas.openxmlformats.org/drawingml/2006/main">
            <a:off x="647700"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届かない取付点、急かされる工程、混在する器具</a:t>
            </a:r>
          </a:p>
        </p:txBody>
      </p:sp>
      <p:sp>
        <p:nvSpPr>
          <p:cNvPr id="11" name="step-arrow-16-0">
            <a:extLst xmlns:a="http://schemas.openxmlformats.org/drawingml/2006/main">
              <a:ext uri="{FF2B5EF4-FFF2-40B4-BE49-F238E27FC236}">
                <a16:creationId xmlns:a16="http://schemas.microsoft.com/office/drawing/2014/main" id="{6D12353C-139B-4705-8787-2F9B09C6DBBC}"/>
              </a:ext>
            </a:extLst>
          </p:cNvPr>
          <p:cNvSpPr>
            <a:spLocks xmlns:a="http://schemas.openxmlformats.org/drawingml/2006/main" noGrp="1"/>
          </p:cNvSpPr>
          <p:nvPr/>
        </p:nvSpPr>
        <p:spPr>
          <a:xfrm xmlns:a="http://schemas.openxmlformats.org/drawingml/2006/main">
            <a:off x="3971925" y="3009900"/>
            <a:ext cx="22860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2" name="step-no-16-1">
            <a:extLst xmlns:a="http://schemas.openxmlformats.org/drawingml/2006/main">
              <a:ext uri="{FF2B5EF4-FFF2-40B4-BE49-F238E27FC236}">
                <a16:creationId xmlns:a16="http://schemas.microsoft.com/office/drawing/2014/main" id="{39EBA350-2DE7-4FF9-B523-6E58E65D91D6}"/>
              </a:ext>
            </a:extLst>
          </p:cNvPr>
          <p:cNvSpPr>
            <a:spLocks xmlns:a="http://schemas.openxmlformats.org/drawingml/2006/main" noGrp="1"/>
          </p:cNvSpPr>
          <p:nvPr/>
        </p:nvSpPr>
        <p:spPr>
          <a:xfrm xmlns:a="http://schemas.openxmlformats.org/drawingml/2006/main">
            <a:off x="4257675"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F97316"/>
                </a:solidFill>
              </a:defRPr>
            </a:pPr>
            <a:r>
              <a:rPr sz="3900" b="1">
                <a:solidFill>
                  <a:srgbClr val="F97316"/>
                </a:solidFill>
              </a:rPr>
              <a:t>02</a:t>
            </a:r>
          </a:p>
        </p:txBody>
      </p:sp>
      <p:sp>
        <p:nvSpPr>
          <p:cNvPr id="13" name="step-rule-16-1">
            <a:extLst xmlns:a="http://schemas.openxmlformats.org/drawingml/2006/main">
              <a:ext uri="{FF2B5EF4-FFF2-40B4-BE49-F238E27FC236}">
                <a16:creationId xmlns:a16="http://schemas.microsoft.com/office/drawing/2014/main" id="{0AA68701-284B-4822-8B24-4B506CBB04A6}"/>
              </a:ext>
            </a:extLst>
          </p:cNvPr>
          <p:cNvSpPr>
            <a:spLocks xmlns:a="http://schemas.openxmlformats.org/drawingml/2006/main" noGrp="1"/>
          </p:cNvSpPr>
          <p:nvPr/>
        </p:nvSpPr>
        <p:spPr>
          <a:xfrm xmlns:a="http://schemas.openxmlformats.org/drawingml/2006/main">
            <a:off x="4257675" y="3105150"/>
            <a:ext cx="3257550" cy="381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4" name="step-label-16-1">
            <a:extLst xmlns:a="http://schemas.openxmlformats.org/drawingml/2006/main">
              <a:ext uri="{FF2B5EF4-FFF2-40B4-BE49-F238E27FC236}">
                <a16:creationId xmlns:a16="http://schemas.microsoft.com/office/drawing/2014/main" id="{BD791A6C-71FA-466D-9D89-254ADCC1F27C}"/>
              </a:ext>
            </a:extLst>
          </p:cNvPr>
          <p:cNvSpPr>
            <a:spLocks xmlns:a="http://schemas.openxmlformats.org/drawingml/2006/main" noGrp="1"/>
          </p:cNvSpPr>
          <p:nvPr/>
        </p:nvSpPr>
        <p:spPr>
          <a:xfrm xmlns:a="http://schemas.openxmlformats.org/drawingml/2006/main">
            <a:off x="4257675"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誤りにくくする</a:t>
            </a:r>
          </a:p>
        </p:txBody>
      </p:sp>
      <p:sp>
        <p:nvSpPr>
          <p:cNvPr id="15" name="step-detail-16-1">
            <a:extLst xmlns:a="http://schemas.openxmlformats.org/drawingml/2006/main">
              <a:ext uri="{FF2B5EF4-FFF2-40B4-BE49-F238E27FC236}">
                <a16:creationId xmlns:a16="http://schemas.microsoft.com/office/drawing/2014/main" id="{CD36E36E-E6BC-4062-A9F9-7A24A1E0C2CA}"/>
              </a:ext>
            </a:extLst>
          </p:cNvPr>
          <p:cNvSpPr>
            <a:spLocks xmlns:a="http://schemas.openxmlformats.org/drawingml/2006/main" noGrp="1"/>
          </p:cNvSpPr>
          <p:nvPr/>
        </p:nvSpPr>
        <p:spPr>
          <a:xfrm xmlns:a="http://schemas.openxmlformats.org/drawingml/2006/main">
            <a:off x="4257675"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適合品のセット管理、表示、実行できる手順</a:t>
            </a:r>
          </a:p>
        </p:txBody>
      </p:sp>
      <p:sp>
        <p:nvSpPr>
          <p:cNvPr id="16" name="step-arrow-16-1">
            <a:extLst xmlns:a="http://schemas.openxmlformats.org/drawingml/2006/main">
              <a:ext uri="{FF2B5EF4-FFF2-40B4-BE49-F238E27FC236}">
                <a16:creationId xmlns:a16="http://schemas.microsoft.com/office/drawing/2014/main" id="{4E60F8AB-C710-4A05-A94F-1C61ECAD3D30}"/>
              </a:ext>
            </a:extLst>
          </p:cNvPr>
          <p:cNvSpPr>
            <a:spLocks xmlns:a="http://schemas.openxmlformats.org/drawingml/2006/main" noGrp="1"/>
          </p:cNvSpPr>
          <p:nvPr/>
        </p:nvSpPr>
        <p:spPr>
          <a:xfrm xmlns:a="http://schemas.openxmlformats.org/drawingml/2006/main">
            <a:off x="7581900" y="3009900"/>
            <a:ext cx="22860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7" name="step-no-16-2">
            <a:extLst xmlns:a="http://schemas.openxmlformats.org/drawingml/2006/main">
              <a:ext uri="{FF2B5EF4-FFF2-40B4-BE49-F238E27FC236}">
                <a16:creationId xmlns:a16="http://schemas.microsoft.com/office/drawing/2014/main" id="{BEEDA69E-A8A6-4EBB-A9B5-4AA4FAAB4757}"/>
              </a:ext>
            </a:extLst>
          </p:cNvPr>
          <p:cNvSpPr>
            <a:spLocks xmlns:a="http://schemas.openxmlformats.org/drawingml/2006/main" noGrp="1"/>
          </p:cNvSpPr>
          <p:nvPr/>
        </p:nvSpPr>
        <p:spPr>
          <a:xfrm xmlns:a="http://schemas.openxmlformats.org/drawingml/2006/main">
            <a:off x="7867650"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102A43"/>
                </a:solidFill>
              </a:defRPr>
            </a:pPr>
            <a:r>
              <a:rPr sz="3900" b="1">
                <a:solidFill>
                  <a:srgbClr val="102A43"/>
                </a:solidFill>
              </a:rPr>
              <a:t>03</a:t>
            </a:r>
          </a:p>
        </p:txBody>
      </p:sp>
      <p:sp>
        <p:nvSpPr>
          <p:cNvPr id="18" name="step-rule-16-2">
            <a:extLst xmlns:a="http://schemas.openxmlformats.org/drawingml/2006/main">
              <a:ext uri="{FF2B5EF4-FFF2-40B4-BE49-F238E27FC236}">
                <a16:creationId xmlns:a16="http://schemas.microsoft.com/office/drawing/2014/main" id="{4C5F1149-620F-4D76-8E76-2038DB3170D8}"/>
              </a:ext>
            </a:extLst>
          </p:cNvPr>
          <p:cNvSpPr>
            <a:spLocks xmlns:a="http://schemas.openxmlformats.org/drawingml/2006/main" noGrp="1"/>
          </p:cNvSpPr>
          <p:nvPr/>
        </p:nvSpPr>
        <p:spPr>
          <a:xfrm xmlns:a="http://schemas.openxmlformats.org/drawingml/2006/main">
            <a:off x="7867650" y="3105150"/>
            <a:ext cx="3257550" cy="38100"/>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19" name="step-label-16-2">
            <a:extLst xmlns:a="http://schemas.openxmlformats.org/drawingml/2006/main">
              <a:ext uri="{FF2B5EF4-FFF2-40B4-BE49-F238E27FC236}">
                <a16:creationId xmlns:a16="http://schemas.microsoft.com/office/drawing/2014/main" id="{D7C7BBA2-1C89-442A-8D33-223E70CEED31}"/>
              </a:ext>
            </a:extLst>
          </p:cNvPr>
          <p:cNvSpPr>
            <a:spLocks xmlns:a="http://schemas.openxmlformats.org/drawingml/2006/main" noGrp="1"/>
          </p:cNvSpPr>
          <p:nvPr/>
        </p:nvSpPr>
        <p:spPr>
          <a:xfrm xmlns:a="http://schemas.openxmlformats.org/drawingml/2006/main">
            <a:off x="7867650"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発見できるようにする</a:t>
            </a:r>
          </a:p>
        </p:txBody>
      </p:sp>
      <p:sp>
        <p:nvSpPr>
          <p:cNvPr id="20" name="step-detail-16-2">
            <a:extLst xmlns:a="http://schemas.openxmlformats.org/drawingml/2006/main">
              <a:ext uri="{FF2B5EF4-FFF2-40B4-BE49-F238E27FC236}">
                <a16:creationId xmlns:a16="http://schemas.microsoft.com/office/drawing/2014/main" id="{E464D697-E310-43DA-85C5-CAA6D6AEB115}"/>
              </a:ext>
            </a:extLst>
          </p:cNvPr>
          <p:cNvSpPr>
            <a:spLocks xmlns:a="http://schemas.openxmlformats.org/drawingml/2006/main" noGrp="1"/>
          </p:cNvSpPr>
          <p:nvPr/>
        </p:nvSpPr>
        <p:spPr>
          <a:xfrm xmlns:a="http://schemas.openxmlformats.org/drawingml/2006/main">
            <a:off x="7867650"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作業前の相互確認、監督者の観察、フィードバック</a:t>
            </a:r>
          </a:p>
        </p:txBody>
      </p:sp>
      <p:sp>
        <p:nvSpPr>
          <p:cNvPr id="21" name="body-line-16">
            <a:extLst xmlns:a="http://schemas.openxmlformats.org/drawingml/2006/main">
              <a:ext uri="{FF2B5EF4-FFF2-40B4-BE49-F238E27FC236}">
                <a16:creationId xmlns:a16="http://schemas.microsoft.com/office/drawing/2014/main" id="{6E372100-B7DA-4703-BBEF-B0949C044EBE}"/>
              </a:ext>
            </a:extLst>
          </p:cNvPr>
          <p:cNvSpPr>
            <a:spLocks xmlns:a="http://schemas.openxmlformats.org/drawingml/2006/main" noGrp="1"/>
          </p:cNvSpPr>
          <p:nvPr/>
        </p:nvSpPr>
        <p:spPr>
          <a:xfrm xmlns:a="http://schemas.openxmlformats.org/drawingml/2006/main">
            <a:off x="647700" y="5286375"/>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526270"/>
                </a:solidFill>
              </a:defRPr>
            </a:pPr>
            <a:r>
              <a:rPr sz="1200" b="0">
                <a:solidFill>
                  <a:srgbClr val="526270"/>
                </a:solidFill>
              </a:rPr>
              <a:t>二丁掛けは行政推奨。一律の法定義務とは表示しない　｜　教育単独の事故削減効果を断定しない</a:t>
            </a:r>
          </a:p>
        </p:txBody>
      </p:sp>
      <p:sp>
        <p:nvSpPr>
          <p:cNvPr id="22" name="footer-rule-16">
            <a:extLst xmlns:a="http://schemas.openxmlformats.org/drawingml/2006/main">
              <a:ext uri="{FF2B5EF4-FFF2-40B4-BE49-F238E27FC236}">
                <a16:creationId xmlns:a16="http://schemas.microsoft.com/office/drawing/2014/main" id="{F48B77D6-FA17-4BAE-83B0-3EAE7AA7E1BD}"/>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3" name="footer-sources-16">
            <a:extLst xmlns:a="http://schemas.openxmlformats.org/drawingml/2006/main">
              <a:ext uri="{FF2B5EF4-FFF2-40B4-BE49-F238E27FC236}">
                <a16:creationId xmlns:a16="http://schemas.microsoft.com/office/drawing/2014/main" id="{BF984321-361E-4F7D-B4AA-C2E00A0CD9E4}"/>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S6・S7・S20・S22・S23（詳細はノート）</a:t>
            </a:r>
          </a:p>
        </p:txBody>
      </p:sp>
      <p:sp>
        <p:nvSpPr>
          <p:cNvPr id="24" name="footer-page-16">
            <a:extLst xmlns:a="http://schemas.openxmlformats.org/drawingml/2006/main">
              <a:ext uri="{FF2B5EF4-FFF2-40B4-BE49-F238E27FC236}">
                <a16:creationId xmlns:a16="http://schemas.microsoft.com/office/drawing/2014/main" id="{E0FA9E4F-80AB-411F-9547-CBB342424FBC}"/>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16 / 20</a:t>
            </a:r>
          </a:p>
        </p:txBody>
      </p:sp>
    </p:spTree>
    <p:extLst>
      <p:ext uri="{BB962C8B-B14F-4D97-AF65-F5344CB8AC3E}">
        <p14:creationId xmlns:p14="http://schemas.microsoft.com/office/powerpoint/2010/main" val="192854037"/>
      </p:ext>
    </p:extLst>
  </p:cSld>
</p:sld>
</file>

<file path=ppt/slides/slide17.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5" name="accent-17">
            <a:extLst xmlns:a="http://schemas.openxmlformats.org/drawingml/2006/main">
              <a:ext uri="{FF2B5EF4-FFF2-40B4-BE49-F238E27FC236}">
                <a16:creationId xmlns:a16="http://schemas.microsoft.com/office/drawing/2014/main" id="{9532FEA6-8C01-4507-85D7-31DC1E87234D}"/>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7">
            <a:extLst xmlns:a="http://schemas.openxmlformats.org/drawingml/2006/main">
              <a:ext uri="{FF2B5EF4-FFF2-40B4-BE49-F238E27FC236}">
                <a16:creationId xmlns:a16="http://schemas.microsoft.com/office/drawing/2014/main" id="{2ECC25AC-B2A6-4B3C-BD2A-745173079B23}"/>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安全な固定待機時間はない</a:t>
            </a:r>
          </a:p>
        </p:txBody>
      </p:sp>
      <p:sp>
        <p:nvSpPr>
          <p:cNvPr id="3" name="label-17">
            <a:extLst xmlns:a="http://schemas.openxmlformats.org/drawingml/2006/main">
              <a:ext uri="{FF2B5EF4-FFF2-40B4-BE49-F238E27FC236}">
                <a16:creationId xmlns:a16="http://schemas.microsoft.com/office/drawing/2014/main" id="{F35675F6-F1A8-433A-A50A-59528913D9E3}"/>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科学的知見</a:t>
            </a:r>
          </a:p>
        </p:txBody>
      </p:sp>
      <p:sp>
        <p:nvSpPr>
          <p:cNvPr id="4" name="title-17">
            <a:extLst xmlns:a="http://schemas.openxmlformats.org/drawingml/2006/main">
              <a:ext uri="{FF2B5EF4-FFF2-40B4-BE49-F238E27FC236}">
                <a16:creationId xmlns:a16="http://schemas.microsoft.com/office/drawing/2014/main" id="{896DEB9E-21B8-42E6-AD51-D90A5749F3C7}"/>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墜落後の救助計画</a:t>
            </a:r>
          </a:p>
        </p:txBody>
      </p:sp>
      <p:sp>
        <p:nvSpPr>
          <p:cNvPr id="5" name="title-rule-17">
            <a:extLst xmlns:a="http://schemas.openxmlformats.org/drawingml/2006/main">
              <a:ext uri="{FF2B5EF4-FFF2-40B4-BE49-F238E27FC236}">
                <a16:creationId xmlns:a16="http://schemas.microsoft.com/office/drawing/2014/main" id="{3641E205-09F0-4E56-9C3A-39D1C532148B}"/>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7">
            <a:extLst xmlns:a="http://schemas.openxmlformats.org/drawingml/2006/main">
              <a:ext uri="{FF2B5EF4-FFF2-40B4-BE49-F238E27FC236}">
                <a16:creationId xmlns:a16="http://schemas.microsoft.com/office/drawing/2014/main" id="{0A41CAAF-C6F2-4B74-971A-EE016E5378A9}"/>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救助方法・機材・担当者・連絡手順を作業前に決め、救助者の墜落も防いで速やかに実行する。</a:t>
            </a:r>
          </a:p>
        </p:txBody>
      </p:sp>
      <p:sp>
        <p:nvSpPr>
          <p:cNvPr id="7" name="step-no-17-0">
            <a:extLst xmlns:a="http://schemas.openxmlformats.org/drawingml/2006/main">
              <a:ext uri="{FF2B5EF4-FFF2-40B4-BE49-F238E27FC236}">
                <a16:creationId xmlns:a16="http://schemas.microsoft.com/office/drawing/2014/main" id="{3B7EC86C-0C0C-416C-808F-F1ADCBB8C7B6}"/>
              </a:ext>
            </a:extLst>
          </p:cNvPr>
          <p:cNvSpPr>
            <a:spLocks xmlns:a="http://schemas.openxmlformats.org/drawingml/2006/main" noGrp="1"/>
          </p:cNvSpPr>
          <p:nvPr/>
        </p:nvSpPr>
        <p:spPr>
          <a:xfrm xmlns:a="http://schemas.openxmlformats.org/drawingml/2006/main">
            <a:off x="647700"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0B6B66"/>
                </a:solidFill>
              </a:defRPr>
            </a:pPr>
            <a:r>
              <a:rPr sz="3900" b="1">
                <a:solidFill>
                  <a:srgbClr val="0B6B66"/>
                </a:solidFill>
              </a:rPr>
              <a:t>01</a:t>
            </a:r>
          </a:p>
        </p:txBody>
      </p:sp>
      <p:sp>
        <p:nvSpPr>
          <p:cNvPr id="8" name="step-rule-17-0">
            <a:extLst xmlns:a="http://schemas.openxmlformats.org/drawingml/2006/main">
              <a:ext uri="{FF2B5EF4-FFF2-40B4-BE49-F238E27FC236}">
                <a16:creationId xmlns:a16="http://schemas.microsoft.com/office/drawing/2014/main" id="{D75C1D66-6C1C-4417-ADA1-54DB85AE0CE4}"/>
              </a:ext>
            </a:extLst>
          </p:cNvPr>
          <p:cNvSpPr>
            <a:spLocks xmlns:a="http://schemas.openxmlformats.org/drawingml/2006/main" noGrp="1"/>
          </p:cNvSpPr>
          <p:nvPr/>
        </p:nvSpPr>
        <p:spPr>
          <a:xfrm xmlns:a="http://schemas.openxmlformats.org/drawingml/2006/main">
            <a:off x="647700" y="3105150"/>
            <a:ext cx="3257550" cy="381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9" name="step-label-17-0">
            <a:extLst xmlns:a="http://schemas.openxmlformats.org/drawingml/2006/main">
              <a:ext uri="{FF2B5EF4-FFF2-40B4-BE49-F238E27FC236}">
                <a16:creationId xmlns:a16="http://schemas.microsoft.com/office/drawing/2014/main" id="{1F68F36F-59B5-47BD-9257-1E468F0289ED}"/>
              </a:ext>
            </a:extLst>
          </p:cNvPr>
          <p:cNvSpPr>
            <a:spLocks xmlns:a="http://schemas.openxmlformats.org/drawingml/2006/main" noGrp="1"/>
          </p:cNvSpPr>
          <p:nvPr/>
        </p:nvSpPr>
        <p:spPr>
          <a:xfrm xmlns:a="http://schemas.openxmlformats.org/drawingml/2006/main">
            <a:off x="647700"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発見・連絡</a:t>
            </a:r>
          </a:p>
        </p:txBody>
      </p:sp>
      <p:sp>
        <p:nvSpPr>
          <p:cNvPr id="10" name="step-detail-17-0">
            <a:extLst xmlns:a="http://schemas.openxmlformats.org/drawingml/2006/main">
              <a:ext uri="{FF2B5EF4-FFF2-40B4-BE49-F238E27FC236}">
                <a16:creationId xmlns:a16="http://schemas.microsoft.com/office/drawing/2014/main" id="{63B00DB0-F8A9-4B44-BDFC-CAE9B2564C84}"/>
              </a:ext>
            </a:extLst>
          </p:cNvPr>
          <p:cNvSpPr>
            <a:spLocks xmlns:a="http://schemas.openxmlformats.org/drawingml/2006/main" noGrp="1"/>
          </p:cNvSpPr>
          <p:nvPr/>
        </p:nvSpPr>
        <p:spPr>
          <a:xfrm xmlns:a="http://schemas.openxmlformats.org/drawingml/2006/main">
            <a:off x="647700"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誰が異常を見つけ、誰へ、どう連絡するか</a:t>
            </a:r>
          </a:p>
        </p:txBody>
      </p:sp>
      <p:sp>
        <p:nvSpPr>
          <p:cNvPr id="11" name="step-arrow-17-0">
            <a:extLst xmlns:a="http://schemas.openxmlformats.org/drawingml/2006/main">
              <a:ext uri="{FF2B5EF4-FFF2-40B4-BE49-F238E27FC236}">
                <a16:creationId xmlns:a16="http://schemas.microsoft.com/office/drawing/2014/main" id="{15F1AD70-2CA2-4EE0-8E8F-9E72E08E563A}"/>
              </a:ext>
            </a:extLst>
          </p:cNvPr>
          <p:cNvSpPr>
            <a:spLocks xmlns:a="http://schemas.openxmlformats.org/drawingml/2006/main" noGrp="1"/>
          </p:cNvSpPr>
          <p:nvPr/>
        </p:nvSpPr>
        <p:spPr>
          <a:xfrm xmlns:a="http://schemas.openxmlformats.org/drawingml/2006/main">
            <a:off x="3971925" y="3009900"/>
            <a:ext cx="22860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2" name="step-no-17-1">
            <a:extLst xmlns:a="http://schemas.openxmlformats.org/drawingml/2006/main">
              <a:ext uri="{FF2B5EF4-FFF2-40B4-BE49-F238E27FC236}">
                <a16:creationId xmlns:a16="http://schemas.microsoft.com/office/drawing/2014/main" id="{75C51AAB-4845-4EA8-97CD-489BFB7AE77A}"/>
              </a:ext>
            </a:extLst>
          </p:cNvPr>
          <p:cNvSpPr>
            <a:spLocks xmlns:a="http://schemas.openxmlformats.org/drawingml/2006/main" noGrp="1"/>
          </p:cNvSpPr>
          <p:nvPr/>
        </p:nvSpPr>
        <p:spPr>
          <a:xfrm xmlns:a="http://schemas.openxmlformats.org/drawingml/2006/main">
            <a:off x="4257675"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F97316"/>
                </a:solidFill>
              </a:defRPr>
            </a:pPr>
            <a:r>
              <a:rPr sz="3900" b="1">
                <a:solidFill>
                  <a:srgbClr val="F97316"/>
                </a:solidFill>
              </a:rPr>
              <a:t>02</a:t>
            </a:r>
          </a:p>
        </p:txBody>
      </p:sp>
      <p:sp>
        <p:nvSpPr>
          <p:cNvPr id="13" name="step-rule-17-1">
            <a:extLst xmlns:a="http://schemas.openxmlformats.org/drawingml/2006/main">
              <a:ext uri="{FF2B5EF4-FFF2-40B4-BE49-F238E27FC236}">
                <a16:creationId xmlns:a16="http://schemas.microsoft.com/office/drawing/2014/main" id="{3E9433D5-82E6-43A2-AFFA-D7D171A735EC}"/>
              </a:ext>
            </a:extLst>
          </p:cNvPr>
          <p:cNvSpPr>
            <a:spLocks xmlns:a="http://schemas.openxmlformats.org/drawingml/2006/main" noGrp="1"/>
          </p:cNvSpPr>
          <p:nvPr/>
        </p:nvSpPr>
        <p:spPr>
          <a:xfrm xmlns:a="http://schemas.openxmlformats.org/drawingml/2006/main">
            <a:off x="4257675" y="3105150"/>
            <a:ext cx="3257550" cy="381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4" name="step-label-17-1">
            <a:extLst xmlns:a="http://schemas.openxmlformats.org/drawingml/2006/main">
              <a:ext uri="{FF2B5EF4-FFF2-40B4-BE49-F238E27FC236}">
                <a16:creationId xmlns:a16="http://schemas.microsoft.com/office/drawing/2014/main" id="{368B5356-2D04-4818-AE88-EDDDD833F95E}"/>
              </a:ext>
            </a:extLst>
          </p:cNvPr>
          <p:cNvSpPr>
            <a:spLocks xmlns:a="http://schemas.openxmlformats.org/drawingml/2006/main" noGrp="1"/>
          </p:cNvSpPr>
          <p:nvPr/>
        </p:nvSpPr>
        <p:spPr>
          <a:xfrm xmlns:a="http://schemas.openxmlformats.org/drawingml/2006/main">
            <a:off x="4257675"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安全に救出</a:t>
            </a:r>
          </a:p>
        </p:txBody>
      </p:sp>
      <p:sp>
        <p:nvSpPr>
          <p:cNvPr id="15" name="step-detail-17-1">
            <a:extLst xmlns:a="http://schemas.openxmlformats.org/drawingml/2006/main">
              <a:ext uri="{FF2B5EF4-FFF2-40B4-BE49-F238E27FC236}">
                <a16:creationId xmlns:a16="http://schemas.microsoft.com/office/drawing/2014/main" id="{06CB1798-8DAF-41FD-9526-5261479BBC5B}"/>
              </a:ext>
            </a:extLst>
          </p:cNvPr>
          <p:cNvSpPr>
            <a:spLocks xmlns:a="http://schemas.openxmlformats.org/drawingml/2006/main" noGrp="1"/>
          </p:cNvSpPr>
          <p:nvPr/>
        </p:nvSpPr>
        <p:spPr>
          <a:xfrm xmlns:a="http://schemas.openxmlformats.org/drawingml/2006/main">
            <a:off x="4257675"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方法、器材、指揮、救助者の墜落防止</a:t>
            </a:r>
          </a:p>
        </p:txBody>
      </p:sp>
      <p:sp>
        <p:nvSpPr>
          <p:cNvPr id="16" name="step-arrow-17-1">
            <a:extLst xmlns:a="http://schemas.openxmlformats.org/drawingml/2006/main">
              <a:ext uri="{FF2B5EF4-FFF2-40B4-BE49-F238E27FC236}">
                <a16:creationId xmlns:a16="http://schemas.microsoft.com/office/drawing/2014/main" id="{CF2736AA-4F13-4E7F-B7CD-6E83C9B97BE1}"/>
              </a:ext>
            </a:extLst>
          </p:cNvPr>
          <p:cNvSpPr>
            <a:spLocks xmlns:a="http://schemas.openxmlformats.org/drawingml/2006/main" noGrp="1"/>
          </p:cNvSpPr>
          <p:nvPr/>
        </p:nvSpPr>
        <p:spPr>
          <a:xfrm xmlns:a="http://schemas.openxmlformats.org/drawingml/2006/main">
            <a:off x="7581900" y="3009900"/>
            <a:ext cx="22860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7" name="step-no-17-2">
            <a:extLst xmlns:a="http://schemas.openxmlformats.org/drawingml/2006/main">
              <a:ext uri="{FF2B5EF4-FFF2-40B4-BE49-F238E27FC236}">
                <a16:creationId xmlns:a16="http://schemas.microsoft.com/office/drawing/2014/main" id="{301F1B1B-9F97-46E8-A65B-9DCC79A006F8}"/>
              </a:ext>
            </a:extLst>
          </p:cNvPr>
          <p:cNvSpPr>
            <a:spLocks xmlns:a="http://schemas.openxmlformats.org/drawingml/2006/main" noGrp="1"/>
          </p:cNvSpPr>
          <p:nvPr/>
        </p:nvSpPr>
        <p:spPr>
          <a:xfrm xmlns:a="http://schemas.openxmlformats.org/drawingml/2006/main">
            <a:off x="7867650"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102A43"/>
                </a:solidFill>
              </a:defRPr>
            </a:pPr>
            <a:r>
              <a:rPr sz="3900" b="1">
                <a:solidFill>
                  <a:srgbClr val="102A43"/>
                </a:solidFill>
              </a:rPr>
              <a:t>03</a:t>
            </a:r>
          </a:p>
        </p:txBody>
      </p:sp>
      <p:sp>
        <p:nvSpPr>
          <p:cNvPr id="18" name="step-rule-17-2">
            <a:extLst xmlns:a="http://schemas.openxmlformats.org/drawingml/2006/main">
              <a:ext uri="{FF2B5EF4-FFF2-40B4-BE49-F238E27FC236}">
                <a16:creationId xmlns:a16="http://schemas.microsoft.com/office/drawing/2014/main" id="{A484754F-883E-456D-9285-8AF38412994E}"/>
              </a:ext>
            </a:extLst>
          </p:cNvPr>
          <p:cNvSpPr>
            <a:spLocks xmlns:a="http://schemas.openxmlformats.org/drawingml/2006/main" noGrp="1"/>
          </p:cNvSpPr>
          <p:nvPr/>
        </p:nvSpPr>
        <p:spPr>
          <a:xfrm xmlns:a="http://schemas.openxmlformats.org/drawingml/2006/main">
            <a:off x="7867650" y="3105150"/>
            <a:ext cx="3257550" cy="38100"/>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19" name="step-label-17-2">
            <a:extLst xmlns:a="http://schemas.openxmlformats.org/drawingml/2006/main">
              <a:ext uri="{FF2B5EF4-FFF2-40B4-BE49-F238E27FC236}">
                <a16:creationId xmlns:a16="http://schemas.microsoft.com/office/drawing/2014/main" id="{4261F54D-A9D1-4D48-B410-4C3A3A7E172D}"/>
              </a:ext>
            </a:extLst>
          </p:cNvPr>
          <p:cNvSpPr>
            <a:spLocks xmlns:a="http://schemas.openxmlformats.org/drawingml/2006/main" noGrp="1"/>
          </p:cNvSpPr>
          <p:nvPr/>
        </p:nvSpPr>
        <p:spPr>
          <a:xfrm xmlns:a="http://schemas.openxmlformats.org/drawingml/2006/main">
            <a:off x="7867650"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地上で引き継ぐ</a:t>
            </a:r>
          </a:p>
        </p:txBody>
      </p:sp>
      <p:sp>
        <p:nvSpPr>
          <p:cNvPr id="20" name="step-detail-17-2">
            <a:extLst xmlns:a="http://schemas.openxmlformats.org/drawingml/2006/main">
              <a:ext uri="{FF2B5EF4-FFF2-40B4-BE49-F238E27FC236}">
                <a16:creationId xmlns:a16="http://schemas.microsoft.com/office/drawing/2014/main" id="{074459CC-299B-4499-856F-3458F3B100A1}"/>
              </a:ext>
            </a:extLst>
          </p:cNvPr>
          <p:cNvSpPr>
            <a:spLocks xmlns:a="http://schemas.openxmlformats.org/drawingml/2006/main" noGrp="1"/>
          </p:cNvSpPr>
          <p:nvPr/>
        </p:nvSpPr>
        <p:spPr>
          <a:xfrm xmlns:a="http://schemas.openxmlformats.org/drawingml/2006/main">
            <a:off x="7867650"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意識・呼吸・外傷を確認し、119番の指示と標準的応急手当</a:t>
            </a:r>
          </a:p>
        </p:txBody>
      </p:sp>
      <p:sp>
        <p:nvSpPr>
          <p:cNvPr id="21" name="body-line-17">
            <a:extLst xmlns:a="http://schemas.openxmlformats.org/drawingml/2006/main">
              <a:ext uri="{FF2B5EF4-FFF2-40B4-BE49-F238E27FC236}">
                <a16:creationId xmlns:a16="http://schemas.microsoft.com/office/drawing/2014/main" id="{4A2FE5E2-18BC-452C-974E-627F4D0E5013}"/>
              </a:ext>
            </a:extLst>
          </p:cNvPr>
          <p:cNvSpPr>
            <a:spLocks xmlns:a="http://schemas.openxmlformats.org/drawingml/2006/main" noGrp="1"/>
          </p:cNvSpPr>
          <p:nvPr/>
        </p:nvSpPr>
        <p:spPr>
          <a:xfrm xmlns:a="http://schemas.openxmlformats.org/drawingml/2006/main">
            <a:off x="647700" y="5286375"/>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526270"/>
                </a:solidFill>
              </a:defRPr>
            </a:pPr>
            <a:r>
              <a:rPr sz="1200" b="0">
                <a:solidFill>
                  <a:srgbClr val="526270"/>
                </a:solidFill>
              </a:rPr>
              <a:t>119番通報だけに依存しない　｜　独自の体位ルールや固定時間を教えない</a:t>
            </a:r>
          </a:p>
        </p:txBody>
      </p:sp>
      <p:sp>
        <p:nvSpPr>
          <p:cNvPr id="22" name="footer-rule-17">
            <a:extLst xmlns:a="http://schemas.openxmlformats.org/drawingml/2006/main">
              <a:ext uri="{FF2B5EF4-FFF2-40B4-BE49-F238E27FC236}">
                <a16:creationId xmlns:a16="http://schemas.microsoft.com/office/drawing/2014/main" id="{67DD2460-F953-4AF5-B132-1D1BEEF018F7}"/>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3" name="footer-sources-17">
            <a:extLst xmlns:a="http://schemas.openxmlformats.org/drawingml/2006/main">
              <a:ext uri="{FF2B5EF4-FFF2-40B4-BE49-F238E27FC236}">
                <a16:creationId xmlns:a16="http://schemas.microsoft.com/office/drawing/2014/main" id="{43721FFB-7D4E-43D8-929D-1EF2598254D6}"/>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S20・S21（詳細はノート）</a:t>
            </a:r>
          </a:p>
        </p:txBody>
      </p:sp>
      <p:sp>
        <p:nvSpPr>
          <p:cNvPr id="24" name="footer-page-17">
            <a:extLst xmlns:a="http://schemas.openxmlformats.org/drawingml/2006/main">
              <a:ext uri="{FF2B5EF4-FFF2-40B4-BE49-F238E27FC236}">
                <a16:creationId xmlns:a16="http://schemas.microsoft.com/office/drawing/2014/main" id="{DCF9DCD1-4547-4062-88C5-B9CE9A1ADC4E}"/>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17 / 20</a:t>
            </a:r>
          </a:p>
        </p:txBody>
      </p:sp>
    </p:spTree>
    <p:extLst>
      <p:ext uri="{BB962C8B-B14F-4D97-AF65-F5344CB8AC3E}">
        <p14:creationId xmlns:p14="http://schemas.microsoft.com/office/powerpoint/2010/main" val="1297480602"/>
      </p:ext>
    </p:extLst>
  </p:cSld>
</p:sld>
</file>

<file path=ppt/slides/slide18.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6" name="accent-18">
            <a:extLst xmlns:a="http://schemas.openxmlformats.org/drawingml/2006/main">
              <a:ext uri="{FF2B5EF4-FFF2-40B4-BE49-F238E27FC236}">
                <a16:creationId xmlns:a16="http://schemas.microsoft.com/office/drawing/2014/main" id="{FFF90947-5CBE-47E1-9951-2F7AA391BA99}"/>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8">
            <a:extLst xmlns:a="http://schemas.openxmlformats.org/drawingml/2006/main">
              <a:ext uri="{FF2B5EF4-FFF2-40B4-BE49-F238E27FC236}">
                <a16:creationId xmlns:a16="http://schemas.microsoft.com/office/drawing/2014/main" id="{609003EA-F043-4749-9107-E22C7E44FC01}"/>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9分で現場条件を言葉にする</a:t>
            </a:r>
          </a:p>
        </p:txBody>
      </p:sp>
      <p:sp>
        <p:nvSpPr>
          <p:cNvPr id="3" name="label-18">
            <a:extLst xmlns:a="http://schemas.openxmlformats.org/drawingml/2006/main">
              <a:ext uri="{FF2B5EF4-FFF2-40B4-BE49-F238E27FC236}">
                <a16:creationId xmlns:a16="http://schemas.microsoft.com/office/drawing/2014/main" id="{3E2F53E4-7FAE-4EAF-924F-0AF708F30AAA}"/>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演習</a:t>
            </a:r>
          </a:p>
        </p:txBody>
      </p:sp>
      <p:sp>
        <p:nvSpPr>
          <p:cNvPr id="4" name="title-18">
            <a:extLst xmlns:a="http://schemas.openxmlformats.org/drawingml/2006/main">
              <a:ext uri="{FF2B5EF4-FFF2-40B4-BE49-F238E27FC236}">
                <a16:creationId xmlns:a16="http://schemas.microsoft.com/office/drawing/2014/main" id="{4FA61503-3B43-4FF0-8DC0-752E724133FE}"/>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Visual KY演習</a:t>
            </a:r>
          </a:p>
        </p:txBody>
      </p:sp>
      <p:sp>
        <p:nvSpPr>
          <p:cNvPr id="5" name="title-rule-18">
            <a:extLst xmlns:a="http://schemas.openxmlformats.org/drawingml/2006/main">
              <a:ext uri="{FF2B5EF4-FFF2-40B4-BE49-F238E27FC236}">
                <a16:creationId xmlns:a16="http://schemas.microsoft.com/office/drawing/2014/main" id="{A5108792-449F-4443-8274-004FEA9D5EE5}"/>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8">
            <a:extLst xmlns:a="http://schemas.openxmlformats.org/drawingml/2006/main">
              <a:ext uri="{FF2B5EF4-FFF2-40B4-BE49-F238E27FC236}">
                <a16:creationId xmlns:a16="http://schemas.microsoft.com/office/drawing/2014/main" id="{3B24790A-39EA-4CE4-BD60-FCE7F1B2A258}"/>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人物の不注意ではなく、墜落を生む条件、先に直す設備、器具・取付点、救助手順を探す。</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76daab11f2674938"/>
          <a:srcRect xmlns:a="http://schemas.openxmlformats.org/drawingml/2006/main" l="415" t="0" r="415" b="0"/>
          <a:stretch xmlns:a="http://schemas.openxmlformats.org/drawingml/2006/main">
            <a:fillRect l="0" t="0" r="0" b="0"/>
          </a:stretch>
        </p:blipFill>
        <p:spPr>
          <a:xfrm xmlns:a="http://schemas.openxmlformats.org/drawingml/2006/main">
            <a:off x="647700" y="2209800"/>
            <a:ext cx="5810250" cy="3295650"/>
          </a:xfrm>
          <a:prstGeom xmlns:a="http://schemas.openxmlformats.org/drawingml/2006/main" prst="roundRect">
            <a:avLst>
              <a:gd name="adj" fmla="val 4624"/>
            </a:avLst>
          </a:prstGeom>
        </p:spPr>
      </p:pic>
      <p:sp>
        <p:nvSpPr>
          <p:cNvPr id="8" name="ky-image-overlay">
            <a:extLst xmlns:a="http://schemas.openxmlformats.org/drawingml/2006/main">
              <a:ext uri="{FF2B5EF4-FFF2-40B4-BE49-F238E27FC236}">
                <a16:creationId xmlns:a16="http://schemas.microsoft.com/office/drawing/2014/main" id="{C49D3515-0084-4441-B8E8-58A84732A377}"/>
              </a:ext>
            </a:extLst>
          </p:cNvPr>
          <p:cNvSpPr>
            <a:spLocks xmlns:a="http://schemas.openxmlformats.org/drawingml/2006/main" noGrp="1"/>
          </p:cNvSpPr>
          <p:nvPr/>
        </p:nvSpPr>
        <p:spPr>
          <a:xfrm xmlns:a="http://schemas.openxmlformats.org/drawingml/2006/main">
            <a:off x="647700" y="2209800"/>
            <a:ext cx="5810250" cy="3295650"/>
          </a:xfrm>
          <a:prstGeom xmlns:a="http://schemas.openxmlformats.org/drawingml/2006/main" prst="rect">
            <a:avLst/>
          </a:prstGeom>
          <a:solidFill xmlns:a="http://schemas.openxmlformats.org/drawingml/2006/main">
            <a:srgbClr val="064E4A">
              <a:alpha val="20000"/>
            </a:srgbClr>
          </a:solidFill>
          <a:ln xmlns:a="http://schemas.openxmlformats.org/drawingml/2006/main" w="0">
            <a:noFill/>
            <a:prstDash val="solid"/>
          </a:ln>
        </p:spPr>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cc3237b805974be5"/>
          <a:stretch xmlns:a="http://schemas.openxmlformats.org/drawingml/2006/main"/>
        </p:blipFill>
        <p:spPr>
          <a:xfrm xmlns:a="http://schemas.openxmlformats.org/drawingml/2006/main">
            <a:off x="5306616" y="4095750"/>
            <a:ext cx="1121569" cy="1143000"/>
          </a:xfrm>
          <a:prstGeom xmlns:a="http://schemas.openxmlformats.org/drawingml/2006/main" prst="roundRect">
            <a:avLst>
              <a:gd name="adj" fmla="val 50000"/>
            </a:avLst>
          </a:prstGeom>
        </p:spPr>
      </p:pic>
      <p:sp>
        <p:nvSpPr>
          <p:cNvPr id="10" name="ky-no-0">
            <a:extLst xmlns:a="http://schemas.openxmlformats.org/drawingml/2006/main">
              <a:ext uri="{FF2B5EF4-FFF2-40B4-BE49-F238E27FC236}">
                <a16:creationId xmlns:a16="http://schemas.microsoft.com/office/drawing/2014/main" id="{2504B695-E959-401F-BE8A-73AAE5F139D6}"/>
              </a:ext>
            </a:extLst>
          </p:cNvPr>
          <p:cNvSpPr>
            <a:spLocks xmlns:a="http://schemas.openxmlformats.org/drawingml/2006/main" noGrp="1"/>
          </p:cNvSpPr>
          <p:nvPr/>
        </p:nvSpPr>
        <p:spPr>
          <a:xfrm xmlns:a="http://schemas.openxmlformats.org/drawingml/2006/main">
            <a:off x="6953250" y="232410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800" b="1">
                <a:solidFill>
                  <a:srgbClr val="F97316"/>
                </a:solidFill>
              </a:defRPr>
            </a:pPr>
            <a:r>
              <a:rPr sz="1800" b="1">
                <a:solidFill>
                  <a:srgbClr val="F97316"/>
                </a:solidFill>
              </a:rPr>
              <a:t>1</a:t>
            </a:r>
          </a:p>
        </p:txBody>
      </p:sp>
      <p:sp>
        <p:nvSpPr>
          <p:cNvPr id="11" name="ky-prompt-0">
            <a:extLst xmlns:a="http://schemas.openxmlformats.org/drawingml/2006/main">
              <a:ext uri="{FF2B5EF4-FFF2-40B4-BE49-F238E27FC236}">
                <a16:creationId xmlns:a16="http://schemas.microsoft.com/office/drawing/2014/main" id="{9D968128-065E-446A-9F2D-9D70D6776DCF}"/>
              </a:ext>
            </a:extLst>
          </p:cNvPr>
          <p:cNvSpPr>
            <a:spLocks xmlns:a="http://schemas.openxmlformats.org/drawingml/2006/main" noGrp="1"/>
          </p:cNvSpPr>
          <p:nvPr/>
        </p:nvSpPr>
        <p:spPr>
          <a:xfrm xmlns:a="http://schemas.openxmlformats.org/drawingml/2006/main">
            <a:off x="7486650" y="2324100"/>
            <a:ext cx="3714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見える危険条件は？</a:t>
            </a:r>
          </a:p>
        </p:txBody>
      </p:sp>
      <p:sp>
        <p:nvSpPr>
          <p:cNvPr id="12" name="ky-line-0">
            <a:extLst xmlns:a="http://schemas.openxmlformats.org/drawingml/2006/main">
              <a:ext uri="{FF2B5EF4-FFF2-40B4-BE49-F238E27FC236}">
                <a16:creationId xmlns:a16="http://schemas.microsoft.com/office/drawing/2014/main" id="{12CAAB89-C3D9-4B4D-8F4A-02F320B56EE8}"/>
              </a:ext>
            </a:extLst>
          </p:cNvPr>
          <p:cNvSpPr>
            <a:spLocks xmlns:a="http://schemas.openxmlformats.org/drawingml/2006/main" noGrp="1"/>
          </p:cNvSpPr>
          <p:nvPr/>
        </p:nvSpPr>
        <p:spPr>
          <a:xfrm xmlns:a="http://schemas.openxmlformats.org/drawingml/2006/main">
            <a:off x="7486650" y="2800350"/>
            <a:ext cx="37147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3" name="ky-no-1">
            <a:extLst xmlns:a="http://schemas.openxmlformats.org/drawingml/2006/main">
              <a:ext uri="{FF2B5EF4-FFF2-40B4-BE49-F238E27FC236}">
                <a16:creationId xmlns:a16="http://schemas.microsoft.com/office/drawing/2014/main" id="{7D32E2E1-94A5-4B82-9722-1A27566BF604}"/>
              </a:ext>
            </a:extLst>
          </p:cNvPr>
          <p:cNvSpPr>
            <a:spLocks xmlns:a="http://schemas.openxmlformats.org/drawingml/2006/main" noGrp="1"/>
          </p:cNvSpPr>
          <p:nvPr/>
        </p:nvSpPr>
        <p:spPr>
          <a:xfrm xmlns:a="http://schemas.openxmlformats.org/drawingml/2006/main">
            <a:off x="6953250" y="30575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800" b="1">
                <a:solidFill>
                  <a:srgbClr val="F97316"/>
                </a:solidFill>
              </a:defRPr>
            </a:pPr>
            <a:r>
              <a:rPr sz="1800" b="1">
                <a:solidFill>
                  <a:srgbClr val="F97316"/>
                </a:solidFill>
              </a:rPr>
              <a:t>2</a:t>
            </a:r>
          </a:p>
        </p:txBody>
      </p:sp>
      <p:sp>
        <p:nvSpPr>
          <p:cNvPr id="14" name="ky-prompt-1">
            <a:extLst xmlns:a="http://schemas.openxmlformats.org/drawingml/2006/main">
              <a:ext uri="{FF2B5EF4-FFF2-40B4-BE49-F238E27FC236}">
                <a16:creationId xmlns:a16="http://schemas.microsoft.com/office/drawing/2014/main" id="{9293A87B-8435-40BB-8913-5F4D03A1A860}"/>
              </a:ext>
            </a:extLst>
          </p:cNvPr>
          <p:cNvSpPr>
            <a:spLocks xmlns:a="http://schemas.openxmlformats.org/drawingml/2006/main" noGrp="1"/>
          </p:cNvSpPr>
          <p:nvPr/>
        </p:nvSpPr>
        <p:spPr>
          <a:xfrm xmlns:a="http://schemas.openxmlformats.org/drawingml/2006/main">
            <a:off x="7486650" y="3057525"/>
            <a:ext cx="3714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先に直す設備は？</a:t>
            </a:r>
          </a:p>
        </p:txBody>
      </p:sp>
      <p:sp>
        <p:nvSpPr>
          <p:cNvPr id="15" name="ky-line-1">
            <a:extLst xmlns:a="http://schemas.openxmlformats.org/drawingml/2006/main">
              <a:ext uri="{FF2B5EF4-FFF2-40B4-BE49-F238E27FC236}">
                <a16:creationId xmlns:a16="http://schemas.microsoft.com/office/drawing/2014/main" id="{5B1752CF-6574-4180-82F3-D642900982EF}"/>
              </a:ext>
            </a:extLst>
          </p:cNvPr>
          <p:cNvSpPr>
            <a:spLocks xmlns:a="http://schemas.openxmlformats.org/drawingml/2006/main" noGrp="1"/>
          </p:cNvSpPr>
          <p:nvPr/>
        </p:nvSpPr>
        <p:spPr>
          <a:xfrm xmlns:a="http://schemas.openxmlformats.org/drawingml/2006/main">
            <a:off x="7486650" y="3533775"/>
            <a:ext cx="37147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6" name="ky-no-2">
            <a:extLst xmlns:a="http://schemas.openxmlformats.org/drawingml/2006/main">
              <a:ext uri="{FF2B5EF4-FFF2-40B4-BE49-F238E27FC236}">
                <a16:creationId xmlns:a16="http://schemas.microsoft.com/office/drawing/2014/main" id="{AAF9010D-113D-4B98-B183-236EB3B37510}"/>
              </a:ext>
            </a:extLst>
          </p:cNvPr>
          <p:cNvSpPr>
            <a:spLocks xmlns:a="http://schemas.openxmlformats.org/drawingml/2006/main" noGrp="1"/>
          </p:cNvSpPr>
          <p:nvPr/>
        </p:nvSpPr>
        <p:spPr>
          <a:xfrm xmlns:a="http://schemas.openxmlformats.org/drawingml/2006/main">
            <a:off x="6953250" y="37909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800" b="1">
                <a:solidFill>
                  <a:srgbClr val="F97316"/>
                </a:solidFill>
              </a:defRPr>
            </a:pPr>
            <a:r>
              <a:rPr sz="1800" b="1">
                <a:solidFill>
                  <a:srgbClr val="F97316"/>
                </a:solidFill>
              </a:rPr>
              <a:t>3</a:t>
            </a:r>
          </a:p>
        </p:txBody>
      </p:sp>
      <p:sp>
        <p:nvSpPr>
          <p:cNvPr id="17" name="ky-prompt-2">
            <a:extLst xmlns:a="http://schemas.openxmlformats.org/drawingml/2006/main">
              <a:ext uri="{FF2B5EF4-FFF2-40B4-BE49-F238E27FC236}">
                <a16:creationId xmlns:a16="http://schemas.microsoft.com/office/drawing/2014/main" id="{A7D57970-62E8-4650-A179-C089E5A368A3}"/>
              </a:ext>
            </a:extLst>
          </p:cNvPr>
          <p:cNvSpPr>
            <a:spLocks xmlns:a="http://schemas.openxmlformats.org/drawingml/2006/main" noGrp="1"/>
          </p:cNvSpPr>
          <p:nvPr/>
        </p:nvSpPr>
        <p:spPr>
          <a:xfrm xmlns:a="http://schemas.openxmlformats.org/drawingml/2006/main">
            <a:off x="7486650" y="3790950"/>
            <a:ext cx="3714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器具・取付点・下方空間は？</a:t>
            </a:r>
          </a:p>
        </p:txBody>
      </p:sp>
      <p:sp>
        <p:nvSpPr>
          <p:cNvPr id="18" name="ky-line-2">
            <a:extLst xmlns:a="http://schemas.openxmlformats.org/drawingml/2006/main">
              <a:ext uri="{FF2B5EF4-FFF2-40B4-BE49-F238E27FC236}">
                <a16:creationId xmlns:a16="http://schemas.microsoft.com/office/drawing/2014/main" id="{FC76DE64-9B6B-4695-ACD0-CE1C5467C48D}"/>
              </a:ext>
            </a:extLst>
          </p:cNvPr>
          <p:cNvSpPr>
            <a:spLocks xmlns:a="http://schemas.openxmlformats.org/drawingml/2006/main" noGrp="1"/>
          </p:cNvSpPr>
          <p:nvPr/>
        </p:nvSpPr>
        <p:spPr>
          <a:xfrm xmlns:a="http://schemas.openxmlformats.org/drawingml/2006/main">
            <a:off x="7486650" y="4267200"/>
            <a:ext cx="37147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9" name="ky-no-3">
            <a:extLst xmlns:a="http://schemas.openxmlformats.org/drawingml/2006/main">
              <a:ext uri="{FF2B5EF4-FFF2-40B4-BE49-F238E27FC236}">
                <a16:creationId xmlns:a16="http://schemas.microsoft.com/office/drawing/2014/main" id="{E4AAD9C0-5333-41C8-AC24-59A2C01C5B77}"/>
              </a:ext>
            </a:extLst>
          </p:cNvPr>
          <p:cNvSpPr>
            <a:spLocks xmlns:a="http://schemas.openxmlformats.org/drawingml/2006/main" noGrp="1"/>
          </p:cNvSpPr>
          <p:nvPr/>
        </p:nvSpPr>
        <p:spPr>
          <a:xfrm xmlns:a="http://schemas.openxmlformats.org/drawingml/2006/main">
            <a:off x="6953250" y="45243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800" b="1">
                <a:solidFill>
                  <a:srgbClr val="F97316"/>
                </a:solidFill>
              </a:defRPr>
            </a:pPr>
            <a:r>
              <a:rPr sz="1800" b="1">
                <a:solidFill>
                  <a:srgbClr val="F97316"/>
                </a:solidFill>
              </a:rPr>
              <a:t>4</a:t>
            </a:r>
          </a:p>
        </p:txBody>
      </p:sp>
      <p:sp>
        <p:nvSpPr>
          <p:cNvPr id="20" name="ky-prompt-3">
            <a:extLst xmlns:a="http://schemas.openxmlformats.org/drawingml/2006/main">
              <a:ext uri="{FF2B5EF4-FFF2-40B4-BE49-F238E27FC236}">
                <a16:creationId xmlns:a16="http://schemas.microsoft.com/office/drawing/2014/main" id="{87685D55-2CFF-4686-B9D8-42CC8ADF3905}"/>
              </a:ext>
            </a:extLst>
          </p:cNvPr>
          <p:cNvSpPr>
            <a:spLocks xmlns:a="http://schemas.openxmlformats.org/drawingml/2006/main" noGrp="1"/>
          </p:cNvSpPr>
          <p:nvPr/>
        </p:nvSpPr>
        <p:spPr>
          <a:xfrm xmlns:a="http://schemas.openxmlformats.org/drawingml/2006/main">
            <a:off x="7486650" y="4524375"/>
            <a:ext cx="3714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救助と開始不可条件は？</a:t>
            </a:r>
          </a:p>
        </p:txBody>
      </p:sp>
      <p:sp>
        <p:nvSpPr>
          <p:cNvPr id="21" name="ky-line-3">
            <a:extLst xmlns:a="http://schemas.openxmlformats.org/drawingml/2006/main">
              <a:ext uri="{FF2B5EF4-FFF2-40B4-BE49-F238E27FC236}">
                <a16:creationId xmlns:a16="http://schemas.microsoft.com/office/drawing/2014/main" id="{C09C7495-3F07-45E4-9124-B9A0C580BF8C}"/>
              </a:ext>
            </a:extLst>
          </p:cNvPr>
          <p:cNvSpPr>
            <a:spLocks xmlns:a="http://schemas.openxmlformats.org/drawingml/2006/main" noGrp="1"/>
          </p:cNvSpPr>
          <p:nvPr/>
        </p:nvSpPr>
        <p:spPr>
          <a:xfrm xmlns:a="http://schemas.openxmlformats.org/drawingml/2006/main">
            <a:off x="7486650" y="5000625"/>
            <a:ext cx="37147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2" name="ky-timing">
            <a:extLst xmlns:a="http://schemas.openxmlformats.org/drawingml/2006/main">
              <a:ext uri="{FF2B5EF4-FFF2-40B4-BE49-F238E27FC236}">
                <a16:creationId xmlns:a16="http://schemas.microsoft.com/office/drawing/2014/main" id="{F050177F-1964-457F-8509-EDA0D713D9EA}"/>
              </a:ext>
            </a:extLst>
          </p:cNvPr>
          <p:cNvSpPr>
            <a:spLocks xmlns:a="http://schemas.openxmlformats.org/drawingml/2006/main" noGrp="1"/>
          </p:cNvSpPr>
          <p:nvPr/>
        </p:nvSpPr>
        <p:spPr>
          <a:xfrm xmlns:a="http://schemas.openxmlformats.org/drawingml/2006/main">
            <a:off x="6953250" y="5391150"/>
            <a:ext cx="42481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526270"/>
                </a:solidFill>
              </a:defRPr>
            </a:pPr>
            <a:r>
              <a:rPr sz="1200" b="0">
                <a:solidFill>
                  <a:srgbClr val="526270"/>
                </a:solidFill>
              </a:rPr>
              <a:t>個人2分 → 討議4分 → 全体確認3分　｜　画像だけでは確認できない事項も答える</a:t>
            </a:r>
          </a:p>
        </p:txBody>
      </p:sp>
      <p:sp>
        <p:nvSpPr>
          <p:cNvPr id="23" name="footer-rule-18">
            <a:extLst xmlns:a="http://schemas.openxmlformats.org/drawingml/2006/main">
              <a:ext uri="{FF2B5EF4-FFF2-40B4-BE49-F238E27FC236}">
                <a16:creationId xmlns:a16="http://schemas.microsoft.com/office/drawing/2014/main" id="{8EB82E70-972A-47EC-8A0F-9F61EAE38F1D}"/>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4" name="footer-sources-18">
            <a:extLst xmlns:a="http://schemas.openxmlformats.org/drawingml/2006/main">
              <a:ext uri="{FF2B5EF4-FFF2-40B4-BE49-F238E27FC236}">
                <a16:creationId xmlns:a16="http://schemas.microsoft.com/office/drawing/2014/main" id="{EE29678E-72D0-4F07-A8FF-B48198A7951A}"/>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S3・S6・S7・S20・S21・S22（詳細はノート）</a:t>
            </a:r>
          </a:p>
        </p:txBody>
      </p:sp>
      <p:sp>
        <p:nvSpPr>
          <p:cNvPr id="25" name="footer-page-18">
            <a:extLst xmlns:a="http://schemas.openxmlformats.org/drawingml/2006/main">
              <a:ext uri="{FF2B5EF4-FFF2-40B4-BE49-F238E27FC236}">
                <a16:creationId xmlns:a16="http://schemas.microsoft.com/office/drawing/2014/main" id="{0B17367C-9885-471D-BAA5-B816C7AE99F5}"/>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18 / 20</a:t>
            </a:r>
          </a:p>
        </p:txBody>
      </p:sp>
    </p:spTree>
    <p:extLst>
      <p:ext uri="{BB962C8B-B14F-4D97-AF65-F5344CB8AC3E}">
        <p14:creationId xmlns:p14="http://schemas.microsoft.com/office/powerpoint/2010/main" val="997029114"/>
      </p:ext>
    </p:extLst>
  </p:cSld>
</p:sld>
</file>

<file path=ppt/slides/slide19.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35" name="accent-19">
            <a:extLst xmlns:a="http://schemas.openxmlformats.org/drawingml/2006/main">
              <a:ext uri="{FF2B5EF4-FFF2-40B4-BE49-F238E27FC236}">
                <a16:creationId xmlns:a16="http://schemas.microsoft.com/office/drawing/2014/main" id="{868E259A-D16E-4CC9-8592-5D8B1801D71D}"/>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9">
            <a:extLst xmlns:a="http://schemas.openxmlformats.org/drawingml/2006/main">
              <a:ext uri="{FF2B5EF4-FFF2-40B4-BE49-F238E27FC236}">
                <a16:creationId xmlns:a16="http://schemas.microsoft.com/office/drawing/2014/main" id="{A2EF0634-4769-46AC-82F3-B26C88DDCD2E}"/>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開始前の順番</a:t>
            </a:r>
          </a:p>
        </p:txBody>
      </p:sp>
      <p:sp>
        <p:nvSpPr>
          <p:cNvPr id="3" name="label-19">
            <a:extLst xmlns:a="http://schemas.openxmlformats.org/drawingml/2006/main">
              <a:ext uri="{FF2B5EF4-FFF2-40B4-BE49-F238E27FC236}">
                <a16:creationId xmlns:a16="http://schemas.microsoft.com/office/drawing/2014/main" id="{526D8297-E37A-434D-8E89-0AA14C6A1F8E}"/>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サイト提案</a:t>
            </a:r>
          </a:p>
        </p:txBody>
      </p:sp>
      <p:sp>
        <p:nvSpPr>
          <p:cNvPr id="4" name="title-19">
            <a:extLst xmlns:a="http://schemas.openxmlformats.org/drawingml/2006/main">
              <a:ext uri="{FF2B5EF4-FFF2-40B4-BE49-F238E27FC236}">
                <a16:creationId xmlns:a16="http://schemas.microsoft.com/office/drawing/2014/main" id="{B5F2D397-1715-41FE-BEAA-1C3FA457F07F}"/>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現場確認チェックリスト</a:t>
            </a:r>
          </a:p>
        </p:txBody>
      </p:sp>
      <p:sp>
        <p:nvSpPr>
          <p:cNvPr id="5" name="title-rule-19">
            <a:extLst xmlns:a="http://schemas.openxmlformats.org/drawingml/2006/main">
              <a:ext uri="{FF2B5EF4-FFF2-40B4-BE49-F238E27FC236}">
                <a16:creationId xmlns:a16="http://schemas.microsoft.com/office/drawing/2014/main" id="{996BF685-018F-4171-B347-8BDF35EBEE39}"/>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9">
            <a:extLst xmlns:a="http://schemas.openxmlformats.org/drawingml/2006/main">
              <a:ext uri="{FF2B5EF4-FFF2-40B4-BE49-F238E27FC236}">
                <a16:creationId xmlns:a16="http://schemas.microsoft.com/office/drawing/2014/main" id="{E377D0D5-52E9-4DD6-9383-96C74715A825}"/>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高所回避→設備→器具と教育→取付点と下方空間→点検→救助・中止条件の順に確認する。</a:t>
            </a:r>
          </a:p>
        </p:txBody>
      </p:sp>
      <p:sp>
        <p:nvSpPr>
          <p:cNvPr id="7" name="check-dot-19-0">
            <a:extLst xmlns:a="http://schemas.openxmlformats.org/drawingml/2006/main">
              <a:ext uri="{FF2B5EF4-FFF2-40B4-BE49-F238E27FC236}">
                <a16:creationId xmlns:a16="http://schemas.microsoft.com/office/drawing/2014/main" id="{6215996D-18DB-49F2-AEDD-82B16BEA8DB7}"/>
              </a:ext>
            </a:extLst>
          </p:cNvPr>
          <p:cNvSpPr>
            <a:spLocks xmlns:a="http://schemas.openxmlformats.org/drawingml/2006/main" noGrp="1"/>
          </p:cNvSpPr>
          <p:nvPr/>
        </p:nvSpPr>
        <p:spPr>
          <a:xfrm xmlns:a="http://schemas.openxmlformats.org/drawingml/2006/main">
            <a:off x="647700" y="22860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8" name="check-mark-19-0">
            <a:extLst xmlns:a="http://schemas.openxmlformats.org/drawingml/2006/main">
              <a:ext uri="{FF2B5EF4-FFF2-40B4-BE49-F238E27FC236}">
                <a16:creationId xmlns:a16="http://schemas.microsoft.com/office/drawing/2014/main" id="{DE62C060-102F-4FC9-8B8D-5F16462F5897}"/>
              </a:ext>
            </a:extLst>
          </p:cNvPr>
          <p:cNvSpPr>
            <a:spLocks xmlns:a="http://schemas.openxmlformats.org/drawingml/2006/main" noGrp="1"/>
          </p:cNvSpPr>
          <p:nvPr/>
        </p:nvSpPr>
        <p:spPr>
          <a:xfrm xmlns:a="http://schemas.openxmlformats.org/drawingml/2006/main">
            <a:off x="647700" y="22764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9" name="check-item-19-0">
            <a:extLst xmlns:a="http://schemas.openxmlformats.org/drawingml/2006/main">
              <a:ext uri="{FF2B5EF4-FFF2-40B4-BE49-F238E27FC236}">
                <a16:creationId xmlns:a16="http://schemas.microsoft.com/office/drawing/2014/main" id="{59F31C4C-A68C-4775-8B0E-6E9ADCE1E602}"/>
              </a:ext>
            </a:extLst>
          </p:cNvPr>
          <p:cNvSpPr>
            <a:spLocks xmlns:a="http://schemas.openxmlformats.org/drawingml/2006/main" noGrp="1"/>
          </p:cNvSpPr>
          <p:nvPr/>
        </p:nvSpPr>
        <p:spPr>
          <a:xfrm xmlns:a="http://schemas.openxmlformats.org/drawingml/2006/main">
            <a:off x="1104900" y="22288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高所作業を回避できる</a:t>
            </a:r>
          </a:p>
        </p:txBody>
      </p:sp>
      <p:sp>
        <p:nvSpPr>
          <p:cNvPr id="10" name="check-line-19-0">
            <a:extLst xmlns:a="http://schemas.openxmlformats.org/drawingml/2006/main">
              <a:ext uri="{FF2B5EF4-FFF2-40B4-BE49-F238E27FC236}">
                <a16:creationId xmlns:a16="http://schemas.microsoft.com/office/drawing/2014/main" id="{7EA983CD-DE3E-438D-B6A1-D6194ACE8AF9}"/>
              </a:ext>
            </a:extLst>
          </p:cNvPr>
          <p:cNvSpPr>
            <a:spLocks xmlns:a="http://schemas.openxmlformats.org/drawingml/2006/main" noGrp="1"/>
          </p:cNvSpPr>
          <p:nvPr/>
        </p:nvSpPr>
        <p:spPr>
          <a:xfrm xmlns:a="http://schemas.openxmlformats.org/drawingml/2006/main">
            <a:off x="1104900" y="27336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1" name="check-dot-19-1">
            <a:extLst xmlns:a="http://schemas.openxmlformats.org/drawingml/2006/main">
              <a:ext uri="{FF2B5EF4-FFF2-40B4-BE49-F238E27FC236}">
                <a16:creationId xmlns:a16="http://schemas.microsoft.com/office/drawing/2014/main" id="{85B4187E-B50C-4DED-9984-641F29D4E94C}"/>
              </a:ext>
            </a:extLst>
          </p:cNvPr>
          <p:cNvSpPr>
            <a:spLocks xmlns:a="http://schemas.openxmlformats.org/drawingml/2006/main" noGrp="1"/>
          </p:cNvSpPr>
          <p:nvPr/>
        </p:nvSpPr>
        <p:spPr>
          <a:xfrm xmlns:a="http://schemas.openxmlformats.org/drawingml/2006/main">
            <a:off x="647700" y="306705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12" name="check-mark-19-1">
            <a:extLst xmlns:a="http://schemas.openxmlformats.org/drawingml/2006/main">
              <a:ext uri="{FF2B5EF4-FFF2-40B4-BE49-F238E27FC236}">
                <a16:creationId xmlns:a16="http://schemas.microsoft.com/office/drawing/2014/main" id="{72553978-A61C-414E-B873-A5887884D2AD}"/>
              </a:ext>
            </a:extLst>
          </p:cNvPr>
          <p:cNvSpPr>
            <a:spLocks xmlns:a="http://schemas.openxmlformats.org/drawingml/2006/main" noGrp="1"/>
          </p:cNvSpPr>
          <p:nvPr/>
        </p:nvSpPr>
        <p:spPr>
          <a:xfrm xmlns:a="http://schemas.openxmlformats.org/drawingml/2006/main">
            <a:off x="647700" y="305752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13" name="check-item-19-1">
            <a:extLst xmlns:a="http://schemas.openxmlformats.org/drawingml/2006/main">
              <a:ext uri="{FF2B5EF4-FFF2-40B4-BE49-F238E27FC236}">
                <a16:creationId xmlns:a16="http://schemas.microsoft.com/office/drawing/2014/main" id="{DAE0EECE-6938-4157-B81E-9154170EE305}"/>
              </a:ext>
            </a:extLst>
          </p:cNvPr>
          <p:cNvSpPr>
            <a:spLocks xmlns:a="http://schemas.openxmlformats.org/drawingml/2006/main" noGrp="1"/>
          </p:cNvSpPr>
          <p:nvPr/>
        </p:nvSpPr>
        <p:spPr>
          <a:xfrm xmlns:a="http://schemas.openxmlformats.org/drawingml/2006/main">
            <a:off x="1104900" y="300990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作業床・端部・開口・昇降が適合</a:t>
            </a:r>
          </a:p>
        </p:txBody>
      </p:sp>
      <p:sp>
        <p:nvSpPr>
          <p:cNvPr id="14" name="check-line-19-1">
            <a:extLst xmlns:a="http://schemas.openxmlformats.org/drawingml/2006/main">
              <a:ext uri="{FF2B5EF4-FFF2-40B4-BE49-F238E27FC236}">
                <a16:creationId xmlns:a16="http://schemas.microsoft.com/office/drawing/2014/main" id="{D36339DB-F36B-4EDB-81FF-B0D317B80005}"/>
              </a:ext>
            </a:extLst>
          </p:cNvPr>
          <p:cNvSpPr>
            <a:spLocks xmlns:a="http://schemas.openxmlformats.org/drawingml/2006/main" noGrp="1"/>
          </p:cNvSpPr>
          <p:nvPr/>
        </p:nvSpPr>
        <p:spPr>
          <a:xfrm xmlns:a="http://schemas.openxmlformats.org/drawingml/2006/main">
            <a:off x="1104900" y="351472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5" name="check-dot-19-2">
            <a:extLst xmlns:a="http://schemas.openxmlformats.org/drawingml/2006/main">
              <a:ext uri="{FF2B5EF4-FFF2-40B4-BE49-F238E27FC236}">
                <a16:creationId xmlns:a16="http://schemas.microsoft.com/office/drawing/2014/main" id="{B3E97E42-DDDE-4DCE-B5DF-A8477AD19A30}"/>
              </a:ext>
            </a:extLst>
          </p:cNvPr>
          <p:cNvSpPr>
            <a:spLocks xmlns:a="http://schemas.openxmlformats.org/drawingml/2006/main" noGrp="1"/>
          </p:cNvSpPr>
          <p:nvPr/>
        </p:nvSpPr>
        <p:spPr>
          <a:xfrm xmlns:a="http://schemas.openxmlformats.org/drawingml/2006/main">
            <a:off x="647700" y="38481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16" name="check-mark-19-2">
            <a:extLst xmlns:a="http://schemas.openxmlformats.org/drawingml/2006/main">
              <a:ext uri="{FF2B5EF4-FFF2-40B4-BE49-F238E27FC236}">
                <a16:creationId xmlns:a16="http://schemas.microsoft.com/office/drawing/2014/main" id="{3FDB0E78-ECC4-4770-B593-2B8A0E81F9BD}"/>
              </a:ext>
            </a:extLst>
          </p:cNvPr>
          <p:cNvSpPr>
            <a:spLocks xmlns:a="http://schemas.openxmlformats.org/drawingml/2006/main" noGrp="1"/>
          </p:cNvSpPr>
          <p:nvPr/>
        </p:nvSpPr>
        <p:spPr>
          <a:xfrm xmlns:a="http://schemas.openxmlformats.org/drawingml/2006/main">
            <a:off x="647700" y="38385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17" name="check-item-19-2">
            <a:extLst xmlns:a="http://schemas.openxmlformats.org/drawingml/2006/main">
              <a:ext uri="{FF2B5EF4-FFF2-40B4-BE49-F238E27FC236}">
                <a16:creationId xmlns:a16="http://schemas.microsoft.com/office/drawing/2014/main" id="{94BA344A-7769-4638-B97C-011420686845}"/>
              </a:ext>
            </a:extLst>
          </p:cNvPr>
          <p:cNvSpPr>
            <a:spLocks xmlns:a="http://schemas.openxmlformats.org/drawingml/2006/main" noGrp="1"/>
          </p:cNvSpPr>
          <p:nvPr/>
        </p:nvSpPr>
        <p:spPr>
          <a:xfrm xmlns:a="http://schemas.openxmlformats.org/drawingml/2006/main">
            <a:off x="1104900" y="37909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器具と教育記録が作業条件に適合</a:t>
            </a:r>
          </a:p>
        </p:txBody>
      </p:sp>
      <p:sp>
        <p:nvSpPr>
          <p:cNvPr id="18" name="check-line-19-2">
            <a:extLst xmlns:a="http://schemas.openxmlformats.org/drawingml/2006/main">
              <a:ext uri="{FF2B5EF4-FFF2-40B4-BE49-F238E27FC236}">
                <a16:creationId xmlns:a16="http://schemas.microsoft.com/office/drawing/2014/main" id="{7723D91F-65C6-4719-B3C2-7A2754F42840}"/>
              </a:ext>
            </a:extLst>
          </p:cNvPr>
          <p:cNvSpPr>
            <a:spLocks xmlns:a="http://schemas.openxmlformats.org/drawingml/2006/main" noGrp="1"/>
          </p:cNvSpPr>
          <p:nvPr/>
        </p:nvSpPr>
        <p:spPr>
          <a:xfrm xmlns:a="http://schemas.openxmlformats.org/drawingml/2006/main">
            <a:off x="1104900" y="42957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9" name="check-dot-19-3">
            <a:extLst xmlns:a="http://schemas.openxmlformats.org/drawingml/2006/main">
              <a:ext uri="{FF2B5EF4-FFF2-40B4-BE49-F238E27FC236}">
                <a16:creationId xmlns:a16="http://schemas.microsoft.com/office/drawing/2014/main" id="{6F583BDA-B8D7-4A82-89A4-3B056AEC2CDC}"/>
              </a:ext>
            </a:extLst>
          </p:cNvPr>
          <p:cNvSpPr>
            <a:spLocks xmlns:a="http://schemas.openxmlformats.org/drawingml/2006/main" noGrp="1"/>
          </p:cNvSpPr>
          <p:nvPr/>
        </p:nvSpPr>
        <p:spPr>
          <a:xfrm xmlns:a="http://schemas.openxmlformats.org/drawingml/2006/main">
            <a:off x="6248400" y="22860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0" name="check-mark-19-3">
            <a:extLst xmlns:a="http://schemas.openxmlformats.org/drawingml/2006/main">
              <a:ext uri="{FF2B5EF4-FFF2-40B4-BE49-F238E27FC236}">
                <a16:creationId xmlns:a16="http://schemas.microsoft.com/office/drawing/2014/main" id="{AEA43AC6-227D-4DB0-B070-A80C4BFE77A9}"/>
              </a:ext>
            </a:extLst>
          </p:cNvPr>
          <p:cNvSpPr>
            <a:spLocks xmlns:a="http://schemas.openxmlformats.org/drawingml/2006/main" noGrp="1"/>
          </p:cNvSpPr>
          <p:nvPr/>
        </p:nvSpPr>
        <p:spPr>
          <a:xfrm xmlns:a="http://schemas.openxmlformats.org/drawingml/2006/main">
            <a:off x="6248400" y="22764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21" name="check-item-19-3">
            <a:extLst xmlns:a="http://schemas.openxmlformats.org/drawingml/2006/main">
              <a:ext uri="{FF2B5EF4-FFF2-40B4-BE49-F238E27FC236}">
                <a16:creationId xmlns:a16="http://schemas.microsoft.com/office/drawing/2014/main" id="{6F767AF0-27ED-4309-AA14-FCC846059EB0}"/>
              </a:ext>
            </a:extLst>
          </p:cNvPr>
          <p:cNvSpPr>
            <a:spLocks xmlns:a="http://schemas.openxmlformats.org/drawingml/2006/main" noGrp="1"/>
          </p:cNvSpPr>
          <p:nvPr/>
        </p:nvSpPr>
        <p:spPr>
          <a:xfrm xmlns:a="http://schemas.openxmlformats.org/drawingml/2006/main">
            <a:off x="6705600" y="22288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取付点と下方空間を照合</a:t>
            </a:r>
          </a:p>
        </p:txBody>
      </p:sp>
      <p:sp>
        <p:nvSpPr>
          <p:cNvPr id="22" name="check-line-19-3">
            <a:extLst xmlns:a="http://schemas.openxmlformats.org/drawingml/2006/main">
              <a:ext uri="{FF2B5EF4-FFF2-40B4-BE49-F238E27FC236}">
                <a16:creationId xmlns:a16="http://schemas.microsoft.com/office/drawing/2014/main" id="{4181D235-F5C9-4C71-B262-B7EDEA1806FC}"/>
              </a:ext>
            </a:extLst>
          </p:cNvPr>
          <p:cNvSpPr>
            <a:spLocks xmlns:a="http://schemas.openxmlformats.org/drawingml/2006/main" noGrp="1"/>
          </p:cNvSpPr>
          <p:nvPr/>
        </p:nvSpPr>
        <p:spPr>
          <a:xfrm xmlns:a="http://schemas.openxmlformats.org/drawingml/2006/main">
            <a:off x="6705600" y="27336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3" name="check-dot-19-4">
            <a:extLst xmlns:a="http://schemas.openxmlformats.org/drawingml/2006/main">
              <a:ext uri="{FF2B5EF4-FFF2-40B4-BE49-F238E27FC236}">
                <a16:creationId xmlns:a16="http://schemas.microsoft.com/office/drawing/2014/main" id="{2CC8229D-23F8-4ED9-BA81-4D7185783EBF}"/>
              </a:ext>
            </a:extLst>
          </p:cNvPr>
          <p:cNvSpPr>
            <a:spLocks xmlns:a="http://schemas.openxmlformats.org/drawingml/2006/main" noGrp="1"/>
          </p:cNvSpPr>
          <p:nvPr/>
        </p:nvSpPr>
        <p:spPr>
          <a:xfrm xmlns:a="http://schemas.openxmlformats.org/drawingml/2006/main">
            <a:off x="6248400" y="306705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4" name="check-mark-19-4">
            <a:extLst xmlns:a="http://schemas.openxmlformats.org/drawingml/2006/main">
              <a:ext uri="{FF2B5EF4-FFF2-40B4-BE49-F238E27FC236}">
                <a16:creationId xmlns:a16="http://schemas.microsoft.com/office/drawing/2014/main" id="{E26F3B62-2A0F-4EE6-BC83-50E433B0E63B}"/>
              </a:ext>
            </a:extLst>
          </p:cNvPr>
          <p:cNvSpPr>
            <a:spLocks xmlns:a="http://schemas.openxmlformats.org/drawingml/2006/main" noGrp="1"/>
          </p:cNvSpPr>
          <p:nvPr/>
        </p:nvSpPr>
        <p:spPr>
          <a:xfrm xmlns:a="http://schemas.openxmlformats.org/drawingml/2006/main">
            <a:off x="6248400" y="305752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25" name="check-item-19-4">
            <a:extLst xmlns:a="http://schemas.openxmlformats.org/drawingml/2006/main">
              <a:ext uri="{FF2B5EF4-FFF2-40B4-BE49-F238E27FC236}">
                <a16:creationId xmlns:a16="http://schemas.microsoft.com/office/drawing/2014/main" id="{04A0A0A7-F264-424A-BB83-949AD7B1F02E}"/>
              </a:ext>
            </a:extLst>
          </p:cNvPr>
          <p:cNvSpPr>
            <a:spLocks xmlns:a="http://schemas.openxmlformats.org/drawingml/2006/main" noGrp="1"/>
          </p:cNvSpPr>
          <p:nvPr/>
        </p:nvSpPr>
        <p:spPr>
          <a:xfrm xmlns:a="http://schemas.openxmlformats.org/drawingml/2006/main">
            <a:off x="6705600" y="300990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器具と設備を点検</a:t>
            </a:r>
          </a:p>
        </p:txBody>
      </p:sp>
      <p:sp>
        <p:nvSpPr>
          <p:cNvPr id="26" name="check-line-19-4">
            <a:extLst xmlns:a="http://schemas.openxmlformats.org/drawingml/2006/main">
              <a:ext uri="{FF2B5EF4-FFF2-40B4-BE49-F238E27FC236}">
                <a16:creationId xmlns:a16="http://schemas.microsoft.com/office/drawing/2014/main" id="{D97C918C-7FA1-4D86-9903-5749DBE01685}"/>
              </a:ext>
            </a:extLst>
          </p:cNvPr>
          <p:cNvSpPr>
            <a:spLocks xmlns:a="http://schemas.openxmlformats.org/drawingml/2006/main" noGrp="1"/>
          </p:cNvSpPr>
          <p:nvPr/>
        </p:nvSpPr>
        <p:spPr>
          <a:xfrm xmlns:a="http://schemas.openxmlformats.org/drawingml/2006/main">
            <a:off x="6705600" y="351472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7" name="check-dot-19-5">
            <a:extLst xmlns:a="http://schemas.openxmlformats.org/drawingml/2006/main">
              <a:ext uri="{FF2B5EF4-FFF2-40B4-BE49-F238E27FC236}">
                <a16:creationId xmlns:a16="http://schemas.microsoft.com/office/drawing/2014/main" id="{ADB8C816-1CDE-452D-B942-583A644807BA}"/>
              </a:ext>
            </a:extLst>
          </p:cNvPr>
          <p:cNvSpPr>
            <a:spLocks xmlns:a="http://schemas.openxmlformats.org/drawingml/2006/main" noGrp="1"/>
          </p:cNvSpPr>
          <p:nvPr/>
        </p:nvSpPr>
        <p:spPr>
          <a:xfrm xmlns:a="http://schemas.openxmlformats.org/drawingml/2006/main">
            <a:off x="6248400" y="38481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8" name="check-mark-19-5">
            <a:extLst xmlns:a="http://schemas.openxmlformats.org/drawingml/2006/main">
              <a:ext uri="{FF2B5EF4-FFF2-40B4-BE49-F238E27FC236}">
                <a16:creationId xmlns:a16="http://schemas.microsoft.com/office/drawing/2014/main" id="{10A28B76-F812-442D-8E4B-9E956188A205}"/>
              </a:ext>
            </a:extLst>
          </p:cNvPr>
          <p:cNvSpPr>
            <a:spLocks xmlns:a="http://schemas.openxmlformats.org/drawingml/2006/main" noGrp="1"/>
          </p:cNvSpPr>
          <p:nvPr/>
        </p:nvSpPr>
        <p:spPr>
          <a:xfrm xmlns:a="http://schemas.openxmlformats.org/drawingml/2006/main">
            <a:off x="6248400" y="38385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29" name="check-item-19-5">
            <a:extLst xmlns:a="http://schemas.openxmlformats.org/drawingml/2006/main">
              <a:ext uri="{FF2B5EF4-FFF2-40B4-BE49-F238E27FC236}">
                <a16:creationId xmlns:a16="http://schemas.microsoft.com/office/drawing/2014/main" id="{682ACA04-A20A-4FF7-8D95-D5447E89688C}"/>
              </a:ext>
            </a:extLst>
          </p:cNvPr>
          <p:cNvSpPr>
            <a:spLocks xmlns:a="http://schemas.openxmlformats.org/drawingml/2006/main" noGrp="1"/>
          </p:cNvSpPr>
          <p:nvPr/>
        </p:nvSpPr>
        <p:spPr>
          <a:xfrm xmlns:a="http://schemas.openxmlformats.org/drawingml/2006/main">
            <a:off x="6705600" y="37909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救助・連絡・中止条件が明確</a:t>
            </a:r>
          </a:p>
        </p:txBody>
      </p:sp>
      <p:sp>
        <p:nvSpPr>
          <p:cNvPr id="30" name="check-line-19-5">
            <a:extLst xmlns:a="http://schemas.openxmlformats.org/drawingml/2006/main">
              <a:ext uri="{FF2B5EF4-FFF2-40B4-BE49-F238E27FC236}">
                <a16:creationId xmlns:a16="http://schemas.microsoft.com/office/drawing/2014/main" id="{960122DA-EA2D-4885-A895-E76EC28A81CB}"/>
              </a:ext>
            </a:extLst>
          </p:cNvPr>
          <p:cNvSpPr>
            <a:spLocks xmlns:a="http://schemas.openxmlformats.org/drawingml/2006/main" noGrp="1"/>
          </p:cNvSpPr>
          <p:nvPr/>
        </p:nvSpPr>
        <p:spPr>
          <a:xfrm xmlns:a="http://schemas.openxmlformats.org/drawingml/2006/main">
            <a:off x="6705600" y="42957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1" name="body-line-19">
            <a:extLst xmlns:a="http://schemas.openxmlformats.org/drawingml/2006/main">
              <a:ext uri="{FF2B5EF4-FFF2-40B4-BE49-F238E27FC236}">
                <a16:creationId xmlns:a16="http://schemas.microsoft.com/office/drawing/2014/main" id="{E68B57BB-C990-4D40-96D4-6AB1160FBCE4}"/>
              </a:ext>
            </a:extLst>
          </p:cNvPr>
          <p:cNvSpPr>
            <a:spLocks xmlns:a="http://schemas.openxmlformats.org/drawingml/2006/main" noGrp="1"/>
          </p:cNvSpPr>
          <p:nvPr/>
        </p:nvSpPr>
        <p:spPr>
          <a:xfrm xmlns:a="http://schemas.openxmlformats.org/drawingml/2006/main">
            <a:off x="647700" y="5543550"/>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526270"/>
                </a:solidFill>
              </a:defRPr>
            </a:pPr>
            <a:r>
              <a:rPr sz="1200" b="0">
                <a:solidFill>
                  <a:srgbClr val="526270"/>
                </a:solidFill>
              </a:rPr>
              <a:t>確認不能なら推測で開始せず、責任者へエスカレーション　｜　不適合を直した結果まで記録</a:t>
            </a:r>
          </a:p>
        </p:txBody>
      </p:sp>
      <p:sp>
        <p:nvSpPr>
          <p:cNvPr id="32" name="footer-rule-19">
            <a:extLst xmlns:a="http://schemas.openxmlformats.org/drawingml/2006/main">
              <a:ext uri="{FF2B5EF4-FFF2-40B4-BE49-F238E27FC236}">
                <a16:creationId xmlns:a16="http://schemas.microsoft.com/office/drawing/2014/main" id="{A6D30DC5-39F9-40EA-90D3-997A4FE342B8}"/>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3" name="footer-sources-19">
            <a:extLst xmlns:a="http://schemas.openxmlformats.org/drawingml/2006/main">
              <a:ext uri="{FF2B5EF4-FFF2-40B4-BE49-F238E27FC236}">
                <a16:creationId xmlns:a16="http://schemas.microsoft.com/office/drawing/2014/main" id="{4FE3B453-C13C-4F01-8207-3A599CA6F395}"/>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S3・S1・S7・S6・S20・S21・S22（詳細はノート）</a:t>
            </a:r>
          </a:p>
        </p:txBody>
      </p:sp>
      <p:sp>
        <p:nvSpPr>
          <p:cNvPr id="34" name="footer-page-19">
            <a:extLst xmlns:a="http://schemas.openxmlformats.org/drawingml/2006/main">
              <a:ext uri="{FF2B5EF4-FFF2-40B4-BE49-F238E27FC236}">
                <a16:creationId xmlns:a16="http://schemas.microsoft.com/office/drawing/2014/main" id="{32C5B3FD-C9E5-41AF-9A9B-18D424CE260E}"/>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19 / 20</a:t>
            </a:r>
          </a:p>
        </p:txBody>
      </p:sp>
    </p:spTree>
    <p:extLst>
      <p:ext uri="{BB962C8B-B14F-4D97-AF65-F5344CB8AC3E}">
        <p14:creationId xmlns:p14="http://schemas.microsoft.com/office/powerpoint/2010/main" val="430228959"/>
      </p:ext>
    </p:extLst>
  </p:cSld>
</p:sld>
</file>

<file path=ppt/slides/slide20.xml><?xml version="1.0" encoding="utf-8"?>
<p:sld xmlns:p="http://schemas.openxmlformats.org/presentationml/2006/main">
  <p:cSld>
    <p:bg>
      <p:bgPr>
        <a:solidFill xmlns:a="http://schemas.openxmlformats.org/drawingml/2006/main">
          <a:srgbClr val="064E4A"/>
        </a:solidFill>
      </p:bgPr>
    </p:bg>
    <p:spTree>
      <p:nvGrpSpPr>
        <p:cNvPr id="1" name=""/>
        <p:cNvGrpSpPr/>
        <p:nvPr/>
      </p:nvGrpSpPr>
      <p:grpSpPr>
        <a:xfrm xmlns:a="http://schemas.openxmlformats.org/drawingml/2006/main"/>
      </p:grpSpPr>
      <p:sp>
        <p:nvSpPr>
          <p:cNvPr id="15" name="summary-orange-bar">
            <a:extLst xmlns:a="http://schemas.openxmlformats.org/drawingml/2006/main">
              <a:ext uri="{FF2B5EF4-FFF2-40B4-BE49-F238E27FC236}">
                <a16:creationId xmlns:a16="http://schemas.microsoft.com/office/drawing/2014/main" id="{2E52D0CA-B890-4766-BD32-A6599BDAB5EB}"/>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2" name="summary-kicker">
            <a:extLst xmlns:a="http://schemas.openxmlformats.org/drawingml/2006/main">
              <a:ext uri="{FF2B5EF4-FFF2-40B4-BE49-F238E27FC236}">
                <a16:creationId xmlns:a16="http://schemas.microsoft.com/office/drawing/2014/main" id="{D119BB42-E1A4-4B0B-9C8C-16A1F70CCB8A}"/>
              </a:ext>
            </a:extLst>
          </p:cNvPr>
          <p:cNvSpPr>
            <a:spLocks xmlns:a="http://schemas.openxmlformats.org/drawingml/2006/main" noGrp="1"/>
          </p:cNvSpPr>
          <p:nvPr/>
        </p:nvSpPr>
        <p:spPr>
          <a:xfrm xmlns:a="http://schemas.openxmlformats.org/drawingml/2006/main">
            <a:off x="781050" y="552450"/>
            <a:ext cx="381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1">
                <a:solidFill>
                  <a:srgbClr val="BDE8E2"/>
                </a:solidFill>
              </a:defRPr>
            </a:pPr>
            <a:r>
              <a:rPr sz="1500" b="1">
                <a:solidFill>
                  <a:srgbClr val="BDE8E2"/>
                </a:solidFill>
              </a:rPr>
              <a:t>まとめ</a:t>
            </a:r>
          </a:p>
        </p:txBody>
      </p:sp>
      <p:sp>
        <p:nvSpPr>
          <p:cNvPr id="3" name="summary-title">
            <a:extLst xmlns:a="http://schemas.openxmlformats.org/drawingml/2006/main">
              <a:ext uri="{FF2B5EF4-FFF2-40B4-BE49-F238E27FC236}">
                <a16:creationId xmlns:a16="http://schemas.microsoft.com/office/drawing/2014/main" id="{D2D2BF4E-B136-47C1-90DD-9CC6A2DD69D4}"/>
              </a:ext>
            </a:extLst>
          </p:cNvPr>
          <p:cNvSpPr>
            <a:spLocks xmlns:a="http://schemas.openxmlformats.org/drawingml/2006/main" noGrp="1"/>
          </p:cNvSpPr>
          <p:nvPr/>
        </p:nvSpPr>
        <p:spPr>
          <a:xfrm xmlns:a="http://schemas.openxmlformats.org/drawingml/2006/main">
            <a:off x="781050" y="1066800"/>
            <a:ext cx="8191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600" b="1">
                <a:solidFill>
                  <a:srgbClr val="FFFFFF"/>
                </a:solidFill>
              </a:defRPr>
            </a:pPr>
            <a:r>
              <a:rPr sz="3600" b="1">
                <a:solidFill>
                  <a:srgbClr val="FFFFFF"/>
                </a:solidFill>
              </a:rPr>
              <a:t>設備で防ぎ、器具を合わせ、救助まで</a:t>
            </a:r>
          </a:p>
        </p:txBody>
      </p:sp>
      <p:sp>
        <p:nvSpPr>
          <p:cNvPr id="4" name="summary-no-0">
            <a:extLst xmlns:a="http://schemas.openxmlformats.org/drawingml/2006/main">
              <a:ext uri="{FF2B5EF4-FFF2-40B4-BE49-F238E27FC236}">
                <a16:creationId xmlns:a16="http://schemas.microsoft.com/office/drawing/2014/main" id="{A3EC9098-0565-41BB-8441-651DB1B4B334}"/>
              </a:ext>
            </a:extLst>
          </p:cNvPr>
          <p:cNvSpPr>
            <a:spLocks xmlns:a="http://schemas.openxmlformats.org/drawingml/2006/main" noGrp="1"/>
          </p:cNvSpPr>
          <p:nvPr/>
        </p:nvSpPr>
        <p:spPr>
          <a:xfrm xmlns:a="http://schemas.openxmlformats.org/drawingml/2006/main">
            <a:off x="838200" y="2381250"/>
            <a:ext cx="723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700" b="1">
                <a:solidFill>
                  <a:srgbClr val="F97316"/>
                </a:solidFill>
              </a:defRPr>
            </a:pPr>
            <a:r>
              <a:rPr sz="2700" b="1">
                <a:solidFill>
                  <a:srgbClr val="F97316"/>
                </a:solidFill>
              </a:rPr>
              <a:t>01</a:t>
            </a:r>
          </a:p>
        </p:txBody>
      </p:sp>
      <p:sp>
        <p:nvSpPr>
          <p:cNvPr id="5" name="summary-word-0">
            <a:extLst xmlns:a="http://schemas.openxmlformats.org/drawingml/2006/main">
              <a:ext uri="{FF2B5EF4-FFF2-40B4-BE49-F238E27FC236}">
                <a16:creationId xmlns:a16="http://schemas.microsoft.com/office/drawing/2014/main" id="{ABB09205-9077-4A97-ACA0-50B7D8212F95}"/>
              </a:ext>
            </a:extLst>
          </p:cNvPr>
          <p:cNvSpPr>
            <a:spLocks xmlns:a="http://schemas.openxmlformats.org/drawingml/2006/main" noGrp="1"/>
          </p:cNvSpPr>
          <p:nvPr/>
        </p:nvSpPr>
        <p:spPr>
          <a:xfrm xmlns:a="http://schemas.openxmlformats.org/drawingml/2006/main">
            <a:off x="1714500" y="238125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250" b="1">
                <a:solidFill>
                  <a:srgbClr val="FFFFFF"/>
                </a:solidFill>
              </a:defRPr>
            </a:pPr>
            <a:r>
              <a:rPr sz="2250" b="1">
                <a:solidFill>
                  <a:srgbClr val="FFFFFF"/>
                </a:solidFill>
              </a:rPr>
              <a:t>設備で防ぐ</a:t>
            </a:r>
          </a:p>
        </p:txBody>
      </p:sp>
      <p:sp>
        <p:nvSpPr>
          <p:cNvPr id="6" name="summary-no-1">
            <a:extLst xmlns:a="http://schemas.openxmlformats.org/drawingml/2006/main">
              <a:ext uri="{FF2B5EF4-FFF2-40B4-BE49-F238E27FC236}">
                <a16:creationId xmlns:a16="http://schemas.microsoft.com/office/drawing/2014/main" id="{D74BFC18-CC86-430F-87DA-F4F1B1561D06}"/>
              </a:ext>
            </a:extLst>
          </p:cNvPr>
          <p:cNvSpPr>
            <a:spLocks xmlns:a="http://schemas.openxmlformats.org/drawingml/2006/main" noGrp="1"/>
          </p:cNvSpPr>
          <p:nvPr/>
        </p:nvSpPr>
        <p:spPr>
          <a:xfrm xmlns:a="http://schemas.openxmlformats.org/drawingml/2006/main">
            <a:off x="838200" y="3371850"/>
            <a:ext cx="723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700" b="1">
                <a:solidFill>
                  <a:srgbClr val="F97316"/>
                </a:solidFill>
              </a:defRPr>
            </a:pPr>
            <a:r>
              <a:rPr sz="2700" b="1">
                <a:solidFill>
                  <a:srgbClr val="F97316"/>
                </a:solidFill>
              </a:rPr>
              <a:t>02</a:t>
            </a:r>
          </a:p>
        </p:txBody>
      </p:sp>
      <p:sp>
        <p:nvSpPr>
          <p:cNvPr id="7" name="summary-word-1">
            <a:extLst xmlns:a="http://schemas.openxmlformats.org/drawingml/2006/main">
              <a:ext uri="{FF2B5EF4-FFF2-40B4-BE49-F238E27FC236}">
                <a16:creationId xmlns:a16="http://schemas.microsoft.com/office/drawing/2014/main" id="{EF69281E-BFC3-444E-8201-9C68BC397C3D}"/>
              </a:ext>
            </a:extLst>
          </p:cNvPr>
          <p:cNvSpPr>
            <a:spLocks xmlns:a="http://schemas.openxmlformats.org/drawingml/2006/main" noGrp="1"/>
          </p:cNvSpPr>
          <p:nvPr/>
        </p:nvSpPr>
        <p:spPr>
          <a:xfrm xmlns:a="http://schemas.openxmlformats.org/drawingml/2006/main">
            <a:off x="1714500" y="337185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250" b="1">
                <a:solidFill>
                  <a:srgbClr val="FFFFFF"/>
                </a:solidFill>
              </a:defRPr>
            </a:pPr>
            <a:r>
              <a:rPr sz="2250" b="1">
                <a:solidFill>
                  <a:srgbClr val="FFFFFF"/>
                </a:solidFill>
              </a:rPr>
              <a:t>器具を合わせる</a:t>
            </a:r>
          </a:p>
        </p:txBody>
      </p:sp>
      <p:sp>
        <p:nvSpPr>
          <p:cNvPr id="8" name="summary-no-2">
            <a:extLst xmlns:a="http://schemas.openxmlformats.org/drawingml/2006/main">
              <a:ext uri="{FF2B5EF4-FFF2-40B4-BE49-F238E27FC236}">
                <a16:creationId xmlns:a16="http://schemas.microsoft.com/office/drawing/2014/main" id="{D9F0AC84-4278-40F2-8F34-B126A79C0A16}"/>
              </a:ext>
            </a:extLst>
          </p:cNvPr>
          <p:cNvSpPr>
            <a:spLocks xmlns:a="http://schemas.openxmlformats.org/drawingml/2006/main" noGrp="1"/>
          </p:cNvSpPr>
          <p:nvPr/>
        </p:nvSpPr>
        <p:spPr>
          <a:xfrm xmlns:a="http://schemas.openxmlformats.org/drawingml/2006/main">
            <a:off x="838200" y="4362450"/>
            <a:ext cx="723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700" b="1">
                <a:solidFill>
                  <a:srgbClr val="F97316"/>
                </a:solidFill>
              </a:defRPr>
            </a:pPr>
            <a:r>
              <a:rPr sz="2700" b="1">
                <a:solidFill>
                  <a:srgbClr val="F97316"/>
                </a:solidFill>
              </a:rPr>
              <a:t>03</a:t>
            </a:r>
          </a:p>
        </p:txBody>
      </p:sp>
      <p:sp>
        <p:nvSpPr>
          <p:cNvPr id="9" name="summary-word-2">
            <a:extLst xmlns:a="http://schemas.openxmlformats.org/drawingml/2006/main">
              <a:ext uri="{FF2B5EF4-FFF2-40B4-BE49-F238E27FC236}">
                <a16:creationId xmlns:a16="http://schemas.microsoft.com/office/drawing/2014/main" id="{94B022D5-1378-4D5C-A28A-124E5A18985F}"/>
              </a:ext>
            </a:extLst>
          </p:cNvPr>
          <p:cNvSpPr>
            <a:spLocks xmlns:a="http://schemas.openxmlformats.org/drawingml/2006/main" noGrp="1"/>
          </p:cNvSpPr>
          <p:nvPr/>
        </p:nvSpPr>
        <p:spPr>
          <a:xfrm xmlns:a="http://schemas.openxmlformats.org/drawingml/2006/main">
            <a:off x="1714500" y="436245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250" b="1">
                <a:solidFill>
                  <a:srgbClr val="FFFFFF"/>
                </a:solidFill>
              </a:defRPr>
            </a:pPr>
            <a:r>
              <a:rPr sz="2250" b="1">
                <a:solidFill>
                  <a:srgbClr val="FFFFFF"/>
                </a:solidFill>
              </a:rPr>
              <a:t>救助まで準備</a:t>
            </a:r>
          </a:p>
        </p:txBody>
      </p:sp>
      <p:sp>
        <p:nvSpPr>
          <p:cNvPr id="10" name="summary-action">
            <a:extLst xmlns:a="http://schemas.openxmlformats.org/drawingml/2006/main">
              <a:ext uri="{FF2B5EF4-FFF2-40B4-BE49-F238E27FC236}">
                <a16:creationId xmlns:a16="http://schemas.microsoft.com/office/drawing/2014/main" id="{C4D35F7D-4BB4-426B-AC8F-E5229055863F}"/>
              </a:ext>
            </a:extLst>
          </p:cNvPr>
          <p:cNvSpPr>
            <a:spLocks xmlns:a="http://schemas.openxmlformats.org/drawingml/2006/main" noGrp="1"/>
          </p:cNvSpPr>
          <p:nvPr/>
        </p:nvSpPr>
        <p:spPr>
          <a:xfrm xmlns:a="http://schemas.openxmlformats.org/drawingml/2006/main">
            <a:off x="819150" y="5581650"/>
            <a:ext cx="666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650" b="1">
                <a:solidFill>
                  <a:srgbClr val="E2F4F1"/>
                </a:solidFill>
              </a:defRPr>
            </a:pPr>
            <a:r>
              <a:rPr sz="1650" b="1">
                <a:solidFill>
                  <a:srgbClr val="E2F4F1"/>
                </a:solidFill>
              </a:rPr>
              <a:t>今日の現場で一つ改善する項目を決める</a:t>
            </a:r>
          </a:p>
        </p:txBody>
      </p:sp>
      <p:sp>
        <p:nvSpPr>
          <p:cNvPr id="11" name="summary-boundary">
            <a:extLst xmlns:a="http://schemas.openxmlformats.org/drawingml/2006/main">
              <a:ext uri="{FF2B5EF4-FFF2-40B4-BE49-F238E27FC236}">
                <a16:creationId xmlns:a16="http://schemas.microsoft.com/office/drawing/2014/main" id="{B8A23F01-1FA2-4884-B53C-C9225D37BA46}"/>
              </a:ext>
            </a:extLst>
          </p:cNvPr>
          <p:cNvSpPr>
            <a:spLocks xmlns:a="http://schemas.openxmlformats.org/drawingml/2006/main" noGrp="1"/>
          </p:cNvSpPr>
          <p:nvPr/>
        </p:nvSpPr>
        <p:spPr>
          <a:xfrm xmlns:a="http://schemas.openxmlformats.org/drawingml/2006/main">
            <a:off x="819150" y="60198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A9D9D3"/>
                </a:solidFill>
              </a:defRPr>
            </a:pPr>
            <a:r>
              <a:rPr sz="1200" b="0">
                <a:solidFill>
                  <a:srgbClr val="A9D9D3"/>
                </a:solidFill>
              </a:rPr>
              <a:t>法定の特別教育等は別に実施・記録</a:t>
            </a:r>
          </a:p>
        </p:txBody>
      </p:sp>
      <p:sp>
        <p:nvSpPr>
          <p:cNvPr id="12" name="summary-mascot-disc">
            <a:extLst xmlns:a="http://schemas.openxmlformats.org/drawingml/2006/main">
              <a:ext uri="{FF2B5EF4-FFF2-40B4-BE49-F238E27FC236}">
                <a16:creationId xmlns:a16="http://schemas.microsoft.com/office/drawing/2014/main" id="{6AD70387-378A-468C-8912-0414959F1FAD}"/>
              </a:ext>
            </a:extLst>
          </p:cNvPr>
          <p:cNvSpPr>
            <a:spLocks xmlns:a="http://schemas.openxmlformats.org/drawingml/2006/main" noGrp="1"/>
          </p:cNvSpPr>
          <p:nvPr/>
        </p:nvSpPr>
        <p:spPr>
          <a:xfrm xmlns:a="http://schemas.openxmlformats.org/drawingml/2006/main">
            <a:off x="8382000" y="2362200"/>
            <a:ext cx="2590800" cy="2590800"/>
          </a:xfrm>
          <a:prstGeom xmlns:a="http://schemas.openxmlformats.org/drawingml/2006/main" prst="ellipse">
            <a:avLst/>
          </a:prstGeom>
          <a:solidFill xmlns:a="http://schemas.openxmlformats.org/drawingml/2006/main">
            <a:srgbClr val="EAF6F4"/>
          </a:solidFill>
          <a:ln xmlns:a="http://schemas.openxmlformats.org/drawingml/2006/main" w="0">
            <a:noFill/>
            <a:prstDash val="solid"/>
          </a:ln>
        </p:spPr>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e76098768d7844ad"/>
          <a:stretch xmlns:a="http://schemas.openxmlformats.org/drawingml/2006/main"/>
        </p:blipFill>
        <p:spPr>
          <a:xfrm xmlns:a="http://schemas.openxmlformats.org/drawingml/2006/main">
            <a:off x="8426529" y="2362200"/>
            <a:ext cx="2501741" cy="2590800"/>
          </a:xfrm>
          <a:prstGeom xmlns:a="http://schemas.openxmlformats.org/drawingml/2006/main" prst="roundRect">
            <a:avLst>
              <a:gd name="adj" fmla="val 50000"/>
            </a:avLst>
          </a:prstGeom>
        </p:spPr>
      </p:pic>
      <p:sp>
        <p:nvSpPr>
          <p:cNvPr id="14" name="summary-slide-no">
            <a:extLst xmlns:a="http://schemas.openxmlformats.org/drawingml/2006/main">
              <a:ext uri="{FF2B5EF4-FFF2-40B4-BE49-F238E27FC236}">
                <a16:creationId xmlns:a16="http://schemas.microsoft.com/office/drawing/2014/main" id="{B583F87A-8FC7-4680-BCD9-1F891164FC99}"/>
              </a:ext>
            </a:extLst>
          </p:cNvPr>
          <p:cNvSpPr>
            <a:spLocks xmlns:a="http://schemas.openxmlformats.org/drawingml/2006/main" noGrp="1"/>
          </p:cNvSpPr>
          <p:nvPr/>
        </p:nvSpPr>
        <p:spPr>
          <a:xfrm xmlns:a="http://schemas.openxmlformats.org/drawingml/2006/main">
            <a:off x="10191750" y="6286500"/>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0">
                <a:solidFill>
                  <a:srgbClr val="92CBC4"/>
                </a:solidFill>
              </a:defRPr>
            </a:pPr>
            <a:r>
              <a:rPr sz="1050" b="0">
                <a:solidFill>
                  <a:srgbClr val="92CBC4"/>
                </a:solidFill>
              </a:rPr>
              <a:t>20 / 20</a:t>
            </a:r>
          </a:p>
        </p:txBody>
      </p:sp>
    </p:spTree>
    <p:extLst>
      <p:ext uri="{BB962C8B-B14F-4D97-AF65-F5344CB8AC3E}">
        <p14:creationId xmlns:p14="http://schemas.microsoft.com/office/powerpoint/2010/main" val="137775843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Properties xmlns="http://schemas.openxmlformats.org/officeDocument/2006/extended-properties">
  <Application>安全AIポータル編集部</Application>
  <Company>安全AIポータル編集部</Company>
  <PresentationFormat>16:9</PresentationFormat>
  <Slides>20</Slides>
  <Notes>20</Notes>
  <HiddenSlides>0</HiddenSlides>
  <SharedDoc>false</SharedDoc>
  <DocSecurity>0</DocSecurity>
</Properties>
</file>

<file path=docProps/core.xml><?xml version="1.0" encoding="utf-8"?>
<cp:coreProperties xmlns:cp="http://schemas.openxmlformats.org/package/2006/metadata/core-properties" xmlns:dc="http://purl.org/dc/elements/1.1/" xmlns:dcterms="http://purl.org/dc/terms/" xmlns:xsi="http://www.w3.org/2001/XMLSchema-instance">
  <dc:title>墜落・転落防止とフルハーネスの実務｜労働安全コンサルタント監修</dc:title>
  <dc:subject>統計と一次資料から、現場で確認するポイントを学ぶ社内安全研修</dc:subject>
  <dc:creator>安全AIポータル編集部</dc:creator>
  <cp:lastModifiedBy>安全AIポータル編集部</cp:lastModifiedBy>
  <cp:keywords>安全研修,墜落・転落防止,フルハーネス,労働安全コンサルタント監修</cp:keywords>
  <dc:description>この教材は社内安全研修用です。法定の特別教育等を代替するものではありません。 労働安全コンサルタント監修。</dc:description>
  <dcterms:created xsi:type="dcterms:W3CDTF">2026-08-27T00:00:00Z</dcterms:created>
  <dcterms:modified xsi:type="dcterms:W3CDTF">2026-08-27T00:00:00Z</dcterms:modified>
</cp:coreProperties>
</file>