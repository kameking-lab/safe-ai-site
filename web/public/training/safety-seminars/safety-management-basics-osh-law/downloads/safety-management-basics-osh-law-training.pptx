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webp" ContentType="image/webp"/>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詳しい内容
災害を防ぐ力は、作業を始める前の確認で決まる。
- 始業前に危険と対策を確認
- 作業中の変化を共有
- 終業時に記録して次へ渡す
ナレーション
この研修では、安衛法と安全管理を、作業前に何を確認し、変化があればどう止め、誰へ伝えるかという現場の行動に置き換えます。始業前には、その日の作業、設備、周囲の状況から危険を見つけ、対策と担当を確認します。作業中は、予定と違う材料、手順、天候、他職の動きが入っていないかを見ます。終業時は、見つけた問題と未完了の対策を記録し、次の班へ渡します。この一連の確認が、安全管理の基本です。
講師補足
- 参加者に、今日の最初の作業を一つ思い浮かべてもらう。
- 本教材は法定教育を代替しないことを冒頭で明示する。
主張ID
C-REF-CYCLE
[Sources]
- S3 GUIDE-MHLW-OSHMS: https://www.mhlw.go.jp/content/11200000/000591670.pdf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詳しい内容
人だけを責めると、設備や管理に残った危険を見落とす。
- 人の行動と判断
- 設備、材料、作業環境
- 手順、工程、連絡、監督
ナレーション
事故の後に、本人が気を付けていなかったという説明だけで終えると、同じ事故を生む条件が現場に残ります。人の行動には理由があります。見えにくい表示、使いにくい設備、無理な工程、伝わっていない変更、判断を急がせる状況がなかったかを確認します。設備や材料の状態、作業方法、配置、連絡、監督を一つずつ見ます。原因を広く見る目的は、責任をぼかすことではありません。次の人が同じ条件に置かれても事故に至らない仕組みをつくることです。
講師補足
- 個人名を挙げる議論ではなく、条件を列挙する練習にする。
- 参加者から、設備または工程の改善例を一つ集める。
主張ID
C-REF-MULTI
[Sources]
- 安衛法 第28条の2: https://laws.e-gov.go.jp/law/347AC0000000057#Mp-At_28_2 / e-Gov: https://laws.e-gov.go.jp/law/347AC0000000057#Mp-At_28_2
- S1 LAW-MHLW-OSH: https://laws.e-gov.go.jp/law/347AC0000000057
- S4 GUIDE-MHLW-RA: https://www.mhlw.go.jp/web/t_doc?dataId=00tb3050&amp;dataType=1&amp;pageNo=1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詳しい内容
法令の目的は、災害を防ぎ、安全と健康を守ることにある。
- 総合的・計画的な災害防止
- 安全と健康の確保
- 快適な職場環境の形成
ナレーション
労働安全衛生法の第1条は、労働災害の防止に関する総合的で計画的な対策を進め、職場における労働者の安全と健康を確保することを目的としています。事業者には、法令で定めた最低基準を守るだけでなく、災害防止に必要な措置を講じ、安全と健康を確保する責任があります。現場では、条文を覚えること自体が目的ではありません。作業条件から該当する危険を把握し、必要な設備、手順、教育、連絡へ落とし、実施されたかを確かめます。
講師補足
- 法の目的と、個別条文の具体義務を区別して説明する。
- 基準日は2026年9月20日と読み上げる。
主張ID
C-LAW-PURPOSE, C-LAW-EMPLOYER
[Sources]
- 安衛法 第1条: https://laws.e-gov.go.jp/law/347AC0000000057#Mp-At_1 / e-Gov: https://laws.e-gov.go.jp/law/347AC0000000057#Mp-At_1
- 安衛法 第3条: https://laws.e-gov.go.jp/law/347AC0000000057#Mp-At_3 / e-Gov: https://laws.e-gov.go.jp/law/347AC0000000057#Mp-At_3
- S1 LAW-MHLW-OSH: https://laws.e-gov.go.jp/law/347AC0000000057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詳しい内容
法律だけで判断せず、政省令・規則と現場条件まで確認する。
- 法律は目的と基本責任を定める
- 政令・省令・規則が具体要件を定める
- 指針・通達・社内基準を現場手順へ反映
ナレーション
安全の要件を調べるときは、法律の名称だけで判断しません。法律が目的や基本責任を示し、政令、省令、規則が対象業務や設備、教育などの具体要件を定めます。さらに、行政の指針や通達、自社基準、施工計画、作業手順を現場条件に合わせて確認します。法令サイトの統合表示には、公布済みでもまだ施行されていない条文が表示される場合があります。条文番号、対象者、義務主体、施行日をセットで確認し、将来の規定を現在の義務として説明しないようにします。
講師補足
- 将来施行条文を現行義務として読まないよう注意する。
- 具体判断では対象業務と現場条件を確認する。
主張ID
C-LAW-PURPOSE, C-LAW-FUTURE
[Sources]
- 安衛法 第1条: https://laws.e-gov.go.jp/law/347AC0000000057#Mp-At_1 / e-Gov: https://laws.e-gov.go.jp/law/347AC0000000057#Mp-At_1
- S1 LAW-MHLW-OSH: https://laws.e-gov.go.jp/law/347AC0000000057
- S2 LAW-R7-33-AMENDMENT: https://www.mhlw.go.jp/content/11300000/001497670.pdf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詳しい内容
誰が決め、誰が確認し、誰へ止める連絡をするかを作業前に決める。
- 元方・事業者は現場条件と法的立場を確認
- 職長・責任者は当日の作業と変更を調整
- 作業者は危険や異常を伝え、必要時に停止
ナレーション
複数の会社や職種が同じ場所で作業すると、個別の作業が安全でも、工程の重なりや連絡不足から危険が生まれます。作業前に、工程と立入範囲を誰が調整するか、設備状態を誰が確認するか、異常を見つけた人が誰へ連絡するか、再開を誰が判断するかを決めます。元方事業者、特定元方事業者、注文者などの法的な立場と義務は同じではありません。第30条の統括管理をすべての元方へ一律に当てはめず、事業の種類と発注関係、混在作業の条件を確認します。
講師補足
- 自社の停止連絡先を参加者が答えられるか確認する。
- 元方と特定元方の用語を混同しない。
主張ID
C-REF-ROLE, C-LAW-COORDINATION, C-LAW-WORKER
[Sources]
- 安衛法 第29条: https://laws.e-gov.go.jp/law/347AC0000000057#Mp-At_29 / e-Gov: https://laws.e-gov.go.jp/law/347AC0000000057#Mp-At_29
- 安衛法 第30条: https://laws.e-gov.go.jp/law/347AC0000000057#Mp-At_30 / e-Gov: https://laws.e-gov.go.jp/law/347AC0000000057#Mp-At_30
- S1 LAW-MHLW-OSH: https://laws.e-gov.go.jp/law/347AC0000000057
- S2 LAW-R7-33-AMENDMENT: https://www.mhlw.go.jp/content/11300000/001497670.pdf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詳しい内容
方針と計画を、実施、点検、見直しまでつなげる。
- 経営トップの方針と役割
- 目標・計画に基づく実施
- 日常点検と監査から改善
ナレーション
OSHMSは、労働安全衛生マネジメントシステムの略称です。安全衛生方針を掲げるだけでなく、目標と計画をつくり、役割と資源を定めて実施し、日常の点検やシステム監査で結果を確かめ、見直しにつなげます。現場の朝礼、巡視、是正記録も、計画と改善につながって初めて仕組みとして機能します。指摘件数を集めるだけではなく、対策が完了したか、別の危険を生んでいないか、同種の作業へ横展開したかを確認します。厚生労働省の指針に基づく管理の考え方として扱います。
講師補足
- OSHMSを認証取得の説明だけに限定しない。
- 自社の点検結果が次の計画へ反映される流れを確認する。
主張ID
C-GUIDE-OSHMS
[Sources]
- S3 GUIDE-MHLW-OSHMS: https://www.mhlw.go.jp/content/11200000/000591670.pdf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詳しい内容
危険の特定から、実施後の残留リスクの共有までを一続きで行う。
- 作業単位で危険性・有害性を特定
- 重大性と発生可能性から優先度を決定
- 対策後の残留リスクを記録して共有
ナレーション
リスクアセスメントでは、最初に作業を具体的な単位へ分け、危険性や有害性を特定します。通常作業だけでなく、清掃、詰まり除去、点検、立上げ、終了、異常処置、工程変更も確認します。次に、起こり得るけがや健康障害の重大性と、発生する可能性を分けて見積もり、対策の優先度を決めます。対策を実施した後は、危険がどこまで下がったか、何が残るかを再確認します。残留リスク、必要な保護具、停止条件を記録し、その作業に関わる人へ共有して一連の手順が完了します。
講師補足
- 点数計算だけで完了扱いにしない。
- 非定常作業と変更時を確認対象へ入れる。
主張ID
C-GUIDE-RA
[Sources]
- S4 GUIDE-MHLW-RA: https://www.mhlw.go.jp/web/t_doc?dataId=00tb3050&amp;dataType=1&amp;pageNo=1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詳しい内容
よく起きるかと、起きたときの結果を分けて考える。
- 重大性は起こり得る最も重い結果を確認
- 発生可能性は接触機会と回避の難しさを確認
- 不確かなら安全側で判断し、現場を再確認
ナレーション
リスクを見積もるときは、よく起きるかという発生可能性と、起きたときにどれほど重い結果になるかという重大性を分けます。発生頻度が低く見えても、死亡や重い後遺障害につながる危険なら優先度を下げられません。重大性は、現実的に起こり得る最も重い結果を考えます。発生可能性は、作業の頻度だけでなく、危険へ接触する機会、設備の故障や人の誤操作、回避できる時間と空間を確認します。判断材料が不足している場合は、現場と設備を再確認し、安全側で対策を選びます。
講師補足
- 小さなヒヤリでも潜在的な重大性を確認する。
- 点数より、評価根拠を言葉で残すことを重視する。
主張ID
C-GUIDE-RA
[Sources]
- S4 GUIDE-MHLW-RA: https://www.mhlw.go.jp/web/t_doc?dataId=00tb3050&amp;dataType=1&amp;pageNo=1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詳しい内容
危険そのものをなくす対策から検討し、保護具だけで終えない。
- 法令上の措置は必ず実施
- 廃止・変更と工学的対策を優先
- 管理的対策と保護具の後も残留リスクを確認
ナレーション
対策を決めるときは、該当する法令上の措置を確実に行います。そのうえで、危険な作業をなくせないか、材料や方法をより安全なものへ変更できないかを先に検討します。次に、囲い、インターロック、局所排気、機械化など、人の注意に頼りにくい工学的対策を考えます。手順、立入管理、合図、教育などの管理的対策を組み合わせ、最後に残る危険へ適合する個人用保護具を選びます。保護具を配布した時点で完了とせず、適合、着用、点検、交換と残留リスクを確認します。
講師補足
- 各段階が代替関係とは限らず、必要に応じて組み合わせる。
- 法令上の措置を順序の外側へ置いて必ず実施する。
主張ID
C-GUIDE-CONTROLS
[Sources]
- S4 GUIDE-MHLW-RA: https://www.mhlw.go.jp/web/t_doc?dataId=00tb3050&amp;dataType=1&amp;pageNo=1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詳しい内容
設備、周囲、人、手順の条件がそろったことを確かめてから始める。
- 仕様・能力・禁止事項を確認
- 防護装置と停止機能を確認
- 担当、合図、立入、異常時の停止を共有
ナレーション
機械作業は、機械が動くことだけを確認して始めません。仕様、能力、禁止事項が予定作業に合うか、防護装置、インターロック、非常停止が有効かを確認します。足場、照明、通路、周囲の作業との干渉も見ます。操作者、補助者、合図者の役割と立入範囲を共有し、清掃、調整、詰まり除去、点検で停止が必要になる条件を決めます。対象業務に必要な教育や資格がある場合は、作業者が要件を満たすことも開始条件です。一つでも不明な条件があれば、確認が終わるまで開始を保留します。
講師補足
- 特定機械の個別法令要件は別途確認すると説明する。
- 資格と教育は対象業務ごとに確認する。
主張ID
C-GUIDE-RA, C-GUIDE-CONTROLS, C-LAW-TRAINING
[Sources]
- 安衛法 第59条: https://laws.e-gov.go.jp/law/347AC0000000057#Mp-At_59 / e-Gov: https://laws.e-gov.go.jp/law/347AC0000000057#Mp-At_59
- 安衛法 第61条: https://laws.e-gov.go.jp/law/347AC0000000057#Mp-At_61 / e-Gov: https://laws.e-gov.go.jp/law/347AC0000000057#Mp-At_61
- S4 GUIDE-MHLW-RA: https://www.mhlw.go.jp/web/t_doc?dataId=00tb3050&amp;dataType=1&amp;pageNo=1
- S1 LAW-MHLW-OSH: https://laws.e-gov.go.jp/law/347AC0000000057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詳しい内容
人、設備、材料、手順、周囲条件が変わったら、いったん止めて見直す。
- 変更を見つけた人が停止を提案できる
- 変更部分と影響範囲を再評価
- 対策と残留リスクを共有して再開
ナレーション
予定どおりに始めても、作業中には条件が変わります。担当者の交代、機械の不調、材料の変更、手順の省略、天候、照明、他職の進入、工程の遅れは、新しい危険を生む合図です。変化を見つけた人が作業をいったん止め、安全な状態にして責任者へ連絡できるようにします。変更した部分だけでなく、その前後の工程と周囲への影響も再評価します。対策、役割、停止条件、残留リスクを関係者へ共有し、理解を確かめた後に再開します。停止を責めない運用が、変化を早く表に出します。
講師補足
- 自社の停止権限と連絡先を具体的に確認する。
- 工程遅れも変更管理の対象になると説明する。
主張ID
C-GUIDE-RA, C-REF-CYCLE, C-REF-ROLE
[Sources]
- S4 GUIDE-MHLW-RA: https://www.mhlw.go.jp/web/t_doc?dataId=00tb3050&amp;dataType=1&amp;pageNo=1
- S3 GUIDE-MHLW-OSHMS: https://www.mhlw.go.jp/content/11200000/000591670.pdf
- S1 LAW-MHLW-OSH: https://laws.e-gov.go.jp/law/347AC0000000057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詳しい内容
危険、対策、役割、停止条件、連絡先を自分の言葉で説明できるか。
- 今日の作業で最も重い結果につながる危険は何か
- 危険をなくす、または下げる対策は何か
- 変更時に誰が止め、誰へ連絡し、誰が再開を決めるか
ナレーション
最後に、今日の作業へ置き換えて確認します。第一に、どの場面で、何に接触し、どのようなけがや健康障害が起こり得るかを言えますか。第二に、危険をなくす変更、設備による対策、管理的対策、保護具をどの順に検討しましたか。第三に、自分の役割と責任者の役割を言えますか。第四に、どの変化や異常で作業を止めますか。第五に、止めた後の連絡先と再開条件が分かりますか。答えられない項目は、作業を始める前に現場で確認してください。続いて5問のクイズで理解を確かめます。
講師補足
- 参加者に一項目ずつ声に出して答えてもらう。
- 回答できない項目は、その場で担当者と連絡先を確認する。
主張ID
C-REF-MULTI, C-GUIDE-RA, C-GUIDE-CONTROLS, C-REF-ROLE
[Sources]
- 安衛法 第28条の2: https://laws.e-gov.go.jp/law/347AC0000000057#Mp-At_28_2 / e-Gov: https://laws.e-gov.go.jp/law/347AC0000000057#Mp-At_28_2
- S1 LAW-MHLW-OSH: https://laws.e-gov.go.jp/law/347AC0000000057
- S4 GUIDE-MHLW-RA: https://www.mhlw.go.jp/web/t_doc?dataId=00tb3050&amp;dataType=1&amp;pageNo=1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webp"/><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webp"/><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webp"/><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webp"/><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webp"/><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webp"/><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webp"/><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webp"/><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webp"/><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webp"/><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webp"/><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webp"/><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3C35"/>
        </a:solidFill>
      </p:bgPr>
    </p:bg>
    <p:spTree>
      <p:nvGrpSpPr>
        <p:cNvPr id="1" name=""/>
        <p:cNvGrpSpPr/>
        <p:nvPr/>
      </p:nvGrpSpPr>
      <p:grpSpPr>
        <a:xfrm>
          <a:off x="0" y="0"/>
          <a:ext cx="0" cy="0"/>
          <a:chOff x="0" y="0"/>
          <a:chExt cx="0" cy="0"/>
        </a:xfrm>
      </p:grpSpPr>
      <p:pic>
        <p:nvPicPr>
          <p:cNvPr id="2" name="Image 0" descr="安全な現場づくりを案内するチワワの先生">    </p:cNvPr>
          <p:cNvPicPr>
            <a:picLocks noChangeAspect="1"/>
          </p:cNvPicPr>
          <p:nvPr/>
        </p:nvPicPr>
        <p:blipFill>
          <a:blip r:embed="rId1"/>
          <a:srcRect l="0" r="0" t="26" b="26"/>
          <a:stretch/>
        </p:blipFill>
        <p:spPr>
          <a:xfrm>
            <a:off x="0" y="0"/>
            <a:ext cx="12191970" cy="6858000"/>
          </a:xfrm>
          <a:prstGeom prst="rect">
            <a:avLst/>
          </a:prstGeom>
        </p:spPr>
      </p:pic>
      <p:sp>
        <p:nvSpPr>
          <p:cNvPr id="3" name="Shape 0"/>
          <p:cNvSpPr/>
          <p:nvPr/>
        </p:nvSpPr>
        <p:spPr>
          <a:xfrm>
            <a:off x="0" y="0"/>
            <a:ext cx="6953280" cy="6858000"/>
          </a:xfrm>
          <a:prstGeom prst="rect">
            <a:avLst/>
          </a:prstGeom>
          <a:solidFill>
            <a:srgbClr val="073C35"/>
          </a:solidFill>
          <a:ln w="12700">
            <a:solidFill>
              <a:srgbClr val="FFFFFF">
                <a:alpha val="0"/>
              </a:srgbClr>
            </a:solidFill>
            <a:prstDash val="solid"/>
          </a:ln>
        </p:spPr>
      </p:sp>
      <p:sp>
        <p:nvSpPr>
          <p:cNvPr id="4" name="Shape 1"/>
          <p:cNvSpPr/>
          <p:nvPr/>
        </p:nvSpPr>
        <p:spPr>
          <a:xfrm>
            <a:off x="6667530" y="0"/>
            <a:ext cx="5524530" cy="6858000"/>
          </a:xfrm>
          <a:prstGeom prst="rect">
            <a:avLst/>
          </a:prstGeom>
          <a:solidFill>
            <a:srgbClr val="073C35">
              <a:alpha val="65000"/>
            </a:srgbClr>
          </a:solidFill>
          <a:ln w="12700">
            <a:solidFill>
              <a:srgbClr val="FFFFFF">
                <a:alpha val="0"/>
              </a:srgbClr>
            </a:solidFill>
            <a:prstDash val="solid"/>
          </a:ln>
        </p:spPr>
      </p:sp>
      <p:sp>
        <p:nvSpPr>
          <p:cNvPr id="5" name="Shape 2"/>
          <p:cNvSpPr/>
          <p:nvPr/>
        </p:nvSpPr>
        <p:spPr>
          <a:xfrm>
            <a:off x="0" y="0"/>
            <a:ext cx="209580" cy="6858000"/>
          </a:xfrm>
          <a:prstGeom prst="rect">
            <a:avLst/>
          </a:prstGeom>
          <a:solidFill>
            <a:srgbClr val="F6A234"/>
          </a:solidFill>
          <a:ln w="12700">
            <a:solidFill>
              <a:srgbClr val="FFFFFF">
                <a:alpha val="0"/>
              </a:srgbClr>
            </a:solidFill>
            <a:prstDash val="solid"/>
          </a:ln>
        </p:spPr>
      </p:sp>
      <p:sp>
        <p:nvSpPr>
          <p:cNvPr id="6" name="Text 3"/>
          <p:cNvSpPr/>
          <p:nvPr/>
        </p:nvSpPr>
        <p:spPr>
          <a:xfrm>
            <a:off x="800100" y="647670"/>
            <a:ext cx="5048220" cy="285750"/>
          </a:xfrm>
          <a:prstGeom prst="rect">
            <a:avLst/>
          </a:prstGeom>
          <a:noFill/>
          <a:ln/>
        </p:spPr>
        <p:txBody>
          <a:bodyPr wrap="square" lIns="0" tIns="0" rIns="0" bIns="0" rtlCol="0" anchor="ctr">
            <a:normAutofit/>
          </a:bodyPr>
          <a:lstStyle/>
          <a:p>
            <a:pPr algn="l" indent="0" marL="0">
              <a:buNone/>
            </a:pPr>
            <a:r>
              <a:rPr lang="en-US" sz="1430" b="1" dirty="0">
                <a:solidFill>
                  <a:srgbClr val="A8E8D7"/>
                </a:solidFill>
                <a:latin typeface="Yu Gothic" pitchFamily="34" charset="0"/>
                <a:ea typeface="Yu Gothic" pitchFamily="34" charset="-122"/>
                <a:cs typeface="Yu Gothic" pitchFamily="34" charset="-120"/>
              </a:rPr>
              <a:t>第1章 安衛法と安全管理のしくみ</a:t>
            </a:r>
            <a:endParaRPr lang="en-US" sz="1430" dirty="0"/>
          </a:p>
        </p:txBody>
      </p:sp>
      <p:sp>
        <p:nvSpPr>
          <p:cNvPr id="7" name="Text 4"/>
          <p:cNvSpPr/>
          <p:nvPr/>
        </p:nvSpPr>
        <p:spPr>
          <a:xfrm>
            <a:off x="800100" y="1285921"/>
            <a:ext cx="6572250" cy="1352580"/>
          </a:xfrm>
          <a:prstGeom prst="rect">
            <a:avLst/>
          </a:prstGeom>
          <a:noFill/>
          <a:ln/>
        </p:spPr>
        <p:txBody>
          <a:bodyPr wrap="square" lIns="0" tIns="0" rIns="0" bIns="0" rtlCol="0" anchor="ctr">
            <a:normAutofit/>
          </a:bodyPr>
          <a:lstStyle/>
          <a:p>
            <a:pPr algn="l" indent="0" marL="0">
              <a:buNone/>
            </a:pPr>
            <a:r>
              <a:rPr lang="en-US" sz="4200" b="1" dirty="0">
                <a:solidFill>
                  <a:srgbClr val="FFFFFF"/>
                </a:solidFill>
                <a:latin typeface="Yu Gothic" pitchFamily="34" charset="0"/>
                <a:ea typeface="Yu Gothic" pitchFamily="34" charset="-122"/>
                <a:cs typeface="Yu Gothic" pitchFamily="34" charset="-120"/>
              </a:rPr>
              <a:t>開始前の安全確認</a:t>
            </a:r>
            <a:endParaRPr lang="en-US" sz="4200" dirty="0"/>
          </a:p>
        </p:txBody>
      </p:sp>
      <p:sp>
        <p:nvSpPr>
          <p:cNvPr id="8" name="Text 5"/>
          <p:cNvSpPr/>
          <p:nvPr/>
        </p:nvSpPr>
        <p:spPr>
          <a:xfrm>
            <a:off x="838230" y="2895630"/>
            <a:ext cx="5619720" cy="685800"/>
          </a:xfrm>
          <a:prstGeom prst="rect">
            <a:avLst/>
          </a:prstGeom>
          <a:noFill/>
          <a:ln/>
        </p:spPr>
        <p:txBody>
          <a:bodyPr wrap="square" lIns="0" tIns="0" rIns="0" bIns="0" rtlCol="0" anchor="ctr">
            <a:normAutofit/>
          </a:bodyPr>
          <a:lstStyle/>
          <a:p>
            <a:pPr algn="l" indent="0" marL="0">
              <a:buNone/>
            </a:pPr>
            <a:r>
              <a:rPr lang="en-US" sz="1880" dirty="0">
                <a:solidFill>
                  <a:srgbClr val="E6FAF1"/>
                </a:solidFill>
                <a:latin typeface="Yu Gothic" pitchFamily="34" charset="0"/>
                <a:ea typeface="Yu Gothic" pitchFamily="34" charset="-122"/>
                <a:cs typeface="Yu Gothic" pitchFamily="34" charset="-120"/>
              </a:rPr>
              <a:t>始める前に危険と対策を確認</a:t>
            </a:r>
            <a:endParaRPr lang="en-US" sz="1880" dirty="0"/>
          </a:p>
        </p:txBody>
      </p:sp>
      <p:sp>
        <p:nvSpPr>
          <p:cNvPr id="9" name="Shape 6"/>
          <p:cNvSpPr/>
          <p:nvPr/>
        </p:nvSpPr>
        <p:spPr>
          <a:xfrm>
            <a:off x="838230" y="4000500"/>
            <a:ext cx="4762470" cy="19020"/>
          </a:xfrm>
          <a:prstGeom prst="rect">
            <a:avLst/>
          </a:prstGeom>
          <a:solidFill>
            <a:srgbClr val="77BFAE"/>
          </a:solidFill>
          <a:ln w="12700">
            <a:solidFill>
              <a:srgbClr val="FFFFFF">
                <a:alpha val="0"/>
              </a:srgbClr>
            </a:solidFill>
            <a:prstDash val="solid"/>
          </a:ln>
        </p:spPr>
      </p:sp>
      <p:sp>
        <p:nvSpPr>
          <p:cNvPr id="10" name="Text 7"/>
          <p:cNvSpPr/>
          <p:nvPr/>
        </p:nvSpPr>
        <p:spPr>
          <a:xfrm>
            <a:off x="838230" y="4219590"/>
            <a:ext cx="5333970" cy="666780"/>
          </a:xfrm>
          <a:prstGeom prst="rect">
            <a:avLst/>
          </a:prstGeom>
          <a:noFill/>
          <a:ln/>
        </p:spPr>
        <p:txBody>
          <a:bodyPr wrap="square" lIns="0" tIns="0" rIns="0" bIns="0" rtlCol="0" anchor="ctr">
            <a:normAutofit/>
          </a:bodyPr>
          <a:lstStyle/>
          <a:p>
            <a:pPr algn="l" indent="0" marL="0">
              <a:buNone/>
            </a:pPr>
            <a:r>
              <a:rPr lang="en-US" sz="1430" b="1" dirty="0">
                <a:solidFill>
                  <a:srgbClr val="FFFFFF"/>
                </a:solidFill>
                <a:latin typeface="Yu Gothic" pitchFamily="34" charset="0"/>
                <a:ea typeface="Yu Gothic" pitchFamily="34" charset="-122"/>
                <a:cs typeface="Yu Gothic" pitchFamily="34" charset="-120"/>
              </a:rPr>
              <a:t>始業前に確認　変化を共有　記録して引継ぐ</a:t>
            </a:r>
            <a:endParaRPr lang="en-US" sz="1430" dirty="0"/>
          </a:p>
        </p:txBody>
      </p:sp>
      <p:sp>
        <p:nvSpPr>
          <p:cNvPr id="11" name="Text 8"/>
          <p:cNvSpPr/>
          <p:nvPr/>
        </p:nvSpPr>
        <p:spPr>
          <a:xfrm>
            <a:off x="838230" y="5743621"/>
            <a:ext cx="5619720" cy="390540"/>
          </a:xfrm>
          <a:prstGeom prst="rect">
            <a:avLst/>
          </a:prstGeom>
          <a:noFill/>
          <a:ln/>
        </p:spPr>
        <p:txBody>
          <a:bodyPr wrap="square" lIns="0" tIns="0" rIns="0" bIns="0" rtlCol="0" anchor="ctr">
            <a:normAutofit/>
          </a:bodyPr>
          <a:lstStyle/>
          <a:p>
            <a:pPr algn="l" indent="0" marL="0">
              <a:buNone/>
            </a:pPr>
            <a:r>
              <a:rPr lang="en-US" sz="1130" dirty="0">
                <a:solidFill>
                  <a:srgbClr val="BFE6DA"/>
                </a:solidFill>
                <a:latin typeface="Yu Gothic" pitchFamily="34" charset="0"/>
                <a:ea typeface="Yu Gothic" pitchFamily="34" charset="-122"/>
                <a:cs typeface="Yu Gothic" pitchFamily="34" charset="-120"/>
              </a:rPr>
              <a:t>社内安全研修用です。法定の雇入れ時・作業変更時教育、特別教育、職長教育等は対象作業に応じて別に実施してください。</a:t>
            </a:r>
            <a:endParaRPr lang="en-US" sz="1130" dirty="0"/>
          </a:p>
        </p:txBody>
      </p:sp>
      <p:sp>
        <p:nvSpPr>
          <p:cNvPr id="12" name="Text 9"/>
          <p:cNvSpPr/>
          <p:nvPr/>
        </p:nvSpPr>
        <p:spPr>
          <a:xfrm>
            <a:off x="838230" y="6267480"/>
            <a:ext cx="2667030" cy="238110"/>
          </a:xfrm>
          <a:prstGeom prst="rect">
            <a:avLst/>
          </a:prstGeom>
          <a:noFill/>
          <a:ln/>
        </p:spPr>
        <p:txBody>
          <a:bodyPr wrap="square" lIns="0" tIns="0" rIns="0" bIns="0" rtlCol="0" anchor="ctr">
            <a:normAutofit/>
          </a:bodyPr>
          <a:lstStyle/>
          <a:p>
            <a:pPr algn="l" indent="0" marL="0">
              <a:buNone/>
            </a:pPr>
            <a:r>
              <a:rPr lang="en-US" sz="1050" dirty="0">
                <a:solidFill>
                  <a:srgbClr val="A3D7CA"/>
                </a:solidFill>
                <a:latin typeface="Yu Gothic" pitchFamily="34" charset="0"/>
                <a:ea typeface="Yu Gothic" pitchFamily="34" charset="-122"/>
                <a:cs typeface="Yu Gothic" pitchFamily="34" charset="-120"/>
              </a:rPr>
              <a:t>基準日 2026年9月20日</a:t>
            </a:r>
            <a:endParaRPr lang="en-US" sz="1050" dirty="0"/>
          </a:p>
        </p:txBody>
      </p:sp>
      <p:sp>
        <p:nvSpPr>
          <p:cNvPr id="13" name="Text 10"/>
          <p:cNvSpPr/>
          <p:nvPr/>
        </p:nvSpPr>
        <p:spPr>
          <a:xfrm>
            <a:off x="10382280" y="6267480"/>
            <a:ext cx="1028700" cy="238110"/>
          </a:xfrm>
          <a:prstGeom prst="rect">
            <a:avLst/>
          </a:prstGeom>
          <a:noFill/>
          <a:ln/>
        </p:spPr>
        <p:txBody>
          <a:bodyPr wrap="square" lIns="0" tIns="0" rIns="0" bIns="0" rtlCol="0" anchor="ctr">
            <a:normAutofit/>
          </a:bodyPr>
          <a:lstStyle/>
          <a:p>
            <a:pPr algn="r" indent="0" marL="0">
              <a:buNone/>
            </a:pPr>
            <a:r>
              <a:rPr lang="en-US" sz="1050" b="1" dirty="0">
                <a:solidFill>
                  <a:srgbClr val="FFFFFF"/>
                </a:solidFill>
                <a:latin typeface="Yu Gothic" pitchFamily="34" charset="0"/>
                <a:ea typeface="Yu Gothic" pitchFamily="34" charset="-122"/>
                <a:cs typeface="Yu Gothic" pitchFamily="34" charset="-120"/>
              </a:rPr>
              <a:t>01 / 12</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8"/>
        </a:solidFill>
      </p:bgPr>
    </p:bg>
    <p:spTree>
      <p:nvGrpSpPr>
        <p:cNvPr id="1" name=""/>
        <p:cNvGrpSpPr/>
        <p:nvPr/>
      </p:nvGrpSpPr>
      <p:grpSpPr>
        <a:xfrm>
          <a:off x="0" y="0"/>
          <a:ext cx="0" cy="0"/>
          <a:chOff x="0" y="0"/>
          <a:chExt cx="0" cy="0"/>
        </a:xfrm>
      </p:grpSpPr>
      <p:sp>
        <p:nvSpPr>
          <p:cNvPr id="2" name="Shape 0"/>
          <p:cNvSpPr/>
          <p:nvPr/>
        </p:nvSpPr>
        <p:spPr>
          <a:xfrm>
            <a:off x="0" y="0"/>
            <a:ext cx="171450" cy="6858000"/>
          </a:xfrm>
          <a:prstGeom prst="rect">
            <a:avLst/>
          </a:prstGeom>
          <a:solidFill>
            <a:srgbClr val="0A6257"/>
          </a:solidFill>
          <a:ln w="12700">
            <a:solidFill>
              <a:srgbClr val="FFFFFF">
                <a:alpha val="0"/>
              </a:srgbClr>
            </a:solidFill>
            <a:prstDash val="solid"/>
          </a:ln>
        </p:spPr>
      </p:sp>
      <p:sp>
        <p:nvSpPr>
          <p:cNvPr id="3" name="Text 1"/>
          <p:cNvSpPr/>
          <p:nvPr/>
        </p:nvSpPr>
        <p:spPr>
          <a:xfrm>
            <a:off x="723930" y="400050"/>
            <a:ext cx="5715000" cy="257221"/>
          </a:xfrm>
          <a:prstGeom prst="rect">
            <a:avLst/>
          </a:prstGeom>
          <a:noFill/>
          <a:ln/>
        </p:spPr>
        <p:txBody>
          <a:bodyPr wrap="square" lIns="0" tIns="0" rIns="0" bIns="0" rtlCol="0" anchor="ctr">
            <a:normAutofit/>
          </a:bodyPr>
          <a:lstStyle/>
          <a:p>
            <a:pPr algn="l" indent="0" marL="0">
              <a:buNone/>
            </a:pPr>
            <a:r>
              <a:rPr lang="en-US" sz="1200" b="1" dirty="0">
                <a:solidFill>
                  <a:srgbClr val="0A6257"/>
                </a:solidFill>
                <a:latin typeface="Yu Gothic" pitchFamily="34" charset="0"/>
                <a:ea typeface="Yu Gothic" pitchFamily="34" charset="-122"/>
                <a:cs typeface="Yu Gothic" pitchFamily="34" charset="-120"/>
              </a:rPr>
              <a:t>原因の見方</a:t>
            </a:r>
            <a:endParaRPr lang="en-US" sz="1200" dirty="0"/>
          </a:p>
        </p:txBody>
      </p:sp>
      <p:sp>
        <p:nvSpPr>
          <p:cNvPr id="4" name="Text 2"/>
          <p:cNvSpPr/>
          <p:nvPr/>
        </p:nvSpPr>
        <p:spPr>
          <a:xfrm>
            <a:off x="8162940" y="381030"/>
            <a:ext cx="3238530" cy="266730"/>
          </a:xfrm>
          <a:prstGeom prst="rect">
            <a:avLst/>
          </a:prstGeom>
          <a:noFill/>
          <a:ln/>
        </p:spPr>
        <p:txBody>
          <a:bodyPr wrap="square" lIns="0" tIns="0" rIns="0" bIns="0" rtlCol="0" anchor="ctr">
            <a:normAutofit/>
          </a:bodyPr>
          <a:lstStyle/>
          <a:p>
            <a:pPr algn="r" indent="0" marL="0">
              <a:buNone/>
            </a:pPr>
            <a:r>
              <a:rPr lang="en-US" sz="1130" b="1" dirty="0">
                <a:solidFill>
                  <a:srgbClr val="56706B"/>
                </a:solidFill>
                <a:latin typeface="Yu Gothic" pitchFamily="34" charset="0"/>
                <a:ea typeface="Yu Gothic" pitchFamily="34" charset="-122"/>
                <a:cs typeface="Yu Gothic" pitchFamily="34" charset="-120"/>
              </a:rPr>
              <a:t>安全管理</a:t>
            </a:r>
            <a:endParaRPr lang="en-US" sz="1130" dirty="0"/>
          </a:p>
        </p:txBody>
      </p:sp>
      <p:sp>
        <p:nvSpPr>
          <p:cNvPr id="5" name="Text 3"/>
          <p:cNvSpPr/>
          <p:nvPr/>
        </p:nvSpPr>
        <p:spPr>
          <a:xfrm>
            <a:off x="723930" y="781080"/>
            <a:ext cx="10668030" cy="581010"/>
          </a:xfrm>
          <a:prstGeom prst="rect">
            <a:avLst/>
          </a:prstGeom>
          <a:noFill/>
          <a:ln/>
        </p:spPr>
        <p:txBody>
          <a:bodyPr wrap="square" lIns="0" tIns="0" rIns="0" bIns="0" rtlCol="0" anchor="ctr">
            <a:normAutofit/>
          </a:bodyPr>
          <a:lstStyle/>
          <a:p>
            <a:pPr algn="l" indent="0" marL="0">
              <a:buNone/>
            </a:pPr>
            <a:r>
              <a:rPr lang="en-US" sz="4200" b="1" dirty="0">
                <a:solidFill>
                  <a:srgbClr val="073C35"/>
                </a:solidFill>
                <a:latin typeface="Yu Gothic" pitchFamily="34" charset="0"/>
                <a:ea typeface="Yu Gothic" pitchFamily="34" charset="-122"/>
                <a:cs typeface="Yu Gothic" pitchFamily="34" charset="-120"/>
              </a:rPr>
              <a:t>事故を生む複数の条件</a:t>
            </a:r>
            <a:endParaRPr lang="en-US" sz="4200" dirty="0"/>
          </a:p>
        </p:txBody>
      </p:sp>
      <p:sp>
        <p:nvSpPr>
          <p:cNvPr id="6" name="Shape 4"/>
          <p:cNvSpPr/>
          <p:nvPr/>
        </p:nvSpPr>
        <p:spPr>
          <a:xfrm>
            <a:off x="723930" y="1457371"/>
            <a:ext cx="914400" cy="57150"/>
          </a:xfrm>
          <a:prstGeom prst="rect">
            <a:avLst/>
          </a:prstGeom>
          <a:solidFill>
            <a:srgbClr val="F6A234"/>
          </a:solidFill>
          <a:ln w="12700">
            <a:solidFill>
              <a:srgbClr val="FFFFFF">
                <a:alpha val="0"/>
              </a:srgbClr>
            </a:solidFill>
            <a:prstDash val="solid"/>
          </a:ln>
        </p:spPr>
      </p:sp>
      <p:sp>
        <p:nvSpPr>
          <p:cNvPr id="7" name="Text 5"/>
          <p:cNvSpPr/>
          <p:nvPr/>
        </p:nvSpPr>
        <p:spPr>
          <a:xfrm>
            <a:off x="723930" y="1695480"/>
            <a:ext cx="10477470" cy="466710"/>
          </a:xfrm>
          <a:prstGeom prst="rect">
            <a:avLst/>
          </a:prstGeom>
          <a:noFill/>
          <a:ln/>
        </p:spPr>
        <p:txBody>
          <a:bodyPr wrap="square" lIns="0" tIns="0" rIns="0" bIns="0" rtlCol="0" anchor="ctr">
            <a:normAutofit/>
          </a:bodyPr>
          <a:lstStyle/>
          <a:p>
            <a:pPr algn="l" indent="0" marL="0">
              <a:buNone/>
            </a:pPr>
            <a:r>
              <a:rPr lang="en-US" sz="1730" b="1" dirty="0">
                <a:solidFill>
                  <a:srgbClr val="173B36"/>
                </a:solidFill>
                <a:latin typeface="Yu Gothic" pitchFamily="34" charset="0"/>
                <a:ea typeface="Yu Gothic" pitchFamily="34" charset="-122"/>
                <a:cs typeface="Yu Gothic" pitchFamily="34" charset="-120"/>
              </a:rPr>
              <a:t>人・設備・方法・管理を広く見る</a:t>
            </a:r>
            <a:endParaRPr lang="en-US" sz="1730" dirty="0"/>
          </a:p>
        </p:txBody>
      </p:sp>
      <p:sp>
        <p:nvSpPr>
          <p:cNvPr id="8" name="Text 6"/>
          <p:cNvSpPr/>
          <p:nvPr/>
        </p:nvSpPr>
        <p:spPr>
          <a:xfrm>
            <a:off x="723930" y="2571750"/>
            <a:ext cx="552480" cy="419070"/>
          </a:xfrm>
          <a:prstGeom prst="rect">
            <a:avLst/>
          </a:prstGeom>
          <a:noFill/>
          <a:ln/>
        </p:spPr>
        <p:txBody>
          <a:bodyPr wrap="square" lIns="0" tIns="0" rIns="0" bIns="0" rtlCol="0" anchor="ctr">
            <a:normAutofit/>
          </a:bodyPr>
          <a:lstStyle/>
          <a:p>
            <a:pPr algn="l" indent="0" marL="0">
              <a:buNone/>
            </a:pPr>
            <a:r>
              <a:rPr lang="en-US" sz="2250" b="1" dirty="0">
                <a:solidFill>
                  <a:srgbClr val="0A6257"/>
                </a:solidFill>
                <a:latin typeface="Yu Gothic" pitchFamily="34" charset="0"/>
                <a:ea typeface="Yu Gothic" pitchFamily="34" charset="-122"/>
                <a:cs typeface="Yu Gothic" pitchFamily="34" charset="-120"/>
              </a:rPr>
              <a:t>01</a:t>
            </a:r>
            <a:endParaRPr lang="en-US" sz="2250" dirty="0"/>
          </a:p>
        </p:txBody>
      </p:sp>
      <p:sp>
        <p:nvSpPr>
          <p:cNvPr id="9" name="Text 7"/>
          <p:cNvSpPr/>
          <p:nvPr/>
        </p:nvSpPr>
        <p:spPr>
          <a:xfrm>
            <a:off x="1466880" y="2571750"/>
            <a:ext cx="5524530" cy="438180"/>
          </a:xfrm>
          <a:prstGeom prst="rect">
            <a:avLst/>
          </a:prstGeom>
          <a:noFill/>
          <a:ln/>
        </p:spPr>
        <p:txBody>
          <a:bodyPr wrap="square" lIns="0" tIns="0" rIns="0" bIns="0" rtlCol="0" anchor="ctr">
            <a:normAutofit/>
          </a:bodyPr>
          <a:lstStyle/>
          <a:p>
            <a:pPr algn="l" indent="0" marL="0">
              <a:buNone/>
            </a:pPr>
            <a:r>
              <a:rPr lang="en-US" sz="2030" b="1" dirty="0">
                <a:solidFill>
                  <a:srgbClr val="173B36"/>
                </a:solidFill>
                <a:latin typeface="Yu Gothic" pitchFamily="34" charset="0"/>
                <a:ea typeface="Yu Gothic" pitchFamily="34" charset="-122"/>
                <a:cs typeface="Yu Gothic" pitchFamily="34" charset="-120"/>
              </a:rPr>
              <a:t>行動と判断</a:t>
            </a:r>
            <a:endParaRPr lang="en-US" sz="2030" dirty="0"/>
          </a:p>
        </p:txBody>
      </p:sp>
      <p:sp>
        <p:nvSpPr>
          <p:cNvPr id="10" name="Text 8"/>
          <p:cNvSpPr/>
          <p:nvPr/>
        </p:nvSpPr>
        <p:spPr>
          <a:xfrm>
            <a:off x="723930" y="3352830"/>
            <a:ext cx="552480" cy="419070"/>
          </a:xfrm>
          <a:prstGeom prst="rect">
            <a:avLst/>
          </a:prstGeom>
          <a:noFill/>
          <a:ln/>
        </p:spPr>
        <p:txBody>
          <a:bodyPr wrap="square" lIns="0" tIns="0" rIns="0" bIns="0" rtlCol="0" anchor="ctr">
            <a:normAutofit/>
          </a:bodyPr>
          <a:lstStyle/>
          <a:p>
            <a:pPr algn="l" indent="0" marL="0">
              <a:buNone/>
            </a:pPr>
            <a:r>
              <a:rPr lang="en-US" sz="2250" b="1" dirty="0">
                <a:solidFill>
                  <a:srgbClr val="F6A234"/>
                </a:solidFill>
                <a:latin typeface="Yu Gothic" pitchFamily="34" charset="0"/>
                <a:ea typeface="Yu Gothic" pitchFamily="34" charset="-122"/>
                <a:cs typeface="Yu Gothic" pitchFamily="34" charset="-120"/>
              </a:rPr>
              <a:t>02</a:t>
            </a:r>
            <a:endParaRPr lang="en-US" sz="2250" dirty="0"/>
          </a:p>
        </p:txBody>
      </p:sp>
      <p:sp>
        <p:nvSpPr>
          <p:cNvPr id="11" name="Text 9"/>
          <p:cNvSpPr/>
          <p:nvPr/>
        </p:nvSpPr>
        <p:spPr>
          <a:xfrm>
            <a:off x="1466880" y="3352830"/>
            <a:ext cx="5524530" cy="438180"/>
          </a:xfrm>
          <a:prstGeom prst="rect">
            <a:avLst/>
          </a:prstGeom>
          <a:noFill/>
          <a:ln/>
        </p:spPr>
        <p:txBody>
          <a:bodyPr wrap="square" lIns="0" tIns="0" rIns="0" bIns="0" rtlCol="0" anchor="ctr">
            <a:normAutofit/>
          </a:bodyPr>
          <a:lstStyle/>
          <a:p>
            <a:pPr algn="l" indent="0" marL="0">
              <a:buNone/>
            </a:pPr>
            <a:r>
              <a:rPr lang="en-US" sz="2030" b="1" dirty="0">
                <a:solidFill>
                  <a:srgbClr val="173B36"/>
                </a:solidFill>
                <a:latin typeface="Yu Gothic" pitchFamily="34" charset="0"/>
                <a:ea typeface="Yu Gothic" pitchFamily="34" charset="-122"/>
                <a:cs typeface="Yu Gothic" pitchFamily="34" charset="-120"/>
              </a:rPr>
              <a:t>設備と環境</a:t>
            </a:r>
            <a:endParaRPr lang="en-US" sz="2030" dirty="0"/>
          </a:p>
        </p:txBody>
      </p:sp>
      <p:sp>
        <p:nvSpPr>
          <p:cNvPr id="12" name="Text 10"/>
          <p:cNvSpPr/>
          <p:nvPr/>
        </p:nvSpPr>
        <p:spPr>
          <a:xfrm>
            <a:off x="723930" y="4133820"/>
            <a:ext cx="552480" cy="419070"/>
          </a:xfrm>
          <a:prstGeom prst="rect">
            <a:avLst/>
          </a:prstGeom>
          <a:noFill/>
          <a:ln/>
        </p:spPr>
        <p:txBody>
          <a:bodyPr wrap="square" lIns="0" tIns="0" rIns="0" bIns="0" rtlCol="0" anchor="ctr">
            <a:normAutofit/>
          </a:bodyPr>
          <a:lstStyle/>
          <a:p>
            <a:pPr algn="l" indent="0" marL="0">
              <a:buNone/>
            </a:pPr>
            <a:r>
              <a:rPr lang="en-US" sz="2250" b="1" dirty="0">
                <a:solidFill>
                  <a:srgbClr val="0A6257"/>
                </a:solidFill>
                <a:latin typeface="Yu Gothic" pitchFamily="34" charset="0"/>
                <a:ea typeface="Yu Gothic" pitchFamily="34" charset="-122"/>
                <a:cs typeface="Yu Gothic" pitchFamily="34" charset="-120"/>
              </a:rPr>
              <a:t>03</a:t>
            </a:r>
            <a:endParaRPr lang="en-US" sz="2250" dirty="0"/>
          </a:p>
        </p:txBody>
      </p:sp>
      <p:sp>
        <p:nvSpPr>
          <p:cNvPr id="13" name="Text 11"/>
          <p:cNvSpPr/>
          <p:nvPr/>
        </p:nvSpPr>
        <p:spPr>
          <a:xfrm>
            <a:off x="1466880" y="4133820"/>
            <a:ext cx="5524530" cy="438180"/>
          </a:xfrm>
          <a:prstGeom prst="rect">
            <a:avLst/>
          </a:prstGeom>
          <a:noFill/>
          <a:ln/>
        </p:spPr>
        <p:txBody>
          <a:bodyPr wrap="square" lIns="0" tIns="0" rIns="0" bIns="0" rtlCol="0" anchor="ctr">
            <a:normAutofit/>
          </a:bodyPr>
          <a:lstStyle/>
          <a:p>
            <a:pPr algn="l" indent="0" marL="0">
              <a:buNone/>
            </a:pPr>
            <a:r>
              <a:rPr lang="en-US" sz="2030" b="1" dirty="0">
                <a:solidFill>
                  <a:srgbClr val="173B36"/>
                </a:solidFill>
                <a:latin typeface="Yu Gothic" pitchFamily="34" charset="0"/>
                <a:ea typeface="Yu Gothic" pitchFamily="34" charset="-122"/>
                <a:cs typeface="Yu Gothic" pitchFamily="34" charset="-120"/>
              </a:rPr>
              <a:t>手順と管理</a:t>
            </a:r>
            <a:endParaRPr lang="en-US" sz="2030" dirty="0"/>
          </a:p>
        </p:txBody>
      </p:sp>
      <p:pic>
        <p:nvPicPr>
          <p:cNvPr id="14" name="Image 0" descr="事故の複数要因を調べるチワワ">    </p:cNvPr>
          <p:cNvPicPr>
            <a:picLocks noChangeAspect="1"/>
          </p:cNvPicPr>
          <p:nvPr/>
        </p:nvPicPr>
        <p:blipFill>
          <a:blip r:embed="rId1"/>
          <a:srcRect l="-9040" r="-9040" t="0" b="0"/>
          <a:stretch/>
        </p:blipFill>
        <p:spPr>
          <a:xfrm>
            <a:off x="7810530" y="2238360"/>
            <a:ext cx="2857500" cy="2857500"/>
          </a:xfrm>
          <a:prstGeom prst="rect">
            <a:avLst/>
          </a:prstGeom>
        </p:spPr>
      </p:pic>
      <p:sp>
        <p:nvSpPr>
          <p:cNvPr id="15" name="Shape 12"/>
          <p:cNvSpPr/>
          <p:nvPr/>
        </p:nvSpPr>
        <p:spPr>
          <a:xfrm>
            <a:off x="723930" y="6096030"/>
            <a:ext cx="10687050" cy="9510"/>
          </a:xfrm>
          <a:prstGeom prst="rect">
            <a:avLst/>
          </a:prstGeom>
          <a:solidFill>
            <a:srgbClr val="BDD4CD"/>
          </a:solidFill>
          <a:ln w="12700">
            <a:solidFill>
              <a:srgbClr val="FFFFFF">
                <a:alpha val="0"/>
              </a:srgbClr>
            </a:solidFill>
            <a:prstDash val="solid"/>
          </a:ln>
        </p:spPr>
      </p:sp>
      <p:sp>
        <p:nvSpPr>
          <p:cNvPr id="16" name="Text 13"/>
          <p:cNvSpPr/>
          <p:nvPr/>
        </p:nvSpPr>
        <p:spPr>
          <a:xfrm>
            <a:off x="723930" y="6162690"/>
            <a:ext cx="7429500" cy="209580"/>
          </a:xfrm>
          <a:prstGeom prst="rect">
            <a:avLst/>
          </a:prstGeom>
          <a:noFill/>
          <a:ln/>
        </p:spPr>
        <p:txBody>
          <a:bodyPr wrap="square" lIns="0" tIns="0" rIns="0" bIns="0" rtlCol="0" anchor="ctr">
            <a:normAutofit/>
          </a:bodyPr>
          <a:lstStyle/>
          <a:p>
            <a:pPr algn="l" indent="0" marL="0">
              <a:buNone/>
            </a:pPr>
            <a:r>
              <a:rPr lang="en-US" sz="980" dirty="0">
                <a:solidFill>
                  <a:srgbClr val="56706B"/>
                </a:solidFill>
                <a:latin typeface="Yu Gothic" pitchFamily="34" charset="0"/>
                <a:ea typeface="Yu Gothic" pitchFamily="34" charset="-122"/>
                <a:cs typeface="Yu Gothic" pitchFamily="34" charset="-120"/>
              </a:rPr>
              <a:t>根拠 安衛法 第28条の2（詳細はノート）</a:t>
            </a:r>
            <a:endParaRPr lang="en-US" sz="980" dirty="0"/>
          </a:p>
        </p:txBody>
      </p:sp>
      <p:sp>
        <p:nvSpPr>
          <p:cNvPr id="17" name="Text 14"/>
          <p:cNvSpPr/>
          <p:nvPr/>
        </p:nvSpPr>
        <p:spPr>
          <a:xfrm>
            <a:off x="10210830" y="6162690"/>
            <a:ext cx="1181130" cy="209580"/>
          </a:xfrm>
          <a:prstGeom prst="rect">
            <a:avLst/>
          </a:prstGeom>
          <a:noFill/>
          <a:ln/>
        </p:spPr>
        <p:txBody>
          <a:bodyPr wrap="square" lIns="0" tIns="0" rIns="0" bIns="0" rtlCol="0" anchor="ctr">
            <a:normAutofit/>
          </a:bodyPr>
          <a:lstStyle/>
          <a:p>
            <a:pPr algn="r" indent="0" marL="0">
              <a:buNone/>
            </a:pPr>
            <a:r>
              <a:rPr lang="en-US" sz="980" b="1" dirty="0">
                <a:solidFill>
                  <a:srgbClr val="0A6257"/>
                </a:solidFill>
                <a:latin typeface="Yu Gothic" pitchFamily="34" charset="0"/>
                <a:ea typeface="Yu Gothic" pitchFamily="34" charset="-122"/>
                <a:cs typeface="Yu Gothic" pitchFamily="34" charset="-120"/>
              </a:rPr>
              <a:t>02 / 12</a:t>
            </a:r>
            <a:endParaRPr lang="en-US" sz="9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CF8"/>
        </a:solidFill>
      </p:bgPr>
    </p:bg>
    <p:spTree>
      <p:nvGrpSpPr>
        <p:cNvPr id="1" name=""/>
        <p:cNvGrpSpPr/>
        <p:nvPr/>
      </p:nvGrpSpPr>
      <p:grpSpPr>
        <a:xfrm>
          <a:off x="0" y="0"/>
          <a:ext cx="0" cy="0"/>
          <a:chOff x="0" y="0"/>
          <a:chExt cx="0" cy="0"/>
        </a:xfrm>
      </p:grpSpPr>
      <p:sp>
        <p:nvSpPr>
          <p:cNvPr id="2" name="Shape 0"/>
          <p:cNvSpPr/>
          <p:nvPr/>
        </p:nvSpPr>
        <p:spPr>
          <a:xfrm>
            <a:off x="0" y="0"/>
            <a:ext cx="171450" cy="6858000"/>
          </a:xfrm>
          <a:prstGeom prst="rect">
            <a:avLst/>
          </a:prstGeom>
          <a:solidFill>
            <a:srgbClr val="0A6257"/>
          </a:solidFill>
          <a:ln w="12700">
            <a:solidFill>
              <a:srgbClr val="FFFFFF">
                <a:alpha val="0"/>
              </a:srgbClr>
            </a:solidFill>
            <a:prstDash val="solid"/>
          </a:ln>
        </p:spPr>
      </p:sp>
      <p:sp>
        <p:nvSpPr>
          <p:cNvPr id="3" name="Text 1"/>
          <p:cNvSpPr/>
          <p:nvPr/>
        </p:nvSpPr>
        <p:spPr>
          <a:xfrm>
            <a:off x="723930" y="400050"/>
            <a:ext cx="5715000" cy="257221"/>
          </a:xfrm>
          <a:prstGeom prst="rect">
            <a:avLst/>
          </a:prstGeom>
          <a:noFill/>
          <a:ln/>
        </p:spPr>
        <p:txBody>
          <a:bodyPr wrap="square" lIns="0" tIns="0" rIns="0" bIns="0" rtlCol="0" anchor="ctr">
            <a:normAutofit/>
          </a:bodyPr>
          <a:lstStyle/>
          <a:p>
            <a:pPr algn="l" indent="0" marL="0">
              <a:buNone/>
            </a:pPr>
            <a:r>
              <a:rPr lang="en-US" sz="1200" b="1" dirty="0">
                <a:solidFill>
                  <a:srgbClr val="0A6257"/>
                </a:solidFill>
                <a:latin typeface="Yu Gothic" pitchFamily="34" charset="0"/>
                <a:ea typeface="Yu Gothic" pitchFamily="34" charset="-122"/>
                <a:cs typeface="Yu Gothic" pitchFamily="34" charset="-120"/>
              </a:rPr>
              <a:t>法令の基本</a:t>
            </a:r>
            <a:endParaRPr lang="en-US" sz="1200" dirty="0"/>
          </a:p>
        </p:txBody>
      </p:sp>
      <p:sp>
        <p:nvSpPr>
          <p:cNvPr id="4" name="Text 2"/>
          <p:cNvSpPr/>
          <p:nvPr/>
        </p:nvSpPr>
        <p:spPr>
          <a:xfrm>
            <a:off x="8162940" y="381030"/>
            <a:ext cx="3238530" cy="266730"/>
          </a:xfrm>
          <a:prstGeom prst="rect">
            <a:avLst/>
          </a:prstGeom>
          <a:noFill/>
          <a:ln/>
        </p:spPr>
        <p:txBody>
          <a:bodyPr wrap="square" lIns="0" tIns="0" rIns="0" bIns="0" rtlCol="0" anchor="ctr">
            <a:normAutofit/>
          </a:bodyPr>
          <a:lstStyle/>
          <a:p>
            <a:pPr algn="r" indent="0" marL="0">
              <a:buNone/>
            </a:pPr>
            <a:r>
              <a:rPr lang="en-US" sz="1130" b="1" dirty="0">
                <a:solidFill>
                  <a:srgbClr val="56706B"/>
                </a:solidFill>
                <a:latin typeface="Yu Gothic" pitchFamily="34" charset="0"/>
                <a:ea typeface="Yu Gothic" pitchFamily="34" charset="-122"/>
                <a:cs typeface="Yu Gothic" pitchFamily="34" charset="-120"/>
              </a:rPr>
              <a:t>現行法 2026-09-20</a:t>
            </a:r>
            <a:endParaRPr lang="en-US" sz="1130" dirty="0"/>
          </a:p>
        </p:txBody>
      </p:sp>
      <p:sp>
        <p:nvSpPr>
          <p:cNvPr id="5" name="Text 3"/>
          <p:cNvSpPr/>
          <p:nvPr/>
        </p:nvSpPr>
        <p:spPr>
          <a:xfrm>
            <a:off x="723930" y="781080"/>
            <a:ext cx="10668030" cy="581010"/>
          </a:xfrm>
          <a:prstGeom prst="rect">
            <a:avLst/>
          </a:prstGeom>
          <a:noFill/>
          <a:ln/>
        </p:spPr>
        <p:txBody>
          <a:bodyPr wrap="square" lIns="0" tIns="0" rIns="0" bIns="0" rtlCol="0" anchor="ctr">
            <a:normAutofit/>
          </a:bodyPr>
          <a:lstStyle/>
          <a:p>
            <a:pPr algn="l" indent="0" marL="0">
              <a:buNone/>
            </a:pPr>
            <a:r>
              <a:rPr lang="en-US" sz="4200" b="1" dirty="0">
                <a:solidFill>
                  <a:srgbClr val="073C35"/>
                </a:solidFill>
                <a:latin typeface="Yu Gothic" pitchFamily="34" charset="0"/>
                <a:ea typeface="Yu Gothic" pitchFamily="34" charset="-122"/>
                <a:cs typeface="Yu Gothic" pitchFamily="34" charset="-120"/>
              </a:rPr>
              <a:t>労働安全衛生法の目的</a:t>
            </a:r>
            <a:endParaRPr lang="en-US" sz="4200" dirty="0"/>
          </a:p>
        </p:txBody>
      </p:sp>
      <p:sp>
        <p:nvSpPr>
          <p:cNvPr id="6" name="Shape 4"/>
          <p:cNvSpPr/>
          <p:nvPr/>
        </p:nvSpPr>
        <p:spPr>
          <a:xfrm>
            <a:off x="723930" y="1457371"/>
            <a:ext cx="914400" cy="57150"/>
          </a:xfrm>
          <a:prstGeom prst="rect">
            <a:avLst/>
          </a:prstGeom>
          <a:solidFill>
            <a:srgbClr val="F6A234"/>
          </a:solidFill>
          <a:ln w="12700">
            <a:solidFill>
              <a:srgbClr val="FFFFFF">
                <a:alpha val="0"/>
              </a:srgbClr>
            </a:solidFill>
            <a:prstDash val="solid"/>
          </a:ln>
        </p:spPr>
      </p:sp>
      <p:sp>
        <p:nvSpPr>
          <p:cNvPr id="7" name="Text 5"/>
          <p:cNvSpPr/>
          <p:nvPr/>
        </p:nvSpPr>
        <p:spPr>
          <a:xfrm>
            <a:off x="723930" y="1695480"/>
            <a:ext cx="10477470" cy="466710"/>
          </a:xfrm>
          <a:prstGeom prst="rect">
            <a:avLst/>
          </a:prstGeom>
          <a:noFill/>
          <a:ln/>
        </p:spPr>
        <p:txBody>
          <a:bodyPr wrap="square" lIns="0" tIns="0" rIns="0" bIns="0" rtlCol="0" anchor="ctr">
            <a:normAutofit/>
          </a:bodyPr>
          <a:lstStyle/>
          <a:p>
            <a:pPr algn="l" indent="0" marL="0">
              <a:buNone/>
            </a:pPr>
            <a:r>
              <a:rPr lang="en-US" sz="1730" b="1" dirty="0">
                <a:solidFill>
                  <a:srgbClr val="173B36"/>
                </a:solidFill>
                <a:latin typeface="Yu Gothic" pitchFamily="34" charset="0"/>
                <a:ea typeface="Yu Gothic" pitchFamily="34" charset="-122"/>
                <a:cs typeface="Yu Gothic" pitchFamily="34" charset="-120"/>
              </a:rPr>
              <a:t>災害を防ぎ、安全と健康を守る</a:t>
            </a:r>
            <a:endParaRPr lang="en-US" sz="1730" dirty="0"/>
          </a:p>
        </p:txBody>
      </p:sp>
      <p:sp>
        <p:nvSpPr>
          <p:cNvPr id="8" name="Text 6"/>
          <p:cNvSpPr/>
          <p:nvPr/>
        </p:nvSpPr>
        <p:spPr>
          <a:xfrm>
            <a:off x="723930" y="2571750"/>
            <a:ext cx="552480" cy="419070"/>
          </a:xfrm>
          <a:prstGeom prst="rect">
            <a:avLst/>
          </a:prstGeom>
          <a:noFill/>
          <a:ln/>
        </p:spPr>
        <p:txBody>
          <a:bodyPr wrap="square" lIns="0" tIns="0" rIns="0" bIns="0" rtlCol="0" anchor="ctr">
            <a:normAutofit/>
          </a:bodyPr>
          <a:lstStyle/>
          <a:p>
            <a:pPr algn="l" indent="0" marL="0">
              <a:buNone/>
            </a:pPr>
            <a:r>
              <a:rPr lang="en-US" sz="2250" b="1" dirty="0">
                <a:solidFill>
                  <a:srgbClr val="0A6257"/>
                </a:solidFill>
                <a:latin typeface="Yu Gothic" pitchFamily="34" charset="0"/>
                <a:ea typeface="Yu Gothic" pitchFamily="34" charset="-122"/>
                <a:cs typeface="Yu Gothic" pitchFamily="34" charset="-120"/>
              </a:rPr>
              <a:t>01</a:t>
            </a:r>
            <a:endParaRPr lang="en-US" sz="2250" dirty="0"/>
          </a:p>
        </p:txBody>
      </p:sp>
      <p:sp>
        <p:nvSpPr>
          <p:cNvPr id="9" name="Text 7"/>
          <p:cNvSpPr/>
          <p:nvPr/>
        </p:nvSpPr>
        <p:spPr>
          <a:xfrm>
            <a:off x="1466880" y="2571750"/>
            <a:ext cx="5524530" cy="438180"/>
          </a:xfrm>
          <a:prstGeom prst="rect">
            <a:avLst/>
          </a:prstGeom>
          <a:noFill/>
          <a:ln/>
        </p:spPr>
        <p:txBody>
          <a:bodyPr wrap="square" lIns="0" tIns="0" rIns="0" bIns="0" rtlCol="0" anchor="ctr">
            <a:normAutofit/>
          </a:bodyPr>
          <a:lstStyle/>
          <a:p>
            <a:pPr algn="l" indent="0" marL="0">
              <a:buNone/>
            </a:pPr>
            <a:r>
              <a:rPr lang="en-US" sz="2030" b="1" dirty="0">
                <a:solidFill>
                  <a:srgbClr val="173B36"/>
                </a:solidFill>
                <a:latin typeface="Yu Gothic" pitchFamily="34" charset="0"/>
                <a:ea typeface="Yu Gothic" pitchFamily="34" charset="-122"/>
                <a:cs typeface="Yu Gothic" pitchFamily="34" charset="-120"/>
              </a:rPr>
              <a:t>計画的に防止</a:t>
            </a:r>
            <a:endParaRPr lang="en-US" sz="2030" dirty="0"/>
          </a:p>
        </p:txBody>
      </p:sp>
      <p:sp>
        <p:nvSpPr>
          <p:cNvPr id="10" name="Text 8"/>
          <p:cNvSpPr/>
          <p:nvPr/>
        </p:nvSpPr>
        <p:spPr>
          <a:xfrm>
            <a:off x="723930" y="3352830"/>
            <a:ext cx="552480" cy="419070"/>
          </a:xfrm>
          <a:prstGeom prst="rect">
            <a:avLst/>
          </a:prstGeom>
          <a:noFill/>
          <a:ln/>
        </p:spPr>
        <p:txBody>
          <a:bodyPr wrap="square" lIns="0" tIns="0" rIns="0" bIns="0" rtlCol="0" anchor="ctr">
            <a:normAutofit/>
          </a:bodyPr>
          <a:lstStyle/>
          <a:p>
            <a:pPr algn="l" indent="0" marL="0">
              <a:buNone/>
            </a:pPr>
            <a:r>
              <a:rPr lang="en-US" sz="2250" b="1" dirty="0">
                <a:solidFill>
                  <a:srgbClr val="F6A234"/>
                </a:solidFill>
                <a:latin typeface="Yu Gothic" pitchFamily="34" charset="0"/>
                <a:ea typeface="Yu Gothic" pitchFamily="34" charset="-122"/>
                <a:cs typeface="Yu Gothic" pitchFamily="34" charset="-120"/>
              </a:rPr>
              <a:t>02</a:t>
            </a:r>
            <a:endParaRPr lang="en-US" sz="2250" dirty="0"/>
          </a:p>
        </p:txBody>
      </p:sp>
      <p:sp>
        <p:nvSpPr>
          <p:cNvPr id="11" name="Text 9"/>
          <p:cNvSpPr/>
          <p:nvPr/>
        </p:nvSpPr>
        <p:spPr>
          <a:xfrm>
            <a:off x="1466880" y="3352830"/>
            <a:ext cx="5524530" cy="438180"/>
          </a:xfrm>
          <a:prstGeom prst="rect">
            <a:avLst/>
          </a:prstGeom>
          <a:noFill/>
          <a:ln/>
        </p:spPr>
        <p:txBody>
          <a:bodyPr wrap="square" lIns="0" tIns="0" rIns="0" bIns="0" rtlCol="0" anchor="ctr">
            <a:normAutofit/>
          </a:bodyPr>
          <a:lstStyle/>
          <a:p>
            <a:pPr algn="l" indent="0" marL="0">
              <a:buNone/>
            </a:pPr>
            <a:r>
              <a:rPr lang="en-US" sz="2030" b="1" dirty="0">
                <a:solidFill>
                  <a:srgbClr val="173B36"/>
                </a:solidFill>
                <a:latin typeface="Yu Gothic" pitchFamily="34" charset="0"/>
                <a:ea typeface="Yu Gothic" pitchFamily="34" charset="-122"/>
                <a:cs typeface="Yu Gothic" pitchFamily="34" charset="-120"/>
              </a:rPr>
              <a:t>安全と健康</a:t>
            </a:r>
            <a:endParaRPr lang="en-US" sz="2030" dirty="0"/>
          </a:p>
        </p:txBody>
      </p:sp>
      <p:sp>
        <p:nvSpPr>
          <p:cNvPr id="12" name="Text 10"/>
          <p:cNvSpPr/>
          <p:nvPr/>
        </p:nvSpPr>
        <p:spPr>
          <a:xfrm>
            <a:off x="723930" y="4133820"/>
            <a:ext cx="552480" cy="419070"/>
          </a:xfrm>
          <a:prstGeom prst="rect">
            <a:avLst/>
          </a:prstGeom>
          <a:noFill/>
          <a:ln/>
        </p:spPr>
        <p:txBody>
          <a:bodyPr wrap="square" lIns="0" tIns="0" rIns="0" bIns="0" rtlCol="0" anchor="ctr">
            <a:normAutofit/>
          </a:bodyPr>
          <a:lstStyle/>
          <a:p>
            <a:pPr algn="l" indent="0" marL="0">
              <a:buNone/>
            </a:pPr>
            <a:r>
              <a:rPr lang="en-US" sz="2250" b="1" dirty="0">
                <a:solidFill>
                  <a:srgbClr val="0A6257"/>
                </a:solidFill>
                <a:latin typeface="Yu Gothic" pitchFamily="34" charset="0"/>
                <a:ea typeface="Yu Gothic" pitchFamily="34" charset="-122"/>
                <a:cs typeface="Yu Gothic" pitchFamily="34" charset="-120"/>
              </a:rPr>
              <a:t>03</a:t>
            </a:r>
            <a:endParaRPr lang="en-US" sz="2250" dirty="0"/>
          </a:p>
        </p:txBody>
      </p:sp>
      <p:sp>
        <p:nvSpPr>
          <p:cNvPr id="13" name="Text 11"/>
          <p:cNvSpPr/>
          <p:nvPr/>
        </p:nvSpPr>
        <p:spPr>
          <a:xfrm>
            <a:off x="1466880" y="4133820"/>
            <a:ext cx="5524530" cy="438180"/>
          </a:xfrm>
          <a:prstGeom prst="rect">
            <a:avLst/>
          </a:prstGeom>
          <a:noFill/>
          <a:ln/>
        </p:spPr>
        <p:txBody>
          <a:bodyPr wrap="square" lIns="0" tIns="0" rIns="0" bIns="0" rtlCol="0" anchor="ctr">
            <a:normAutofit/>
          </a:bodyPr>
          <a:lstStyle/>
          <a:p>
            <a:pPr algn="l" indent="0" marL="0">
              <a:buNone/>
            </a:pPr>
            <a:r>
              <a:rPr lang="en-US" sz="2030" b="1" dirty="0">
                <a:solidFill>
                  <a:srgbClr val="173B36"/>
                </a:solidFill>
                <a:latin typeface="Yu Gothic" pitchFamily="34" charset="0"/>
                <a:ea typeface="Yu Gothic" pitchFamily="34" charset="-122"/>
                <a:cs typeface="Yu Gothic" pitchFamily="34" charset="-120"/>
              </a:rPr>
              <a:t>職場環境を改善</a:t>
            </a:r>
            <a:endParaRPr lang="en-US" sz="2030" dirty="0"/>
          </a:p>
        </p:txBody>
      </p:sp>
      <p:pic>
        <p:nvPicPr>
          <p:cNvPr id="14" name="Image 0" descr="労働安全衛生法を確認するチワワ">    </p:cNvPr>
          <p:cNvPicPr>
            <a:picLocks noChangeAspect="1"/>
          </p:cNvPicPr>
          <p:nvPr/>
        </p:nvPicPr>
        <p:blipFill>
          <a:blip r:embed="rId1"/>
          <a:srcRect l="-12241" r="-12241" t="0" b="0"/>
          <a:stretch/>
        </p:blipFill>
        <p:spPr>
          <a:xfrm>
            <a:off x="7810530" y="2238360"/>
            <a:ext cx="2857500" cy="2857500"/>
          </a:xfrm>
          <a:prstGeom prst="rect">
            <a:avLst/>
          </a:prstGeom>
        </p:spPr>
      </p:pic>
      <p:sp>
        <p:nvSpPr>
          <p:cNvPr id="15" name="Shape 12"/>
          <p:cNvSpPr/>
          <p:nvPr/>
        </p:nvSpPr>
        <p:spPr>
          <a:xfrm>
            <a:off x="723930" y="6096030"/>
            <a:ext cx="10687050" cy="9510"/>
          </a:xfrm>
          <a:prstGeom prst="rect">
            <a:avLst/>
          </a:prstGeom>
          <a:solidFill>
            <a:srgbClr val="BDD4CD"/>
          </a:solidFill>
          <a:ln w="12700">
            <a:solidFill>
              <a:srgbClr val="FFFFFF">
                <a:alpha val="0"/>
              </a:srgbClr>
            </a:solidFill>
            <a:prstDash val="solid"/>
          </a:ln>
        </p:spPr>
      </p:sp>
      <p:sp>
        <p:nvSpPr>
          <p:cNvPr id="16" name="Text 13"/>
          <p:cNvSpPr/>
          <p:nvPr/>
        </p:nvSpPr>
        <p:spPr>
          <a:xfrm>
            <a:off x="723930" y="6162690"/>
            <a:ext cx="7429500" cy="209580"/>
          </a:xfrm>
          <a:prstGeom prst="rect">
            <a:avLst/>
          </a:prstGeom>
          <a:noFill/>
          <a:ln/>
        </p:spPr>
        <p:txBody>
          <a:bodyPr wrap="square" lIns="0" tIns="0" rIns="0" bIns="0" rtlCol="0" anchor="ctr">
            <a:normAutofit/>
          </a:bodyPr>
          <a:lstStyle/>
          <a:p>
            <a:pPr algn="l" indent="0" marL="0">
              <a:buNone/>
            </a:pPr>
            <a:r>
              <a:rPr lang="en-US" sz="980" dirty="0">
                <a:solidFill>
                  <a:srgbClr val="56706B"/>
                </a:solidFill>
                <a:latin typeface="Yu Gothic" pitchFamily="34" charset="0"/>
                <a:ea typeface="Yu Gothic" pitchFamily="34" charset="-122"/>
                <a:cs typeface="Yu Gothic" pitchFamily="34" charset="-120"/>
              </a:rPr>
              <a:t>根拠 安衛法 第1条・安衛法 第3条（詳細はノート）</a:t>
            </a:r>
            <a:endParaRPr lang="en-US" sz="980" dirty="0"/>
          </a:p>
        </p:txBody>
      </p:sp>
      <p:sp>
        <p:nvSpPr>
          <p:cNvPr id="17" name="Text 14"/>
          <p:cNvSpPr/>
          <p:nvPr/>
        </p:nvSpPr>
        <p:spPr>
          <a:xfrm>
            <a:off x="10210830" y="6162690"/>
            <a:ext cx="1181130" cy="209580"/>
          </a:xfrm>
          <a:prstGeom prst="rect">
            <a:avLst/>
          </a:prstGeom>
          <a:noFill/>
          <a:ln/>
        </p:spPr>
        <p:txBody>
          <a:bodyPr wrap="square" lIns="0" tIns="0" rIns="0" bIns="0" rtlCol="0" anchor="ctr">
            <a:normAutofit/>
          </a:bodyPr>
          <a:lstStyle/>
          <a:p>
            <a:pPr algn="r" indent="0" marL="0">
              <a:buNone/>
            </a:pPr>
            <a:r>
              <a:rPr lang="en-US" sz="980" b="1" dirty="0">
                <a:solidFill>
                  <a:srgbClr val="0A6257"/>
                </a:solidFill>
                <a:latin typeface="Yu Gothic" pitchFamily="34" charset="0"/>
                <a:ea typeface="Yu Gothic" pitchFamily="34" charset="-122"/>
                <a:cs typeface="Yu Gothic" pitchFamily="34" charset="-120"/>
              </a:rPr>
              <a:t>03 / 12</a:t>
            </a:r>
            <a:endParaRPr lang="en-US" sz="9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CF8"/>
        </a:solidFill>
      </p:bgPr>
    </p:bg>
    <p:spTree>
      <p:nvGrpSpPr>
        <p:cNvPr id="1" name=""/>
        <p:cNvGrpSpPr/>
        <p:nvPr/>
      </p:nvGrpSpPr>
      <p:grpSpPr>
        <a:xfrm>
          <a:off x="0" y="0"/>
          <a:ext cx="0" cy="0"/>
          <a:chOff x="0" y="0"/>
          <a:chExt cx="0" cy="0"/>
        </a:xfrm>
      </p:grpSpPr>
      <p:sp>
        <p:nvSpPr>
          <p:cNvPr id="2" name="Shape 0"/>
          <p:cNvSpPr/>
          <p:nvPr/>
        </p:nvSpPr>
        <p:spPr>
          <a:xfrm>
            <a:off x="0" y="0"/>
            <a:ext cx="171450" cy="6858000"/>
          </a:xfrm>
          <a:prstGeom prst="rect">
            <a:avLst/>
          </a:prstGeom>
          <a:solidFill>
            <a:srgbClr val="0A6257"/>
          </a:solidFill>
          <a:ln w="12700">
            <a:solidFill>
              <a:srgbClr val="FFFFFF">
                <a:alpha val="0"/>
              </a:srgbClr>
            </a:solidFill>
            <a:prstDash val="solid"/>
          </a:ln>
        </p:spPr>
      </p:sp>
      <p:sp>
        <p:nvSpPr>
          <p:cNvPr id="3" name="Text 1"/>
          <p:cNvSpPr/>
          <p:nvPr/>
        </p:nvSpPr>
        <p:spPr>
          <a:xfrm>
            <a:off x="723930" y="400050"/>
            <a:ext cx="5715000" cy="257221"/>
          </a:xfrm>
          <a:prstGeom prst="rect">
            <a:avLst/>
          </a:prstGeom>
          <a:noFill/>
          <a:ln/>
        </p:spPr>
        <p:txBody>
          <a:bodyPr wrap="square" lIns="0" tIns="0" rIns="0" bIns="0" rtlCol="0" anchor="ctr">
            <a:normAutofit/>
          </a:bodyPr>
          <a:lstStyle/>
          <a:p>
            <a:pPr algn="l" indent="0" marL="0">
              <a:buNone/>
            </a:pPr>
            <a:r>
              <a:rPr lang="en-US" sz="1200" b="1" dirty="0">
                <a:solidFill>
                  <a:srgbClr val="0A6257"/>
                </a:solidFill>
                <a:latin typeface="Yu Gothic" pitchFamily="34" charset="0"/>
                <a:ea typeface="Yu Gothic" pitchFamily="34" charset="-122"/>
                <a:cs typeface="Yu Gothic" pitchFamily="34" charset="-120"/>
              </a:rPr>
              <a:t>確認の順序</a:t>
            </a:r>
            <a:endParaRPr lang="en-US" sz="1200" dirty="0"/>
          </a:p>
        </p:txBody>
      </p:sp>
      <p:sp>
        <p:nvSpPr>
          <p:cNvPr id="4" name="Text 2"/>
          <p:cNvSpPr/>
          <p:nvPr/>
        </p:nvSpPr>
        <p:spPr>
          <a:xfrm>
            <a:off x="8162940" y="381030"/>
            <a:ext cx="3238530" cy="266730"/>
          </a:xfrm>
          <a:prstGeom prst="rect">
            <a:avLst/>
          </a:prstGeom>
          <a:noFill/>
          <a:ln/>
        </p:spPr>
        <p:txBody>
          <a:bodyPr wrap="square" lIns="0" tIns="0" rIns="0" bIns="0" rtlCol="0" anchor="ctr">
            <a:normAutofit/>
          </a:bodyPr>
          <a:lstStyle/>
          <a:p>
            <a:pPr algn="r" indent="0" marL="0">
              <a:buNone/>
            </a:pPr>
            <a:r>
              <a:rPr lang="en-US" sz="1130" b="1" dirty="0">
                <a:solidFill>
                  <a:srgbClr val="56706B"/>
                </a:solidFill>
                <a:latin typeface="Yu Gothic" pitchFamily="34" charset="0"/>
                <a:ea typeface="Yu Gothic" pitchFamily="34" charset="-122"/>
                <a:cs typeface="Yu Gothic" pitchFamily="34" charset="-120"/>
              </a:rPr>
              <a:t>現行法と施行日の確認</a:t>
            </a:r>
            <a:endParaRPr lang="en-US" sz="1130" dirty="0"/>
          </a:p>
        </p:txBody>
      </p:sp>
      <p:sp>
        <p:nvSpPr>
          <p:cNvPr id="5" name="Text 3"/>
          <p:cNvSpPr/>
          <p:nvPr/>
        </p:nvSpPr>
        <p:spPr>
          <a:xfrm>
            <a:off x="723930" y="781080"/>
            <a:ext cx="10668030" cy="581010"/>
          </a:xfrm>
          <a:prstGeom prst="rect">
            <a:avLst/>
          </a:prstGeom>
          <a:noFill/>
          <a:ln/>
        </p:spPr>
        <p:txBody>
          <a:bodyPr wrap="square" lIns="0" tIns="0" rIns="0" bIns="0" rtlCol="0" anchor="ctr">
            <a:normAutofit/>
          </a:bodyPr>
          <a:lstStyle/>
          <a:p>
            <a:pPr algn="l" indent="0" marL="0">
              <a:buNone/>
            </a:pPr>
            <a:r>
              <a:rPr lang="en-US" sz="4200" b="1" dirty="0">
                <a:solidFill>
                  <a:srgbClr val="073C35"/>
                </a:solidFill>
                <a:latin typeface="Yu Gothic" pitchFamily="34" charset="0"/>
                <a:ea typeface="Yu Gothic" pitchFamily="34" charset="-122"/>
                <a:cs typeface="Yu Gothic" pitchFamily="34" charset="-120"/>
              </a:rPr>
              <a:t>法令から現場ルールまで</a:t>
            </a:r>
            <a:endParaRPr lang="en-US" sz="4200" dirty="0"/>
          </a:p>
        </p:txBody>
      </p:sp>
      <p:sp>
        <p:nvSpPr>
          <p:cNvPr id="6" name="Shape 4"/>
          <p:cNvSpPr/>
          <p:nvPr/>
        </p:nvSpPr>
        <p:spPr>
          <a:xfrm>
            <a:off x="723930" y="1457371"/>
            <a:ext cx="914400" cy="57150"/>
          </a:xfrm>
          <a:prstGeom prst="rect">
            <a:avLst/>
          </a:prstGeom>
          <a:solidFill>
            <a:srgbClr val="F6A234"/>
          </a:solidFill>
          <a:ln w="12700">
            <a:solidFill>
              <a:srgbClr val="FFFFFF">
                <a:alpha val="0"/>
              </a:srgbClr>
            </a:solidFill>
            <a:prstDash val="solid"/>
          </a:ln>
        </p:spPr>
      </p:sp>
      <p:sp>
        <p:nvSpPr>
          <p:cNvPr id="7" name="Text 5"/>
          <p:cNvSpPr/>
          <p:nvPr/>
        </p:nvSpPr>
        <p:spPr>
          <a:xfrm>
            <a:off x="723930" y="1695480"/>
            <a:ext cx="10477470" cy="466710"/>
          </a:xfrm>
          <a:prstGeom prst="rect">
            <a:avLst/>
          </a:prstGeom>
          <a:noFill/>
          <a:ln/>
        </p:spPr>
        <p:txBody>
          <a:bodyPr wrap="square" lIns="0" tIns="0" rIns="0" bIns="0" rtlCol="0" anchor="ctr">
            <a:normAutofit/>
          </a:bodyPr>
          <a:lstStyle/>
          <a:p>
            <a:pPr algn="l" indent="0" marL="0">
              <a:buNone/>
            </a:pPr>
            <a:r>
              <a:rPr lang="en-US" sz="1730" b="1" dirty="0">
                <a:solidFill>
                  <a:srgbClr val="173B36"/>
                </a:solidFill>
                <a:latin typeface="Yu Gothic" pitchFamily="34" charset="0"/>
                <a:ea typeface="Yu Gothic" pitchFamily="34" charset="-122"/>
                <a:cs typeface="Yu Gothic" pitchFamily="34" charset="-120"/>
              </a:rPr>
              <a:t>施行日と現場条件まで確かめる</a:t>
            </a:r>
            <a:endParaRPr lang="en-US" sz="1730" dirty="0"/>
          </a:p>
        </p:txBody>
      </p:sp>
      <p:sp>
        <p:nvSpPr>
          <p:cNvPr id="8" name="Text 6"/>
          <p:cNvSpPr/>
          <p:nvPr/>
        </p:nvSpPr>
        <p:spPr>
          <a:xfrm>
            <a:off x="723930" y="2571750"/>
            <a:ext cx="552480" cy="419070"/>
          </a:xfrm>
          <a:prstGeom prst="rect">
            <a:avLst/>
          </a:prstGeom>
          <a:noFill/>
          <a:ln/>
        </p:spPr>
        <p:txBody>
          <a:bodyPr wrap="square" lIns="0" tIns="0" rIns="0" bIns="0" rtlCol="0" anchor="ctr">
            <a:normAutofit/>
          </a:bodyPr>
          <a:lstStyle/>
          <a:p>
            <a:pPr algn="l" indent="0" marL="0">
              <a:buNone/>
            </a:pPr>
            <a:r>
              <a:rPr lang="en-US" sz="2250" b="1" dirty="0">
                <a:solidFill>
                  <a:srgbClr val="0A6257"/>
                </a:solidFill>
                <a:latin typeface="Yu Gothic" pitchFamily="34" charset="0"/>
                <a:ea typeface="Yu Gothic" pitchFamily="34" charset="-122"/>
                <a:cs typeface="Yu Gothic" pitchFamily="34" charset="-120"/>
              </a:rPr>
              <a:t>01</a:t>
            </a:r>
            <a:endParaRPr lang="en-US" sz="2250" dirty="0"/>
          </a:p>
        </p:txBody>
      </p:sp>
      <p:sp>
        <p:nvSpPr>
          <p:cNvPr id="9" name="Text 7"/>
          <p:cNvSpPr/>
          <p:nvPr/>
        </p:nvSpPr>
        <p:spPr>
          <a:xfrm>
            <a:off x="1466880" y="2571750"/>
            <a:ext cx="5524530" cy="438180"/>
          </a:xfrm>
          <a:prstGeom prst="rect">
            <a:avLst/>
          </a:prstGeom>
          <a:noFill/>
          <a:ln/>
        </p:spPr>
        <p:txBody>
          <a:bodyPr wrap="square" lIns="0" tIns="0" rIns="0" bIns="0" rtlCol="0" anchor="ctr">
            <a:normAutofit/>
          </a:bodyPr>
          <a:lstStyle/>
          <a:p>
            <a:pPr algn="l" indent="0" marL="0">
              <a:buNone/>
            </a:pPr>
            <a:r>
              <a:rPr lang="en-US" sz="2030" b="1" dirty="0">
                <a:solidFill>
                  <a:srgbClr val="173B36"/>
                </a:solidFill>
                <a:latin typeface="Yu Gothic" pitchFamily="34" charset="0"/>
                <a:ea typeface="Yu Gothic" pitchFamily="34" charset="-122"/>
                <a:cs typeface="Yu Gothic" pitchFamily="34" charset="-120"/>
              </a:rPr>
              <a:t>法律</a:t>
            </a:r>
            <a:endParaRPr lang="en-US" sz="2030" dirty="0"/>
          </a:p>
        </p:txBody>
      </p:sp>
      <p:sp>
        <p:nvSpPr>
          <p:cNvPr id="10" name="Text 8"/>
          <p:cNvSpPr/>
          <p:nvPr/>
        </p:nvSpPr>
        <p:spPr>
          <a:xfrm>
            <a:off x="723930" y="3352830"/>
            <a:ext cx="552480" cy="419070"/>
          </a:xfrm>
          <a:prstGeom prst="rect">
            <a:avLst/>
          </a:prstGeom>
          <a:noFill/>
          <a:ln/>
        </p:spPr>
        <p:txBody>
          <a:bodyPr wrap="square" lIns="0" tIns="0" rIns="0" bIns="0" rtlCol="0" anchor="ctr">
            <a:normAutofit/>
          </a:bodyPr>
          <a:lstStyle/>
          <a:p>
            <a:pPr algn="l" indent="0" marL="0">
              <a:buNone/>
            </a:pPr>
            <a:r>
              <a:rPr lang="en-US" sz="2250" b="1" dirty="0">
                <a:solidFill>
                  <a:srgbClr val="F6A234"/>
                </a:solidFill>
                <a:latin typeface="Yu Gothic" pitchFamily="34" charset="0"/>
                <a:ea typeface="Yu Gothic" pitchFamily="34" charset="-122"/>
                <a:cs typeface="Yu Gothic" pitchFamily="34" charset="-120"/>
              </a:rPr>
              <a:t>02</a:t>
            </a:r>
            <a:endParaRPr lang="en-US" sz="2250" dirty="0"/>
          </a:p>
        </p:txBody>
      </p:sp>
      <p:sp>
        <p:nvSpPr>
          <p:cNvPr id="11" name="Text 9"/>
          <p:cNvSpPr/>
          <p:nvPr/>
        </p:nvSpPr>
        <p:spPr>
          <a:xfrm>
            <a:off x="1466880" y="3352830"/>
            <a:ext cx="5524530" cy="438180"/>
          </a:xfrm>
          <a:prstGeom prst="rect">
            <a:avLst/>
          </a:prstGeom>
          <a:noFill/>
          <a:ln/>
        </p:spPr>
        <p:txBody>
          <a:bodyPr wrap="square" lIns="0" tIns="0" rIns="0" bIns="0" rtlCol="0" anchor="ctr">
            <a:normAutofit/>
          </a:bodyPr>
          <a:lstStyle/>
          <a:p>
            <a:pPr algn="l" indent="0" marL="0">
              <a:buNone/>
            </a:pPr>
            <a:r>
              <a:rPr lang="en-US" sz="2030" b="1" dirty="0">
                <a:solidFill>
                  <a:srgbClr val="173B36"/>
                </a:solidFill>
                <a:latin typeface="Yu Gothic" pitchFamily="34" charset="0"/>
                <a:ea typeface="Yu Gothic" pitchFamily="34" charset="-122"/>
                <a:cs typeface="Yu Gothic" pitchFamily="34" charset="-120"/>
              </a:rPr>
              <a:t>政省令・規則</a:t>
            </a:r>
            <a:endParaRPr lang="en-US" sz="2030" dirty="0"/>
          </a:p>
        </p:txBody>
      </p:sp>
      <p:sp>
        <p:nvSpPr>
          <p:cNvPr id="12" name="Text 10"/>
          <p:cNvSpPr/>
          <p:nvPr/>
        </p:nvSpPr>
        <p:spPr>
          <a:xfrm>
            <a:off x="723930" y="4133820"/>
            <a:ext cx="552480" cy="419070"/>
          </a:xfrm>
          <a:prstGeom prst="rect">
            <a:avLst/>
          </a:prstGeom>
          <a:noFill/>
          <a:ln/>
        </p:spPr>
        <p:txBody>
          <a:bodyPr wrap="square" lIns="0" tIns="0" rIns="0" bIns="0" rtlCol="0" anchor="ctr">
            <a:normAutofit/>
          </a:bodyPr>
          <a:lstStyle/>
          <a:p>
            <a:pPr algn="l" indent="0" marL="0">
              <a:buNone/>
            </a:pPr>
            <a:r>
              <a:rPr lang="en-US" sz="2250" b="1" dirty="0">
                <a:solidFill>
                  <a:srgbClr val="0A6257"/>
                </a:solidFill>
                <a:latin typeface="Yu Gothic" pitchFamily="34" charset="0"/>
                <a:ea typeface="Yu Gothic" pitchFamily="34" charset="-122"/>
                <a:cs typeface="Yu Gothic" pitchFamily="34" charset="-120"/>
              </a:rPr>
              <a:t>03</a:t>
            </a:r>
            <a:endParaRPr lang="en-US" sz="2250" dirty="0"/>
          </a:p>
        </p:txBody>
      </p:sp>
      <p:sp>
        <p:nvSpPr>
          <p:cNvPr id="13" name="Text 11"/>
          <p:cNvSpPr/>
          <p:nvPr/>
        </p:nvSpPr>
        <p:spPr>
          <a:xfrm>
            <a:off x="1466880" y="4133820"/>
            <a:ext cx="5524530" cy="438180"/>
          </a:xfrm>
          <a:prstGeom prst="rect">
            <a:avLst/>
          </a:prstGeom>
          <a:noFill/>
          <a:ln/>
        </p:spPr>
        <p:txBody>
          <a:bodyPr wrap="square" lIns="0" tIns="0" rIns="0" bIns="0" rtlCol="0" anchor="ctr">
            <a:normAutofit/>
          </a:bodyPr>
          <a:lstStyle/>
          <a:p>
            <a:pPr algn="l" indent="0" marL="0">
              <a:buNone/>
            </a:pPr>
            <a:r>
              <a:rPr lang="en-US" sz="2030" b="1" dirty="0">
                <a:solidFill>
                  <a:srgbClr val="173B36"/>
                </a:solidFill>
                <a:latin typeface="Yu Gothic" pitchFamily="34" charset="0"/>
                <a:ea typeface="Yu Gothic" pitchFamily="34" charset="-122"/>
                <a:cs typeface="Yu Gothic" pitchFamily="34" charset="-120"/>
              </a:rPr>
              <a:t>現場ルール</a:t>
            </a:r>
            <a:endParaRPr lang="en-US" sz="2030" dirty="0"/>
          </a:p>
        </p:txBody>
      </p:sp>
      <p:pic>
        <p:nvPicPr>
          <p:cNvPr id="14" name="Image 0" descr="法令の段階と施行日を比べるチワワ">    </p:cNvPr>
          <p:cNvPicPr>
            <a:picLocks noChangeAspect="1"/>
          </p:cNvPicPr>
          <p:nvPr/>
        </p:nvPicPr>
        <p:blipFill>
          <a:blip r:embed="rId1"/>
          <a:srcRect l="-9479" r="-9479" t="0" b="0"/>
          <a:stretch/>
        </p:blipFill>
        <p:spPr>
          <a:xfrm>
            <a:off x="7810530" y="2238360"/>
            <a:ext cx="2857500" cy="2857500"/>
          </a:xfrm>
          <a:prstGeom prst="rect">
            <a:avLst/>
          </a:prstGeom>
        </p:spPr>
      </p:pic>
      <p:sp>
        <p:nvSpPr>
          <p:cNvPr id="15" name="Text 12"/>
          <p:cNvSpPr/>
          <p:nvPr/>
        </p:nvSpPr>
        <p:spPr>
          <a:xfrm>
            <a:off x="723930" y="5219670"/>
            <a:ext cx="9905970" cy="371521"/>
          </a:xfrm>
          <a:prstGeom prst="rect">
            <a:avLst/>
          </a:prstGeom>
          <a:noFill/>
          <a:ln/>
        </p:spPr>
        <p:txBody>
          <a:bodyPr wrap="square" lIns="0" tIns="0" rIns="0" bIns="0" rtlCol="0" anchor="ctr">
            <a:normAutofit/>
          </a:bodyPr>
          <a:lstStyle/>
          <a:p>
            <a:pPr algn="l" indent="0" marL="0">
              <a:buNone/>
            </a:pPr>
            <a:r>
              <a:rPr lang="en-US" sz="1500" b="1" dirty="0">
                <a:solidFill>
                  <a:srgbClr val="A83F2D"/>
                </a:solidFill>
                <a:latin typeface="Yu Gothic" pitchFamily="34" charset="0"/>
                <a:ea typeface="Yu Gothic" pitchFamily="34" charset="-122"/>
                <a:cs typeface="Yu Gothic" pitchFamily="34" charset="-120"/>
              </a:rPr>
              <a:t>条件: 将来施行は現在の義務と分ける</a:t>
            </a:r>
            <a:endParaRPr lang="en-US" sz="1500" dirty="0"/>
          </a:p>
        </p:txBody>
      </p:sp>
      <p:sp>
        <p:nvSpPr>
          <p:cNvPr id="16" name="Shape 13"/>
          <p:cNvSpPr/>
          <p:nvPr/>
        </p:nvSpPr>
        <p:spPr>
          <a:xfrm>
            <a:off x="723930" y="6096030"/>
            <a:ext cx="10687050" cy="9510"/>
          </a:xfrm>
          <a:prstGeom prst="rect">
            <a:avLst/>
          </a:prstGeom>
          <a:solidFill>
            <a:srgbClr val="BDD4CD"/>
          </a:solidFill>
          <a:ln w="12700">
            <a:solidFill>
              <a:srgbClr val="FFFFFF">
                <a:alpha val="0"/>
              </a:srgbClr>
            </a:solidFill>
            <a:prstDash val="solid"/>
          </a:ln>
        </p:spPr>
      </p:sp>
      <p:sp>
        <p:nvSpPr>
          <p:cNvPr id="17" name="Text 14"/>
          <p:cNvSpPr/>
          <p:nvPr/>
        </p:nvSpPr>
        <p:spPr>
          <a:xfrm>
            <a:off x="723930" y="6162690"/>
            <a:ext cx="7429500" cy="209580"/>
          </a:xfrm>
          <a:prstGeom prst="rect">
            <a:avLst/>
          </a:prstGeom>
          <a:noFill/>
          <a:ln/>
        </p:spPr>
        <p:txBody>
          <a:bodyPr wrap="square" lIns="0" tIns="0" rIns="0" bIns="0" rtlCol="0" anchor="ctr">
            <a:normAutofit/>
          </a:bodyPr>
          <a:lstStyle/>
          <a:p>
            <a:pPr algn="l" indent="0" marL="0">
              <a:buNone/>
            </a:pPr>
            <a:r>
              <a:rPr lang="en-US" sz="980" dirty="0">
                <a:solidFill>
                  <a:srgbClr val="56706B"/>
                </a:solidFill>
                <a:latin typeface="Yu Gothic" pitchFamily="34" charset="0"/>
                <a:ea typeface="Yu Gothic" pitchFamily="34" charset="-122"/>
                <a:cs typeface="Yu Gothic" pitchFamily="34" charset="-120"/>
              </a:rPr>
              <a:t>根拠 安衛法 第1条（詳細はノート）</a:t>
            </a:r>
            <a:endParaRPr lang="en-US" sz="980" dirty="0"/>
          </a:p>
        </p:txBody>
      </p:sp>
      <p:sp>
        <p:nvSpPr>
          <p:cNvPr id="18" name="Text 15"/>
          <p:cNvSpPr/>
          <p:nvPr/>
        </p:nvSpPr>
        <p:spPr>
          <a:xfrm>
            <a:off x="10210830" y="6162690"/>
            <a:ext cx="1181130" cy="209580"/>
          </a:xfrm>
          <a:prstGeom prst="rect">
            <a:avLst/>
          </a:prstGeom>
          <a:noFill/>
          <a:ln/>
        </p:spPr>
        <p:txBody>
          <a:bodyPr wrap="square" lIns="0" tIns="0" rIns="0" bIns="0" rtlCol="0" anchor="ctr">
            <a:normAutofit/>
          </a:bodyPr>
          <a:lstStyle/>
          <a:p>
            <a:pPr algn="r" indent="0" marL="0">
              <a:buNone/>
            </a:pPr>
            <a:r>
              <a:rPr lang="en-US" sz="980" b="1" dirty="0">
                <a:solidFill>
                  <a:srgbClr val="0A6257"/>
                </a:solidFill>
                <a:latin typeface="Yu Gothic" pitchFamily="34" charset="0"/>
                <a:ea typeface="Yu Gothic" pitchFamily="34" charset="-122"/>
                <a:cs typeface="Yu Gothic" pitchFamily="34" charset="-120"/>
              </a:rPr>
              <a:t>04 / 12</a:t>
            </a:r>
            <a:endParaRPr lang="en-US" sz="9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CF8"/>
        </a:solidFill>
      </p:bgPr>
    </p:bg>
    <p:spTree>
      <p:nvGrpSpPr>
        <p:cNvPr id="1" name=""/>
        <p:cNvGrpSpPr/>
        <p:nvPr/>
      </p:nvGrpSpPr>
      <p:grpSpPr>
        <a:xfrm>
          <a:off x="0" y="0"/>
          <a:ext cx="0" cy="0"/>
          <a:chOff x="0" y="0"/>
          <a:chExt cx="0" cy="0"/>
        </a:xfrm>
      </p:grpSpPr>
      <p:sp>
        <p:nvSpPr>
          <p:cNvPr id="2" name="Shape 0"/>
          <p:cNvSpPr/>
          <p:nvPr/>
        </p:nvSpPr>
        <p:spPr>
          <a:xfrm>
            <a:off x="0" y="0"/>
            <a:ext cx="171450" cy="6858000"/>
          </a:xfrm>
          <a:prstGeom prst="rect">
            <a:avLst/>
          </a:prstGeom>
          <a:solidFill>
            <a:srgbClr val="0A6257"/>
          </a:solidFill>
          <a:ln w="12700">
            <a:solidFill>
              <a:srgbClr val="FFFFFF">
                <a:alpha val="0"/>
              </a:srgbClr>
            </a:solidFill>
            <a:prstDash val="solid"/>
          </a:ln>
        </p:spPr>
      </p:sp>
      <p:sp>
        <p:nvSpPr>
          <p:cNvPr id="3" name="Text 1"/>
          <p:cNvSpPr/>
          <p:nvPr/>
        </p:nvSpPr>
        <p:spPr>
          <a:xfrm>
            <a:off x="723930" y="400050"/>
            <a:ext cx="5715000" cy="257221"/>
          </a:xfrm>
          <a:prstGeom prst="rect">
            <a:avLst/>
          </a:prstGeom>
          <a:noFill/>
          <a:ln/>
        </p:spPr>
        <p:txBody>
          <a:bodyPr wrap="square" lIns="0" tIns="0" rIns="0" bIns="0" rtlCol="0" anchor="ctr">
            <a:normAutofit/>
          </a:bodyPr>
          <a:lstStyle/>
          <a:p>
            <a:pPr algn="l" indent="0" marL="0">
              <a:buNone/>
            </a:pPr>
            <a:r>
              <a:rPr lang="en-US" sz="1200" b="1" dirty="0">
                <a:solidFill>
                  <a:srgbClr val="0A6257"/>
                </a:solidFill>
                <a:latin typeface="Yu Gothic" pitchFamily="34" charset="0"/>
                <a:ea typeface="Yu Gothic" pitchFamily="34" charset="-122"/>
                <a:cs typeface="Yu Gothic" pitchFamily="34" charset="-120"/>
              </a:rPr>
              <a:t>混在作業の管理</a:t>
            </a:r>
            <a:endParaRPr lang="en-US" sz="1200" dirty="0"/>
          </a:p>
        </p:txBody>
      </p:sp>
      <p:sp>
        <p:nvSpPr>
          <p:cNvPr id="4" name="Text 2"/>
          <p:cNvSpPr/>
          <p:nvPr/>
        </p:nvSpPr>
        <p:spPr>
          <a:xfrm>
            <a:off x="8162940" y="381030"/>
            <a:ext cx="3238530" cy="266730"/>
          </a:xfrm>
          <a:prstGeom prst="rect">
            <a:avLst/>
          </a:prstGeom>
          <a:noFill/>
          <a:ln/>
        </p:spPr>
        <p:txBody>
          <a:bodyPr wrap="square" lIns="0" tIns="0" rIns="0" bIns="0" rtlCol="0" anchor="ctr">
            <a:normAutofit/>
          </a:bodyPr>
          <a:lstStyle/>
          <a:p>
            <a:pPr algn="r" indent="0" marL="0">
              <a:buNone/>
            </a:pPr>
            <a:r>
              <a:rPr lang="en-US" sz="1130" b="1" dirty="0">
                <a:solidFill>
                  <a:srgbClr val="56706B"/>
                </a:solidFill>
                <a:latin typeface="Yu Gothic" pitchFamily="34" charset="0"/>
                <a:ea typeface="Yu Gothic" pitchFamily="34" charset="-122"/>
                <a:cs typeface="Yu Gothic" pitchFamily="34" charset="-120"/>
              </a:rPr>
              <a:t>役割は条文と現場条件で確認</a:t>
            </a:r>
            <a:endParaRPr lang="en-US" sz="1130" dirty="0"/>
          </a:p>
        </p:txBody>
      </p:sp>
      <p:sp>
        <p:nvSpPr>
          <p:cNvPr id="5" name="Text 3"/>
          <p:cNvSpPr/>
          <p:nvPr/>
        </p:nvSpPr>
        <p:spPr>
          <a:xfrm>
            <a:off x="723930" y="781080"/>
            <a:ext cx="10668030" cy="581010"/>
          </a:xfrm>
          <a:prstGeom prst="rect">
            <a:avLst/>
          </a:prstGeom>
          <a:noFill/>
          <a:ln/>
        </p:spPr>
        <p:txBody>
          <a:bodyPr wrap="square" lIns="0" tIns="0" rIns="0" bIns="0" rtlCol="0" anchor="ctr">
            <a:normAutofit/>
          </a:bodyPr>
          <a:lstStyle/>
          <a:p>
            <a:pPr algn="l" indent="0" marL="0">
              <a:buNone/>
            </a:pPr>
            <a:r>
              <a:rPr lang="en-US" sz="4200" b="1" dirty="0">
                <a:solidFill>
                  <a:srgbClr val="073C35"/>
                </a:solidFill>
                <a:latin typeface="Yu Gothic" pitchFamily="34" charset="0"/>
                <a:ea typeface="Yu Gothic" pitchFamily="34" charset="-122"/>
                <a:cs typeface="Yu Gothic" pitchFamily="34" charset="-120"/>
              </a:rPr>
              <a:t>役割と連絡経路</a:t>
            </a:r>
            <a:endParaRPr lang="en-US" sz="4200" dirty="0"/>
          </a:p>
        </p:txBody>
      </p:sp>
      <p:sp>
        <p:nvSpPr>
          <p:cNvPr id="6" name="Shape 4"/>
          <p:cNvSpPr/>
          <p:nvPr/>
        </p:nvSpPr>
        <p:spPr>
          <a:xfrm>
            <a:off x="723930" y="1457371"/>
            <a:ext cx="914400" cy="57150"/>
          </a:xfrm>
          <a:prstGeom prst="rect">
            <a:avLst/>
          </a:prstGeom>
          <a:solidFill>
            <a:srgbClr val="F6A234"/>
          </a:solidFill>
          <a:ln w="12700">
            <a:solidFill>
              <a:srgbClr val="FFFFFF">
                <a:alpha val="0"/>
              </a:srgbClr>
            </a:solidFill>
            <a:prstDash val="solid"/>
          </a:ln>
        </p:spPr>
      </p:sp>
      <p:sp>
        <p:nvSpPr>
          <p:cNvPr id="7" name="Text 5"/>
          <p:cNvSpPr/>
          <p:nvPr/>
        </p:nvSpPr>
        <p:spPr>
          <a:xfrm>
            <a:off x="723930" y="1695480"/>
            <a:ext cx="10477470" cy="466710"/>
          </a:xfrm>
          <a:prstGeom prst="rect">
            <a:avLst/>
          </a:prstGeom>
          <a:noFill/>
          <a:ln/>
        </p:spPr>
        <p:txBody>
          <a:bodyPr wrap="square" lIns="0" tIns="0" rIns="0" bIns="0" rtlCol="0" anchor="ctr">
            <a:normAutofit/>
          </a:bodyPr>
          <a:lstStyle/>
          <a:p>
            <a:pPr algn="l" indent="0" marL="0">
              <a:buNone/>
            </a:pPr>
            <a:r>
              <a:rPr lang="en-US" sz="1730" b="1" dirty="0">
                <a:solidFill>
                  <a:srgbClr val="173B36"/>
                </a:solidFill>
                <a:latin typeface="Yu Gothic" pitchFamily="34" charset="0"/>
                <a:ea typeface="Yu Gothic" pitchFamily="34" charset="-122"/>
                <a:cs typeface="Yu Gothic" pitchFamily="34" charset="-120"/>
              </a:rPr>
              <a:t>止める人・連絡先・再開者を決める</a:t>
            </a:r>
            <a:endParaRPr lang="en-US" sz="1730" dirty="0"/>
          </a:p>
        </p:txBody>
      </p:sp>
      <p:sp>
        <p:nvSpPr>
          <p:cNvPr id="8" name="Text 6"/>
          <p:cNvSpPr/>
          <p:nvPr/>
        </p:nvSpPr>
        <p:spPr>
          <a:xfrm>
            <a:off x="723930" y="2571750"/>
            <a:ext cx="552480" cy="419070"/>
          </a:xfrm>
          <a:prstGeom prst="rect">
            <a:avLst/>
          </a:prstGeom>
          <a:noFill/>
          <a:ln/>
        </p:spPr>
        <p:txBody>
          <a:bodyPr wrap="square" lIns="0" tIns="0" rIns="0" bIns="0" rtlCol="0" anchor="ctr">
            <a:normAutofit/>
          </a:bodyPr>
          <a:lstStyle/>
          <a:p>
            <a:pPr algn="l" indent="0" marL="0">
              <a:buNone/>
            </a:pPr>
            <a:r>
              <a:rPr lang="en-US" sz="2250" b="1" dirty="0">
                <a:solidFill>
                  <a:srgbClr val="0A6257"/>
                </a:solidFill>
                <a:latin typeface="Yu Gothic" pitchFamily="34" charset="0"/>
                <a:ea typeface="Yu Gothic" pitchFamily="34" charset="-122"/>
                <a:cs typeface="Yu Gothic" pitchFamily="34" charset="-120"/>
              </a:rPr>
              <a:t>01</a:t>
            </a:r>
            <a:endParaRPr lang="en-US" sz="2250" dirty="0"/>
          </a:p>
        </p:txBody>
      </p:sp>
      <p:sp>
        <p:nvSpPr>
          <p:cNvPr id="9" name="Text 7"/>
          <p:cNvSpPr/>
          <p:nvPr/>
        </p:nvSpPr>
        <p:spPr>
          <a:xfrm>
            <a:off x="1466880" y="2571750"/>
            <a:ext cx="5524530" cy="438180"/>
          </a:xfrm>
          <a:prstGeom prst="rect">
            <a:avLst/>
          </a:prstGeom>
          <a:noFill/>
          <a:ln/>
        </p:spPr>
        <p:txBody>
          <a:bodyPr wrap="square" lIns="0" tIns="0" rIns="0" bIns="0" rtlCol="0" anchor="ctr">
            <a:normAutofit/>
          </a:bodyPr>
          <a:lstStyle/>
          <a:p>
            <a:pPr algn="l" indent="0" marL="0">
              <a:buNone/>
            </a:pPr>
            <a:r>
              <a:rPr lang="en-US" sz="2030" b="1" dirty="0">
                <a:solidFill>
                  <a:srgbClr val="173B36"/>
                </a:solidFill>
                <a:latin typeface="Yu Gothic" pitchFamily="34" charset="0"/>
                <a:ea typeface="Yu Gothic" pitchFamily="34" charset="-122"/>
                <a:cs typeface="Yu Gothic" pitchFamily="34" charset="-120"/>
              </a:rPr>
              <a:t>工程を調整</a:t>
            </a:r>
            <a:endParaRPr lang="en-US" sz="2030" dirty="0"/>
          </a:p>
        </p:txBody>
      </p:sp>
      <p:sp>
        <p:nvSpPr>
          <p:cNvPr id="10" name="Text 8"/>
          <p:cNvSpPr/>
          <p:nvPr/>
        </p:nvSpPr>
        <p:spPr>
          <a:xfrm>
            <a:off x="723930" y="3352830"/>
            <a:ext cx="552480" cy="419070"/>
          </a:xfrm>
          <a:prstGeom prst="rect">
            <a:avLst/>
          </a:prstGeom>
          <a:noFill/>
          <a:ln/>
        </p:spPr>
        <p:txBody>
          <a:bodyPr wrap="square" lIns="0" tIns="0" rIns="0" bIns="0" rtlCol="0" anchor="ctr">
            <a:normAutofit/>
          </a:bodyPr>
          <a:lstStyle/>
          <a:p>
            <a:pPr algn="l" indent="0" marL="0">
              <a:buNone/>
            </a:pPr>
            <a:r>
              <a:rPr lang="en-US" sz="2250" b="1" dirty="0">
                <a:solidFill>
                  <a:srgbClr val="F6A234"/>
                </a:solidFill>
                <a:latin typeface="Yu Gothic" pitchFamily="34" charset="0"/>
                <a:ea typeface="Yu Gothic" pitchFamily="34" charset="-122"/>
                <a:cs typeface="Yu Gothic" pitchFamily="34" charset="-120"/>
              </a:rPr>
              <a:t>02</a:t>
            </a:r>
            <a:endParaRPr lang="en-US" sz="2250" dirty="0"/>
          </a:p>
        </p:txBody>
      </p:sp>
      <p:sp>
        <p:nvSpPr>
          <p:cNvPr id="11" name="Text 9"/>
          <p:cNvSpPr/>
          <p:nvPr/>
        </p:nvSpPr>
        <p:spPr>
          <a:xfrm>
            <a:off x="1466880" y="3352830"/>
            <a:ext cx="5524530" cy="438180"/>
          </a:xfrm>
          <a:prstGeom prst="rect">
            <a:avLst/>
          </a:prstGeom>
          <a:noFill/>
          <a:ln/>
        </p:spPr>
        <p:txBody>
          <a:bodyPr wrap="square" lIns="0" tIns="0" rIns="0" bIns="0" rtlCol="0" anchor="ctr">
            <a:normAutofit/>
          </a:bodyPr>
          <a:lstStyle/>
          <a:p>
            <a:pPr algn="l" indent="0" marL="0">
              <a:buNone/>
            </a:pPr>
            <a:r>
              <a:rPr lang="en-US" sz="2030" b="1" dirty="0">
                <a:solidFill>
                  <a:srgbClr val="173B36"/>
                </a:solidFill>
                <a:latin typeface="Yu Gothic" pitchFamily="34" charset="0"/>
                <a:ea typeface="Yu Gothic" pitchFamily="34" charset="-122"/>
                <a:cs typeface="Yu Gothic" pitchFamily="34" charset="-120"/>
              </a:rPr>
              <a:t>当日の役割</a:t>
            </a:r>
            <a:endParaRPr lang="en-US" sz="2030" dirty="0"/>
          </a:p>
        </p:txBody>
      </p:sp>
      <p:sp>
        <p:nvSpPr>
          <p:cNvPr id="12" name="Text 10"/>
          <p:cNvSpPr/>
          <p:nvPr/>
        </p:nvSpPr>
        <p:spPr>
          <a:xfrm>
            <a:off x="723930" y="4133820"/>
            <a:ext cx="552480" cy="419070"/>
          </a:xfrm>
          <a:prstGeom prst="rect">
            <a:avLst/>
          </a:prstGeom>
          <a:noFill/>
          <a:ln/>
        </p:spPr>
        <p:txBody>
          <a:bodyPr wrap="square" lIns="0" tIns="0" rIns="0" bIns="0" rtlCol="0" anchor="ctr">
            <a:normAutofit/>
          </a:bodyPr>
          <a:lstStyle/>
          <a:p>
            <a:pPr algn="l" indent="0" marL="0">
              <a:buNone/>
            </a:pPr>
            <a:r>
              <a:rPr lang="en-US" sz="2250" b="1" dirty="0">
                <a:solidFill>
                  <a:srgbClr val="0A6257"/>
                </a:solidFill>
                <a:latin typeface="Yu Gothic" pitchFamily="34" charset="0"/>
                <a:ea typeface="Yu Gothic" pitchFamily="34" charset="-122"/>
                <a:cs typeface="Yu Gothic" pitchFamily="34" charset="-120"/>
              </a:rPr>
              <a:t>03</a:t>
            </a:r>
            <a:endParaRPr lang="en-US" sz="2250" dirty="0"/>
          </a:p>
        </p:txBody>
      </p:sp>
      <p:sp>
        <p:nvSpPr>
          <p:cNvPr id="13" name="Text 11"/>
          <p:cNvSpPr/>
          <p:nvPr/>
        </p:nvSpPr>
        <p:spPr>
          <a:xfrm>
            <a:off x="1466880" y="4133820"/>
            <a:ext cx="5524530" cy="438180"/>
          </a:xfrm>
          <a:prstGeom prst="rect">
            <a:avLst/>
          </a:prstGeom>
          <a:noFill/>
          <a:ln/>
        </p:spPr>
        <p:txBody>
          <a:bodyPr wrap="square" lIns="0" tIns="0" rIns="0" bIns="0" rtlCol="0" anchor="ctr">
            <a:normAutofit/>
          </a:bodyPr>
          <a:lstStyle/>
          <a:p>
            <a:pPr algn="l" indent="0" marL="0">
              <a:buNone/>
            </a:pPr>
            <a:r>
              <a:rPr lang="en-US" sz="2030" b="1" dirty="0">
                <a:solidFill>
                  <a:srgbClr val="173B36"/>
                </a:solidFill>
                <a:latin typeface="Yu Gothic" pitchFamily="34" charset="0"/>
                <a:ea typeface="Yu Gothic" pitchFamily="34" charset="-122"/>
                <a:cs typeface="Yu Gothic" pitchFamily="34" charset="-120"/>
              </a:rPr>
              <a:t>異常時の連絡</a:t>
            </a:r>
            <a:endParaRPr lang="en-US" sz="2030" dirty="0"/>
          </a:p>
        </p:txBody>
      </p:sp>
      <p:pic>
        <p:nvPicPr>
          <p:cNvPr id="14" name="Image 0" descr="混在作業の連絡経路を伝えるチワワ">    </p:cNvPr>
          <p:cNvPicPr>
            <a:picLocks noChangeAspect="1"/>
          </p:cNvPicPr>
          <p:nvPr/>
        </p:nvPicPr>
        <p:blipFill>
          <a:blip r:embed="rId1"/>
          <a:srcRect l="-884" r="-884" t="0" b="0"/>
          <a:stretch/>
        </p:blipFill>
        <p:spPr>
          <a:xfrm>
            <a:off x="7810530" y="2238360"/>
            <a:ext cx="2857500" cy="2857500"/>
          </a:xfrm>
          <a:prstGeom prst="rect">
            <a:avLst/>
          </a:prstGeom>
        </p:spPr>
      </p:pic>
      <p:sp>
        <p:nvSpPr>
          <p:cNvPr id="15" name="Text 12"/>
          <p:cNvSpPr/>
          <p:nvPr/>
        </p:nvSpPr>
        <p:spPr>
          <a:xfrm>
            <a:off x="723930" y="5219670"/>
            <a:ext cx="9905970" cy="371521"/>
          </a:xfrm>
          <a:prstGeom prst="rect">
            <a:avLst/>
          </a:prstGeom>
          <a:noFill/>
          <a:ln/>
        </p:spPr>
        <p:txBody>
          <a:bodyPr wrap="square" lIns="0" tIns="0" rIns="0" bIns="0" rtlCol="0" anchor="ctr">
            <a:normAutofit/>
          </a:bodyPr>
          <a:lstStyle/>
          <a:p>
            <a:pPr algn="l" indent="0" marL="0">
              <a:buNone/>
            </a:pPr>
            <a:r>
              <a:rPr lang="en-US" sz="1500" b="1" dirty="0">
                <a:solidFill>
                  <a:srgbClr val="A83F2D"/>
                </a:solidFill>
                <a:latin typeface="Yu Gothic" pitchFamily="34" charset="0"/>
                <a:ea typeface="Yu Gothic" pitchFamily="34" charset="-122"/>
                <a:cs typeface="Yu Gothic" pitchFamily="34" charset="-120"/>
              </a:rPr>
              <a:t>条件: 第30条は全元方へ一律適用しない</a:t>
            </a:r>
            <a:endParaRPr lang="en-US" sz="1500" dirty="0"/>
          </a:p>
        </p:txBody>
      </p:sp>
      <p:sp>
        <p:nvSpPr>
          <p:cNvPr id="16" name="Shape 13"/>
          <p:cNvSpPr/>
          <p:nvPr/>
        </p:nvSpPr>
        <p:spPr>
          <a:xfrm>
            <a:off x="723930" y="6096030"/>
            <a:ext cx="10687050" cy="9510"/>
          </a:xfrm>
          <a:prstGeom prst="rect">
            <a:avLst/>
          </a:prstGeom>
          <a:solidFill>
            <a:srgbClr val="BDD4CD"/>
          </a:solidFill>
          <a:ln w="12700">
            <a:solidFill>
              <a:srgbClr val="FFFFFF">
                <a:alpha val="0"/>
              </a:srgbClr>
            </a:solidFill>
            <a:prstDash val="solid"/>
          </a:ln>
        </p:spPr>
      </p:sp>
      <p:sp>
        <p:nvSpPr>
          <p:cNvPr id="17" name="Text 14"/>
          <p:cNvSpPr/>
          <p:nvPr/>
        </p:nvSpPr>
        <p:spPr>
          <a:xfrm>
            <a:off x="723930" y="6162690"/>
            <a:ext cx="7429500" cy="209580"/>
          </a:xfrm>
          <a:prstGeom prst="rect">
            <a:avLst/>
          </a:prstGeom>
          <a:noFill/>
          <a:ln/>
        </p:spPr>
        <p:txBody>
          <a:bodyPr wrap="square" lIns="0" tIns="0" rIns="0" bIns="0" rtlCol="0" anchor="ctr">
            <a:normAutofit/>
          </a:bodyPr>
          <a:lstStyle/>
          <a:p>
            <a:pPr algn="l" indent="0" marL="0">
              <a:buNone/>
            </a:pPr>
            <a:r>
              <a:rPr lang="en-US" sz="980" dirty="0">
                <a:solidFill>
                  <a:srgbClr val="56706B"/>
                </a:solidFill>
                <a:latin typeface="Yu Gothic" pitchFamily="34" charset="0"/>
                <a:ea typeface="Yu Gothic" pitchFamily="34" charset="-122"/>
                <a:cs typeface="Yu Gothic" pitchFamily="34" charset="-120"/>
              </a:rPr>
              <a:t>根拠 安衛法 第29条・安衛法 第30条（詳細はノート）</a:t>
            </a:r>
            <a:endParaRPr lang="en-US" sz="980" dirty="0"/>
          </a:p>
        </p:txBody>
      </p:sp>
      <p:sp>
        <p:nvSpPr>
          <p:cNvPr id="18" name="Text 15"/>
          <p:cNvSpPr/>
          <p:nvPr/>
        </p:nvSpPr>
        <p:spPr>
          <a:xfrm>
            <a:off x="10210830" y="6162690"/>
            <a:ext cx="1181130" cy="209580"/>
          </a:xfrm>
          <a:prstGeom prst="rect">
            <a:avLst/>
          </a:prstGeom>
          <a:noFill/>
          <a:ln/>
        </p:spPr>
        <p:txBody>
          <a:bodyPr wrap="square" lIns="0" tIns="0" rIns="0" bIns="0" rtlCol="0" anchor="ctr">
            <a:normAutofit/>
          </a:bodyPr>
          <a:lstStyle/>
          <a:p>
            <a:pPr algn="r" indent="0" marL="0">
              <a:buNone/>
            </a:pPr>
            <a:r>
              <a:rPr lang="en-US" sz="980" b="1" dirty="0">
                <a:solidFill>
                  <a:srgbClr val="0A6257"/>
                </a:solidFill>
                <a:latin typeface="Yu Gothic" pitchFamily="34" charset="0"/>
                <a:ea typeface="Yu Gothic" pitchFamily="34" charset="-122"/>
                <a:cs typeface="Yu Gothic" pitchFamily="34" charset="-120"/>
              </a:rPr>
              <a:t>05 / 12</a:t>
            </a:r>
            <a:endParaRPr lang="en-US" sz="9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CF8"/>
        </a:solidFill>
      </p:bgPr>
    </p:bg>
    <p:spTree>
      <p:nvGrpSpPr>
        <p:cNvPr id="1" name=""/>
        <p:cNvGrpSpPr/>
        <p:nvPr/>
      </p:nvGrpSpPr>
      <p:grpSpPr>
        <a:xfrm>
          <a:off x="0" y="0"/>
          <a:ext cx="0" cy="0"/>
          <a:chOff x="0" y="0"/>
          <a:chExt cx="0" cy="0"/>
        </a:xfrm>
      </p:grpSpPr>
      <p:sp>
        <p:nvSpPr>
          <p:cNvPr id="2" name="Shape 0"/>
          <p:cNvSpPr/>
          <p:nvPr/>
        </p:nvSpPr>
        <p:spPr>
          <a:xfrm>
            <a:off x="0" y="0"/>
            <a:ext cx="171450" cy="6858000"/>
          </a:xfrm>
          <a:prstGeom prst="rect">
            <a:avLst/>
          </a:prstGeom>
          <a:solidFill>
            <a:srgbClr val="0A6257"/>
          </a:solidFill>
          <a:ln w="12700">
            <a:solidFill>
              <a:srgbClr val="FFFFFF">
                <a:alpha val="0"/>
              </a:srgbClr>
            </a:solidFill>
            <a:prstDash val="solid"/>
          </a:ln>
        </p:spPr>
      </p:sp>
      <p:sp>
        <p:nvSpPr>
          <p:cNvPr id="3" name="Text 1"/>
          <p:cNvSpPr/>
          <p:nvPr/>
        </p:nvSpPr>
        <p:spPr>
          <a:xfrm>
            <a:off x="723930" y="400050"/>
            <a:ext cx="5715000" cy="257221"/>
          </a:xfrm>
          <a:prstGeom prst="rect">
            <a:avLst/>
          </a:prstGeom>
          <a:noFill/>
          <a:ln/>
        </p:spPr>
        <p:txBody>
          <a:bodyPr wrap="square" lIns="0" tIns="0" rIns="0" bIns="0" rtlCol="0" anchor="ctr">
            <a:normAutofit/>
          </a:bodyPr>
          <a:lstStyle/>
          <a:p>
            <a:pPr algn="l" indent="0" marL="0">
              <a:buNone/>
            </a:pPr>
            <a:r>
              <a:rPr lang="en-US" sz="1200" b="1" dirty="0">
                <a:solidFill>
                  <a:srgbClr val="0A6257"/>
                </a:solidFill>
                <a:latin typeface="Yu Gothic" pitchFamily="34" charset="0"/>
                <a:ea typeface="Yu Gothic" pitchFamily="34" charset="-122"/>
                <a:cs typeface="Yu Gothic" pitchFamily="34" charset="-120"/>
              </a:rPr>
              <a:t>安全衛生管理の仕組み</a:t>
            </a:r>
            <a:endParaRPr lang="en-US" sz="1200" dirty="0"/>
          </a:p>
        </p:txBody>
      </p:sp>
      <p:sp>
        <p:nvSpPr>
          <p:cNvPr id="4" name="Text 2"/>
          <p:cNvSpPr/>
          <p:nvPr/>
        </p:nvSpPr>
        <p:spPr>
          <a:xfrm>
            <a:off x="8162940" y="381030"/>
            <a:ext cx="3238530" cy="266730"/>
          </a:xfrm>
          <a:prstGeom prst="rect">
            <a:avLst/>
          </a:prstGeom>
          <a:noFill/>
          <a:ln/>
        </p:spPr>
        <p:txBody>
          <a:bodyPr wrap="square" lIns="0" tIns="0" rIns="0" bIns="0" rtlCol="0" anchor="ctr">
            <a:normAutofit/>
          </a:bodyPr>
          <a:lstStyle/>
          <a:p>
            <a:pPr algn="r" indent="0" marL="0">
              <a:buNone/>
            </a:pPr>
            <a:r>
              <a:rPr lang="en-US" sz="1130" b="1" dirty="0">
                <a:solidFill>
                  <a:srgbClr val="56706B"/>
                </a:solidFill>
                <a:latin typeface="Yu Gothic" pitchFamily="34" charset="0"/>
                <a:ea typeface="Yu Gothic" pitchFamily="34" charset="-122"/>
                <a:cs typeface="Yu Gothic" pitchFamily="34" charset="-120"/>
              </a:rPr>
              <a:t>厚生労働省指針</a:t>
            </a:r>
            <a:endParaRPr lang="en-US" sz="1130" dirty="0"/>
          </a:p>
        </p:txBody>
      </p:sp>
      <p:sp>
        <p:nvSpPr>
          <p:cNvPr id="5" name="Text 3"/>
          <p:cNvSpPr/>
          <p:nvPr/>
        </p:nvSpPr>
        <p:spPr>
          <a:xfrm>
            <a:off x="723930" y="781080"/>
            <a:ext cx="10668030" cy="581010"/>
          </a:xfrm>
          <a:prstGeom prst="rect">
            <a:avLst/>
          </a:prstGeom>
          <a:noFill/>
          <a:ln/>
        </p:spPr>
        <p:txBody>
          <a:bodyPr wrap="square" lIns="0" tIns="0" rIns="0" bIns="0" rtlCol="0" anchor="ctr">
            <a:normAutofit/>
          </a:bodyPr>
          <a:lstStyle/>
          <a:p>
            <a:pPr algn="l" indent="0" marL="0">
              <a:buNone/>
            </a:pPr>
            <a:r>
              <a:rPr lang="en-US" sz="4200" b="1" dirty="0">
                <a:solidFill>
                  <a:srgbClr val="073C35"/>
                </a:solidFill>
                <a:latin typeface="Yu Gothic" pitchFamily="34" charset="0"/>
                <a:ea typeface="Yu Gothic" pitchFamily="34" charset="-122"/>
                <a:cs typeface="Yu Gothic" pitchFamily="34" charset="-120"/>
              </a:rPr>
              <a:t>OSHMSの改善サイクル</a:t>
            </a:r>
            <a:endParaRPr lang="en-US" sz="4200" dirty="0"/>
          </a:p>
        </p:txBody>
      </p:sp>
      <p:sp>
        <p:nvSpPr>
          <p:cNvPr id="6" name="Shape 4"/>
          <p:cNvSpPr/>
          <p:nvPr/>
        </p:nvSpPr>
        <p:spPr>
          <a:xfrm>
            <a:off x="723930" y="1457371"/>
            <a:ext cx="914400" cy="57150"/>
          </a:xfrm>
          <a:prstGeom prst="rect">
            <a:avLst/>
          </a:prstGeom>
          <a:solidFill>
            <a:srgbClr val="F6A234"/>
          </a:solidFill>
          <a:ln w="12700">
            <a:solidFill>
              <a:srgbClr val="FFFFFF">
                <a:alpha val="0"/>
              </a:srgbClr>
            </a:solidFill>
            <a:prstDash val="solid"/>
          </a:ln>
        </p:spPr>
      </p:sp>
      <p:sp>
        <p:nvSpPr>
          <p:cNvPr id="7" name="Text 5"/>
          <p:cNvSpPr/>
          <p:nvPr/>
        </p:nvSpPr>
        <p:spPr>
          <a:xfrm>
            <a:off x="723930" y="1695480"/>
            <a:ext cx="10477470" cy="466710"/>
          </a:xfrm>
          <a:prstGeom prst="rect">
            <a:avLst/>
          </a:prstGeom>
          <a:noFill/>
          <a:ln/>
        </p:spPr>
        <p:txBody>
          <a:bodyPr wrap="square" lIns="0" tIns="0" rIns="0" bIns="0" rtlCol="0" anchor="ctr">
            <a:normAutofit/>
          </a:bodyPr>
          <a:lstStyle/>
          <a:p>
            <a:pPr algn="l" indent="0" marL="0">
              <a:buNone/>
            </a:pPr>
            <a:r>
              <a:rPr lang="en-US" sz="1730" b="1" dirty="0">
                <a:solidFill>
                  <a:srgbClr val="173B36"/>
                </a:solidFill>
                <a:latin typeface="Yu Gothic" pitchFamily="34" charset="0"/>
                <a:ea typeface="Yu Gothic" pitchFamily="34" charset="-122"/>
                <a:cs typeface="Yu Gothic" pitchFamily="34" charset="-120"/>
              </a:rPr>
              <a:t>計画・実施・点検・改善を回す</a:t>
            </a:r>
            <a:endParaRPr lang="en-US" sz="1730" dirty="0"/>
          </a:p>
        </p:txBody>
      </p:sp>
      <p:sp>
        <p:nvSpPr>
          <p:cNvPr id="8" name="Text 6"/>
          <p:cNvSpPr/>
          <p:nvPr/>
        </p:nvSpPr>
        <p:spPr>
          <a:xfrm>
            <a:off x="723930" y="2571750"/>
            <a:ext cx="552480" cy="419070"/>
          </a:xfrm>
          <a:prstGeom prst="rect">
            <a:avLst/>
          </a:prstGeom>
          <a:noFill/>
          <a:ln/>
        </p:spPr>
        <p:txBody>
          <a:bodyPr wrap="square" lIns="0" tIns="0" rIns="0" bIns="0" rtlCol="0" anchor="ctr">
            <a:normAutofit/>
          </a:bodyPr>
          <a:lstStyle/>
          <a:p>
            <a:pPr algn="l" indent="0" marL="0">
              <a:buNone/>
            </a:pPr>
            <a:r>
              <a:rPr lang="en-US" sz="2250" b="1" dirty="0">
                <a:solidFill>
                  <a:srgbClr val="0A6257"/>
                </a:solidFill>
                <a:latin typeface="Yu Gothic" pitchFamily="34" charset="0"/>
                <a:ea typeface="Yu Gothic" pitchFamily="34" charset="-122"/>
                <a:cs typeface="Yu Gothic" pitchFamily="34" charset="-120"/>
              </a:rPr>
              <a:t>01</a:t>
            </a:r>
            <a:endParaRPr lang="en-US" sz="2250" dirty="0"/>
          </a:p>
        </p:txBody>
      </p:sp>
      <p:sp>
        <p:nvSpPr>
          <p:cNvPr id="9" name="Text 7"/>
          <p:cNvSpPr/>
          <p:nvPr/>
        </p:nvSpPr>
        <p:spPr>
          <a:xfrm>
            <a:off x="1466880" y="2571750"/>
            <a:ext cx="5524530" cy="438180"/>
          </a:xfrm>
          <a:prstGeom prst="rect">
            <a:avLst/>
          </a:prstGeom>
          <a:noFill/>
          <a:ln/>
        </p:spPr>
        <p:txBody>
          <a:bodyPr wrap="square" lIns="0" tIns="0" rIns="0" bIns="0" rtlCol="0" anchor="ctr">
            <a:normAutofit/>
          </a:bodyPr>
          <a:lstStyle/>
          <a:p>
            <a:pPr algn="l" indent="0" marL="0">
              <a:buNone/>
            </a:pPr>
            <a:r>
              <a:rPr lang="en-US" sz="2030" b="1" dirty="0">
                <a:solidFill>
                  <a:srgbClr val="173B36"/>
                </a:solidFill>
                <a:latin typeface="Yu Gothic" pitchFamily="34" charset="0"/>
                <a:ea typeface="Yu Gothic" pitchFamily="34" charset="-122"/>
                <a:cs typeface="Yu Gothic" pitchFamily="34" charset="-120"/>
              </a:rPr>
              <a:t>方針と計画</a:t>
            </a:r>
            <a:endParaRPr lang="en-US" sz="2030" dirty="0"/>
          </a:p>
        </p:txBody>
      </p:sp>
      <p:sp>
        <p:nvSpPr>
          <p:cNvPr id="10" name="Text 8"/>
          <p:cNvSpPr/>
          <p:nvPr/>
        </p:nvSpPr>
        <p:spPr>
          <a:xfrm>
            <a:off x="723930" y="3352830"/>
            <a:ext cx="552480" cy="419070"/>
          </a:xfrm>
          <a:prstGeom prst="rect">
            <a:avLst/>
          </a:prstGeom>
          <a:noFill/>
          <a:ln/>
        </p:spPr>
        <p:txBody>
          <a:bodyPr wrap="square" lIns="0" tIns="0" rIns="0" bIns="0" rtlCol="0" anchor="ctr">
            <a:normAutofit/>
          </a:bodyPr>
          <a:lstStyle/>
          <a:p>
            <a:pPr algn="l" indent="0" marL="0">
              <a:buNone/>
            </a:pPr>
            <a:r>
              <a:rPr lang="en-US" sz="2250" b="1" dirty="0">
                <a:solidFill>
                  <a:srgbClr val="F6A234"/>
                </a:solidFill>
                <a:latin typeface="Yu Gothic" pitchFamily="34" charset="0"/>
                <a:ea typeface="Yu Gothic" pitchFamily="34" charset="-122"/>
                <a:cs typeface="Yu Gothic" pitchFamily="34" charset="-120"/>
              </a:rPr>
              <a:t>02</a:t>
            </a:r>
            <a:endParaRPr lang="en-US" sz="2250" dirty="0"/>
          </a:p>
        </p:txBody>
      </p:sp>
      <p:sp>
        <p:nvSpPr>
          <p:cNvPr id="11" name="Text 9"/>
          <p:cNvSpPr/>
          <p:nvPr/>
        </p:nvSpPr>
        <p:spPr>
          <a:xfrm>
            <a:off x="1466880" y="3352830"/>
            <a:ext cx="5524530" cy="438180"/>
          </a:xfrm>
          <a:prstGeom prst="rect">
            <a:avLst/>
          </a:prstGeom>
          <a:noFill/>
          <a:ln/>
        </p:spPr>
        <p:txBody>
          <a:bodyPr wrap="square" lIns="0" tIns="0" rIns="0" bIns="0" rtlCol="0" anchor="ctr">
            <a:normAutofit/>
          </a:bodyPr>
          <a:lstStyle/>
          <a:p>
            <a:pPr algn="l" indent="0" marL="0">
              <a:buNone/>
            </a:pPr>
            <a:r>
              <a:rPr lang="en-US" sz="2030" b="1" dirty="0">
                <a:solidFill>
                  <a:srgbClr val="173B36"/>
                </a:solidFill>
                <a:latin typeface="Yu Gothic" pitchFamily="34" charset="0"/>
                <a:ea typeface="Yu Gothic" pitchFamily="34" charset="-122"/>
                <a:cs typeface="Yu Gothic" pitchFamily="34" charset="-120"/>
              </a:rPr>
              <a:t>実施と運用</a:t>
            </a:r>
            <a:endParaRPr lang="en-US" sz="2030" dirty="0"/>
          </a:p>
        </p:txBody>
      </p:sp>
      <p:sp>
        <p:nvSpPr>
          <p:cNvPr id="12" name="Text 10"/>
          <p:cNvSpPr/>
          <p:nvPr/>
        </p:nvSpPr>
        <p:spPr>
          <a:xfrm>
            <a:off x="723930" y="4133820"/>
            <a:ext cx="552480" cy="419070"/>
          </a:xfrm>
          <a:prstGeom prst="rect">
            <a:avLst/>
          </a:prstGeom>
          <a:noFill/>
          <a:ln/>
        </p:spPr>
        <p:txBody>
          <a:bodyPr wrap="square" lIns="0" tIns="0" rIns="0" bIns="0" rtlCol="0" anchor="ctr">
            <a:normAutofit/>
          </a:bodyPr>
          <a:lstStyle/>
          <a:p>
            <a:pPr algn="l" indent="0" marL="0">
              <a:buNone/>
            </a:pPr>
            <a:r>
              <a:rPr lang="en-US" sz="2250" b="1" dirty="0">
                <a:solidFill>
                  <a:srgbClr val="0A6257"/>
                </a:solidFill>
                <a:latin typeface="Yu Gothic" pitchFamily="34" charset="0"/>
                <a:ea typeface="Yu Gothic" pitchFamily="34" charset="-122"/>
                <a:cs typeface="Yu Gothic" pitchFamily="34" charset="-120"/>
              </a:rPr>
              <a:t>03</a:t>
            </a:r>
            <a:endParaRPr lang="en-US" sz="2250" dirty="0"/>
          </a:p>
        </p:txBody>
      </p:sp>
      <p:sp>
        <p:nvSpPr>
          <p:cNvPr id="13" name="Text 11"/>
          <p:cNvSpPr/>
          <p:nvPr/>
        </p:nvSpPr>
        <p:spPr>
          <a:xfrm>
            <a:off x="1466880" y="4133820"/>
            <a:ext cx="5524530" cy="438180"/>
          </a:xfrm>
          <a:prstGeom prst="rect">
            <a:avLst/>
          </a:prstGeom>
          <a:noFill/>
          <a:ln/>
        </p:spPr>
        <p:txBody>
          <a:bodyPr wrap="square" lIns="0" tIns="0" rIns="0" bIns="0" rtlCol="0" anchor="ctr">
            <a:normAutofit/>
          </a:bodyPr>
          <a:lstStyle/>
          <a:p>
            <a:pPr algn="l" indent="0" marL="0">
              <a:buNone/>
            </a:pPr>
            <a:r>
              <a:rPr lang="en-US" sz="2030" b="1" dirty="0">
                <a:solidFill>
                  <a:srgbClr val="173B36"/>
                </a:solidFill>
                <a:latin typeface="Yu Gothic" pitchFamily="34" charset="0"/>
                <a:ea typeface="Yu Gothic" pitchFamily="34" charset="-122"/>
                <a:cs typeface="Yu Gothic" pitchFamily="34" charset="-120"/>
              </a:rPr>
              <a:t>点検から改善</a:t>
            </a:r>
            <a:endParaRPr lang="en-US" sz="2030" dirty="0"/>
          </a:p>
        </p:txBody>
      </p:sp>
      <p:pic>
        <p:nvPicPr>
          <p:cNvPr id="14" name="Image 0" descr="安全衛生の改善計画を示すチワワ">    </p:cNvPr>
          <p:cNvPicPr>
            <a:picLocks noChangeAspect="1"/>
          </p:cNvPicPr>
          <p:nvPr/>
        </p:nvPicPr>
        <p:blipFill>
          <a:blip r:embed="rId1"/>
          <a:srcRect l="-2980" r="-2980" t="0" b="0"/>
          <a:stretch/>
        </p:blipFill>
        <p:spPr>
          <a:xfrm>
            <a:off x="7810530" y="2238360"/>
            <a:ext cx="2857500" cy="2857500"/>
          </a:xfrm>
          <a:prstGeom prst="rect">
            <a:avLst/>
          </a:prstGeom>
        </p:spPr>
      </p:pic>
      <p:sp>
        <p:nvSpPr>
          <p:cNvPr id="15" name="Shape 12"/>
          <p:cNvSpPr/>
          <p:nvPr/>
        </p:nvSpPr>
        <p:spPr>
          <a:xfrm>
            <a:off x="723930" y="6096030"/>
            <a:ext cx="10687050" cy="9510"/>
          </a:xfrm>
          <a:prstGeom prst="rect">
            <a:avLst/>
          </a:prstGeom>
          <a:solidFill>
            <a:srgbClr val="BDD4CD"/>
          </a:solidFill>
          <a:ln w="12700">
            <a:solidFill>
              <a:srgbClr val="FFFFFF">
                <a:alpha val="0"/>
              </a:srgbClr>
            </a:solidFill>
            <a:prstDash val="solid"/>
          </a:ln>
        </p:spPr>
      </p:sp>
      <p:sp>
        <p:nvSpPr>
          <p:cNvPr id="16" name="Text 13"/>
          <p:cNvSpPr/>
          <p:nvPr/>
        </p:nvSpPr>
        <p:spPr>
          <a:xfrm>
            <a:off x="723930" y="6162690"/>
            <a:ext cx="7429500" cy="209580"/>
          </a:xfrm>
          <a:prstGeom prst="rect">
            <a:avLst/>
          </a:prstGeom>
          <a:noFill/>
          <a:ln/>
        </p:spPr>
        <p:txBody>
          <a:bodyPr wrap="square" lIns="0" tIns="0" rIns="0" bIns="0" rtlCol="0" anchor="ctr">
            <a:normAutofit/>
          </a:bodyPr>
          <a:lstStyle/>
          <a:p>
            <a:pPr algn="l" indent="0" marL="0">
              <a:buNone/>
            </a:pPr>
            <a:r>
              <a:rPr lang="en-US" sz="980" dirty="0">
                <a:solidFill>
                  <a:srgbClr val="56706B"/>
                </a:solidFill>
                <a:latin typeface="Yu Gothic" pitchFamily="34" charset="0"/>
                <a:ea typeface="Yu Gothic" pitchFamily="34" charset="-122"/>
                <a:cs typeface="Yu Gothic" pitchFamily="34" charset="-120"/>
              </a:rPr>
              <a:t>出典 S3（詳細はノート）</a:t>
            </a:r>
            <a:endParaRPr lang="en-US" sz="980" dirty="0"/>
          </a:p>
        </p:txBody>
      </p:sp>
      <p:sp>
        <p:nvSpPr>
          <p:cNvPr id="17" name="Text 14"/>
          <p:cNvSpPr/>
          <p:nvPr/>
        </p:nvSpPr>
        <p:spPr>
          <a:xfrm>
            <a:off x="10210830" y="6162690"/>
            <a:ext cx="1181130" cy="209580"/>
          </a:xfrm>
          <a:prstGeom prst="rect">
            <a:avLst/>
          </a:prstGeom>
          <a:noFill/>
          <a:ln/>
        </p:spPr>
        <p:txBody>
          <a:bodyPr wrap="square" lIns="0" tIns="0" rIns="0" bIns="0" rtlCol="0" anchor="ctr">
            <a:normAutofit/>
          </a:bodyPr>
          <a:lstStyle/>
          <a:p>
            <a:pPr algn="r" indent="0" marL="0">
              <a:buNone/>
            </a:pPr>
            <a:r>
              <a:rPr lang="en-US" sz="980" b="1" dirty="0">
                <a:solidFill>
                  <a:srgbClr val="0A6257"/>
                </a:solidFill>
                <a:latin typeface="Yu Gothic" pitchFamily="34" charset="0"/>
                <a:ea typeface="Yu Gothic" pitchFamily="34" charset="-122"/>
                <a:cs typeface="Yu Gothic" pitchFamily="34" charset="-120"/>
              </a:rPr>
              <a:t>06 / 12</a:t>
            </a:r>
            <a:endParaRPr lang="en-US" sz="9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CF8"/>
        </a:solidFill>
      </p:bgPr>
    </p:bg>
    <p:spTree>
      <p:nvGrpSpPr>
        <p:cNvPr id="1" name=""/>
        <p:cNvGrpSpPr/>
        <p:nvPr/>
      </p:nvGrpSpPr>
      <p:grpSpPr>
        <a:xfrm>
          <a:off x="0" y="0"/>
          <a:ext cx="0" cy="0"/>
          <a:chOff x="0" y="0"/>
          <a:chExt cx="0" cy="0"/>
        </a:xfrm>
      </p:grpSpPr>
      <p:sp>
        <p:nvSpPr>
          <p:cNvPr id="2" name="Shape 0"/>
          <p:cNvSpPr/>
          <p:nvPr/>
        </p:nvSpPr>
        <p:spPr>
          <a:xfrm>
            <a:off x="0" y="0"/>
            <a:ext cx="171450" cy="6858000"/>
          </a:xfrm>
          <a:prstGeom prst="rect">
            <a:avLst/>
          </a:prstGeom>
          <a:solidFill>
            <a:srgbClr val="0A6257"/>
          </a:solidFill>
          <a:ln w="12700">
            <a:solidFill>
              <a:srgbClr val="FFFFFF">
                <a:alpha val="0"/>
              </a:srgbClr>
            </a:solidFill>
            <a:prstDash val="solid"/>
          </a:ln>
        </p:spPr>
      </p:sp>
      <p:sp>
        <p:nvSpPr>
          <p:cNvPr id="3" name="Text 1"/>
          <p:cNvSpPr/>
          <p:nvPr/>
        </p:nvSpPr>
        <p:spPr>
          <a:xfrm>
            <a:off x="723930" y="400050"/>
            <a:ext cx="5715000" cy="257221"/>
          </a:xfrm>
          <a:prstGeom prst="rect">
            <a:avLst/>
          </a:prstGeom>
          <a:noFill/>
          <a:ln/>
        </p:spPr>
        <p:txBody>
          <a:bodyPr wrap="square" lIns="0" tIns="0" rIns="0" bIns="0" rtlCol="0" anchor="ctr">
            <a:normAutofit/>
          </a:bodyPr>
          <a:lstStyle/>
          <a:p>
            <a:pPr algn="l" indent="0" marL="0">
              <a:buNone/>
            </a:pPr>
            <a:r>
              <a:rPr lang="en-US" sz="1200" b="1" dirty="0">
                <a:solidFill>
                  <a:srgbClr val="0A6257"/>
                </a:solidFill>
                <a:latin typeface="Yu Gothic" pitchFamily="34" charset="0"/>
                <a:ea typeface="Yu Gothic" pitchFamily="34" charset="-122"/>
                <a:cs typeface="Yu Gothic" pitchFamily="34" charset="-120"/>
              </a:rPr>
              <a:t>危険を対策へ変える</a:t>
            </a:r>
            <a:endParaRPr lang="en-US" sz="1200" dirty="0"/>
          </a:p>
        </p:txBody>
      </p:sp>
      <p:sp>
        <p:nvSpPr>
          <p:cNvPr id="4" name="Text 2"/>
          <p:cNvSpPr/>
          <p:nvPr/>
        </p:nvSpPr>
        <p:spPr>
          <a:xfrm>
            <a:off x="8162940" y="381030"/>
            <a:ext cx="3238530" cy="266730"/>
          </a:xfrm>
          <a:prstGeom prst="rect">
            <a:avLst/>
          </a:prstGeom>
          <a:noFill/>
          <a:ln/>
        </p:spPr>
        <p:txBody>
          <a:bodyPr wrap="square" lIns="0" tIns="0" rIns="0" bIns="0" rtlCol="0" anchor="ctr">
            <a:normAutofit/>
          </a:bodyPr>
          <a:lstStyle/>
          <a:p>
            <a:pPr algn="r" indent="0" marL="0">
              <a:buNone/>
            </a:pPr>
            <a:r>
              <a:rPr lang="en-US" sz="1130" b="1" dirty="0">
                <a:solidFill>
                  <a:srgbClr val="56706B"/>
                </a:solidFill>
                <a:latin typeface="Yu Gothic" pitchFamily="34" charset="0"/>
                <a:ea typeface="Yu Gothic" pitchFamily="34" charset="-122"/>
                <a:cs typeface="Yu Gothic" pitchFamily="34" charset="-120"/>
              </a:rPr>
              <a:t>厚生労働省指針</a:t>
            </a:r>
            <a:endParaRPr lang="en-US" sz="1130" dirty="0"/>
          </a:p>
        </p:txBody>
      </p:sp>
      <p:sp>
        <p:nvSpPr>
          <p:cNvPr id="5" name="Text 3"/>
          <p:cNvSpPr/>
          <p:nvPr/>
        </p:nvSpPr>
        <p:spPr>
          <a:xfrm>
            <a:off x="723930" y="781080"/>
            <a:ext cx="10668030" cy="581010"/>
          </a:xfrm>
          <a:prstGeom prst="rect">
            <a:avLst/>
          </a:prstGeom>
          <a:noFill/>
          <a:ln/>
        </p:spPr>
        <p:txBody>
          <a:bodyPr wrap="square" lIns="0" tIns="0" rIns="0" bIns="0" rtlCol="0" anchor="ctr">
            <a:normAutofit/>
          </a:bodyPr>
          <a:lstStyle/>
          <a:p>
            <a:pPr algn="l" indent="0" marL="0">
              <a:buNone/>
            </a:pPr>
            <a:r>
              <a:rPr lang="en-US" sz="4200" b="1" dirty="0">
                <a:solidFill>
                  <a:srgbClr val="073C35"/>
                </a:solidFill>
                <a:latin typeface="Yu Gothic" pitchFamily="34" charset="0"/>
                <a:ea typeface="Yu Gothic" pitchFamily="34" charset="-122"/>
                <a:cs typeface="Yu Gothic" pitchFamily="34" charset="-120"/>
              </a:rPr>
              <a:t>リスクアセスメントの手順</a:t>
            </a:r>
            <a:endParaRPr lang="en-US" sz="4200" dirty="0"/>
          </a:p>
        </p:txBody>
      </p:sp>
      <p:sp>
        <p:nvSpPr>
          <p:cNvPr id="6" name="Shape 4"/>
          <p:cNvSpPr/>
          <p:nvPr/>
        </p:nvSpPr>
        <p:spPr>
          <a:xfrm>
            <a:off x="723930" y="1457371"/>
            <a:ext cx="914400" cy="57150"/>
          </a:xfrm>
          <a:prstGeom prst="rect">
            <a:avLst/>
          </a:prstGeom>
          <a:solidFill>
            <a:srgbClr val="F6A234"/>
          </a:solidFill>
          <a:ln w="12700">
            <a:solidFill>
              <a:srgbClr val="FFFFFF">
                <a:alpha val="0"/>
              </a:srgbClr>
            </a:solidFill>
            <a:prstDash val="solid"/>
          </a:ln>
        </p:spPr>
      </p:sp>
      <p:sp>
        <p:nvSpPr>
          <p:cNvPr id="7" name="Text 5"/>
          <p:cNvSpPr/>
          <p:nvPr/>
        </p:nvSpPr>
        <p:spPr>
          <a:xfrm>
            <a:off x="723930" y="1695480"/>
            <a:ext cx="10477470" cy="466710"/>
          </a:xfrm>
          <a:prstGeom prst="rect">
            <a:avLst/>
          </a:prstGeom>
          <a:noFill/>
          <a:ln/>
        </p:spPr>
        <p:txBody>
          <a:bodyPr wrap="square" lIns="0" tIns="0" rIns="0" bIns="0" rtlCol="0" anchor="ctr">
            <a:normAutofit/>
          </a:bodyPr>
          <a:lstStyle/>
          <a:p>
            <a:pPr algn="l" indent="0" marL="0">
              <a:buNone/>
            </a:pPr>
            <a:r>
              <a:rPr lang="en-US" sz="1730" b="1" dirty="0">
                <a:solidFill>
                  <a:srgbClr val="173B36"/>
                </a:solidFill>
                <a:latin typeface="Yu Gothic" pitchFamily="34" charset="0"/>
                <a:ea typeface="Yu Gothic" pitchFamily="34" charset="-122"/>
                <a:cs typeface="Yu Gothic" pitchFamily="34" charset="-120"/>
              </a:rPr>
              <a:t>特定から残留リスク共有まで行う</a:t>
            </a:r>
            <a:endParaRPr lang="en-US" sz="1730" dirty="0"/>
          </a:p>
        </p:txBody>
      </p:sp>
      <p:sp>
        <p:nvSpPr>
          <p:cNvPr id="8" name="Text 6"/>
          <p:cNvSpPr/>
          <p:nvPr/>
        </p:nvSpPr>
        <p:spPr>
          <a:xfrm>
            <a:off x="723930" y="2571750"/>
            <a:ext cx="552480" cy="419070"/>
          </a:xfrm>
          <a:prstGeom prst="rect">
            <a:avLst/>
          </a:prstGeom>
          <a:noFill/>
          <a:ln/>
        </p:spPr>
        <p:txBody>
          <a:bodyPr wrap="square" lIns="0" tIns="0" rIns="0" bIns="0" rtlCol="0" anchor="ctr">
            <a:normAutofit/>
          </a:bodyPr>
          <a:lstStyle/>
          <a:p>
            <a:pPr algn="l" indent="0" marL="0">
              <a:buNone/>
            </a:pPr>
            <a:r>
              <a:rPr lang="en-US" sz="2250" b="1" dirty="0">
                <a:solidFill>
                  <a:srgbClr val="0A6257"/>
                </a:solidFill>
                <a:latin typeface="Yu Gothic" pitchFamily="34" charset="0"/>
                <a:ea typeface="Yu Gothic" pitchFamily="34" charset="-122"/>
                <a:cs typeface="Yu Gothic" pitchFamily="34" charset="-120"/>
              </a:rPr>
              <a:t>01</a:t>
            </a:r>
            <a:endParaRPr lang="en-US" sz="2250" dirty="0"/>
          </a:p>
        </p:txBody>
      </p:sp>
      <p:sp>
        <p:nvSpPr>
          <p:cNvPr id="9" name="Text 7"/>
          <p:cNvSpPr/>
          <p:nvPr/>
        </p:nvSpPr>
        <p:spPr>
          <a:xfrm>
            <a:off x="1466880" y="2571750"/>
            <a:ext cx="5524530" cy="438180"/>
          </a:xfrm>
          <a:prstGeom prst="rect">
            <a:avLst/>
          </a:prstGeom>
          <a:noFill/>
          <a:ln/>
        </p:spPr>
        <p:txBody>
          <a:bodyPr wrap="square" lIns="0" tIns="0" rIns="0" bIns="0" rtlCol="0" anchor="ctr">
            <a:normAutofit/>
          </a:bodyPr>
          <a:lstStyle/>
          <a:p>
            <a:pPr algn="l" indent="0" marL="0">
              <a:buNone/>
            </a:pPr>
            <a:r>
              <a:rPr lang="en-US" sz="2030" b="1" dirty="0">
                <a:solidFill>
                  <a:srgbClr val="173B36"/>
                </a:solidFill>
                <a:latin typeface="Yu Gothic" pitchFamily="34" charset="0"/>
                <a:ea typeface="Yu Gothic" pitchFamily="34" charset="-122"/>
                <a:cs typeface="Yu Gothic" pitchFamily="34" charset="-120"/>
              </a:rPr>
              <a:t>危険を特定</a:t>
            </a:r>
            <a:endParaRPr lang="en-US" sz="2030" dirty="0"/>
          </a:p>
        </p:txBody>
      </p:sp>
      <p:sp>
        <p:nvSpPr>
          <p:cNvPr id="10" name="Text 8"/>
          <p:cNvSpPr/>
          <p:nvPr/>
        </p:nvSpPr>
        <p:spPr>
          <a:xfrm>
            <a:off x="723930" y="3352830"/>
            <a:ext cx="552480" cy="419070"/>
          </a:xfrm>
          <a:prstGeom prst="rect">
            <a:avLst/>
          </a:prstGeom>
          <a:noFill/>
          <a:ln/>
        </p:spPr>
        <p:txBody>
          <a:bodyPr wrap="square" lIns="0" tIns="0" rIns="0" bIns="0" rtlCol="0" anchor="ctr">
            <a:normAutofit/>
          </a:bodyPr>
          <a:lstStyle/>
          <a:p>
            <a:pPr algn="l" indent="0" marL="0">
              <a:buNone/>
            </a:pPr>
            <a:r>
              <a:rPr lang="en-US" sz="2250" b="1" dirty="0">
                <a:solidFill>
                  <a:srgbClr val="F6A234"/>
                </a:solidFill>
                <a:latin typeface="Yu Gothic" pitchFamily="34" charset="0"/>
                <a:ea typeface="Yu Gothic" pitchFamily="34" charset="-122"/>
                <a:cs typeface="Yu Gothic" pitchFamily="34" charset="-120"/>
              </a:rPr>
              <a:t>02</a:t>
            </a:r>
            <a:endParaRPr lang="en-US" sz="2250" dirty="0"/>
          </a:p>
        </p:txBody>
      </p:sp>
      <p:sp>
        <p:nvSpPr>
          <p:cNvPr id="11" name="Text 9"/>
          <p:cNvSpPr/>
          <p:nvPr/>
        </p:nvSpPr>
        <p:spPr>
          <a:xfrm>
            <a:off x="1466880" y="3352830"/>
            <a:ext cx="5524530" cy="438180"/>
          </a:xfrm>
          <a:prstGeom prst="rect">
            <a:avLst/>
          </a:prstGeom>
          <a:noFill/>
          <a:ln/>
        </p:spPr>
        <p:txBody>
          <a:bodyPr wrap="square" lIns="0" tIns="0" rIns="0" bIns="0" rtlCol="0" anchor="ctr">
            <a:normAutofit/>
          </a:bodyPr>
          <a:lstStyle/>
          <a:p>
            <a:pPr algn="l" indent="0" marL="0">
              <a:buNone/>
            </a:pPr>
            <a:r>
              <a:rPr lang="en-US" sz="2030" b="1" dirty="0">
                <a:solidFill>
                  <a:srgbClr val="173B36"/>
                </a:solidFill>
                <a:latin typeface="Yu Gothic" pitchFamily="34" charset="0"/>
                <a:ea typeface="Yu Gothic" pitchFamily="34" charset="-122"/>
                <a:cs typeface="Yu Gothic" pitchFamily="34" charset="-120"/>
              </a:rPr>
              <a:t>見積りと優先度</a:t>
            </a:r>
            <a:endParaRPr lang="en-US" sz="2030" dirty="0"/>
          </a:p>
        </p:txBody>
      </p:sp>
      <p:sp>
        <p:nvSpPr>
          <p:cNvPr id="12" name="Text 10"/>
          <p:cNvSpPr/>
          <p:nvPr/>
        </p:nvSpPr>
        <p:spPr>
          <a:xfrm>
            <a:off x="723930" y="4133820"/>
            <a:ext cx="552480" cy="419070"/>
          </a:xfrm>
          <a:prstGeom prst="rect">
            <a:avLst/>
          </a:prstGeom>
          <a:noFill/>
          <a:ln/>
        </p:spPr>
        <p:txBody>
          <a:bodyPr wrap="square" lIns="0" tIns="0" rIns="0" bIns="0" rtlCol="0" anchor="ctr">
            <a:normAutofit/>
          </a:bodyPr>
          <a:lstStyle/>
          <a:p>
            <a:pPr algn="l" indent="0" marL="0">
              <a:buNone/>
            </a:pPr>
            <a:r>
              <a:rPr lang="en-US" sz="2250" b="1" dirty="0">
                <a:solidFill>
                  <a:srgbClr val="0A6257"/>
                </a:solidFill>
                <a:latin typeface="Yu Gothic" pitchFamily="34" charset="0"/>
                <a:ea typeface="Yu Gothic" pitchFamily="34" charset="-122"/>
                <a:cs typeface="Yu Gothic" pitchFamily="34" charset="-120"/>
              </a:rPr>
              <a:t>03</a:t>
            </a:r>
            <a:endParaRPr lang="en-US" sz="2250" dirty="0"/>
          </a:p>
        </p:txBody>
      </p:sp>
      <p:sp>
        <p:nvSpPr>
          <p:cNvPr id="13" name="Text 11"/>
          <p:cNvSpPr/>
          <p:nvPr/>
        </p:nvSpPr>
        <p:spPr>
          <a:xfrm>
            <a:off x="1466880" y="4133820"/>
            <a:ext cx="5524530" cy="438180"/>
          </a:xfrm>
          <a:prstGeom prst="rect">
            <a:avLst/>
          </a:prstGeom>
          <a:noFill/>
          <a:ln/>
        </p:spPr>
        <p:txBody>
          <a:bodyPr wrap="square" lIns="0" tIns="0" rIns="0" bIns="0" rtlCol="0" anchor="ctr">
            <a:normAutofit/>
          </a:bodyPr>
          <a:lstStyle/>
          <a:p>
            <a:pPr algn="l" indent="0" marL="0">
              <a:buNone/>
            </a:pPr>
            <a:r>
              <a:rPr lang="en-US" sz="2030" b="1" dirty="0">
                <a:solidFill>
                  <a:srgbClr val="173B36"/>
                </a:solidFill>
                <a:latin typeface="Yu Gothic" pitchFamily="34" charset="0"/>
                <a:ea typeface="Yu Gothic" pitchFamily="34" charset="-122"/>
                <a:cs typeface="Yu Gothic" pitchFamily="34" charset="-120"/>
              </a:rPr>
              <a:t>対策後も共有</a:t>
            </a:r>
            <a:endParaRPr lang="en-US" sz="2030" dirty="0"/>
          </a:p>
        </p:txBody>
      </p:sp>
      <p:pic>
        <p:nvPicPr>
          <p:cNvPr id="14" name="Image 0" descr="リスクアセスメントを記録するチワワ">    </p:cNvPr>
          <p:cNvPicPr>
            <a:picLocks noChangeAspect="1"/>
          </p:cNvPicPr>
          <p:nvPr/>
        </p:nvPicPr>
        <p:blipFill>
          <a:blip r:embed="rId1"/>
          <a:srcRect l="-9259" r="-9259" t="0" b="0"/>
          <a:stretch/>
        </p:blipFill>
        <p:spPr>
          <a:xfrm>
            <a:off x="7810530" y="2238360"/>
            <a:ext cx="2857500" cy="2857500"/>
          </a:xfrm>
          <a:prstGeom prst="rect">
            <a:avLst/>
          </a:prstGeom>
        </p:spPr>
      </p:pic>
      <p:sp>
        <p:nvSpPr>
          <p:cNvPr id="15" name="Shape 12"/>
          <p:cNvSpPr/>
          <p:nvPr/>
        </p:nvSpPr>
        <p:spPr>
          <a:xfrm>
            <a:off x="723930" y="6096030"/>
            <a:ext cx="10687050" cy="9510"/>
          </a:xfrm>
          <a:prstGeom prst="rect">
            <a:avLst/>
          </a:prstGeom>
          <a:solidFill>
            <a:srgbClr val="BDD4CD"/>
          </a:solidFill>
          <a:ln w="12700">
            <a:solidFill>
              <a:srgbClr val="FFFFFF">
                <a:alpha val="0"/>
              </a:srgbClr>
            </a:solidFill>
            <a:prstDash val="solid"/>
          </a:ln>
        </p:spPr>
      </p:sp>
      <p:sp>
        <p:nvSpPr>
          <p:cNvPr id="16" name="Text 13"/>
          <p:cNvSpPr/>
          <p:nvPr/>
        </p:nvSpPr>
        <p:spPr>
          <a:xfrm>
            <a:off x="723930" y="6162690"/>
            <a:ext cx="7429500" cy="209580"/>
          </a:xfrm>
          <a:prstGeom prst="rect">
            <a:avLst/>
          </a:prstGeom>
          <a:noFill/>
          <a:ln/>
        </p:spPr>
        <p:txBody>
          <a:bodyPr wrap="square" lIns="0" tIns="0" rIns="0" bIns="0" rtlCol="0" anchor="ctr">
            <a:normAutofit/>
          </a:bodyPr>
          <a:lstStyle/>
          <a:p>
            <a:pPr algn="l" indent="0" marL="0">
              <a:buNone/>
            </a:pPr>
            <a:r>
              <a:rPr lang="en-US" sz="980" dirty="0">
                <a:solidFill>
                  <a:srgbClr val="56706B"/>
                </a:solidFill>
                <a:latin typeface="Yu Gothic" pitchFamily="34" charset="0"/>
                <a:ea typeface="Yu Gothic" pitchFamily="34" charset="-122"/>
                <a:cs typeface="Yu Gothic" pitchFamily="34" charset="-120"/>
              </a:rPr>
              <a:t>出典 S4（詳細はノート）</a:t>
            </a:r>
            <a:endParaRPr lang="en-US" sz="980" dirty="0"/>
          </a:p>
        </p:txBody>
      </p:sp>
      <p:sp>
        <p:nvSpPr>
          <p:cNvPr id="17" name="Text 14"/>
          <p:cNvSpPr/>
          <p:nvPr/>
        </p:nvSpPr>
        <p:spPr>
          <a:xfrm>
            <a:off x="10210830" y="6162690"/>
            <a:ext cx="1181130" cy="209580"/>
          </a:xfrm>
          <a:prstGeom prst="rect">
            <a:avLst/>
          </a:prstGeom>
          <a:noFill/>
          <a:ln/>
        </p:spPr>
        <p:txBody>
          <a:bodyPr wrap="square" lIns="0" tIns="0" rIns="0" bIns="0" rtlCol="0" anchor="ctr">
            <a:normAutofit/>
          </a:bodyPr>
          <a:lstStyle/>
          <a:p>
            <a:pPr algn="r" indent="0" marL="0">
              <a:buNone/>
            </a:pPr>
            <a:r>
              <a:rPr lang="en-US" sz="980" b="1" dirty="0">
                <a:solidFill>
                  <a:srgbClr val="0A6257"/>
                </a:solidFill>
                <a:latin typeface="Yu Gothic" pitchFamily="34" charset="0"/>
                <a:ea typeface="Yu Gothic" pitchFamily="34" charset="-122"/>
                <a:cs typeface="Yu Gothic" pitchFamily="34" charset="-120"/>
              </a:rPr>
              <a:t>07 / 12</a:t>
            </a:r>
            <a:endParaRPr lang="en-US" sz="9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CF8"/>
        </a:solidFill>
      </p:bgPr>
    </p:bg>
    <p:spTree>
      <p:nvGrpSpPr>
        <p:cNvPr id="1" name=""/>
        <p:cNvGrpSpPr/>
        <p:nvPr/>
      </p:nvGrpSpPr>
      <p:grpSpPr>
        <a:xfrm>
          <a:off x="0" y="0"/>
          <a:ext cx="0" cy="0"/>
          <a:chOff x="0" y="0"/>
          <a:chExt cx="0" cy="0"/>
        </a:xfrm>
      </p:grpSpPr>
      <p:sp>
        <p:nvSpPr>
          <p:cNvPr id="2" name="Shape 0"/>
          <p:cNvSpPr/>
          <p:nvPr/>
        </p:nvSpPr>
        <p:spPr>
          <a:xfrm>
            <a:off x="0" y="0"/>
            <a:ext cx="171450" cy="6858000"/>
          </a:xfrm>
          <a:prstGeom prst="rect">
            <a:avLst/>
          </a:prstGeom>
          <a:solidFill>
            <a:srgbClr val="0A6257"/>
          </a:solidFill>
          <a:ln w="12700">
            <a:solidFill>
              <a:srgbClr val="FFFFFF">
                <a:alpha val="0"/>
              </a:srgbClr>
            </a:solidFill>
            <a:prstDash val="solid"/>
          </a:ln>
        </p:spPr>
      </p:sp>
      <p:sp>
        <p:nvSpPr>
          <p:cNvPr id="3" name="Text 1"/>
          <p:cNvSpPr/>
          <p:nvPr/>
        </p:nvSpPr>
        <p:spPr>
          <a:xfrm>
            <a:off x="723930" y="400050"/>
            <a:ext cx="5715000" cy="257221"/>
          </a:xfrm>
          <a:prstGeom prst="rect">
            <a:avLst/>
          </a:prstGeom>
          <a:noFill/>
          <a:ln/>
        </p:spPr>
        <p:txBody>
          <a:bodyPr wrap="square" lIns="0" tIns="0" rIns="0" bIns="0" rtlCol="0" anchor="ctr">
            <a:normAutofit/>
          </a:bodyPr>
          <a:lstStyle/>
          <a:p>
            <a:pPr algn="l" indent="0" marL="0">
              <a:buNone/>
            </a:pPr>
            <a:r>
              <a:rPr lang="en-US" sz="1200" b="1" dirty="0">
                <a:solidFill>
                  <a:srgbClr val="0A6257"/>
                </a:solidFill>
                <a:latin typeface="Yu Gothic" pitchFamily="34" charset="0"/>
                <a:ea typeface="Yu Gothic" pitchFamily="34" charset="-122"/>
                <a:cs typeface="Yu Gothic" pitchFamily="34" charset="-120"/>
              </a:rPr>
              <a:t>見積りの考え方</a:t>
            </a:r>
            <a:endParaRPr lang="en-US" sz="1200" dirty="0"/>
          </a:p>
        </p:txBody>
      </p:sp>
      <p:sp>
        <p:nvSpPr>
          <p:cNvPr id="4" name="Text 2"/>
          <p:cNvSpPr/>
          <p:nvPr/>
        </p:nvSpPr>
        <p:spPr>
          <a:xfrm>
            <a:off x="8162940" y="381030"/>
            <a:ext cx="3238530" cy="266730"/>
          </a:xfrm>
          <a:prstGeom prst="rect">
            <a:avLst/>
          </a:prstGeom>
          <a:noFill/>
          <a:ln/>
        </p:spPr>
        <p:txBody>
          <a:bodyPr wrap="square" lIns="0" tIns="0" rIns="0" bIns="0" rtlCol="0" anchor="ctr">
            <a:normAutofit/>
          </a:bodyPr>
          <a:lstStyle/>
          <a:p>
            <a:pPr algn="r" indent="0" marL="0">
              <a:buNone/>
            </a:pPr>
            <a:r>
              <a:rPr lang="en-US" sz="1130" b="1" dirty="0">
                <a:solidFill>
                  <a:srgbClr val="56706B"/>
                </a:solidFill>
                <a:latin typeface="Yu Gothic" pitchFamily="34" charset="0"/>
                <a:ea typeface="Yu Gothic" pitchFamily="34" charset="-122"/>
                <a:cs typeface="Yu Gothic" pitchFamily="34" charset="-120"/>
              </a:rPr>
              <a:t>厚生労働省指針</a:t>
            </a:r>
            <a:endParaRPr lang="en-US" sz="1130" dirty="0"/>
          </a:p>
        </p:txBody>
      </p:sp>
      <p:sp>
        <p:nvSpPr>
          <p:cNvPr id="5" name="Text 3"/>
          <p:cNvSpPr/>
          <p:nvPr/>
        </p:nvSpPr>
        <p:spPr>
          <a:xfrm>
            <a:off x="723930" y="781080"/>
            <a:ext cx="10668030" cy="581010"/>
          </a:xfrm>
          <a:prstGeom prst="rect">
            <a:avLst/>
          </a:prstGeom>
          <a:noFill/>
          <a:ln/>
        </p:spPr>
        <p:txBody>
          <a:bodyPr wrap="square" lIns="0" tIns="0" rIns="0" bIns="0" rtlCol="0" anchor="ctr">
            <a:normAutofit/>
          </a:bodyPr>
          <a:lstStyle/>
          <a:p>
            <a:pPr algn="l" indent="0" marL="0">
              <a:buNone/>
            </a:pPr>
            <a:r>
              <a:rPr lang="en-US" sz="4200" b="1" dirty="0">
                <a:solidFill>
                  <a:srgbClr val="073C35"/>
                </a:solidFill>
                <a:latin typeface="Yu Gothic" pitchFamily="34" charset="0"/>
                <a:ea typeface="Yu Gothic" pitchFamily="34" charset="-122"/>
                <a:cs typeface="Yu Gothic" pitchFamily="34" charset="-120"/>
              </a:rPr>
              <a:t>重大性と発生可能性</a:t>
            </a:r>
            <a:endParaRPr lang="en-US" sz="4200" dirty="0"/>
          </a:p>
        </p:txBody>
      </p:sp>
      <p:sp>
        <p:nvSpPr>
          <p:cNvPr id="6" name="Shape 4"/>
          <p:cNvSpPr/>
          <p:nvPr/>
        </p:nvSpPr>
        <p:spPr>
          <a:xfrm>
            <a:off x="723930" y="1457371"/>
            <a:ext cx="914400" cy="57150"/>
          </a:xfrm>
          <a:prstGeom prst="rect">
            <a:avLst/>
          </a:prstGeom>
          <a:solidFill>
            <a:srgbClr val="F6A234"/>
          </a:solidFill>
          <a:ln w="12700">
            <a:solidFill>
              <a:srgbClr val="FFFFFF">
                <a:alpha val="0"/>
              </a:srgbClr>
            </a:solidFill>
            <a:prstDash val="solid"/>
          </a:ln>
        </p:spPr>
      </p:sp>
      <p:sp>
        <p:nvSpPr>
          <p:cNvPr id="7" name="Text 5"/>
          <p:cNvSpPr/>
          <p:nvPr/>
        </p:nvSpPr>
        <p:spPr>
          <a:xfrm>
            <a:off x="723930" y="1695480"/>
            <a:ext cx="10477470" cy="466710"/>
          </a:xfrm>
          <a:prstGeom prst="rect">
            <a:avLst/>
          </a:prstGeom>
          <a:noFill/>
          <a:ln/>
        </p:spPr>
        <p:txBody>
          <a:bodyPr wrap="square" lIns="0" tIns="0" rIns="0" bIns="0" rtlCol="0" anchor="ctr">
            <a:normAutofit/>
          </a:bodyPr>
          <a:lstStyle/>
          <a:p>
            <a:pPr algn="l" indent="0" marL="0">
              <a:buNone/>
            </a:pPr>
            <a:r>
              <a:rPr lang="en-US" sz="1730" b="1" dirty="0">
                <a:solidFill>
                  <a:srgbClr val="173B36"/>
                </a:solidFill>
                <a:latin typeface="Yu Gothic" pitchFamily="34" charset="0"/>
                <a:ea typeface="Yu Gothic" pitchFamily="34" charset="-122"/>
                <a:cs typeface="Yu Gothic" pitchFamily="34" charset="-120"/>
              </a:rPr>
              <a:t>重大性と発生可能性を分けて見る</a:t>
            </a:r>
            <a:endParaRPr lang="en-US" sz="1730" dirty="0"/>
          </a:p>
        </p:txBody>
      </p:sp>
      <p:sp>
        <p:nvSpPr>
          <p:cNvPr id="8" name="Text 6"/>
          <p:cNvSpPr/>
          <p:nvPr/>
        </p:nvSpPr>
        <p:spPr>
          <a:xfrm>
            <a:off x="723930" y="2571750"/>
            <a:ext cx="552480" cy="419070"/>
          </a:xfrm>
          <a:prstGeom prst="rect">
            <a:avLst/>
          </a:prstGeom>
          <a:noFill/>
          <a:ln/>
        </p:spPr>
        <p:txBody>
          <a:bodyPr wrap="square" lIns="0" tIns="0" rIns="0" bIns="0" rtlCol="0" anchor="ctr">
            <a:normAutofit/>
          </a:bodyPr>
          <a:lstStyle/>
          <a:p>
            <a:pPr algn="l" indent="0" marL="0">
              <a:buNone/>
            </a:pPr>
            <a:r>
              <a:rPr lang="en-US" sz="2250" b="1" dirty="0">
                <a:solidFill>
                  <a:srgbClr val="0A6257"/>
                </a:solidFill>
                <a:latin typeface="Yu Gothic" pitchFamily="34" charset="0"/>
                <a:ea typeface="Yu Gothic" pitchFamily="34" charset="-122"/>
                <a:cs typeface="Yu Gothic" pitchFamily="34" charset="-120"/>
              </a:rPr>
              <a:t>01</a:t>
            </a:r>
            <a:endParaRPr lang="en-US" sz="2250" dirty="0"/>
          </a:p>
        </p:txBody>
      </p:sp>
      <p:sp>
        <p:nvSpPr>
          <p:cNvPr id="9" name="Text 7"/>
          <p:cNvSpPr/>
          <p:nvPr/>
        </p:nvSpPr>
        <p:spPr>
          <a:xfrm>
            <a:off x="1466880" y="2571750"/>
            <a:ext cx="5524530" cy="438180"/>
          </a:xfrm>
          <a:prstGeom prst="rect">
            <a:avLst/>
          </a:prstGeom>
          <a:noFill/>
          <a:ln/>
        </p:spPr>
        <p:txBody>
          <a:bodyPr wrap="square" lIns="0" tIns="0" rIns="0" bIns="0" rtlCol="0" anchor="ctr">
            <a:normAutofit/>
          </a:bodyPr>
          <a:lstStyle/>
          <a:p>
            <a:pPr algn="l" indent="0" marL="0">
              <a:buNone/>
            </a:pPr>
            <a:r>
              <a:rPr lang="en-US" sz="2030" b="1" dirty="0">
                <a:solidFill>
                  <a:srgbClr val="173B36"/>
                </a:solidFill>
                <a:latin typeface="Yu Gothic" pitchFamily="34" charset="0"/>
                <a:ea typeface="Yu Gothic" pitchFamily="34" charset="-122"/>
                <a:cs typeface="Yu Gothic" pitchFamily="34" charset="-120"/>
              </a:rPr>
              <a:t>最も重い結果</a:t>
            </a:r>
            <a:endParaRPr lang="en-US" sz="2030" dirty="0"/>
          </a:p>
        </p:txBody>
      </p:sp>
      <p:sp>
        <p:nvSpPr>
          <p:cNvPr id="10" name="Text 8"/>
          <p:cNvSpPr/>
          <p:nvPr/>
        </p:nvSpPr>
        <p:spPr>
          <a:xfrm>
            <a:off x="723930" y="3352830"/>
            <a:ext cx="552480" cy="419070"/>
          </a:xfrm>
          <a:prstGeom prst="rect">
            <a:avLst/>
          </a:prstGeom>
          <a:noFill/>
          <a:ln/>
        </p:spPr>
        <p:txBody>
          <a:bodyPr wrap="square" lIns="0" tIns="0" rIns="0" bIns="0" rtlCol="0" anchor="ctr">
            <a:normAutofit/>
          </a:bodyPr>
          <a:lstStyle/>
          <a:p>
            <a:pPr algn="l" indent="0" marL="0">
              <a:buNone/>
            </a:pPr>
            <a:r>
              <a:rPr lang="en-US" sz="2250" b="1" dirty="0">
                <a:solidFill>
                  <a:srgbClr val="F6A234"/>
                </a:solidFill>
                <a:latin typeface="Yu Gothic" pitchFamily="34" charset="0"/>
                <a:ea typeface="Yu Gothic" pitchFamily="34" charset="-122"/>
                <a:cs typeface="Yu Gothic" pitchFamily="34" charset="-120"/>
              </a:rPr>
              <a:t>02</a:t>
            </a:r>
            <a:endParaRPr lang="en-US" sz="2250" dirty="0"/>
          </a:p>
        </p:txBody>
      </p:sp>
      <p:sp>
        <p:nvSpPr>
          <p:cNvPr id="11" name="Text 9"/>
          <p:cNvSpPr/>
          <p:nvPr/>
        </p:nvSpPr>
        <p:spPr>
          <a:xfrm>
            <a:off x="1466880" y="3352830"/>
            <a:ext cx="5524530" cy="438180"/>
          </a:xfrm>
          <a:prstGeom prst="rect">
            <a:avLst/>
          </a:prstGeom>
          <a:noFill/>
          <a:ln/>
        </p:spPr>
        <p:txBody>
          <a:bodyPr wrap="square" lIns="0" tIns="0" rIns="0" bIns="0" rtlCol="0" anchor="ctr">
            <a:normAutofit/>
          </a:bodyPr>
          <a:lstStyle/>
          <a:p>
            <a:pPr algn="l" indent="0" marL="0">
              <a:buNone/>
            </a:pPr>
            <a:r>
              <a:rPr lang="en-US" sz="2030" b="1" dirty="0">
                <a:solidFill>
                  <a:srgbClr val="173B36"/>
                </a:solidFill>
                <a:latin typeface="Yu Gothic" pitchFamily="34" charset="0"/>
                <a:ea typeface="Yu Gothic" pitchFamily="34" charset="-122"/>
                <a:cs typeface="Yu Gothic" pitchFamily="34" charset="-120"/>
              </a:rPr>
              <a:t>接触と回避</a:t>
            </a:r>
            <a:endParaRPr lang="en-US" sz="2030" dirty="0"/>
          </a:p>
        </p:txBody>
      </p:sp>
      <p:sp>
        <p:nvSpPr>
          <p:cNvPr id="12" name="Text 10"/>
          <p:cNvSpPr/>
          <p:nvPr/>
        </p:nvSpPr>
        <p:spPr>
          <a:xfrm>
            <a:off x="723930" y="4133820"/>
            <a:ext cx="552480" cy="419070"/>
          </a:xfrm>
          <a:prstGeom prst="rect">
            <a:avLst/>
          </a:prstGeom>
          <a:noFill/>
          <a:ln/>
        </p:spPr>
        <p:txBody>
          <a:bodyPr wrap="square" lIns="0" tIns="0" rIns="0" bIns="0" rtlCol="0" anchor="ctr">
            <a:normAutofit/>
          </a:bodyPr>
          <a:lstStyle/>
          <a:p>
            <a:pPr algn="l" indent="0" marL="0">
              <a:buNone/>
            </a:pPr>
            <a:r>
              <a:rPr lang="en-US" sz="2250" b="1" dirty="0">
                <a:solidFill>
                  <a:srgbClr val="0A6257"/>
                </a:solidFill>
                <a:latin typeface="Yu Gothic" pitchFamily="34" charset="0"/>
                <a:ea typeface="Yu Gothic" pitchFamily="34" charset="-122"/>
                <a:cs typeface="Yu Gothic" pitchFamily="34" charset="-120"/>
              </a:rPr>
              <a:t>03</a:t>
            </a:r>
            <a:endParaRPr lang="en-US" sz="2250" dirty="0"/>
          </a:p>
        </p:txBody>
      </p:sp>
      <p:sp>
        <p:nvSpPr>
          <p:cNvPr id="13" name="Text 11"/>
          <p:cNvSpPr/>
          <p:nvPr/>
        </p:nvSpPr>
        <p:spPr>
          <a:xfrm>
            <a:off x="1466880" y="4133820"/>
            <a:ext cx="5524530" cy="438180"/>
          </a:xfrm>
          <a:prstGeom prst="rect">
            <a:avLst/>
          </a:prstGeom>
          <a:noFill/>
          <a:ln/>
        </p:spPr>
        <p:txBody>
          <a:bodyPr wrap="square" lIns="0" tIns="0" rIns="0" bIns="0" rtlCol="0" anchor="ctr">
            <a:normAutofit/>
          </a:bodyPr>
          <a:lstStyle/>
          <a:p>
            <a:pPr algn="l" indent="0" marL="0">
              <a:buNone/>
            </a:pPr>
            <a:r>
              <a:rPr lang="en-US" sz="2030" b="1" dirty="0">
                <a:solidFill>
                  <a:srgbClr val="173B36"/>
                </a:solidFill>
                <a:latin typeface="Yu Gothic" pitchFamily="34" charset="0"/>
                <a:ea typeface="Yu Gothic" pitchFamily="34" charset="-122"/>
                <a:cs typeface="Yu Gothic" pitchFamily="34" charset="-120"/>
              </a:rPr>
              <a:t>不確かなら再確認</a:t>
            </a:r>
            <a:endParaRPr lang="en-US" sz="2030" dirty="0"/>
          </a:p>
        </p:txBody>
      </p:sp>
      <p:pic>
        <p:nvPicPr>
          <p:cNvPr id="14" name="Image 0" descr="重大性と発生可能性を測るチワワ">    </p:cNvPr>
          <p:cNvPicPr>
            <a:picLocks noChangeAspect="1"/>
          </p:cNvPicPr>
          <p:nvPr/>
        </p:nvPicPr>
        <p:blipFill>
          <a:blip r:embed="rId1"/>
          <a:srcRect l="-1064" r="-1064" t="0" b="0"/>
          <a:stretch/>
        </p:blipFill>
        <p:spPr>
          <a:xfrm>
            <a:off x="7810530" y="2238360"/>
            <a:ext cx="2857500" cy="2857500"/>
          </a:xfrm>
          <a:prstGeom prst="rect">
            <a:avLst/>
          </a:prstGeom>
        </p:spPr>
      </p:pic>
      <p:sp>
        <p:nvSpPr>
          <p:cNvPr id="15" name="Shape 12"/>
          <p:cNvSpPr/>
          <p:nvPr/>
        </p:nvSpPr>
        <p:spPr>
          <a:xfrm>
            <a:off x="723930" y="6096030"/>
            <a:ext cx="10687050" cy="9510"/>
          </a:xfrm>
          <a:prstGeom prst="rect">
            <a:avLst/>
          </a:prstGeom>
          <a:solidFill>
            <a:srgbClr val="BDD4CD"/>
          </a:solidFill>
          <a:ln w="12700">
            <a:solidFill>
              <a:srgbClr val="FFFFFF">
                <a:alpha val="0"/>
              </a:srgbClr>
            </a:solidFill>
            <a:prstDash val="solid"/>
          </a:ln>
        </p:spPr>
      </p:sp>
      <p:sp>
        <p:nvSpPr>
          <p:cNvPr id="16" name="Text 13"/>
          <p:cNvSpPr/>
          <p:nvPr/>
        </p:nvSpPr>
        <p:spPr>
          <a:xfrm>
            <a:off x="723930" y="6162690"/>
            <a:ext cx="7429500" cy="209580"/>
          </a:xfrm>
          <a:prstGeom prst="rect">
            <a:avLst/>
          </a:prstGeom>
          <a:noFill/>
          <a:ln/>
        </p:spPr>
        <p:txBody>
          <a:bodyPr wrap="square" lIns="0" tIns="0" rIns="0" bIns="0" rtlCol="0" anchor="ctr">
            <a:normAutofit/>
          </a:bodyPr>
          <a:lstStyle/>
          <a:p>
            <a:pPr algn="l" indent="0" marL="0">
              <a:buNone/>
            </a:pPr>
            <a:r>
              <a:rPr lang="en-US" sz="980" dirty="0">
                <a:solidFill>
                  <a:srgbClr val="56706B"/>
                </a:solidFill>
                <a:latin typeface="Yu Gothic" pitchFamily="34" charset="0"/>
                <a:ea typeface="Yu Gothic" pitchFamily="34" charset="-122"/>
                <a:cs typeface="Yu Gothic" pitchFamily="34" charset="-120"/>
              </a:rPr>
              <a:t>出典 S4（詳細はノート）</a:t>
            </a:r>
            <a:endParaRPr lang="en-US" sz="980" dirty="0"/>
          </a:p>
        </p:txBody>
      </p:sp>
      <p:sp>
        <p:nvSpPr>
          <p:cNvPr id="17" name="Text 14"/>
          <p:cNvSpPr/>
          <p:nvPr/>
        </p:nvSpPr>
        <p:spPr>
          <a:xfrm>
            <a:off x="10210830" y="6162690"/>
            <a:ext cx="1181130" cy="209580"/>
          </a:xfrm>
          <a:prstGeom prst="rect">
            <a:avLst/>
          </a:prstGeom>
          <a:noFill/>
          <a:ln/>
        </p:spPr>
        <p:txBody>
          <a:bodyPr wrap="square" lIns="0" tIns="0" rIns="0" bIns="0" rtlCol="0" anchor="ctr">
            <a:normAutofit/>
          </a:bodyPr>
          <a:lstStyle/>
          <a:p>
            <a:pPr algn="r" indent="0" marL="0">
              <a:buNone/>
            </a:pPr>
            <a:r>
              <a:rPr lang="en-US" sz="980" b="1" dirty="0">
                <a:solidFill>
                  <a:srgbClr val="0A6257"/>
                </a:solidFill>
                <a:latin typeface="Yu Gothic" pitchFamily="34" charset="0"/>
                <a:ea typeface="Yu Gothic" pitchFamily="34" charset="-122"/>
                <a:cs typeface="Yu Gothic" pitchFamily="34" charset="-120"/>
              </a:rPr>
              <a:t>08 / 12</a:t>
            </a:r>
            <a:endParaRPr lang="en-US" sz="9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CF8"/>
        </a:solidFill>
      </p:bgPr>
    </p:bg>
    <p:spTree>
      <p:nvGrpSpPr>
        <p:cNvPr id="1" name=""/>
        <p:cNvGrpSpPr/>
        <p:nvPr/>
      </p:nvGrpSpPr>
      <p:grpSpPr>
        <a:xfrm>
          <a:off x="0" y="0"/>
          <a:ext cx="0" cy="0"/>
          <a:chOff x="0" y="0"/>
          <a:chExt cx="0" cy="0"/>
        </a:xfrm>
      </p:grpSpPr>
      <p:sp>
        <p:nvSpPr>
          <p:cNvPr id="2" name="Shape 0"/>
          <p:cNvSpPr/>
          <p:nvPr/>
        </p:nvSpPr>
        <p:spPr>
          <a:xfrm>
            <a:off x="0" y="0"/>
            <a:ext cx="171450" cy="6858000"/>
          </a:xfrm>
          <a:prstGeom prst="rect">
            <a:avLst/>
          </a:prstGeom>
          <a:solidFill>
            <a:srgbClr val="0A6257"/>
          </a:solidFill>
          <a:ln w="12700">
            <a:solidFill>
              <a:srgbClr val="FFFFFF">
                <a:alpha val="0"/>
              </a:srgbClr>
            </a:solidFill>
            <a:prstDash val="solid"/>
          </a:ln>
        </p:spPr>
      </p:sp>
      <p:sp>
        <p:nvSpPr>
          <p:cNvPr id="3" name="Text 1"/>
          <p:cNvSpPr/>
          <p:nvPr/>
        </p:nvSpPr>
        <p:spPr>
          <a:xfrm>
            <a:off x="723930" y="400050"/>
            <a:ext cx="5715000" cy="257221"/>
          </a:xfrm>
          <a:prstGeom prst="rect">
            <a:avLst/>
          </a:prstGeom>
          <a:noFill/>
          <a:ln/>
        </p:spPr>
        <p:txBody>
          <a:bodyPr wrap="square" lIns="0" tIns="0" rIns="0" bIns="0" rtlCol="0" anchor="ctr">
            <a:normAutofit/>
          </a:bodyPr>
          <a:lstStyle/>
          <a:p>
            <a:pPr algn="l" indent="0" marL="0">
              <a:buNone/>
            </a:pPr>
            <a:r>
              <a:rPr lang="en-US" sz="1200" b="1" dirty="0">
                <a:solidFill>
                  <a:srgbClr val="0A6257"/>
                </a:solidFill>
                <a:latin typeface="Yu Gothic" pitchFamily="34" charset="0"/>
                <a:ea typeface="Yu Gothic" pitchFamily="34" charset="-122"/>
                <a:cs typeface="Yu Gothic" pitchFamily="34" charset="-120"/>
              </a:rPr>
              <a:t>対策の選び方</a:t>
            </a:r>
            <a:endParaRPr lang="en-US" sz="1200" dirty="0"/>
          </a:p>
        </p:txBody>
      </p:sp>
      <p:sp>
        <p:nvSpPr>
          <p:cNvPr id="4" name="Text 2"/>
          <p:cNvSpPr/>
          <p:nvPr/>
        </p:nvSpPr>
        <p:spPr>
          <a:xfrm>
            <a:off x="8162940" y="381030"/>
            <a:ext cx="3238530" cy="266730"/>
          </a:xfrm>
          <a:prstGeom prst="rect">
            <a:avLst/>
          </a:prstGeom>
          <a:noFill/>
          <a:ln/>
        </p:spPr>
        <p:txBody>
          <a:bodyPr wrap="square" lIns="0" tIns="0" rIns="0" bIns="0" rtlCol="0" anchor="ctr">
            <a:normAutofit/>
          </a:bodyPr>
          <a:lstStyle/>
          <a:p>
            <a:pPr algn="r" indent="0" marL="0">
              <a:buNone/>
            </a:pPr>
            <a:r>
              <a:rPr lang="en-US" sz="1130" b="1" dirty="0">
                <a:solidFill>
                  <a:srgbClr val="56706B"/>
                </a:solidFill>
                <a:latin typeface="Yu Gothic" pitchFamily="34" charset="0"/>
                <a:ea typeface="Yu Gothic" pitchFamily="34" charset="-122"/>
                <a:cs typeface="Yu Gothic" pitchFamily="34" charset="-120"/>
              </a:rPr>
              <a:t>厚生労働省指針</a:t>
            </a:r>
            <a:endParaRPr lang="en-US" sz="1130" dirty="0"/>
          </a:p>
        </p:txBody>
      </p:sp>
      <p:sp>
        <p:nvSpPr>
          <p:cNvPr id="5" name="Text 3"/>
          <p:cNvSpPr/>
          <p:nvPr/>
        </p:nvSpPr>
        <p:spPr>
          <a:xfrm>
            <a:off x="723930" y="781080"/>
            <a:ext cx="10668030" cy="581010"/>
          </a:xfrm>
          <a:prstGeom prst="rect">
            <a:avLst/>
          </a:prstGeom>
          <a:noFill/>
          <a:ln/>
        </p:spPr>
        <p:txBody>
          <a:bodyPr wrap="square" lIns="0" tIns="0" rIns="0" bIns="0" rtlCol="0" anchor="ctr">
            <a:normAutofit/>
          </a:bodyPr>
          <a:lstStyle/>
          <a:p>
            <a:pPr algn="l" indent="0" marL="0">
              <a:buNone/>
            </a:pPr>
            <a:r>
              <a:rPr lang="en-US" sz="4200" b="1" dirty="0">
                <a:solidFill>
                  <a:srgbClr val="073C35"/>
                </a:solidFill>
                <a:latin typeface="Yu Gothic" pitchFamily="34" charset="0"/>
                <a:ea typeface="Yu Gothic" pitchFamily="34" charset="-122"/>
                <a:cs typeface="Yu Gothic" pitchFamily="34" charset="-120"/>
              </a:rPr>
              <a:t>リスク低減措置の順序</a:t>
            </a:r>
            <a:endParaRPr lang="en-US" sz="4200" dirty="0"/>
          </a:p>
        </p:txBody>
      </p:sp>
      <p:sp>
        <p:nvSpPr>
          <p:cNvPr id="6" name="Shape 4"/>
          <p:cNvSpPr/>
          <p:nvPr/>
        </p:nvSpPr>
        <p:spPr>
          <a:xfrm>
            <a:off x="723930" y="1457371"/>
            <a:ext cx="914400" cy="57150"/>
          </a:xfrm>
          <a:prstGeom prst="rect">
            <a:avLst/>
          </a:prstGeom>
          <a:solidFill>
            <a:srgbClr val="F6A234"/>
          </a:solidFill>
          <a:ln w="12700">
            <a:solidFill>
              <a:srgbClr val="FFFFFF">
                <a:alpha val="0"/>
              </a:srgbClr>
            </a:solidFill>
            <a:prstDash val="solid"/>
          </a:ln>
        </p:spPr>
      </p:sp>
      <p:sp>
        <p:nvSpPr>
          <p:cNvPr id="7" name="Text 5"/>
          <p:cNvSpPr/>
          <p:nvPr/>
        </p:nvSpPr>
        <p:spPr>
          <a:xfrm>
            <a:off x="723930" y="1695480"/>
            <a:ext cx="10477470" cy="466710"/>
          </a:xfrm>
          <a:prstGeom prst="rect">
            <a:avLst/>
          </a:prstGeom>
          <a:noFill/>
          <a:ln/>
        </p:spPr>
        <p:txBody>
          <a:bodyPr wrap="square" lIns="0" tIns="0" rIns="0" bIns="0" rtlCol="0" anchor="ctr">
            <a:normAutofit/>
          </a:bodyPr>
          <a:lstStyle/>
          <a:p>
            <a:pPr algn="l" indent="0" marL="0">
              <a:buNone/>
            </a:pPr>
            <a:r>
              <a:rPr lang="en-US" sz="1730" b="1" dirty="0">
                <a:solidFill>
                  <a:srgbClr val="173B36"/>
                </a:solidFill>
                <a:latin typeface="Yu Gothic" pitchFamily="34" charset="0"/>
                <a:ea typeface="Yu Gothic" pitchFamily="34" charset="-122"/>
                <a:cs typeface="Yu Gothic" pitchFamily="34" charset="-120"/>
              </a:rPr>
              <a:t>危険をなくす対策から検討する</a:t>
            </a:r>
            <a:endParaRPr lang="en-US" sz="1730" dirty="0"/>
          </a:p>
        </p:txBody>
      </p:sp>
      <p:sp>
        <p:nvSpPr>
          <p:cNvPr id="8" name="Text 6"/>
          <p:cNvSpPr/>
          <p:nvPr/>
        </p:nvSpPr>
        <p:spPr>
          <a:xfrm>
            <a:off x="723930" y="2571750"/>
            <a:ext cx="552480" cy="419070"/>
          </a:xfrm>
          <a:prstGeom prst="rect">
            <a:avLst/>
          </a:prstGeom>
          <a:noFill/>
          <a:ln/>
        </p:spPr>
        <p:txBody>
          <a:bodyPr wrap="square" lIns="0" tIns="0" rIns="0" bIns="0" rtlCol="0" anchor="ctr">
            <a:normAutofit/>
          </a:bodyPr>
          <a:lstStyle/>
          <a:p>
            <a:pPr algn="l" indent="0" marL="0">
              <a:buNone/>
            </a:pPr>
            <a:r>
              <a:rPr lang="en-US" sz="2250" b="1" dirty="0">
                <a:solidFill>
                  <a:srgbClr val="0A6257"/>
                </a:solidFill>
                <a:latin typeface="Yu Gothic" pitchFamily="34" charset="0"/>
                <a:ea typeface="Yu Gothic" pitchFamily="34" charset="-122"/>
                <a:cs typeface="Yu Gothic" pitchFamily="34" charset="-120"/>
              </a:rPr>
              <a:t>01</a:t>
            </a:r>
            <a:endParaRPr lang="en-US" sz="2250" dirty="0"/>
          </a:p>
        </p:txBody>
      </p:sp>
      <p:sp>
        <p:nvSpPr>
          <p:cNvPr id="9" name="Text 7"/>
          <p:cNvSpPr/>
          <p:nvPr/>
        </p:nvSpPr>
        <p:spPr>
          <a:xfrm>
            <a:off x="1466880" y="2571750"/>
            <a:ext cx="5524530" cy="438180"/>
          </a:xfrm>
          <a:prstGeom prst="rect">
            <a:avLst/>
          </a:prstGeom>
          <a:noFill/>
          <a:ln/>
        </p:spPr>
        <p:txBody>
          <a:bodyPr wrap="square" lIns="0" tIns="0" rIns="0" bIns="0" rtlCol="0" anchor="ctr">
            <a:normAutofit/>
          </a:bodyPr>
          <a:lstStyle/>
          <a:p>
            <a:pPr algn="l" indent="0" marL="0">
              <a:buNone/>
            </a:pPr>
            <a:r>
              <a:rPr lang="en-US" sz="2030" b="1" dirty="0">
                <a:solidFill>
                  <a:srgbClr val="173B36"/>
                </a:solidFill>
                <a:latin typeface="Yu Gothic" pitchFamily="34" charset="0"/>
                <a:ea typeface="Yu Gothic" pitchFamily="34" charset="-122"/>
                <a:cs typeface="Yu Gothic" pitchFamily="34" charset="-120"/>
              </a:rPr>
              <a:t>廃止・変更</a:t>
            </a:r>
            <a:endParaRPr lang="en-US" sz="2030" dirty="0"/>
          </a:p>
        </p:txBody>
      </p:sp>
      <p:sp>
        <p:nvSpPr>
          <p:cNvPr id="10" name="Text 8"/>
          <p:cNvSpPr/>
          <p:nvPr/>
        </p:nvSpPr>
        <p:spPr>
          <a:xfrm>
            <a:off x="723930" y="3352830"/>
            <a:ext cx="552480" cy="419070"/>
          </a:xfrm>
          <a:prstGeom prst="rect">
            <a:avLst/>
          </a:prstGeom>
          <a:noFill/>
          <a:ln/>
        </p:spPr>
        <p:txBody>
          <a:bodyPr wrap="square" lIns="0" tIns="0" rIns="0" bIns="0" rtlCol="0" anchor="ctr">
            <a:normAutofit/>
          </a:bodyPr>
          <a:lstStyle/>
          <a:p>
            <a:pPr algn="l" indent="0" marL="0">
              <a:buNone/>
            </a:pPr>
            <a:r>
              <a:rPr lang="en-US" sz="2250" b="1" dirty="0">
                <a:solidFill>
                  <a:srgbClr val="F6A234"/>
                </a:solidFill>
                <a:latin typeface="Yu Gothic" pitchFamily="34" charset="0"/>
                <a:ea typeface="Yu Gothic" pitchFamily="34" charset="-122"/>
                <a:cs typeface="Yu Gothic" pitchFamily="34" charset="-120"/>
              </a:rPr>
              <a:t>02</a:t>
            </a:r>
            <a:endParaRPr lang="en-US" sz="2250" dirty="0"/>
          </a:p>
        </p:txBody>
      </p:sp>
      <p:sp>
        <p:nvSpPr>
          <p:cNvPr id="11" name="Text 9"/>
          <p:cNvSpPr/>
          <p:nvPr/>
        </p:nvSpPr>
        <p:spPr>
          <a:xfrm>
            <a:off x="1466880" y="3352830"/>
            <a:ext cx="5524530" cy="438180"/>
          </a:xfrm>
          <a:prstGeom prst="rect">
            <a:avLst/>
          </a:prstGeom>
          <a:noFill/>
          <a:ln/>
        </p:spPr>
        <p:txBody>
          <a:bodyPr wrap="square" lIns="0" tIns="0" rIns="0" bIns="0" rtlCol="0" anchor="ctr">
            <a:normAutofit/>
          </a:bodyPr>
          <a:lstStyle/>
          <a:p>
            <a:pPr algn="l" indent="0" marL="0">
              <a:buNone/>
            </a:pPr>
            <a:r>
              <a:rPr lang="en-US" sz="2030" b="1" dirty="0">
                <a:solidFill>
                  <a:srgbClr val="173B36"/>
                </a:solidFill>
                <a:latin typeface="Yu Gothic" pitchFamily="34" charset="0"/>
                <a:ea typeface="Yu Gothic" pitchFamily="34" charset="-122"/>
                <a:cs typeface="Yu Gothic" pitchFamily="34" charset="-120"/>
              </a:rPr>
              <a:t>工学的対策</a:t>
            </a:r>
            <a:endParaRPr lang="en-US" sz="2030" dirty="0"/>
          </a:p>
        </p:txBody>
      </p:sp>
      <p:sp>
        <p:nvSpPr>
          <p:cNvPr id="12" name="Text 10"/>
          <p:cNvSpPr/>
          <p:nvPr/>
        </p:nvSpPr>
        <p:spPr>
          <a:xfrm>
            <a:off x="723930" y="4133820"/>
            <a:ext cx="552480" cy="419070"/>
          </a:xfrm>
          <a:prstGeom prst="rect">
            <a:avLst/>
          </a:prstGeom>
          <a:noFill/>
          <a:ln/>
        </p:spPr>
        <p:txBody>
          <a:bodyPr wrap="square" lIns="0" tIns="0" rIns="0" bIns="0" rtlCol="0" anchor="ctr">
            <a:normAutofit/>
          </a:bodyPr>
          <a:lstStyle/>
          <a:p>
            <a:pPr algn="l" indent="0" marL="0">
              <a:buNone/>
            </a:pPr>
            <a:r>
              <a:rPr lang="en-US" sz="2250" b="1" dirty="0">
                <a:solidFill>
                  <a:srgbClr val="0A6257"/>
                </a:solidFill>
                <a:latin typeface="Yu Gothic" pitchFamily="34" charset="0"/>
                <a:ea typeface="Yu Gothic" pitchFamily="34" charset="-122"/>
                <a:cs typeface="Yu Gothic" pitchFamily="34" charset="-120"/>
              </a:rPr>
              <a:t>03</a:t>
            </a:r>
            <a:endParaRPr lang="en-US" sz="2250" dirty="0"/>
          </a:p>
        </p:txBody>
      </p:sp>
      <p:sp>
        <p:nvSpPr>
          <p:cNvPr id="13" name="Text 11"/>
          <p:cNvSpPr/>
          <p:nvPr/>
        </p:nvSpPr>
        <p:spPr>
          <a:xfrm>
            <a:off x="1466880" y="4133820"/>
            <a:ext cx="5524530" cy="438180"/>
          </a:xfrm>
          <a:prstGeom prst="rect">
            <a:avLst/>
          </a:prstGeom>
          <a:noFill/>
          <a:ln/>
        </p:spPr>
        <p:txBody>
          <a:bodyPr wrap="square" lIns="0" tIns="0" rIns="0" bIns="0" rtlCol="0" anchor="ctr">
            <a:normAutofit/>
          </a:bodyPr>
          <a:lstStyle/>
          <a:p>
            <a:pPr algn="l" indent="0" marL="0">
              <a:buNone/>
            </a:pPr>
            <a:r>
              <a:rPr lang="en-US" sz="2030" b="1" dirty="0">
                <a:solidFill>
                  <a:srgbClr val="173B36"/>
                </a:solidFill>
                <a:latin typeface="Yu Gothic" pitchFamily="34" charset="0"/>
                <a:ea typeface="Yu Gothic" pitchFamily="34" charset="-122"/>
                <a:cs typeface="Yu Gothic" pitchFamily="34" charset="-120"/>
              </a:rPr>
              <a:t>残留リスク確認</a:t>
            </a:r>
            <a:endParaRPr lang="en-US" sz="2030" dirty="0"/>
          </a:p>
        </p:txBody>
      </p:sp>
      <p:pic>
        <p:nvPicPr>
          <p:cNvPr id="14" name="Image 0" descr="対策の順序と保護具を確認するチワワ">    </p:cNvPr>
          <p:cNvPicPr>
            <a:picLocks noChangeAspect="1"/>
          </p:cNvPicPr>
          <p:nvPr/>
        </p:nvPicPr>
        <p:blipFill>
          <a:blip r:embed="rId1"/>
          <a:srcRect l="-632" r="-632" t="0" b="0"/>
          <a:stretch/>
        </p:blipFill>
        <p:spPr>
          <a:xfrm>
            <a:off x="7810530" y="2238360"/>
            <a:ext cx="2857500" cy="2857500"/>
          </a:xfrm>
          <a:prstGeom prst="rect">
            <a:avLst/>
          </a:prstGeom>
        </p:spPr>
      </p:pic>
      <p:sp>
        <p:nvSpPr>
          <p:cNvPr id="15" name="Text 12"/>
          <p:cNvSpPr/>
          <p:nvPr/>
        </p:nvSpPr>
        <p:spPr>
          <a:xfrm>
            <a:off x="723930" y="5219670"/>
            <a:ext cx="9905970" cy="371521"/>
          </a:xfrm>
          <a:prstGeom prst="rect">
            <a:avLst/>
          </a:prstGeom>
          <a:noFill/>
          <a:ln/>
        </p:spPr>
        <p:txBody>
          <a:bodyPr wrap="square" lIns="0" tIns="0" rIns="0" bIns="0" rtlCol="0" anchor="ctr">
            <a:normAutofit/>
          </a:bodyPr>
          <a:lstStyle/>
          <a:p>
            <a:pPr algn="l" indent="0" marL="0">
              <a:buNone/>
            </a:pPr>
            <a:r>
              <a:rPr lang="en-US" sz="1500" b="1" dirty="0">
                <a:solidFill>
                  <a:srgbClr val="A83F2D"/>
                </a:solidFill>
                <a:latin typeface="Yu Gothic" pitchFamily="34" charset="0"/>
                <a:ea typeface="Yu Gothic" pitchFamily="34" charset="-122"/>
                <a:cs typeface="Yu Gothic" pitchFamily="34" charset="-120"/>
              </a:rPr>
              <a:t>条件: 保護具だけで対策を終えない</a:t>
            </a:r>
            <a:endParaRPr lang="en-US" sz="1500" dirty="0"/>
          </a:p>
        </p:txBody>
      </p:sp>
      <p:sp>
        <p:nvSpPr>
          <p:cNvPr id="16" name="Shape 13"/>
          <p:cNvSpPr/>
          <p:nvPr/>
        </p:nvSpPr>
        <p:spPr>
          <a:xfrm>
            <a:off x="723930" y="6096030"/>
            <a:ext cx="10687050" cy="9510"/>
          </a:xfrm>
          <a:prstGeom prst="rect">
            <a:avLst/>
          </a:prstGeom>
          <a:solidFill>
            <a:srgbClr val="BDD4CD"/>
          </a:solidFill>
          <a:ln w="12700">
            <a:solidFill>
              <a:srgbClr val="FFFFFF">
                <a:alpha val="0"/>
              </a:srgbClr>
            </a:solidFill>
            <a:prstDash val="solid"/>
          </a:ln>
        </p:spPr>
      </p:sp>
      <p:sp>
        <p:nvSpPr>
          <p:cNvPr id="17" name="Text 14"/>
          <p:cNvSpPr/>
          <p:nvPr/>
        </p:nvSpPr>
        <p:spPr>
          <a:xfrm>
            <a:off x="723930" y="6162690"/>
            <a:ext cx="7429500" cy="209580"/>
          </a:xfrm>
          <a:prstGeom prst="rect">
            <a:avLst/>
          </a:prstGeom>
          <a:noFill/>
          <a:ln/>
        </p:spPr>
        <p:txBody>
          <a:bodyPr wrap="square" lIns="0" tIns="0" rIns="0" bIns="0" rtlCol="0" anchor="ctr">
            <a:normAutofit/>
          </a:bodyPr>
          <a:lstStyle/>
          <a:p>
            <a:pPr algn="l" indent="0" marL="0">
              <a:buNone/>
            </a:pPr>
            <a:r>
              <a:rPr lang="en-US" sz="980" dirty="0">
                <a:solidFill>
                  <a:srgbClr val="56706B"/>
                </a:solidFill>
                <a:latin typeface="Yu Gothic" pitchFamily="34" charset="0"/>
                <a:ea typeface="Yu Gothic" pitchFamily="34" charset="-122"/>
                <a:cs typeface="Yu Gothic" pitchFamily="34" charset="-120"/>
              </a:rPr>
              <a:t>出典 S4（詳細はノート）</a:t>
            </a:r>
            <a:endParaRPr lang="en-US" sz="980" dirty="0"/>
          </a:p>
        </p:txBody>
      </p:sp>
      <p:sp>
        <p:nvSpPr>
          <p:cNvPr id="18" name="Text 15"/>
          <p:cNvSpPr/>
          <p:nvPr/>
        </p:nvSpPr>
        <p:spPr>
          <a:xfrm>
            <a:off x="10210830" y="6162690"/>
            <a:ext cx="1181130" cy="209580"/>
          </a:xfrm>
          <a:prstGeom prst="rect">
            <a:avLst/>
          </a:prstGeom>
          <a:noFill/>
          <a:ln/>
        </p:spPr>
        <p:txBody>
          <a:bodyPr wrap="square" lIns="0" tIns="0" rIns="0" bIns="0" rtlCol="0" anchor="ctr">
            <a:normAutofit/>
          </a:bodyPr>
          <a:lstStyle/>
          <a:p>
            <a:pPr algn="r" indent="0" marL="0">
              <a:buNone/>
            </a:pPr>
            <a:r>
              <a:rPr lang="en-US" sz="980" b="1" dirty="0">
                <a:solidFill>
                  <a:srgbClr val="0A6257"/>
                </a:solidFill>
                <a:latin typeface="Yu Gothic" pitchFamily="34" charset="0"/>
                <a:ea typeface="Yu Gothic" pitchFamily="34" charset="-122"/>
                <a:cs typeface="Yu Gothic" pitchFamily="34" charset="-120"/>
              </a:rPr>
              <a:t>09 / 12</a:t>
            </a:r>
            <a:endParaRPr lang="en-US" sz="9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CF8"/>
        </a:solidFill>
      </p:bgPr>
    </p:bg>
    <p:spTree>
      <p:nvGrpSpPr>
        <p:cNvPr id="1" name=""/>
        <p:cNvGrpSpPr/>
        <p:nvPr/>
      </p:nvGrpSpPr>
      <p:grpSpPr>
        <a:xfrm>
          <a:off x="0" y="0"/>
          <a:ext cx="0" cy="0"/>
          <a:chOff x="0" y="0"/>
          <a:chExt cx="0" cy="0"/>
        </a:xfrm>
      </p:grpSpPr>
      <p:sp>
        <p:nvSpPr>
          <p:cNvPr id="2" name="Shape 0"/>
          <p:cNvSpPr/>
          <p:nvPr/>
        </p:nvSpPr>
        <p:spPr>
          <a:xfrm>
            <a:off x="0" y="0"/>
            <a:ext cx="171450" cy="6858000"/>
          </a:xfrm>
          <a:prstGeom prst="rect">
            <a:avLst/>
          </a:prstGeom>
          <a:solidFill>
            <a:srgbClr val="0A6257"/>
          </a:solidFill>
          <a:ln w="12700">
            <a:solidFill>
              <a:srgbClr val="FFFFFF">
                <a:alpha val="0"/>
              </a:srgbClr>
            </a:solidFill>
            <a:prstDash val="solid"/>
          </a:ln>
        </p:spPr>
      </p:sp>
      <p:sp>
        <p:nvSpPr>
          <p:cNvPr id="3" name="Text 1"/>
          <p:cNvSpPr/>
          <p:nvPr/>
        </p:nvSpPr>
        <p:spPr>
          <a:xfrm>
            <a:off x="723930" y="400050"/>
            <a:ext cx="5715000" cy="257221"/>
          </a:xfrm>
          <a:prstGeom prst="rect">
            <a:avLst/>
          </a:prstGeom>
          <a:noFill/>
          <a:ln/>
        </p:spPr>
        <p:txBody>
          <a:bodyPr wrap="square" lIns="0" tIns="0" rIns="0" bIns="0" rtlCol="0" anchor="ctr">
            <a:normAutofit/>
          </a:bodyPr>
          <a:lstStyle/>
          <a:p>
            <a:pPr algn="l" indent="0" marL="0">
              <a:buNone/>
            </a:pPr>
            <a:r>
              <a:rPr lang="en-US" sz="1200" b="1" dirty="0">
                <a:solidFill>
                  <a:srgbClr val="0A6257"/>
                </a:solidFill>
                <a:latin typeface="Yu Gothic" pitchFamily="34" charset="0"/>
                <a:ea typeface="Yu Gothic" pitchFamily="34" charset="-122"/>
                <a:cs typeface="Yu Gothic" pitchFamily="34" charset="-120"/>
              </a:rPr>
              <a:t>作業前確認</a:t>
            </a:r>
            <a:endParaRPr lang="en-US" sz="1200" dirty="0"/>
          </a:p>
        </p:txBody>
      </p:sp>
      <p:sp>
        <p:nvSpPr>
          <p:cNvPr id="4" name="Text 2"/>
          <p:cNvSpPr/>
          <p:nvPr/>
        </p:nvSpPr>
        <p:spPr>
          <a:xfrm>
            <a:off x="8162940" y="381030"/>
            <a:ext cx="3238530" cy="266730"/>
          </a:xfrm>
          <a:prstGeom prst="rect">
            <a:avLst/>
          </a:prstGeom>
          <a:noFill/>
          <a:ln/>
        </p:spPr>
        <p:txBody>
          <a:bodyPr wrap="square" lIns="0" tIns="0" rIns="0" bIns="0" rtlCol="0" anchor="ctr">
            <a:normAutofit/>
          </a:bodyPr>
          <a:lstStyle/>
          <a:p>
            <a:pPr algn="r" indent="0" marL="0">
              <a:buNone/>
            </a:pPr>
            <a:r>
              <a:rPr lang="en-US" sz="1130" b="1" dirty="0">
                <a:solidFill>
                  <a:srgbClr val="56706B"/>
                </a:solidFill>
                <a:latin typeface="Yu Gothic" pitchFamily="34" charset="0"/>
                <a:ea typeface="Yu Gothic" pitchFamily="34" charset="-122"/>
                <a:cs typeface="Yu Gothic" pitchFamily="34" charset="-120"/>
              </a:rPr>
              <a:t>現場実務</a:t>
            </a:r>
            <a:endParaRPr lang="en-US" sz="1130" dirty="0"/>
          </a:p>
        </p:txBody>
      </p:sp>
      <p:sp>
        <p:nvSpPr>
          <p:cNvPr id="5" name="Text 3"/>
          <p:cNvSpPr/>
          <p:nvPr/>
        </p:nvSpPr>
        <p:spPr>
          <a:xfrm>
            <a:off x="723930" y="781080"/>
            <a:ext cx="10668030" cy="581010"/>
          </a:xfrm>
          <a:prstGeom prst="rect">
            <a:avLst/>
          </a:prstGeom>
          <a:noFill/>
          <a:ln/>
        </p:spPr>
        <p:txBody>
          <a:bodyPr wrap="square" lIns="0" tIns="0" rIns="0" bIns="0" rtlCol="0" anchor="ctr">
            <a:normAutofit/>
          </a:bodyPr>
          <a:lstStyle/>
          <a:p>
            <a:pPr algn="l" indent="0" marL="0">
              <a:buNone/>
            </a:pPr>
            <a:r>
              <a:rPr lang="en-US" sz="4200" b="1" dirty="0">
                <a:solidFill>
                  <a:srgbClr val="073C35"/>
                </a:solidFill>
                <a:latin typeface="Yu Gothic" pitchFamily="34" charset="0"/>
                <a:ea typeface="Yu Gothic" pitchFamily="34" charset="-122"/>
                <a:cs typeface="Yu Gothic" pitchFamily="34" charset="-120"/>
              </a:rPr>
              <a:t>機械作業の開始条件</a:t>
            </a:r>
            <a:endParaRPr lang="en-US" sz="4200" dirty="0"/>
          </a:p>
        </p:txBody>
      </p:sp>
      <p:sp>
        <p:nvSpPr>
          <p:cNvPr id="6" name="Shape 4"/>
          <p:cNvSpPr/>
          <p:nvPr/>
        </p:nvSpPr>
        <p:spPr>
          <a:xfrm>
            <a:off x="723930" y="1457371"/>
            <a:ext cx="914400" cy="57150"/>
          </a:xfrm>
          <a:prstGeom prst="rect">
            <a:avLst/>
          </a:prstGeom>
          <a:solidFill>
            <a:srgbClr val="F6A234"/>
          </a:solidFill>
          <a:ln w="12700">
            <a:solidFill>
              <a:srgbClr val="FFFFFF">
                <a:alpha val="0"/>
              </a:srgbClr>
            </a:solidFill>
            <a:prstDash val="solid"/>
          </a:ln>
        </p:spPr>
      </p:sp>
      <p:sp>
        <p:nvSpPr>
          <p:cNvPr id="7" name="Text 5"/>
          <p:cNvSpPr/>
          <p:nvPr/>
        </p:nvSpPr>
        <p:spPr>
          <a:xfrm>
            <a:off x="723930" y="1695480"/>
            <a:ext cx="10477470" cy="466710"/>
          </a:xfrm>
          <a:prstGeom prst="rect">
            <a:avLst/>
          </a:prstGeom>
          <a:noFill/>
          <a:ln/>
        </p:spPr>
        <p:txBody>
          <a:bodyPr wrap="square" lIns="0" tIns="0" rIns="0" bIns="0" rtlCol="0" anchor="ctr">
            <a:normAutofit/>
          </a:bodyPr>
          <a:lstStyle/>
          <a:p>
            <a:pPr algn="l" indent="0" marL="0">
              <a:buNone/>
            </a:pPr>
            <a:r>
              <a:rPr lang="en-US" sz="1730" b="1" dirty="0">
                <a:solidFill>
                  <a:srgbClr val="173B36"/>
                </a:solidFill>
                <a:latin typeface="Yu Gothic" pitchFamily="34" charset="0"/>
                <a:ea typeface="Yu Gothic" pitchFamily="34" charset="-122"/>
                <a:cs typeface="Yu Gothic" pitchFamily="34" charset="-120"/>
              </a:rPr>
              <a:t>開始条件がそろってから動かす</a:t>
            </a:r>
            <a:endParaRPr lang="en-US" sz="1730" dirty="0"/>
          </a:p>
        </p:txBody>
      </p:sp>
      <p:sp>
        <p:nvSpPr>
          <p:cNvPr id="8" name="Text 6"/>
          <p:cNvSpPr/>
          <p:nvPr/>
        </p:nvSpPr>
        <p:spPr>
          <a:xfrm>
            <a:off x="723930" y="2571750"/>
            <a:ext cx="552480" cy="419070"/>
          </a:xfrm>
          <a:prstGeom prst="rect">
            <a:avLst/>
          </a:prstGeom>
          <a:noFill/>
          <a:ln/>
        </p:spPr>
        <p:txBody>
          <a:bodyPr wrap="square" lIns="0" tIns="0" rIns="0" bIns="0" rtlCol="0" anchor="ctr">
            <a:normAutofit/>
          </a:bodyPr>
          <a:lstStyle/>
          <a:p>
            <a:pPr algn="l" indent="0" marL="0">
              <a:buNone/>
            </a:pPr>
            <a:r>
              <a:rPr lang="en-US" sz="2250" b="1" dirty="0">
                <a:solidFill>
                  <a:srgbClr val="0A6257"/>
                </a:solidFill>
                <a:latin typeface="Yu Gothic" pitchFamily="34" charset="0"/>
                <a:ea typeface="Yu Gothic" pitchFamily="34" charset="-122"/>
                <a:cs typeface="Yu Gothic" pitchFamily="34" charset="-120"/>
              </a:rPr>
              <a:t>01</a:t>
            </a:r>
            <a:endParaRPr lang="en-US" sz="2250" dirty="0"/>
          </a:p>
        </p:txBody>
      </p:sp>
      <p:sp>
        <p:nvSpPr>
          <p:cNvPr id="9" name="Text 7"/>
          <p:cNvSpPr/>
          <p:nvPr/>
        </p:nvSpPr>
        <p:spPr>
          <a:xfrm>
            <a:off x="1466880" y="2571750"/>
            <a:ext cx="5524530" cy="438180"/>
          </a:xfrm>
          <a:prstGeom prst="rect">
            <a:avLst/>
          </a:prstGeom>
          <a:noFill/>
          <a:ln/>
        </p:spPr>
        <p:txBody>
          <a:bodyPr wrap="square" lIns="0" tIns="0" rIns="0" bIns="0" rtlCol="0" anchor="ctr">
            <a:normAutofit/>
          </a:bodyPr>
          <a:lstStyle/>
          <a:p>
            <a:pPr algn="l" indent="0" marL="0">
              <a:buNone/>
            </a:pPr>
            <a:r>
              <a:rPr lang="en-US" sz="2030" b="1" dirty="0">
                <a:solidFill>
                  <a:srgbClr val="173B36"/>
                </a:solidFill>
                <a:latin typeface="Yu Gothic" pitchFamily="34" charset="0"/>
                <a:ea typeface="Yu Gothic" pitchFamily="34" charset="-122"/>
                <a:cs typeface="Yu Gothic" pitchFamily="34" charset="-120"/>
              </a:rPr>
              <a:t>仕様と能力</a:t>
            </a:r>
            <a:endParaRPr lang="en-US" sz="2030" dirty="0"/>
          </a:p>
        </p:txBody>
      </p:sp>
      <p:sp>
        <p:nvSpPr>
          <p:cNvPr id="10" name="Text 8"/>
          <p:cNvSpPr/>
          <p:nvPr/>
        </p:nvSpPr>
        <p:spPr>
          <a:xfrm>
            <a:off x="723930" y="3352830"/>
            <a:ext cx="552480" cy="419070"/>
          </a:xfrm>
          <a:prstGeom prst="rect">
            <a:avLst/>
          </a:prstGeom>
          <a:noFill/>
          <a:ln/>
        </p:spPr>
        <p:txBody>
          <a:bodyPr wrap="square" lIns="0" tIns="0" rIns="0" bIns="0" rtlCol="0" anchor="ctr">
            <a:normAutofit/>
          </a:bodyPr>
          <a:lstStyle/>
          <a:p>
            <a:pPr algn="l" indent="0" marL="0">
              <a:buNone/>
            </a:pPr>
            <a:r>
              <a:rPr lang="en-US" sz="2250" b="1" dirty="0">
                <a:solidFill>
                  <a:srgbClr val="F6A234"/>
                </a:solidFill>
                <a:latin typeface="Yu Gothic" pitchFamily="34" charset="0"/>
                <a:ea typeface="Yu Gothic" pitchFamily="34" charset="-122"/>
                <a:cs typeface="Yu Gothic" pitchFamily="34" charset="-120"/>
              </a:rPr>
              <a:t>02</a:t>
            </a:r>
            <a:endParaRPr lang="en-US" sz="2250" dirty="0"/>
          </a:p>
        </p:txBody>
      </p:sp>
      <p:sp>
        <p:nvSpPr>
          <p:cNvPr id="11" name="Text 9"/>
          <p:cNvSpPr/>
          <p:nvPr/>
        </p:nvSpPr>
        <p:spPr>
          <a:xfrm>
            <a:off x="1466880" y="3352830"/>
            <a:ext cx="5524530" cy="438180"/>
          </a:xfrm>
          <a:prstGeom prst="rect">
            <a:avLst/>
          </a:prstGeom>
          <a:noFill/>
          <a:ln/>
        </p:spPr>
        <p:txBody>
          <a:bodyPr wrap="square" lIns="0" tIns="0" rIns="0" bIns="0" rtlCol="0" anchor="ctr">
            <a:normAutofit/>
          </a:bodyPr>
          <a:lstStyle/>
          <a:p>
            <a:pPr algn="l" indent="0" marL="0">
              <a:buNone/>
            </a:pPr>
            <a:r>
              <a:rPr lang="en-US" sz="2030" b="1" dirty="0">
                <a:solidFill>
                  <a:srgbClr val="173B36"/>
                </a:solidFill>
                <a:latin typeface="Yu Gothic" pitchFamily="34" charset="0"/>
                <a:ea typeface="Yu Gothic" pitchFamily="34" charset="-122"/>
                <a:cs typeface="Yu Gothic" pitchFamily="34" charset="-120"/>
              </a:rPr>
              <a:t>防護と停止</a:t>
            </a:r>
            <a:endParaRPr lang="en-US" sz="2030" dirty="0"/>
          </a:p>
        </p:txBody>
      </p:sp>
      <p:sp>
        <p:nvSpPr>
          <p:cNvPr id="12" name="Text 10"/>
          <p:cNvSpPr/>
          <p:nvPr/>
        </p:nvSpPr>
        <p:spPr>
          <a:xfrm>
            <a:off x="723930" y="4133820"/>
            <a:ext cx="552480" cy="419070"/>
          </a:xfrm>
          <a:prstGeom prst="rect">
            <a:avLst/>
          </a:prstGeom>
          <a:noFill/>
          <a:ln/>
        </p:spPr>
        <p:txBody>
          <a:bodyPr wrap="square" lIns="0" tIns="0" rIns="0" bIns="0" rtlCol="0" anchor="ctr">
            <a:normAutofit/>
          </a:bodyPr>
          <a:lstStyle/>
          <a:p>
            <a:pPr algn="l" indent="0" marL="0">
              <a:buNone/>
            </a:pPr>
            <a:r>
              <a:rPr lang="en-US" sz="2250" b="1" dirty="0">
                <a:solidFill>
                  <a:srgbClr val="0A6257"/>
                </a:solidFill>
                <a:latin typeface="Yu Gothic" pitchFamily="34" charset="0"/>
                <a:ea typeface="Yu Gothic" pitchFamily="34" charset="-122"/>
                <a:cs typeface="Yu Gothic" pitchFamily="34" charset="-120"/>
              </a:rPr>
              <a:t>03</a:t>
            </a:r>
            <a:endParaRPr lang="en-US" sz="2250" dirty="0"/>
          </a:p>
        </p:txBody>
      </p:sp>
      <p:sp>
        <p:nvSpPr>
          <p:cNvPr id="13" name="Text 11"/>
          <p:cNvSpPr/>
          <p:nvPr/>
        </p:nvSpPr>
        <p:spPr>
          <a:xfrm>
            <a:off x="1466880" y="4133820"/>
            <a:ext cx="5524530" cy="438180"/>
          </a:xfrm>
          <a:prstGeom prst="rect">
            <a:avLst/>
          </a:prstGeom>
          <a:noFill/>
          <a:ln/>
        </p:spPr>
        <p:txBody>
          <a:bodyPr wrap="square" lIns="0" tIns="0" rIns="0" bIns="0" rtlCol="0" anchor="ctr">
            <a:normAutofit/>
          </a:bodyPr>
          <a:lstStyle/>
          <a:p>
            <a:pPr algn="l" indent="0" marL="0">
              <a:buNone/>
            </a:pPr>
            <a:r>
              <a:rPr lang="en-US" sz="2030" b="1" dirty="0">
                <a:solidFill>
                  <a:srgbClr val="173B36"/>
                </a:solidFill>
                <a:latin typeface="Yu Gothic" pitchFamily="34" charset="0"/>
                <a:ea typeface="Yu Gothic" pitchFamily="34" charset="-122"/>
                <a:cs typeface="Yu Gothic" pitchFamily="34" charset="-120"/>
              </a:rPr>
              <a:t>担当と立入範囲</a:t>
            </a:r>
            <a:endParaRPr lang="en-US" sz="2030" dirty="0"/>
          </a:p>
        </p:txBody>
      </p:sp>
      <p:pic>
        <p:nvPicPr>
          <p:cNvPr id="14" name="Image 0" descr="機械作業の開始条件を指すチワワ">    </p:cNvPr>
          <p:cNvPicPr>
            <a:picLocks noChangeAspect="1"/>
          </p:cNvPicPr>
          <p:nvPr/>
        </p:nvPicPr>
        <p:blipFill>
          <a:blip r:embed="rId1"/>
          <a:srcRect l="0" r="0" t="-1546" b="-1546"/>
          <a:stretch/>
        </p:blipFill>
        <p:spPr>
          <a:xfrm>
            <a:off x="7810530" y="2238360"/>
            <a:ext cx="2857500" cy="2857500"/>
          </a:xfrm>
          <a:prstGeom prst="rect">
            <a:avLst/>
          </a:prstGeom>
        </p:spPr>
      </p:pic>
      <p:sp>
        <p:nvSpPr>
          <p:cNvPr id="15" name="Text 12"/>
          <p:cNvSpPr/>
          <p:nvPr/>
        </p:nvSpPr>
        <p:spPr>
          <a:xfrm>
            <a:off x="723930" y="5219670"/>
            <a:ext cx="9905970" cy="371521"/>
          </a:xfrm>
          <a:prstGeom prst="rect">
            <a:avLst/>
          </a:prstGeom>
          <a:noFill/>
          <a:ln/>
        </p:spPr>
        <p:txBody>
          <a:bodyPr wrap="square" lIns="0" tIns="0" rIns="0" bIns="0" rtlCol="0" anchor="ctr">
            <a:normAutofit/>
          </a:bodyPr>
          <a:lstStyle/>
          <a:p>
            <a:pPr algn="l" indent="0" marL="0">
              <a:buNone/>
            </a:pPr>
            <a:r>
              <a:rPr lang="en-US" sz="1500" b="1" dirty="0">
                <a:solidFill>
                  <a:srgbClr val="A83F2D"/>
                </a:solidFill>
                <a:latin typeface="Yu Gothic" pitchFamily="34" charset="0"/>
                <a:ea typeface="Yu Gothic" pitchFamily="34" charset="-122"/>
                <a:cs typeface="Yu Gothic" pitchFamily="34" charset="-120"/>
              </a:rPr>
              <a:t>条件: 法定教育・資格の代替ではない</a:t>
            </a:r>
            <a:endParaRPr lang="en-US" sz="1500" dirty="0"/>
          </a:p>
        </p:txBody>
      </p:sp>
      <p:sp>
        <p:nvSpPr>
          <p:cNvPr id="16" name="Shape 13"/>
          <p:cNvSpPr/>
          <p:nvPr/>
        </p:nvSpPr>
        <p:spPr>
          <a:xfrm>
            <a:off x="723930" y="6096030"/>
            <a:ext cx="10687050" cy="9510"/>
          </a:xfrm>
          <a:prstGeom prst="rect">
            <a:avLst/>
          </a:prstGeom>
          <a:solidFill>
            <a:srgbClr val="BDD4CD"/>
          </a:solidFill>
          <a:ln w="12700">
            <a:solidFill>
              <a:srgbClr val="FFFFFF">
                <a:alpha val="0"/>
              </a:srgbClr>
            </a:solidFill>
            <a:prstDash val="solid"/>
          </a:ln>
        </p:spPr>
      </p:sp>
      <p:sp>
        <p:nvSpPr>
          <p:cNvPr id="17" name="Text 14"/>
          <p:cNvSpPr/>
          <p:nvPr/>
        </p:nvSpPr>
        <p:spPr>
          <a:xfrm>
            <a:off x="723930" y="6162690"/>
            <a:ext cx="7429500" cy="209580"/>
          </a:xfrm>
          <a:prstGeom prst="rect">
            <a:avLst/>
          </a:prstGeom>
          <a:noFill/>
          <a:ln/>
        </p:spPr>
        <p:txBody>
          <a:bodyPr wrap="square" lIns="0" tIns="0" rIns="0" bIns="0" rtlCol="0" anchor="ctr">
            <a:normAutofit/>
          </a:bodyPr>
          <a:lstStyle/>
          <a:p>
            <a:pPr algn="l" indent="0" marL="0">
              <a:buNone/>
            </a:pPr>
            <a:r>
              <a:rPr lang="en-US" sz="980" dirty="0">
                <a:solidFill>
                  <a:srgbClr val="56706B"/>
                </a:solidFill>
                <a:latin typeface="Yu Gothic" pitchFamily="34" charset="0"/>
                <a:ea typeface="Yu Gothic" pitchFamily="34" charset="-122"/>
                <a:cs typeface="Yu Gothic" pitchFamily="34" charset="-120"/>
              </a:rPr>
              <a:t>根拠 安衛法 第59条・安衛法 第61条（詳細はノート）</a:t>
            </a:r>
            <a:endParaRPr lang="en-US" sz="980" dirty="0"/>
          </a:p>
        </p:txBody>
      </p:sp>
      <p:sp>
        <p:nvSpPr>
          <p:cNvPr id="18" name="Text 15"/>
          <p:cNvSpPr/>
          <p:nvPr/>
        </p:nvSpPr>
        <p:spPr>
          <a:xfrm>
            <a:off x="10210830" y="6162690"/>
            <a:ext cx="1181130" cy="209580"/>
          </a:xfrm>
          <a:prstGeom prst="rect">
            <a:avLst/>
          </a:prstGeom>
          <a:noFill/>
          <a:ln/>
        </p:spPr>
        <p:txBody>
          <a:bodyPr wrap="square" lIns="0" tIns="0" rIns="0" bIns="0" rtlCol="0" anchor="ctr">
            <a:normAutofit/>
          </a:bodyPr>
          <a:lstStyle/>
          <a:p>
            <a:pPr algn="r" indent="0" marL="0">
              <a:buNone/>
            </a:pPr>
            <a:r>
              <a:rPr lang="en-US" sz="980" b="1" dirty="0">
                <a:solidFill>
                  <a:srgbClr val="0A6257"/>
                </a:solidFill>
                <a:latin typeface="Yu Gothic" pitchFamily="34" charset="0"/>
                <a:ea typeface="Yu Gothic" pitchFamily="34" charset="-122"/>
                <a:cs typeface="Yu Gothic" pitchFamily="34" charset="-120"/>
              </a:rPr>
              <a:t>10 / 12</a:t>
            </a:r>
            <a:endParaRPr lang="en-US" sz="9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CF8"/>
        </a:solidFill>
      </p:bgPr>
    </p:bg>
    <p:spTree>
      <p:nvGrpSpPr>
        <p:cNvPr id="1" name=""/>
        <p:cNvGrpSpPr/>
        <p:nvPr/>
      </p:nvGrpSpPr>
      <p:grpSpPr>
        <a:xfrm>
          <a:off x="0" y="0"/>
          <a:ext cx="0" cy="0"/>
          <a:chOff x="0" y="0"/>
          <a:chExt cx="0" cy="0"/>
        </a:xfrm>
      </p:grpSpPr>
      <p:sp>
        <p:nvSpPr>
          <p:cNvPr id="2" name="Shape 0"/>
          <p:cNvSpPr/>
          <p:nvPr/>
        </p:nvSpPr>
        <p:spPr>
          <a:xfrm>
            <a:off x="0" y="0"/>
            <a:ext cx="171450" cy="6858000"/>
          </a:xfrm>
          <a:prstGeom prst="rect">
            <a:avLst/>
          </a:prstGeom>
          <a:solidFill>
            <a:srgbClr val="0A6257"/>
          </a:solidFill>
          <a:ln w="12700">
            <a:solidFill>
              <a:srgbClr val="FFFFFF">
                <a:alpha val="0"/>
              </a:srgbClr>
            </a:solidFill>
            <a:prstDash val="solid"/>
          </a:ln>
        </p:spPr>
      </p:sp>
      <p:sp>
        <p:nvSpPr>
          <p:cNvPr id="3" name="Text 1"/>
          <p:cNvSpPr/>
          <p:nvPr/>
        </p:nvSpPr>
        <p:spPr>
          <a:xfrm>
            <a:off x="723930" y="400050"/>
            <a:ext cx="5715000" cy="257221"/>
          </a:xfrm>
          <a:prstGeom prst="rect">
            <a:avLst/>
          </a:prstGeom>
          <a:noFill/>
          <a:ln/>
        </p:spPr>
        <p:txBody>
          <a:bodyPr wrap="square" lIns="0" tIns="0" rIns="0" bIns="0" rtlCol="0" anchor="ctr">
            <a:normAutofit/>
          </a:bodyPr>
          <a:lstStyle/>
          <a:p>
            <a:pPr algn="l" indent="0" marL="0">
              <a:buNone/>
            </a:pPr>
            <a:r>
              <a:rPr lang="en-US" sz="1200" b="1" dirty="0">
                <a:solidFill>
                  <a:srgbClr val="0A6257"/>
                </a:solidFill>
                <a:latin typeface="Yu Gothic" pitchFamily="34" charset="0"/>
                <a:ea typeface="Yu Gothic" pitchFamily="34" charset="-122"/>
                <a:cs typeface="Yu Gothic" pitchFamily="34" charset="-120"/>
              </a:rPr>
              <a:t>予定外を管理する</a:t>
            </a:r>
            <a:endParaRPr lang="en-US" sz="1200" dirty="0"/>
          </a:p>
        </p:txBody>
      </p:sp>
      <p:sp>
        <p:nvSpPr>
          <p:cNvPr id="4" name="Text 2"/>
          <p:cNvSpPr/>
          <p:nvPr/>
        </p:nvSpPr>
        <p:spPr>
          <a:xfrm>
            <a:off x="8162940" y="381030"/>
            <a:ext cx="3238530" cy="266730"/>
          </a:xfrm>
          <a:prstGeom prst="rect">
            <a:avLst/>
          </a:prstGeom>
          <a:noFill/>
          <a:ln/>
        </p:spPr>
        <p:txBody>
          <a:bodyPr wrap="square" lIns="0" tIns="0" rIns="0" bIns="0" rtlCol="0" anchor="ctr">
            <a:normAutofit/>
          </a:bodyPr>
          <a:lstStyle/>
          <a:p>
            <a:pPr algn="r" indent="0" marL="0">
              <a:buNone/>
            </a:pPr>
            <a:r>
              <a:rPr lang="en-US" sz="1130" b="1" dirty="0">
                <a:solidFill>
                  <a:srgbClr val="56706B"/>
                </a:solidFill>
                <a:latin typeface="Yu Gothic" pitchFamily="34" charset="0"/>
                <a:ea typeface="Yu Gothic" pitchFamily="34" charset="-122"/>
                <a:cs typeface="Yu Gothic" pitchFamily="34" charset="-120"/>
              </a:rPr>
              <a:t>現場実務</a:t>
            </a:r>
            <a:endParaRPr lang="en-US" sz="1130" dirty="0"/>
          </a:p>
        </p:txBody>
      </p:sp>
      <p:sp>
        <p:nvSpPr>
          <p:cNvPr id="5" name="Text 3"/>
          <p:cNvSpPr/>
          <p:nvPr/>
        </p:nvSpPr>
        <p:spPr>
          <a:xfrm>
            <a:off x="723930" y="781080"/>
            <a:ext cx="10668030" cy="581010"/>
          </a:xfrm>
          <a:prstGeom prst="rect">
            <a:avLst/>
          </a:prstGeom>
          <a:noFill/>
          <a:ln/>
        </p:spPr>
        <p:txBody>
          <a:bodyPr wrap="square" lIns="0" tIns="0" rIns="0" bIns="0" rtlCol="0" anchor="ctr">
            <a:normAutofit/>
          </a:bodyPr>
          <a:lstStyle/>
          <a:p>
            <a:pPr algn="l" indent="0" marL="0">
              <a:buNone/>
            </a:pPr>
            <a:r>
              <a:rPr lang="en-US" sz="4200" b="1" dirty="0">
                <a:solidFill>
                  <a:srgbClr val="073C35"/>
                </a:solidFill>
                <a:latin typeface="Yu Gothic" pitchFamily="34" charset="0"/>
                <a:ea typeface="Yu Gothic" pitchFamily="34" charset="-122"/>
                <a:cs typeface="Yu Gothic" pitchFamily="34" charset="-120"/>
              </a:rPr>
              <a:t>変更時の停止と再評価</a:t>
            </a:r>
            <a:endParaRPr lang="en-US" sz="4200" dirty="0"/>
          </a:p>
        </p:txBody>
      </p:sp>
      <p:sp>
        <p:nvSpPr>
          <p:cNvPr id="6" name="Shape 4"/>
          <p:cNvSpPr/>
          <p:nvPr/>
        </p:nvSpPr>
        <p:spPr>
          <a:xfrm>
            <a:off x="723930" y="1457371"/>
            <a:ext cx="914400" cy="57150"/>
          </a:xfrm>
          <a:prstGeom prst="rect">
            <a:avLst/>
          </a:prstGeom>
          <a:solidFill>
            <a:srgbClr val="F6A234"/>
          </a:solidFill>
          <a:ln w="12700">
            <a:solidFill>
              <a:srgbClr val="FFFFFF">
                <a:alpha val="0"/>
              </a:srgbClr>
            </a:solidFill>
            <a:prstDash val="solid"/>
          </a:ln>
        </p:spPr>
      </p:sp>
      <p:sp>
        <p:nvSpPr>
          <p:cNvPr id="7" name="Text 5"/>
          <p:cNvSpPr/>
          <p:nvPr/>
        </p:nvSpPr>
        <p:spPr>
          <a:xfrm>
            <a:off x="723930" y="1695480"/>
            <a:ext cx="10477470" cy="466710"/>
          </a:xfrm>
          <a:prstGeom prst="rect">
            <a:avLst/>
          </a:prstGeom>
          <a:noFill/>
          <a:ln/>
        </p:spPr>
        <p:txBody>
          <a:bodyPr wrap="square" lIns="0" tIns="0" rIns="0" bIns="0" rtlCol="0" anchor="ctr">
            <a:normAutofit/>
          </a:bodyPr>
          <a:lstStyle/>
          <a:p>
            <a:pPr algn="l" indent="0" marL="0">
              <a:buNone/>
            </a:pPr>
            <a:r>
              <a:rPr lang="en-US" sz="1730" b="1" dirty="0">
                <a:solidFill>
                  <a:srgbClr val="173B36"/>
                </a:solidFill>
                <a:latin typeface="Yu Gothic" pitchFamily="34" charset="0"/>
                <a:ea typeface="Yu Gothic" pitchFamily="34" charset="-122"/>
                <a:cs typeface="Yu Gothic" pitchFamily="34" charset="-120"/>
              </a:rPr>
              <a:t>変化を見つけたら止めて再評価</a:t>
            </a:r>
            <a:endParaRPr lang="en-US" sz="1730" dirty="0"/>
          </a:p>
        </p:txBody>
      </p:sp>
      <p:sp>
        <p:nvSpPr>
          <p:cNvPr id="8" name="Text 6"/>
          <p:cNvSpPr/>
          <p:nvPr/>
        </p:nvSpPr>
        <p:spPr>
          <a:xfrm>
            <a:off x="723930" y="2571750"/>
            <a:ext cx="552480" cy="419070"/>
          </a:xfrm>
          <a:prstGeom prst="rect">
            <a:avLst/>
          </a:prstGeom>
          <a:noFill/>
          <a:ln/>
        </p:spPr>
        <p:txBody>
          <a:bodyPr wrap="square" lIns="0" tIns="0" rIns="0" bIns="0" rtlCol="0" anchor="ctr">
            <a:normAutofit/>
          </a:bodyPr>
          <a:lstStyle/>
          <a:p>
            <a:pPr algn="l" indent="0" marL="0">
              <a:buNone/>
            </a:pPr>
            <a:r>
              <a:rPr lang="en-US" sz="2250" b="1" dirty="0">
                <a:solidFill>
                  <a:srgbClr val="0A6257"/>
                </a:solidFill>
                <a:latin typeface="Yu Gothic" pitchFamily="34" charset="0"/>
                <a:ea typeface="Yu Gothic" pitchFamily="34" charset="-122"/>
                <a:cs typeface="Yu Gothic" pitchFamily="34" charset="-120"/>
              </a:rPr>
              <a:t>01</a:t>
            </a:r>
            <a:endParaRPr lang="en-US" sz="2250" dirty="0"/>
          </a:p>
        </p:txBody>
      </p:sp>
      <p:sp>
        <p:nvSpPr>
          <p:cNvPr id="9" name="Text 7"/>
          <p:cNvSpPr/>
          <p:nvPr/>
        </p:nvSpPr>
        <p:spPr>
          <a:xfrm>
            <a:off x="1466880" y="2571750"/>
            <a:ext cx="5524530" cy="438180"/>
          </a:xfrm>
          <a:prstGeom prst="rect">
            <a:avLst/>
          </a:prstGeom>
          <a:noFill/>
          <a:ln/>
        </p:spPr>
        <p:txBody>
          <a:bodyPr wrap="square" lIns="0" tIns="0" rIns="0" bIns="0" rtlCol="0" anchor="ctr">
            <a:normAutofit/>
          </a:bodyPr>
          <a:lstStyle/>
          <a:p>
            <a:pPr algn="l" indent="0" marL="0">
              <a:buNone/>
            </a:pPr>
            <a:r>
              <a:rPr lang="en-US" sz="2030" b="1" dirty="0">
                <a:solidFill>
                  <a:srgbClr val="173B36"/>
                </a:solidFill>
                <a:latin typeface="Yu Gothic" pitchFamily="34" charset="0"/>
                <a:ea typeface="Yu Gothic" pitchFamily="34" charset="-122"/>
                <a:cs typeface="Yu Gothic" pitchFamily="34" charset="-120"/>
              </a:rPr>
              <a:t>いったん停止</a:t>
            </a:r>
            <a:endParaRPr lang="en-US" sz="2030" dirty="0"/>
          </a:p>
        </p:txBody>
      </p:sp>
      <p:sp>
        <p:nvSpPr>
          <p:cNvPr id="10" name="Text 8"/>
          <p:cNvSpPr/>
          <p:nvPr/>
        </p:nvSpPr>
        <p:spPr>
          <a:xfrm>
            <a:off x="723930" y="3352830"/>
            <a:ext cx="552480" cy="419070"/>
          </a:xfrm>
          <a:prstGeom prst="rect">
            <a:avLst/>
          </a:prstGeom>
          <a:noFill/>
          <a:ln/>
        </p:spPr>
        <p:txBody>
          <a:bodyPr wrap="square" lIns="0" tIns="0" rIns="0" bIns="0" rtlCol="0" anchor="ctr">
            <a:normAutofit/>
          </a:bodyPr>
          <a:lstStyle/>
          <a:p>
            <a:pPr algn="l" indent="0" marL="0">
              <a:buNone/>
            </a:pPr>
            <a:r>
              <a:rPr lang="en-US" sz="2250" b="1" dirty="0">
                <a:solidFill>
                  <a:srgbClr val="F6A234"/>
                </a:solidFill>
                <a:latin typeface="Yu Gothic" pitchFamily="34" charset="0"/>
                <a:ea typeface="Yu Gothic" pitchFamily="34" charset="-122"/>
                <a:cs typeface="Yu Gothic" pitchFamily="34" charset="-120"/>
              </a:rPr>
              <a:t>02</a:t>
            </a:r>
            <a:endParaRPr lang="en-US" sz="2250" dirty="0"/>
          </a:p>
        </p:txBody>
      </p:sp>
      <p:sp>
        <p:nvSpPr>
          <p:cNvPr id="11" name="Text 9"/>
          <p:cNvSpPr/>
          <p:nvPr/>
        </p:nvSpPr>
        <p:spPr>
          <a:xfrm>
            <a:off x="1466880" y="3352830"/>
            <a:ext cx="5524530" cy="438180"/>
          </a:xfrm>
          <a:prstGeom prst="rect">
            <a:avLst/>
          </a:prstGeom>
          <a:noFill/>
          <a:ln/>
        </p:spPr>
        <p:txBody>
          <a:bodyPr wrap="square" lIns="0" tIns="0" rIns="0" bIns="0" rtlCol="0" anchor="ctr">
            <a:normAutofit/>
          </a:bodyPr>
          <a:lstStyle/>
          <a:p>
            <a:pPr algn="l" indent="0" marL="0">
              <a:buNone/>
            </a:pPr>
            <a:r>
              <a:rPr lang="en-US" sz="2030" b="1" dirty="0">
                <a:solidFill>
                  <a:srgbClr val="173B36"/>
                </a:solidFill>
                <a:latin typeface="Yu Gothic" pitchFamily="34" charset="0"/>
                <a:ea typeface="Yu Gothic" pitchFamily="34" charset="-122"/>
                <a:cs typeface="Yu Gothic" pitchFamily="34" charset="-120"/>
              </a:rPr>
              <a:t>影響を再評価</a:t>
            </a:r>
            <a:endParaRPr lang="en-US" sz="2030" dirty="0"/>
          </a:p>
        </p:txBody>
      </p:sp>
      <p:sp>
        <p:nvSpPr>
          <p:cNvPr id="12" name="Text 10"/>
          <p:cNvSpPr/>
          <p:nvPr/>
        </p:nvSpPr>
        <p:spPr>
          <a:xfrm>
            <a:off x="723930" y="4133820"/>
            <a:ext cx="552480" cy="419070"/>
          </a:xfrm>
          <a:prstGeom prst="rect">
            <a:avLst/>
          </a:prstGeom>
          <a:noFill/>
          <a:ln/>
        </p:spPr>
        <p:txBody>
          <a:bodyPr wrap="square" lIns="0" tIns="0" rIns="0" bIns="0" rtlCol="0" anchor="ctr">
            <a:normAutofit/>
          </a:bodyPr>
          <a:lstStyle/>
          <a:p>
            <a:pPr algn="l" indent="0" marL="0">
              <a:buNone/>
            </a:pPr>
            <a:r>
              <a:rPr lang="en-US" sz="2250" b="1" dirty="0">
                <a:solidFill>
                  <a:srgbClr val="0A6257"/>
                </a:solidFill>
                <a:latin typeface="Yu Gothic" pitchFamily="34" charset="0"/>
                <a:ea typeface="Yu Gothic" pitchFamily="34" charset="-122"/>
                <a:cs typeface="Yu Gothic" pitchFamily="34" charset="-120"/>
              </a:rPr>
              <a:t>03</a:t>
            </a:r>
            <a:endParaRPr lang="en-US" sz="2250" dirty="0"/>
          </a:p>
        </p:txBody>
      </p:sp>
      <p:sp>
        <p:nvSpPr>
          <p:cNvPr id="13" name="Text 11"/>
          <p:cNvSpPr/>
          <p:nvPr/>
        </p:nvSpPr>
        <p:spPr>
          <a:xfrm>
            <a:off x="1466880" y="4133820"/>
            <a:ext cx="5524530" cy="438180"/>
          </a:xfrm>
          <a:prstGeom prst="rect">
            <a:avLst/>
          </a:prstGeom>
          <a:noFill/>
          <a:ln/>
        </p:spPr>
        <p:txBody>
          <a:bodyPr wrap="square" lIns="0" tIns="0" rIns="0" bIns="0" rtlCol="0" anchor="ctr">
            <a:normAutofit/>
          </a:bodyPr>
          <a:lstStyle/>
          <a:p>
            <a:pPr algn="l" indent="0" marL="0">
              <a:buNone/>
            </a:pPr>
            <a:r>
              <a:rPr lang="en-US" sz="2030" b="1" dirty="0">
                <a:solidFill>
                  <a:srgbClr val="173B36"/>
                </a:solidFill>
                <a:latin typeface="Yu Gothic" pitchFamily="34" charset="0"/>
                <a:ea typeface="Yu Gothic" pitchFamily="34" charset="-122"/>
                <a:cs typeface="Yu Gothic" pitchFamily="34" charset="-120"/>
              </a:rPr>
              <a:t>共有後に再開</a:t>
            </a:r>
            <a:endParaRPr lang="en-US" sz="2030" dirty="0"/>
          </a:p>
        </p:txBody>
      </p:sp>
      <p:pic>
        <p:nvPicPr>
          <p:cNvPr id="14" name="Image 0" descr="変更時の停止を知らせるチワワ">    </p:cNvPr>
          <p:cNvPicPr>
            <a:picLocks noChangeAspect="1"/>
          </p:cNvPicPr>
          <p:nvPr/>
        </p:nvPicPr>
        <p:blipFill>
          <a:blip r:embed="rId1"/>
          <a:srcRect l="0" r="0" t="0" b="0"/>
          <a:stretch/>
        </p:blipFill>
        <p:spPr>
          <a:xfrm>
            <a:off x="7810530" y="2238360"/>
            <a:ext cx="2857500" cy="2857500"/>
          </a:xfrm>
          <a:prstGeom prst="rect">
            <a:avLst/>
          </a:prstGeom>
        </p:spPr>
      </p:pic>
      <p:sp>
        <p:nvSpPr>
          <p:cNvPr id="15" name="Shape 12"/>
          <p:cNvSpPr/>
          <p:nvPr/>
        </p:nvSpPr>
        <p:spPr>
          <a:xfrm>
            <a:off x="723930" y="6096030"/>
            <a:ext cx="10687050" cy="9510"/>
          </a:xfrm>
          <a:prstGeom prst="rect">
            <a:avLst/>
          </a:prstGeom>
          <a:solidFill>
            <a:srgbClr val="BDD4CD"/>
          </a:solidFill>
          <a:ln w="12700">
            <a:solidFill>
              <a:srgbClr val="FFFFFF">
                <a:alpha val="0"/>
              </a:srgbClr>
            </a:solidFill>
            <a:prstDash val="solid"/>
          </a:ln>
        </p:spPr>
      </p:sp>
      <p:sp>
        <p:nvSpPr>
          <p:cNvPr id="16" name="Text 13"/>
          <p:cNvSpPr/>
          <p:nvPr/>
        </p:nvSpPr>
        <p:spPr>
          <a:xfrm>
            <a:off x="723930" y="6162690"/>
            <a:ext cx="7429500" cy="209580"/>
          </a:xfrm>
          <a:prstGeom prst="rect">
            <a:avLst/>
          </a:prstGeom>
          <a:noFill/>
          <a:ln/>
        </p:spPr>
        <p:txBody>
          <a:bodyPr wrap="square" lIns="0" tIns="0" rIns="0" bIns="0" rtlCol="0" anchor="ctr">
            <a:normAutofit/>
          </a:bodyPr>
          <a:lstStyle/>
          <a:p>
            <a:pPr algn="l" indent="0" marL="0">
              <a:buNone/>
            </a:pPr>
            <a:r>
              <a:rPr lang="en-US" sz="980" dirty="0">
                <a:solidFill>
                  <a:srgbClr val="56706B"/>
                </a:solidFill>
                <a:latin typeface="Yu Gothic" pitchFamily="34" charset="0"/>
                <a:ea typeface="Yu Gothic" pitchFamily="34" charset="-122"/>
                <a:cs typeface="Yu Gothic" pitchFamily="34" charset="-120"/>
              </a:rPr>
              <a:t>出典 S4・S3・S1（詳細はノート）</a:t>
            </a:r>
            <a:endParaRPr lang="en-US" sz="980" dirty="0"/>
          </a:p>
        </p:txBody>
      </p:sp>
      <p:sp>
        <p:nvSpPr>
          <p:cNvPr id="17" name="Text 14"/>
          <p:cNvSpPr/>
          <p:nvPr/>
        </p:nvSpPr>
        <p:spPr>
          <a:xfrm>
            <a:off x="10210830" y="6162690"/>
            <a:ext cx="1181130" cy="209580"/>
          </a:xfrm>
          <a:prstGeom prst="rect">
            <a:avLst/>
          </a:prstGeom>
          <a:noFill/>
          <a:ln/>
        </p:spPr>
        <p:txBody>
          <a:bodyPr wrap="square" lIns="0" tIns="0" rIns="0" bIns="0" rtlCol="0" anchor="ctr">
            <a:normAutofit/>
          </a:bodyPr>
          <a:lstStyle/>
          <a:p>
            <a:pPr algn="r" indent="0" marL="0">
              <a:buNone/>
            </a:pPr>
            <a:r>
              <a:rPr lang="en-US" sz="980" b="1" dirty="0">
                <a:solidFill>
                  <a:srgbClr val="0A6257"/>
                </a:solidFill>
                <a:latin typeface="Yu Gothic" pitchFamily="34" charset="0"/>
                <a:ea typeface="Yu Gothic" pitchFamily="34" charset="-122"/>
                <a:cs typeface="Yu Gothic" pitchFamily="34" charset="-120"/>
              </a:rPr>
              <a:t>11 / 12</a:t>
            </a:r>
            <a:endParaRPr lang="en-US" sz="9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3C35"/>
        </a:solidFill>
      </p:bgPr>
    </p:bg>
    <p:spTree>
      <p:nvGrpSpPr>
        <p:cNvPr id="1" name=""/>
        <p:cNvGrpSpPr/>
        <p:nvPr/>
      </p:nvGrpSpPr>
      <p:grpSpPr>
        <a:xfrm>
          <a:off x="0" y="0"/>
          <a:ext cx="0" cy="0"/>
          <a:chOff x="0" y="0"/>
          <a:chExt cx="0" cy="0"/>
        </a:xfrm>
      </p:grpSpPr>
      <p:sp>
        <p:nvSpPr>
          <p:cNvPr id="2" name="Shape 0"/>
          <p:cNvSpPr/>
          <p:nvPr/>
        </p:nvSpPr>
        <p:spPr>
          <a:xfrm>
            <a:off x="0" y="0"/>
            <a:ext cx="209580" cy="6858000"/>
          </a:xfrm>
          <a:prstGeom prst="rect">
            <a:avLst/>
          </a:prstGeom>
          <a:solidFill>
            <a:srgbClr val="F6A234"/>
          </a:solidFill>
          <a:ln w="12700">
            <a:solidFill>
              <a:srgbClr val="FFFFFF">
                <a:alpha val="0"/>
              </a:srgbClr>
            </a:solidFill>
            <a:prstDash val="solid"/>
          </a:ln>
        </p:spPr>
      </p:sp>
      <p:sp>
        <p:nvSpPr>
          <p:cNvPr id="3" name="Text 1"/>
          <p:cNvSpPr/>
          <p:nvPr/>
        </p:nvSpPr>
        <p:spPr>
          <a:xfrm>
            <a:off x="800100" y="571500"/>
            <a:ext cx="4286250" cy="285750"/>
          </a:xfrm>
          <a:prstGeom prst="rect">
            <a:avLst/>
          </a:prstGeom>
          <a:noFill/>
          <a:ln/>
        </p:spPr>
        <p:txBody>
          <a:bodyPr wrap="square" lIns="0" tIns="0" rIns="0" bIns="0" rtlCol="0" anchor="ctr">
            <a:normAutofit/>
          </a:bodyPr>
          <a:lstStyle/>
          <a:p>
            <a:pPr algn="l" indent="0" marL="0">
              <a:buNone/>
            </a:pPr>
            <a:r>
              <a:rPr lang="en-US" sz="1430" b="1" dirty="0">
                <a:solidFill>
                  <a:srgbClr val="A8E8D7"/>
                </a:solidFill>
                <a:latin typeface="Yu Gothic" pitchFamily="34" charset="0"/>
                <a:ea typeface="Yu Gothic" pitchFamily="34" charset="-122"/>
                <a:cs typeface="Yu Gothic" pitchFamily="34" charset="-120"/>
              </a:rPr>
              <a:t>理解確認</a:t>
            </a:r>
            <a:endParaRPr lang="en-US" sz="1430" dirty="0"/>
          </a:p>
        </p:txBody>
      </p:sp>
      <p:sp>
        <p:nvSpPr>
          <p:cNvPr id="4" name="Text 2"/>
          <p:cNvSpPr/>
          <p:nvPr/>
        </p:nvSpPr>
        <p:spPr>
          <a:xfrm>
            <a:off x="800100" y="1066830"/>
            <a:ext cx="8762970" cy="628650"/>
          </a:xfrm>
          <a:prstGeom prst="rect">
            <a:avLst/>
          </a:prstGeom>
          <a:noFill/>
          <a:ln/>
        </p:spPr>
        <p:txBody>
          <a:bodyPr wrap="square" lIns="0" tIns="0" rIns="0" bIns="0" rtlCol="0" anchor="ctr">
            <a:normAutofit/>
          </a:bodyPr>
          <a:lstStyle/>
          <a:p>
            <a:pPr algn="l" indent="0" marL="0">
              <a:buNone/>
            </a:pPr>
            <a:r>
              <a:rPr lang="en-US" sz="3450" b="1" dirty="0">
                <a:solidFill>
                  <a:srgbClr val="FFFFFF"/>
                </a:solidFill>
                <a:latin typeface="Yu Gothic" pitchFamily="34" charset="0"/>
                <a:ea typeface="Yu Gothic" pitchFamily="34" charset="-122"/>
                <a:cs typeface="Yu Gothic" pitchFamily="34" charset="-120"/>
              </a:rPr>
              <a:t>現場で使う5つの確認</a:t>
            </a:r>
            <a:endParaRPr lang="en-US" sz="3450" dirty="0"/>
          </a:p>
        </p:txBody>
      </p:sp>
      <p:sp>
        <p:nvSpPr>
          <p:cNvPr id="5" name="Text 3"/>
          <p:cNvSpPr/>
          <p:nvPr/>
        </p:nvSpPr>
        <p:spPr>
          <a:xfrm>
            <a:off x="857250" y="2143171"/>
            <a:ext cx="552480" cy="400050"/>
          </a:xfrm>
          <a:prstGeom prst="rect">
            <a:avLst/>
          </a:prstGeom>
          <a:noFill/>
          <a:ln/>
        </p:spPr>
        <p:txBody>
          <a:bodyPr wrap="square" lIns="0" tIns="0" rIns="0" bIns="0" rtlCol="0" anchor="ctr">
            <a:normAutofit/>
          </a:bodyPr>
          <a:lstStyle/>
          <a:p>
            <a:pPr algn="l" indent="0" marL="0">
              <a:buNone/>
            </a:pPr>
            <a:r>
              <a:rPr lang="en-US" sz="2180" b="1" dirty="0">
                <a:solidFill>
                  <a:srgbClr val="F6A234"/>
                </a:solidFill>
                <a:latin typeface="Yu Gothic" pitchFamily="34" charset="0"/>
                <a:ea typeface="Yu Gothic" pitchFamily="34" charset="-122"/>
                <a:cs typeface="Yu Gothic" pitchFamily="34" charset="-120"/>
              </a:rPr>
              <a:t>01</a:t>
            </a:r>
            <a:endParaRPr lang="en-US" sz="2180" dirty="0"/>
          </a:p>
        </p:txBody>
      </p:sp>
      <p:sp>
        <p:nvSpPr>
          <p:cNvPr id="6" name="Text 4"/>
          <p:cNvSpPr/>
          <p:nvPr/>
        </p:nvSpPr>
        <p:spPr>
          <a:xfrm>
            <a:off x="1657350" y="2143171"/>
            <a:ext cx="7524780" cy="400050"/>
          </a:xfrm>
          <a:prstGeom prst="rect">
            <a:avLst/>
          </a:prstGeom>
          <a:noFill/>
          <a:ln/>
        </p:spPr>
        <p:txBody>
          <a:bodyPr wrap="square" lIns="0" tIns="0" rIns="0" bIns="0" rtlCol="0" anchor="ctr">
            <a:normAutofit/>
          </a:bodyPr>
          <a:lstStyle/>
          <a:p>
            <a:pPr algn="l" indent="0" marL="0">
              <a:buNone/>
            </a:pPr>
            <a:r>
              <a:rPr lang="en-US" sz="1880" b="1" dirty="0">
                <a:solidFill>
                  <a:srgbClr val="FFFFFF"/>
                </a:solidFill>
                <a:latin typeface="Yu Gothic" pitchFamily="34" charset="0"/>
                <a:ea typeface="Yu Gothic" pitchFamily="34" charset="-122"/>
                <a:cs typeface="Yu Gothic" pitchFamily="34" charset="-120"/>
              </a:rPr>
              <a:t>危険と対策</a:t>
            </a:r>
            <a:endParaRPr lang="en-US" sz="1880" dirty="0"/>
          </a:p>
        </p:txBody>
      </p:sp>
      <p:sp>
        <p:nvSpPr>
          <p:cNvPr id="7" name="Text 5"/>
          <p:cNvSpPr/>
          <p:nvPr/>
        </p:nvSpPr>
        <p:spPr>
          <a:xfrm>
            <a:off x="857250" y="2762220"/>
            <a:ext cx="552480" cy="400050"/>
          </a:xfrm>
          <a:prstGeom prst="rect">
            <a:avLst/>
          </a:prstGeom>
          <a:noFill/>
          <a:ln/>
        </p:spPr>
        <p:txBody>
          <a:bodyPr wrap="square" lIns="0" tIns="0" rIns="0" bIns="0" rtlCol="0" anchor="ctr">
            <a:normAutofit/>
          </a:bodyPr>
          <a:lstStyle/>
          <a:p>
            <a:pPr algn="l" indent="0" marL="0">
              <a:buNone/>
            </a:pPr>
            <a:r>
              <a:rPr lang="en-US" sz="2180" b="1" dirty="0">
                <a:solidFill>
                  <a:srgbClr val="F6A234"/>
                </a:solidFill>
                <a:latin typeface="Yu Gothic" pitchFamily="34" charset="0"/>
                <a:ea typeface="Yu Gothic" pitchFamily="34" charset="-122"/>
                <a:cs typeface="Yu Gothic" pitchFamily="34" charset="-120"/>
              </a:rPr>
              <a:t>02</a:t>
            </a:r>
            <a:endParaRPr lang="en-US" sz="2180" dirty="0"/>
          </a:p>
        </p:txBody>
      </p:sp>
      <p:sp>
        <p:nvSpPr>
          <p:cNvPr id="8" name="Text 6"/>
          <p:cNvSpPr/>
          <p:nvPr/>
        </p:nvSpPr>
        <p:spPr>
          <a:xfrm>
            <a:off x="1657350" y="2762220"/>
            <a:ext cx="7524780" cy="400050"/>
          </a:xfrm>
          <a:prstGeom prst="rect">
            <a:avLst/>
          </a:prstGeom>
          <a:noFill/>
          <a:ln/>
        </p:spPr>
        <p:txBody>
          <a:bodyPr wrap="square" lIns="0" tIns="0" rIns="0" bIns="0" rtlCol="0" anchor="ctr">
            <a:normAutofit/>
          </a:bodyPr>
          <a:lstStyle/>
          <a:p>
            <a:pPr algn="l" indent="0" marL="0">
              <a:buNone/>
            </a:pPr>
            <a:r>
              <a:rPr lang="en-US" sz="1880" b="1" dirty="0">
                <a:solidFill>
                  <a:srgbClr val="FFFFFF"/>
                </a:solidFill>
                <a:latin typeface="Yu Gothic" pitchFamily="34" charset="0"/>
                <a:ea typeface="Yu Gothic" pitchFamily="34" charset="-122"/>
                <a:cs typeface="Yu Gothic" pitchFamily="34" charset="-120"/>
              </a:rPr>
              <a:t>役割と停止条件</a:t>
            </a:r>
            <a:endParaRPr lang="en-US" sz="1880" dirty="0"/>
          </a:p>
        </p:txBody>
      </p:sp>
      <p:sp>
        <p:nvSpPr>
          <p:cNvPr id="9" name="Text 7"/>
          <p:cNvSpPr/>
          <p:nvPr/>
        </p:nvSpPr>
        <p:spPr>
          <a:xfrm>
            <a:off x="857250" y="3381360"/>
            <a:ext cx="552480" cy="400050"/>
          </a:xfrm>
          <a:prstGeom prst="rect">
            <a:avLst/>
          </a:prstGeom>
          <a:noFill/>
          <a:ln/>
        </p:spPr>
        <p:txBody>
          <a:bodyPr wrap="square" lIns="0" tIns="0" rIns="0" bIns="0" rtlCol="0" anchor="ctr">
            <a:normAutofit/>
          </a:bodyPr>
          <a:lstStyle/>
          <a:p>
            <a:pPr algn="l" indent="0" marL="0">
              <a:buNone/>
            </a:pPr>
            <a:r>
              <a:rPr lang="en-US" sz="2180" b="1" dirty="0">
                <a:solidFill>
                  <a:srgbClr val="F6A234"/>
                </a:solidFill>
                <a:latin typeface="Yu Gothic" pitchFamily="34" charset="0"/>
                <a:ea typeface="Yu Gothic" pitchFamily="34" charset="-122"/>
                <a:cs typeface="Yu Gothic" pitchFamily="34" charset="-120"/>
              </a:rPr>
              <a:t>03</a:t>
            </a:r>
            <a:endParaRPr lang="en-US" sz="2180" dirty="0"/>
          </a:p>
        </p:txBody>
      </p:sp>
      <p:sp>
        <p:nvSpPr>
          <p:cNvPr id="10" name="Text 8"/>
          <p:cNvSpPr/>
          <p:nvPr/>
        </p:nvSpPr>
        <p:spPr>
          <a:xfrm>
            <a:off x="1657350" y="3381360"/>
            <a:ext cx="7524780" cy="400050"/>
          </a:xfrm>
          <a:prstGeom prst="rect">
            <a:avLst/>
          </a:prstGeom>
          <a:noFill/>
          <a:ln/>
        </p:spPr>
        <p:txBody>
          <a:bodyPr wrap="square" lIns="0" tIns="0" rIns="0" bIns="0" rtlCol="0" anchor="ctr">
            <a:normAutofit/>
          </a:bodyPr>
          <a:lstStyle/>
          <a:p>
            <a:pPr algn="l" indent="0" marL="0">
              <a:buNone/>
            </a:pPr>
            <a:r>
              <a:rPr lang="en-US" sz="1880" b="1" dirty="0">
                <a:solidFill>
                  <a:srgbClr val="FFFFFF"/>
                </a:solidFill>
                <a:latin typeface="Yu Gothic" pitchFamily="34" charset="0"/>
                <a:ea typeface="Yu Gothic" pitchFamily="34" charset="-122"/>
                <a:cs typeface="Yu Gothic" pitchFamily="34" charset="-120"/>
              </a:rPr>
              <a:t>連絡先</a:t>
            </a:r>
            <a:endParaRPr lang="en-US" sz="1880" dirty="0"/>
          </a:p>
        </p:txBody>
      </p:sp>
      <p:sp>
        <p:nvSpPr>
          <p:cNvPr id="11" name="Text 9"/>
          <p:cNvSpPr/>
          <p:nvPr/>
        </p:nvSpPr>
        <p:spPr>
          <a:xfrm>
            <a:off x="819120" y="4953030"/>
            <a:ext cx="7239030" cy="666780"/>
          </a:xfrm>
          <a:prstGeom prst="rect">
            <a:avLst/>
          </a:prstGeom>
          <a:noFill/>
          <a:ln/>
        </p:spPr>
        <p:txBody>
          <a:bodyPr wrap="square" lIns="0" tIns="0" rIns="0" bIns="0" rtlCol="0" anchor="ctr">
            <a:normAutofit/>
          </a:bodyPr>
          <a:lstStyle/>
          <a:p>
            <a:pPr algn="l" indent="0" marL="0">
              <a:buNone/>
            </a:pPr>
            <a:r>
              <a:rPr lang="en-US" sz="1950" b="1" dirty="0">
                <a:solidFill>
                  <a:srgbClr val="D9FAEE"/>
                </a:solidFill>
                <a:latin typeface="Yu Gothic" pitchFamily="34" charset="0"/>
                <a:ea typeface="Yu Gothic" pitchFamily="34" charset="-122"/>
                <a:cs typeface="Yu Gothic" pitchFamily="34" charset="-120"/>
              </a:rPr>
              <a:t>5つの確認を自分の言葉で説明</a:t>
            </a:r>
            <a:endParaRPr lang="en-US" sz="1950" dirty="0"/>
          </a:p>
        </p:txBody>
      </p:sp>
      <p:pic>
        <p:nvPicPr>
          <p:cNvPr id="12" name="Image 0" descr="5つの確認を終えたチワワ">    </p:cNvPr>
          <p:cNvPicPr>
            <a:picLocks noChangeAspect="1"/>
          </p:cNvPicPr>
          <p:nvPr/>
        </p:nvPicPr>
        <p:blipFill>
          <a:blip r:embed="rId1"/>
          <a:srcRect l="-1779" r="-1779" t="0" b="0"/>
          <a:stretch/>
        </p:blipFill>
        <p:spPr>
          <a:xfrm>
            <a:off x="8667780" y="2476470"/>
            <a:ext cx="2476470" cy="2476470"/>
          </a:xfrm>
          <a:prstGeom prst="rect">
            <a:avLst/>
          </a:prstGeom>
        </p:spPr>
      </p:pic>
      <p:sp>
        <p:nvSpPr>
          <p:cNvPr id="13" name="Text 10"/>
          <p:cNvSpPr/>
          <p:nvPr/>
        </p:nvSpPr>
        <p:spPr>
          <a:xfrm>
            <a:off x="10287000" y="6267480"/>
            <a:ext cx="1123980" cy="238110"/>
          </a:xfrm>
          <a:prstGeom prst="rect">
            <a:avLst/>
          </a:prstGeom>
          <a:noFill/>
          <a:ln/>
        </p:spPr>
        <p:txBody>
          <a:bodyPr wrap="square" lIns="0" tIns="0" rIns="0" bIns="0" rtlCol="0" anchor="ctr">
            <a:normAutofit/>
          </a:bodyPr>
          <a:lstStyle/>
          <a:p>
            <a:pPr algn="r" indent="0" marL="0">
              <a:buNone/>
            </a:pPr>
            <a:r>
              <a:rPr lang="en-US" sz="1050" b="1" dirty="0">
                <a:solidFill>
                  <a:srgbClr val="BFE6DA"/>
                </a:solidFill>
                <a:latin typeface="Yu Gothic" pitchFamily="34" charset="0"/>
                <a:ea typeface="Yu Gothic" pitchFamily="34" charset="-122"/>
                <a:cs typeface="Yu Gothic" pitchFamily="34" charset="-120"/>
              </a:rPr>
              <a:t>12 / 12</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安全AIポータル編集部</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安全管理の基本と安衛法｜安全AIポータル</dc:title>
  <dc:subject>法令を、災害を起こさない毎日の行動につなげる｜労働安全コンサルタント監修</dc:subject>
  <dc:creator>安全AIポータル編集部</dc:creator>
  <cp:lastModifiedBy>安全AIポータル編集部</cp:lastModifiedBy>
  <cp:revision>1</cp:revision>
  <dcterms:created xsi:type="dcterms:W3CDTF">2026-09-23T18:11:10Z</dcterms:created>
  <dcterms:modified xsi:type="dcterms:W3CDTF">2026-09-23T18:11:10Z</dcterms:modified>
</cp:coreProperties>
</file>