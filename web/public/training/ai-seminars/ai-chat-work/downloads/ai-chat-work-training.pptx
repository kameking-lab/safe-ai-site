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dd81da37504b1e" /><Relationship Type="http://schemas.openxmlformats.org/officeDocument/2006/relationships/extended-properties" Target="/docProps/app.xml" Id="R8357669e3b954f40" /><Relationship Type="http://schemas.openxmlformats.org/officeDocument/2006/relationships/officeDocument" Target="/ppt/presentation.xml" Id="Reee7797db4cc435e" /></Relationships>
</file>

<file path=ppt/presentation.xml><?xml version="1.0" encoding="utf-8"?>
<p:presentation xmlns:p="http://schemas.openxmlformats.org/presentationml/2006/main">
  <p:sldMasterIdLst>
    <p:sldMasterId xmlns:r="http://schemas.openxmlformats.org/officeDocument/2006/relationships" id="2147483648" r:id="R00090891856d43d1"/>
  </p:sldMasterIdLst>
  <p:notesMasterIdLst>
    <p:notesMasterId xmlns:r="http://schemas.openxmlformats.org/officeDocument/2006/relationships" r:id="R0958210aabb1458c"/>
  </p:notesMasterIdLst>
  <p:sldIdLst>
    <p:sldId xmlns:r="http://schemas.openxmlformats.org/officeDocument/2006/relationships" id="256" r:id="R12b96591a2204d7f"/>
    <p:sldId xmlns:r="http://schemas.openxmlformats.org/officeDocument/2006/relationships" id="257" r:id="R923a3e9818a844c6"/>
    <p:sldId xmlns:r="http://schemas.openxmlformats.org/officeDocument/2006/relationships" id="258" r:id="R9875c1d733e24bcf"/>
    <p:sldId xmlns:r="http://schemas.openxmlformats.org/officeDocument/2006/relationships" id="259" r:id="Rbddea4b1102a4001"/>
    <p:sldId xmlns:r="http://schemas.openxmlformats.org/officeDocument/2006/relationships" id="260" r:id="R44417cf831994119"/>
    <p:sldId xmlns:r="http://schemas.openxmlformats.org/officeDocument/2006/relationships" id="261" r:id="R877a58f5fbb24c95"/>
    <p:sldId xmlns:r="http://schemas.openxmlformats.org/officeDocument/2006/relationships" id="262" r:id="R389df87d470e4018"/>
    <p:sldId xmlns:r="http://schemas.openxmlformats.org/officeDocument/2006/relationships" id="263" r:id="R9dfe740e4358473b"/>
    <p:sldId xmlns:r="http://schemas.openxmlformats.org/officeDocument/2006/relationships" id="264" r:id="R417d30567a8544bf"/>
    <p:sldId xmlns:r="http://schemas.openxmlformats.org/officeDocument/2006/relationships" id="265" r:id="R4d4c290b55054916"/>
    <p:sldId xmlns:r="http://schemas.openxmlformats.org/officeDocument/2006/relationships" id="266" r:id="R744a1f36f0814014"/>
    <p:sldId xmlns:r="http://schemas.openxmlformats.org/officeDocument/2006/relationships" id="267" r:id="R9626c0e545704233"/>
    <p:sldId xmlns:r="http://schemas.openxmlformats.org/officeDocument/2006/relationships" id="268" r:id="Rec2b44e118a446e3"/>
    <p:sldId xmlns:r="http://schemas.openxmlformats.org/officeDocument/2006/relationships" id="269" r:id="R958116d7c337479d"/>
    <p:sldId xmlns:r="http://schemas.openxmlformats.org/officeDocument/2006/relationships" id="270" r:id="Rb4ab7ad1b449471a"/>
    <p:sldId xmlns:r="http://schemas.openxmlformats.org/officeDocument/2006/relationships" id="271" r:id="Rf8179ba14d5d4955"/>
    <p:sldId xmlns:r="http://schemas.openxmlformats.org/officeDocument/2006/relationships" id="272" r:id="Re6a154dc5cf84b39"/>
    <p:sldId xmlns:r="http://schemas.openxmlformats.org/officeDocument/2006/relationships" id="273" r:id="R3c97e3b5909745ef"/>
    <p:sldId xmlns:r="http://schemas.openxmlformats.org/officeDocument/2006/relationships" id="274" r:id="Re40cbcb3d36e44bc"/>
    <p:sldId xmlns:r="http://schemas.openxmlformats.org/officeDocument/2006/relationships" id="275" r:id="R66e31dbac38a46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c4ca0ad2974535" /><Relationship Type="http://schemas.openxmlformats.org/officeDocument/2006/relationships/slideMaster" Target="/ppt/slideMasters/slideMaster1.xml" Id="R00090891856d43d1" /><Relationship Type="http://schemas.openxmlformats.org/officeDocument/2006/relationships/notesMaster" Target="/ppt/notesMasters/notesMaster1.xml" Id="R0958210aabb1458c" /><Relationship Type="http://schemas.openxmlformats.org/officeDocument/2006/relationships/presProps" Target="/ppt/presProps.xml" Id="Ref74fa6bc5544512" /><Relationship Type="http://schemas.openxmlformats.org/officeDocument/2006/relationships/tableStyles" Target="/ppt/tableStyles.xml" Id="R6f3c739a3fda43ca" /><Relationship Type="http://schemas.openxmlformats.org/officeDocument/2006/relationships/slide" Target="/ppt/slides/slide1.xml" Id="R12b96591a2204d7f" /><Relationship Type="http://schemas.openxmlformats.org/officeDocument/2006/relationships/slide" Target="/ppt/slides/slide2.xml" Id="R923a3e9818a844c6" /><Relationship Type="http://schemas.openxmlformats.org/officeDocument/2006/relationships/slide" Target="/ppt/slides/slide3.xml" Id="R9875c1d733e24bcf" /><Relationship Type="http://schemas.openxmlformats.org/officeDocument/2006/relationships/slide" Target="/ppt/slides/slide4.xml" Id="Rbddea4b1102a4001" /><Relationship Type="http://schemas.openxmlformats.org/officeDocument/2006/relationships/slide" Target="/ppt/slides/slide5.xml" Id="R44417cf831994119" /><Relationship Type="http://schemas.openxmlformats.org/officeDocument/2006/relationships/slide" Target="/ppt/slides/slide6.xml" Id="R877a58f5fbb24c95" /><Relationship Type="http://schemas.openxmlformats.org/officeDocument/2006/relationships/slide" Target="/ppt/slides/slide7.xml" Id="R389df87d470e4018" /><Relationship Type="http://schemas.openxmlformats.org/officeDocument/2006/relationships/slide" Target="/ppt/slides/slide8.xml" Id="R9dfe740e4358473b" /><Relationship Type="http://schemas.openxmlformats.org/officeDocument/2006/relationships/slide" Target="/ppt/slides/slide9.xml" Id="R417d30567a8544bf" /><Relationship Type="http://schemas.openxmlformats.org/officeDocument/2006/relationships/slide" Target="/ppt/slides/slide10.xml" Id="R4d4c290b55054916" /><Relationship Type="http://schemas.openxmlformats.org/officeDocument/2006/relationships/slide" Target="/ppt/slides/slide11.xml" Id="R744a1f36f0814014" /><Relationship Type="http://schemas.openxmlformats.org/officeDocument/2006/relationships/slide" Target="/ppt/slides/slide12.xml" Id="R9626c0e545704233" /><Relationship Type="http://schemas.openxmlformats.org/officeDocument/2006/relationships/slide" Target="/ppt/slides/slide13.xml" Id="Rec2b44e118a446e3" /><Relationship Type="http://schemas.openxmlformats.org/officeDocument/2006/relationships/slide" Target="/ppt/slides/slide14.xml" Id="R958116d7c337479d" /><Relationship Type="http://schemas.openxmlformats.org/officeDocument/2006/relationships/slide" Target="/ppt/slides/slide15.xml" Id="Rb4ab7ad1b449471a" /><Relationship Type="http://schemas.openxmlformats.org/officeDocument/2006/relationships/slide" Target="/ppt/slides/slide16.xml" Id="Rf8179ba14d5d4955" /><Relationship Type="http://schemas.openxmlformats.org/officeDocument/2006/relationships/slide" Target="/ppt/slides/slide17.xml" Id="Re6a154dc5cf84b39" /><Relationship Type="http://schemas.openxmlformats.org/officeDocument/2006/relationships/slide" Target="/ppt/slides/slide18.xml" Id="R3c97e3b5909745ef" /><Relationship Type="http://schemas.openxmlformats.org/officeDocument/2006/relationships/slide" Target="/ppt/slides/slide19.xml" Id="Re40cbcb3d36e44bc" /><Relationship Type="http://schemas.openxmlformats.org/officeDocument/2006/relationships/slide" Target="/ppt/slides/slide20.xml" Id="R66e31dbac38a46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2decda04a84e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287d39082e4130" /><Relationship Type="http://schemas.openxmlformats.org/officeDocument/2006/relationships/notesMaster" Target="/ppt/notesMasters/notesMaster1.xml" Id="Rfaf6899100d243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9d6f2d67364fb7" /><Relationship Type="http://schemas.openxmlformats.org/officeDocument/2006/relationships/notesMaster" Target="/ppt/notesMasters/notesMaster1.xml" Id="Raf2870ab7ef641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45646205d34797" /><Relationship Type="http://schemas.openxmlformats.org/officeDocument/2006/relationships/notesMaster" Target="/ppt/notesMasters/notesMaster1.xml" Id="R89dfb69caeef41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56723733c74afe" /><Relationship Type="http://schemas.openxmlformats.org/officeDocument/2006/relationships/notesMaster" Target="/ppt/notesMasters/notesMaster1.xml" Id="Rf2fa922b0abd45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05ccb230b54090" /><Relationship Type="http://schemas.openxmlformats.org/officeDocument/2006/relationships/notesMaster" Target="/ppt/notesMasters/notesMaster1.xml" Id="R40da919fba9847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e2ae32d70d4ad5" /><Relationship Type="http://schemas.openxmlformats.org/officeDocument/2006/relationships/notesMaster" Target="/ppt/notesMasters/notesMaster1.xml" Id="R04a9cf04081646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3a551e6c1e46ef" /><Relationship Type="http://schemas.openxmlformats.org/officeDocument/2006/relationships/notesMaster" Target="/ppt/notesMasters/notesMaster1.xml" Id="R1d3c674b4ab143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e185444bcd4afb" /><Relationship Type="http://schemas.openxmlformats.org/officeDocument/2006/relationships/notesMaster" Target="/ppt/notesMasters/notesMaster1.xml" Id="R1e8c5734705b4e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4a1c431f0b49dd" /><Relationship Type="http://schemas.openxmlformats.org/officeDocument/2006/relationships/notesMaster" Target="/ppt/notesMasters/notesMaster1.xml" Id="R0ee784a73d2641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9ee467b265424b" /><Relationship Type="http://schemas.openxmlformats.org/officeDocument/2006/relationships/notesMaster" Target="/ppt/notesMasters/notesMaster1.xml" Id="R55a794bf021442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690ff64cad4b43" /><Relationship Type="http://schemas.openxmlformats.org/officeDocument/2006/relationships/notesMaster" Target="/ppt/notesMasters/notesMaster1.xml" Id="R6c87c37961214b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833bcfcfe5468d" /><Relationship Type="http://schemas.openxmlformats.org/officeDocument/2006/relationships/notesMaster" Target="/ppt/notesMasters/notesMaster1.xml" Id="Raf3947a041954d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6da235bd204b69" /><Relationship Type="http://schemas.openxmlformats.org/officeDocument/2006/relationships/notesMaster" Target="/ppt/notesMasters/notesMaster1.xml" Id="Rde3197dc0cf245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60d60b69cf4441" /><Relationship Type="http://schemas.openxmlformats.org/officeDocument/2006/relationships/notesMaster" Target="/ppt/notesMasters/notesMaster1.xml" Id="R6dd4b8789bc047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eb012481674a25" /><Relationship Type="http://schemas.openxmlformats.org/officeDocument/2006/relationships/notesMaster" Target="/ppt/notesMasters/notesMaster1.xml" Id="R5dff59b9c0614d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133bdb7b354eee" /><Relationship Type="http://schemas.openxmlformats.org/officeDocument/2006/relationships/notesMaster" Target="/ppt/notesMasters/notesMaster1.xml" Id="R0a392c5fbd1c44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c9b1426edd4710" /><Relationship Type="http://schemas.openxmlformats.org/officeDocument/2006/relationships/notesMaster" Target="/ppt/notesMasters/notesMaster1.xml" Id="R3917b805c52149c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d50a3fb89445e9" /><Relationship Type="http://schemas.openxmlformats.org/officeDocument/2006/relationships/notesMaster" Target="/ppt/notesMasters/notesMaster1.xml" Id="R79504796e2d947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809c8809564ece" /><Relationship Type="http://schemas.openxmlformats.org/officeDocument/2006/relationships/notesMaster" Target="/ppt/notesMasters/notesMaster1.xml" Id="R431baabd461242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c40162e72c415b" /><Relationship Type="http://schemas.openxmlformats.org/officeDocument/2006/relationships/notesMaster" Target="/ppt/notesMasters/notesMaster1.xml" Id="R75ab2bc004c94a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この研修では、AIの仕組みを長く説明するのではなく、明日そのまま試せる五つの仕事を扱います。一つ目は会議延期メール、二つ目は巡回メモから報告書、三つ目は一次資料を探す調査、四つ目は社内案内のレビュー、五つ目は顧客情報を貼らない依頼への書換えです。各ケースでは、業務場面、悪い依頼、改善した具体的プロンプト、架空の短い出力例、人が確認する点を同じ順番で見ます。表示例はすべて架空で、AIが正しく答えた証拠ではありません。自分の仕事で使うときは、実在情報をそのまま入れず、会社で承認された環境とルールを先に確認します。製品ごとのボタンや画面は扱いません。チャット欄へ何を書くか、出力のどこを疑うか、どの原資料や社内担当へ戻すかに集中します。今日は『良いプロンプトを覚える』ことより、AIへ任せる工程と人が確定する工程を一件ごとに分けることを目標にしてください。手元の配布資料には五つのコピー用プロンプトがあります。研修中は、自分の業務へ置き換える語句と、利用前に確認する資料名を余白へ書き込んでください。各ケースの最後には、自分の会社で確認する担当部署も一つ書きます。</a:t>
            </a:r>
          </a:p>
          <a:p xmlns:a="http://schemas.openxmlformats.org/drawingml/2006/main">
            <a:r>
              <a:t/>
            </a:r>
          </a:p>
          <a:p xmlns:a="http://schemas.openxmlformats.org/drawingml/2006/main">
            <a:r>
              <a:t>講師補足</a:t>
            </a:r>
          </a:p>
          <a:p xmlns:a="http://schemas.openxmlformats.org/drawingml/2006/main">
            <a:r>
              <a:t>- 参加者へ、今日使いたい業務を一つメモしてもらう。</a:t>
            </a:r>
          </a:p>
          <a:p xmlns:a="http://schemas.openxmlformats.org/drawingml/2006/main">
            <a:r>
              <a:t>- ケースの会社名・氏名・数値はすべて架空で、AI回答例は事実ではないと明言する。</a:t>
            </a:r>
          </a:p>
          <a:p xmlns:a="http://schemas.openxmlformats.org/drawingml/2006/main">
            <a:r>
              <a:t/>
            </a:r>
          </a:p>
          <a:p xmlns:a="http://schemas.openxmlformats.org/drawingml/2006/main">
            <a:r>
              <a:t>主張ID</a:t>
            </a:r>
          </a:p>
          <a:p xmlns:a="http://schemas.openxmlformats.org/drawingml/2006/main">
            <a:r>
              <a:t>外部事実主張なし</a:t>
            </a:r>
          </a:p>
          <a:p xmlns:a="http://schemas.openxmlformats.org/drawingml/2006/main">
            <a:r>
              <a:t/>
            </a:r>
          </a:p>
          <a:p xmlns:a="http://schemas.openxmlformats.org/drawingml/2006/main">
            <a:r>
              <a:t>[Sources]</a:t>
            </a:r>
          </a:p>
          <a:p xmlns:a="http://schemas.openxmlformats.org/drawingml/2006/main">
            <a:r>
              <a:t>- 教材内の架空例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五つのケースでは、書く、比べる、確定する、の三動作を繰り返します。書くときは、AIへ任せる工程、使ってよい材料、欲しい完成形、作ってはいけない情報を明記します。例えば『メールを書いて』ではなく、『延期が確定した会議の案内文を、件名と本文で百八十字以内。不明な代替日は要確認と表示』まで書きます。比べるときは、出力を入力した事実と一行ずつ照合します。新しい日時、原因、責任者、引用、数字が勝手に加わっていないかを見ます。確定するときは、担当者が原メール、巡回メモ、公式文書、社内規程へ戻り、修正と承認を行います。OpenAI、Anthropic、Googleの公式資料はいずれも、目的や背景、制約、形式を明確にする考え方を示していますが、詳しい依頼を書けば正解になるとは示していません。したがって、本研修では出力の採用条件まで先に決めます。AIの回答欄が完成品に見えても、送信、公開、発注、判断の操作は通常の業務手順へ戻してください。実務では、入力、AI出力、人が確定した内容の三列を一枚に並べます。差がある行を確認し、原資料と確認者を記録してから次の工程へ進めます。</a:t>
            </a:r>
          </a:p>
          <a:p xmlns:a="http://schemas.openxmlformats.org/drawingml/2006/main">
            <a:r>
              <a:t/>
            </a:r>
          </a:p>
          <a:p xmlns:a="http://schemas.openxmlformats.org/drawingml/2006/main">
            <a:r>
              <a:t>講師補足</a:t>
            </a:r>
          </a:p>
          <a:p xmlns:a="http://schemas.openxmlformats.org/drawingml/2006/main">
            <a:r>
              <a:t>- 三つの動作をケースごとに指差して戻る。</a:t>
            </a:r>
          </a:p>
          <a:p xmlns:a="http://schemas.openxmlformats.org/drawingml/2006/main">
            <a:r>
              <a:t>- 『良いプロンプト＝正解』ではなく、確認しやすい下書きを得る手順だと説明する。</a:t>
            </a:r>
          </a:p>
          <a:p xmlns:a="http://schemas.openxmlformats.org/drawingml/2006/main">
            <a:r>
              <a:t/>
            </a:r>
          </a:p>
          <a:p xmlns:a="http://schemas.openxmlformats.org/drawingml/2006/main">
            <a:r>
              <a:t>主張ID</a:t>
            </a:r>
          </a:p>
          <a:p xmlns:a="http://schemas.openxmlformats.org/drawingml/2006/main">
            <a:r>
              <a:t>CLM-AI-001, CLM-AI-002, CLM-AI-003, CLM-AI-008</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AIへ仕事を丸ごと渡さず、一つの工程へ切り分けます。メールなら、件名と本文の下書きまでにします。宛先の選択、実際の日時、添付、送信は人が行います。報告書なら、渡したメモを観察事実、未確認、提案へ整理するところまでです。原因の認定、是正の決定、責任者と期限の設定は現場側に残します。調査なら、発行主体を指定して一次資料候補と確認順を整理するところまでです。法令や公的資料の意味を確定する作業は、公式本文と担当部署へ戻します。レビューなら、読み手が迷う箇所と理由の候補までです。修正案の採否は原文責任者が決めます。個人情報や機密が関係する仕事では、元データを貼る前に、実情報なしで一般文の型だけ作れないか考えます。会社で許可されたサービス、アカウント、設定、利用目的の確認も必要です。対外送信、数値や法令の確定、人事・安全・法務上の判断、承認は人に残します。この切分けを依頼文の最初に書くと、AIが出した文章のどこまでを確認すべきかが明確になります。迷う仕事は、AIへ渡す前に『下書きまで』『候補整理まで』『指摘まで』のいずれかを書き、最終決定者を氏名または役割で指定してください。決定者が不明なら、AI利用を始める前に上司へ確認します。</a:t>
            </a:r>
          </a:p>
          <a:p xmlns:a="http://schemas.openxmlformats.org/drawingml/2006/main">
            <a:r>
              <a:t/>
            </a:r>
          </a:p>
          <a:p xmlns:a="http://schemas.openxmlformats.org/drawingml/2006/main">
            <a:r>
              <a:t>講師補足</a:t>
            </a:r>
          </a:p>
          <a:p xmlns:a="http://schemas.openxmlformats.org/drawingml/2006/main">
            <a:r>
              <a:t>- 参加者の業務を『AIへ任せる工程』と『人が残す工程』へ分ける。</a:t>
            </a:r>
          </a:p>
          <a:p xmlns:a="http://schemas.openxmlformats.org/drawingml/2006/main">
            <a:r>
              <a:t>- 自社ルールが全面禁止としている業務は、教材例より自社ルールを優先する。</a:t>
            </a:r>
          </a:p>
          <a:p xmlns:a="http://schemas.openxmlformats.org/drawingml/2006/main">
            <a:r>
              <a:t/>
            </a:r>
          </a:p>
          <a:p xmlns:a="http://schemas.openxmlformats.org/drawingml/2006/main">
            <a:r>
              <a:t>主張ID</a:t>
            </a:r>
          </a:p>
          <a:p xmlns:a="http://schemas.openxmlformats.org/drawingml/2006/main">
            <a:r>
              <a:t>CLM-AI-001, CLM-AI-008, CLM-AI-017</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改善した依頼は、目的、材料、完成形、条件の四行から始めます。一行目の目的には、『取引先へ会議延期を伝えるメールの下書き』のように、誰が何に使うかを書きます。二行目の材料には、『九月三日十時は確定、理由の表現は社内都合、代替日は未定』のように、使ってよい事実と未定事項を分けます。三行目の完成形には、『件名と本文、百八十字以内』のように、担当者が確認しやすい形を指定します。四行目の条件には、『入力にない日付や事情を作らず、未定は要確認と表示し、送信前の確認点を三つ示す』と書きます。情報が足りなければ、回答を作る前に質問してください、と加えられます。長い決まり文句は不要です。自社帳票があるなら、その見出しを完成形として列挙してください。この四行は本教材で仕事を整理するひな型で、正しさを保証する公式ではありません。次からは、悪い依頼のどこが不足し、どの一文を足すと人が確認しやすくなるかを、実際の文章で見ていきます。まず四行を書き、第三者が読んで材料と未定を区別できるか確認します。区別できなければ、AIへ送る前に材料欄を確定と未定の二行へ分けてください。</a:t>
            </a:r>
          </a:p>
          <a:p xmlns:a="http://schemas.openxmlformats.org/drawingml/2006/main">
            <a:r>
              <a:t/>
            </a:r>
          </a:p>
          <a:p xmlns:a="http://schemas.openxmlformats.org/drawingml/2006/main">
            <a:r>
              <a:t>講師補足</a:t>
            </a:r>
          </a:p>
          <a:p xmlns:a="http://schemas.openxmlformats.org/drawingml/2006/main">
            <a:r>
              <a:t>- 四要素の名称より、四行を実際に書けることを優先する。</a:t>
            </a:r>
          </a:p>
          <a:p xmlns:a="http://schemas.openxmlformats.org/drawingml/2006/main">
            <a:r>
              <a:t>- 自社帳票がある場合は、完成形へ帳票の見出しを入れる例を示す。</a:t>
            </a:r>
          </a:p>
          <a:p xmlns:a="http://schemas.openxmlformats.org/drawingml/2006/main">
            <a:r>
              <a:t/>
            </a:r>
          </a:p>
          <a:p xmlns:a="http://schemas.openxmlformats.org/drawingml/2006/main">
            <a:r>
              <a:t>主張ID</a:t>
            </a:r>
          </a:p>
          <a:p xmlns:a="http://schemas.openxmlformats.org/drawingml/2006/main">
            <a:r>
              <a:t>CLM-AI-002, CLM-AI-003, CLM-AI-004</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最初は会議延期メールです。悪い依頼は『会議が変わった。取引先へ丁寧なメールを書いて』です。相手、元の日時、延期が確定したか、理由、代替日、長さがありません。AIが自然な文章を作るために、存在しない日付や事情を補っても気づきにくい依頼です。改善例を、そのまま読んでみます。『架空の取引先へ、九月三日十時の会議を延期するメールの下書きを作成してください。理由は社内都合、代替日は未定です。件名と本文を百八十字以内にし、不足情報は作らず要確認と表示してください。末尾に送信前の確認点を三つ示してください。』ここでは、実名やメールアドレスを使わず、確定した事実と未定事項を分けています。出力例の『代替日は要確認』は消し忘れではなく、人へ返す印です。回答が出たら、宛先、元の日時、延期理由の表現、代替日の確定状況を予定表と受信メールへ照合します。相手への送信やカレンダー変更はAIへ任せず、通常の承認手順で行います。自社で承認された環境でも、実名を入れる必要があるかを考え、一般文の型だけ作って業務画面で宛先を入れる方法を優先してください。明日使うときは、九月三日、社内都合、百八十字の三箇所だけを自分の案件へ置き換え、未定事項を要確認として残してください。AIへ事実を考えさせる欄は作りません。</a:t>
            </a:r>
          </a:p>
          <a:p xmlns:a="http://schemas.openxmlformats.org/drawingml/2006/main">
            <a:r>
              <a:t/>
            </a:r>
          </a:p>
          <a:p xmlns:a="http://schemas.openxmlformats.org/drawingml/2006/main">
            <a:r>
              <a:t>講師補足</a:t>
            </a:r>
          </a:p>
          <a:p xmlns:a="http://schemas.openxmlformats.org/drawingml/2006/main">
            <a:r>
              <a:t>- 悪い依頼でAIが推測しなければならない箇所を参加者に挙げてもらう。</a:t>
            </a:r>
          </a:p>
          <a:p xmlns:a="http://schemas.openxmlformats.org/drawingml/2006/main">
            <a:r>
              <a:t>- 改善プロンプトはコピーして日時・目的・長さを自分の業務へ置き換えられると伝える。</a:t>
            </a:r>
          </a:p>
          <a:p xmlns:a="http://schemas.openxmlformats.org/drawingml/2006/main">
            <a:r>
              <a:t/>
            </a:r>
          </a:p>
          <a:p xmlns:a="http://schemas.openxmlformats.org/drawingml/2006/main">
            <a:r>
              <a:t>主張ID</a:t>
            </a:r>
          </a:p>
          <a:p xmlns:a="http://schemas.openxmlformats.org/drawingml/2006/main">
            <a:r>
              <a:t>CLM-AI-001, CLM-AI-002, CLM-AI-003</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架空の出力例は、『九月三日の会議につきまして、弊社都合により延期をお願い申し上げます。代替日は要確認です』という形です。文章が丁寧でも、確認は五つあります。第一に、九月三日十時という日時と会議名が予定表や元の依頼メールと一致するか。第二に、『弊社都合』が社内で承認された理由の表現か。第三に、代替日や追加の事情をAIが勝手に入れていないか。第四に、相手が次に何をすればよいか、返信が必要か待てばよいかが分かるか。第五に、宛先、敬称、署名、連絡先、添付を送信者が入れたかです。要確認の表示が残っていたら、その箇所をAIに埋めさせず、予定表や担当者へ戻って確定します。確認後は、要確認を正しい情報へ置き換え、もう一度全文を読みます。AIの出力と元情報を並べ、日付、相手、理由、依頼事項へ印を付けると見落としを減らせます。直接送信機能がある製品でも、本研修では使いません。送信前確認と承認を含む会社の通常手順へ戻してください。確認表へは、原情報、AI出力、確定値の三列を作ると実務で使えます。差がある行だけを修正し、確認者名と送信時刻を通常の記録へ残します。最後に声に出して読み、相手へ求める行動と回答期限が本当に必要かを確認します。不要ならAIが追加した依頼文を削除してください。</a:t>
            </a:r>
          </a:p>
          <a:p xmlns:a="http://schemas.openxmlformats.org/drawingml/2006/main">
            <a:r>
              <a:t/>
            </a:r>
          </a:p>
          <a:p xmlns:a="http://schemas.openxmlformats.org/drawingml/2006/main">
            <a:r>
              <a:t>講師補足</a:t>
            </a:r>
          </a:p>
          <a:p xmlns:a="http://schemas.openxmlformats.org/drawingml/2006/main">
            <a:r>
              <a:t>- 出力例の［要確認］を消すために、どの原情報が必要かを聞く。</a:t>
            </a:r>
          </a:p>
          <a:p xmlns:a="http://schemas.openxmlformats.org/drawingml/2006/main">
            <a:r>
              <a:t>- AI画面から直接送信する運用は扱わず、通常の承認・送信手順へ戻す。</a:t>
            </a:r>
          </a:p>
          <a:p xmlns:a="http://schemas.openxmlformats.org/drawingml/2006/main">
            <a:r>
              <a:t/>
            </a:r>
          </a:p>
          <a:p xmlns:a="http://schemas.openxmlformats.org/drawingml/2006/main">
            <a:r>
              <a:t>主張ID</a:t>
            </a:r>
          </a:p>
          <a:p xmlns:a="http://schemas.openxmlformats.org/drawingml/2006/main">
            <a:r>
              <a:t>CLM-AI-004, CLM-AI-008</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次は巡回メモを報告書へ整理するケースです。悪い依頼は『今日の巡回メモから、立派な安全報告書を作って』です。『立派』の意味がなく、原因、違反、責任者、期限、是正済みかどうかをAIが補う余地があります。まず、架空メモを三つに番号付けします。メモ一は『十時二十分、通路に資材三箱』。メモ二は『資材で誘導表示が見えにくい』。メモ三は『担当者、設置時刻、撤去時刻は未確認』です。改善プロンプトは、『以下の架空メモだけを使い、観察事実、未確認、是正案、担当者への質問に分けてください。推測で原因、責任者、期限を追加しないでください。各記述へ根拠メモ番号を付け、A4半ページの箇条書きにしてください』です。出力例では、観察事実にメモ一と二、未確認に設置者と撤去時刻を置きます。是正案は決定欄ではなく提案欄にします。人は写真、時刻、数量を原メモへ照合し、実際に移動したか、誰が判断するか、期限はいつかを現場で確認します。写真や位置情報をAIへ渡してよいかも会社ルールで別に確認してください。自分の現場で使うときは、まずメモへ通し番号を付け、確認できた事実だけを一文ずつ書きます。『危険』『不適切』のような評価語は、その根拠と決定者がない限り観察事実欄へ入れません。AIへ渡した版と最終報告書を保存し、どの修正を人が行ったか追跡できるようにします。</a:t>
            </a:r>
          </a:p>
          <a:p xmlns:a="http://schemas.openxmlformats.org/drawingml/2006/main">
            <a:r>
              <a:t/>
            </a:r>
          </a:p>
          <a:p xmlns:a="http://schemas.openxmlformats.org/drawingml/2006/main">
            <a:r>
              <a:t>講師補足</a:t>
            </a:r>
          </a:p>
          <a:p xmlns:a="http://schemas.openxmlformats.org/drawingml/2006/main">
            <a:r>
              <a:t>- 『立派に』『詳しく』が何をAIへ推測させるかを確認する。</a:t>
            </a:r>
          </a:p>
          <a:p xmlns:a="http://schemas.openxmlformats.org/drawingml/2006/main">
            <a:r>
              <a:t>- 報告書様式がある会社では、完成形に既存の見出しをそのまま指定する。</a:t>
            </a:r>
          </a:p>
          <a:p xmlns:a="http://schemas.openxmlformats.org/drawingml/2006/main">
            <a:r>
              <a:t/>
            </a:r>
          </a:p>
          <a:p xmlns:a="http://schemas.openxmlformats.org/drawingml/2006/main">
            <a:r>
              <a:t>主張ID</a:t>
            </a:r>
          </a:p>
          <a:p xmlns:a="http://schemas.openxmlformats.org/drawingml/2006/main">
            <a:r>
              <a:t>CLM-AI-001, CLM-AI-002, CLM-AI-003, CLM-AI-008</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架空の出力例は、『観察事実、メモ一と二。通路の資材三箱により誘導表示が見えにくい。未確認、設置者と撤去時刻。是正案、現場責任者が移動可否を判断する』です。最初に、文章を三色で分けます。元メモに書かれた事実、まだ確かめていない情報、これから判断する提案です。次に、各文の末尾にメモ番号があるか確認します。番号がなければ、どの入力から出たか追跡できません。『資材を移動した』『責任者へ連絡済み』『是正完了』のような行動が加わっていたら削除し、現場確認へ戻します。数量、時刻、場所、写真番号を原メモと照合し、提案欄は決定に見える語尾へ変えないようにします。担当者と期限はAIに考えさせず、実際の指揮命令系統で決めて追記します。会社の報告書様式がある場合は、次回の依頼で様式の見出しだけを完成形に指定できます。ただし、AIが整えた文章を現場記録の正本にせず、元メモ、写真、確認者、是正結果が追跡できる状態を残してください。提出前には、各行へ事実、未確認、提案のいずれかを付け、空欄をAIで埋めず担当者への質問票へ移します。是正後は完了した事実と確認日時を別に記録します。報告書の版番号も付け、AI整理前のメモ、確認後の修正版、承認版を混同しないようにしてください。</a:t>
            </a:r>
          </a:p>
          <a:p xmlns:a="http://schemas.openxmlformats.org/drawingml/2006/main">
            <a:r>
              <a:t/>
            </a:r>
          </a:p>
          <a:p xmlns:a="http://schemas.openxmlformats.org/drawingml/2006/main">
            <a:r>
              <a:t>講師補足</a:t>
            </a:r>
          </a:p>
          <a:p xmlns:a="http://schemas.openxmlformats.org/drawingml/2006/main">
            <a:r>
              <a:t>- 『観察事実』と『是正案』の語尾の違いを読み比べる。</a:t>
            </a:r>
          </a:p>
          <a:p xmlns:a="http://schemas.openxmlformats.org/drawingml/2006/main">
            <a:r>
              <a:t>- 報告書のAI利用可否、写真や位置情報の取扱いは自社ルールを優先する。</a:t>
            </a:r>
          </a:p>
          <a:p xmlns:a="http://schemas.openxmlformats.org/drawingml/2006/main">
            <a:r>
              <a:t/>
            </a:r>
          </a:p>
          <a:p xmlns:a="http://schemas.openxmlformats.org/drawingml/2006/main">
            <a:r>
              <a:t>主張ID</a:t>
            </a:r>
          </a:p>
          <a:p xmlns:a="http://schemas.openxmlformats.org/drawingml/2006/main">
            <a:r>
              <a:t>CLM-AI-005, CLM-AI-008, CLM-AI-017</a:t>
            </a:r>
          </a:p>
          <a:p xmlns:a="http://schemas.openxmlformats.org/drawingml/2006/main">
            <a:r>
              <a:t/>
            </a:r>
          </a:p>
          <a:p xmlns:a="http://schemas.openxmlformats.org/drawingml/2006/main">
            <a:r>
              <a:t>[Sources]</a:t>
            </a:r>
          </a:p>
          <a:p xmlns:a="http://schemas.openxmlformats.org/drawingml/2006/main">
            <a:r>
              <a:t>- S3 SRC-AI-003: Reduce hallucinations https://platform.claude.com/docs/en/test-and-evaluate/strengthen-guardrails/reduce-hallucinations</a:t>
            </a:r>
          </a:p>
          <a:p xmlns:a="http://schemas.openxmlformats.org/drawingml/2006/main">
            <a:r>
              <a:t>- S4 SRC-AI-004: Prompt design strategies https://ai.google.dev/gemini-api/docs/prompting-strategies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調査では、答えを聞く依頼から、一次資料候補を確認する作業へ変えます。悪い依頼は『生成AIへ個人情報を入れても大丈夫。最新ルールを教えて』です。『大丈夫』は、利用目的、情報の種類、サービス提供者の取扱い、自社契約、設定、会社ルールによって変わるため、AIだけで一律に答えられません。改善プロンプトは、『日本の事業者向けに、個人情報保護委員会の公式資料だけを候補化してください。文書名、公表日または更新日、公式URL、該当ページ、原文の短い要旨、確認できない点を表にしてください。結論を断定せず、人が公式本文を開く確認順を示してください』です。ここでは発行主体と必要な列を先に決めています。架空の出力例に、注意喚起資料、二〇二三年六月二日、該当候補二から三ページ、製品別設定は未確認、と出ても調査完了ではありません。人は公式ドメイン、文書の存在、最新版、対象者、該当ページと前後の文脈を確認します。製品の現行規約や設定、自社の利用目的は別の確認事項として残してください。別のテーマへ応用するときは、発行主体を厚生労働省、文化庁など該当機関へ置き換え、必要な表の列は維持します。検索結果の要約ではなく、発行者の本文を開く担当者と期限を先に決めます。</a:t>
            </a:r>
          </a:p>
          <a:p xmlns:a="http://schemas.openxmlformats.org/drawingml/2006/main">
            <a:r>
              <a:t/>
            </a:r>
          </a:p>
          <a:p xmlns:a="http://schemas.openxmlformats.org/drawingml/2006/main">
            <a:r>
              <a:t>講師補足</a:t>
            </a:r>
          </a:p>
          <a:p xmlns:a="http://schemas.openxmlformats.org/drawingml/2006/main">
            <a:r>
              <a:t>- AIが出したリンクをクリックする前に、ドメインと発行主体を見る癖を示す。</a:t>
            </a:r>
          </a:p>
          <a:p xmlns:a="http://schemas.openxmlformats.org/drawingml/2006/main">
            <a:r>
              <a:t>- 別のAIに聞いて一致しても一次資料確認の代わりにはならないと説明する。</a:t>
            </a:r>
          </a:p>
          <a:p xmlns:a="http://schemas.openxmlformats.org/drawingml/2006/main">
            <a:r>
              <a:t/>
            </a:r>
          </a:p>
          <a:p xmlns:a="http://schemas.openxmlformats.org/drawingml/2006/main">
            <a:r>
              <a:t>主張ID</a:t>
            </a:r>
          </a:p>
          <a:p xmlns:a="http://schemas.openxmlformats.org/drawingml/2006/main">
            <a:r>
              <a:t>CLM-AI-003, CLM-AI-005, CLM-AI-006, CLM-AI-007</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a:p xmlns:a="http://schemas.openxmlformats.org/drawingml/2006/main">
            <a:r>
              <a:t>- S3 SRC-AI-003: Reduce hallucinations https://platform.claude.com/docs/en/test-and-evaluate/strengthen-guardrails/reduce-hallucinations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架空の出力例には、個人情報保護委員会の『生成AIサービスの利用に関する注意喚起等』、公表日、公式URL、該当候補のページが並びます。具体的なので正しそうに見えますが、ここから四段階で確認します。第一に、URLを開く前にドメインと発行主体を見ます。検索結果や転載ページではなく、発行者の公式ページから本文へ進みます。第二に、文書名、公表日、更新の有無、対象が事業者か一般利用者かを確認します。第三に、候補ページだけでなく前後を読み、条件付きの注意を一律禁止や一律許可へ変えていないかを見ます。第四に、採用した主張ごとに文書名、版や日付、ページ、確認日を記録し、製品別設定や自社の利用目的など未確認を残します。AIが示した引用文は、公式本文と一字ずつ比べます。見つからなければ引用として使いません。別のAIが同じ資料を挙げても確認の代わりにはなりません。社内説明資料へ使う結論は、個人情報保護担当や法務担当の運用判断、自社契約、現行のデータ取扱いと合わせて確定してください。調査表には、AI候補、公式本文で確認した内容、未確認の三列を残します。公式本文と違う候補は削除し、採用した行には該当頁と確認日を付けてください。更新日が確認できない場合は空欄を埋めず、確認できないと記録します。古い資料と最新版を混ぜて一つの結論にしません。</a:t>
            </a:r>
          </a:p>
          <a:p xmlns:a="http://schemas.openxmlformats.org/drawingml/2006/main">
            <a:r>
              <a:t/>
            </a:r>
          </a:p>
          <a:p xmlns:a="http://schemas.openxmlformats.org/drawingml/2006/main">
            <a:r>
              <a:t>講師補足</a:t>
            </a:r>
          </a:p>
          <a:p xmlns:a="http://schemas.openxmlformats.org/drawingml/2006/main">
            <a:r>
              <a:t>- 実演では個人情報保護委員会の公式PDFを開き、ページと対象者区分を確認する。</a:t>
            </a:r>
          </a:p>
          <a:p xmlns:a="http://schemas.openxmlformats.org/drawingml/2006/main">
            <a:r>
              <a:t>- 検索機能や引用機能を使っても、本文確認を残す。</a:t>
            </a:r>
          </a:p>
          <a:p xmlns:a="http://schemas.openxmlformats.org/drawingml/2006/main">
            <a:r>
              <a:t/>
            </a:r>
          </a:p>
          <a:p xmlns:a="http://schemas.openxmlformats.org/drawingml/2006/main">
            <a:r>
              <a:t>主張ID</a:t>
            </a:r>
          </a:p>
          <a:p xmlns:a="http://schemas.openxmlformats.org/drawingml/2006/main">
            <a:r>
              <a:t>CLM-AI-005, CLM-AI-006, CLM-AI-007, CLM-AI-008</a:t>
            </a:r>
          </a:p>
          <a:p xmlns:a="http://schemas.openxmlformats.org/drawingml/2006/main">
            <a:r>
              <a:t/>
            </a:r>
          </a:p>
          <a:p xmlns:a="http://schemas.openxmlformats.org/drawingml/2006/main">
            <a:r>
              <a:t>[Sources]</a:t>
            </a:r>
          </a:p>
          <a:p xmlns:a="http://schemas.openxmlformats.org/drawingml/2006/main">
            <a:r>
              <a:t>- S3 SRC-AI-003: Reduce hallucinations https://platform.claude.com/docs/en/test-and-evaluate/strengthen-guardrails/reduce-hallucinations</a:t>
            </a:r>
          </a:p>
          <a:p xmlns:a="http://schemas.openxmlformats.org/drawingml/2006/main">
            <a:r>
              <a:t>- S4 SRC-AI-004: Prompt design strategies https://ai.google.dev/gemini-api/docs/prompting-strategies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四つ目は社内案内のレビューです。悪い依頼は『この社内案内を分かりやすく添削して』です。誰にとって何が分かればよいか、どこまで変更してよいかがありません。AIは文章を短くする一方で、入力にない集合場所や手順を足すかもしれません。改善プロンプトは、『以下の架空の新入社員向け案内を、第一に最初の行動が分かるか、第二に日時と場所の不足、第三に専門語、第四に誤解しやすい表現、の四観点でレビューしてください。原文を勝手に確定せず、指摘、理由、修正案、確認者への質問を表にしてください』です。出力例は、『指摘、受付後の行動が不明。理由、初参加者が待機場所を判断できない。修正案、待機場所を明記。確認質問、場所は確定済みか』です。全文の書換えを先に頼まず、問題箇所と理由を分けたことで、一件ずつ採否を決められます。人は原文の目的、確定した日時と場所、社内用語、変更権限を確認します。未確定の場所をAIが具体化したら採用せず、原文責任者への質問に戻してください。実務では原文を段落番号付きで渡し、指摘へ段落番号を付けさせると追跡しやすくなります。修正案は原文を上書きせず別列に置き、責任者が採用、要修正、不採用を記録します。二回目の依頼では、採用した行だけを反映させ、未確定情報を再び作らない条件を繰り返してください。</a:t>
            </a:r>
          </a:p>
          <a:p xmlns:a="http://schemas.openxmlformats.org/drawingml/2006/main">
            <a:r>
              <a:t/>
            </a:r>
          </a:p>
          <a:p xmlns:a="http://schemas.openxmlformats.org/drawingml/2006/main">
            <a:r>
              <a:t>講師補足</a:t>
            </a:r>
          </a:p>
          <a:p xmlns:a="http://schemas.openxmlformats.org/drawingml/2006/main">
            <a:r>
              <a:t>- 『分かりやすい』を誰にとって何ができる状態かへ言い換える。</a:t>
            </a:r>
          </a:p>
          <a:p xmlns:a="http://schemas.openxmlformats.org/drawingml/2006/main">
            <a:r>
              <a:t>- AIの修正案を一括採用せず、指摘ごとに採否を決める。</a:t>
            </a:r>
          </a:p>
          <a:p xmlns:a="http://schemas.openxmlformats.org/drawingml/2006/main">
            <a:r>
              <a:t/>
            </a:r>
          </a:p>
          <a:p xmlns:a="http://schemas.openxmlformats.org/drawingml/2006/main">
            <a:r>
              <a:t>主張ID</a:t>
            </a:r>
          </a:p>
          <a:p xmlns:a="http://schemas.openxmlformats.org/drawingml/2006/main">
            <a:r>
              <a:t>CLM-AI-001, CLM-AI-003, CLM-AI-004, CLM-AI-008</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架空のレビュー出力を四列で読みます。指摘は『受付後の行動が不明』、理由は『初参加者が待機場所を判断できない』、修正案は『受付後は二階会議室前で待機』、確認質問は『待機場所は確定済みか』です。最初に、指摘と理由が原文と指定した読み手に関係するかを見ます。次に、修正案の『二階会議室前』が入力にあったかを探します。なければ、もっともらしくても採用せず、『待機場所を明記してください』という一般的な案に戻し、具体的な場所は確認質問へ移します。各行に、採用、要修正、不採用の印を付けると一括採用を防げます。日時、場所、連絡先、社内用語は原資料と担当部署へ照合します。AIの指摘も誤るため、原文の目的を変えていないか、必要な注意を削っていないかも見ます。最終版は原文責任者が修正履歴を確認して承認します。見栄えのよい表、自信のある語尾、指摘数の多さは正確さの証拠ではありません。採用した修正ごとに、その根拠が原文、確定情報、社内ルールのどれかを残します。根拠がない行は確認質問へ戻し、回答が得られるまで公開版へ入れません。公開直前に原文との変更箇所だけを読み直し、重要な注意や連絡先が削られていないか確認してください。</a:t>
            </a:r>
          </a:p>
          <a:p xmlns:a="http://schemas.openxmlformats.org/drawingml/2006/main">
            <a:r>
              <a:t/>
            </a:r>
          </a:p>
          <a:p xmlns:a="http://schemas.openxmlformats.org/drawingml/2006/main">
            <a:r>
              <a:t>講師補足</a:t>
            </a:r>
          </a:p>
          <a:p xmlns:a="http://schemas.openxmlformats.org/drawingml/2006/main">
            <a:r>
              <a:t>- 出力例の『2階会議室前』が未提供情報なら削除対象だと問いかける。</a:t>
            </a:r>
          </a:p>
          <a:p xmlns:a="http://schemas.openxmlformats.org/drawingml/2006/main">
            <a:r>
              <a:t>- 過信を防ぐため、採用・修正・不採用の三択でレビューさせる。</a:t>
            </a:r>
          </a:p>
          <a:p xmlns:a="http://schemas.openxmlformats.org/drawingml/2006/main">
            <a:r>
              <a:t/>
            </a:r>
          </a:p>
          <a:p xmlns:a="http://schemas.openxmlformats.org/drawingml/2006/main">
            <a:r>
              <a:t>主張ID</a:t>
            </a:r>
          </a:p>
          <a:p xmlns:a="http://schemas.openxmlformats.org/drawingml/2006/main">
            <a:r>
              <a:t>CLM-AI-005, CLM-AI-008, CLM-AI-016, CLM-AI-017</a:t>
            </a:r>
          </a:p>
          <a:p xmlns:a="http://schemas.openxmlformats.org/drawingml/2006/main">
            <a:r>
              <a:t/>
            </a:r>
          </a:p>
          <a:p xmlns:a="http://schemas.openxmlformats.org/drawingml/2006/main">
            <a:r>
              <a:t>[Sources]</a:t>
            </a:r>
          </a:p>
          <a:p xmlns:a="http://schemas.openxmlformats.org/drawingml/2006/main">
            <a:r>
              <a:t>- S3 SRC-AI-003: Reduce hallucinations https://platform.claude.com/docs/en/test-and-evaluate/strengthen-guardrails/reduce-hallucinations</a:t>
            </a:r>
          </a:p>
          <a:p xmlns:a="http://schemas.openxmlformats.org/drawingml/2006/main">
            <a:r>
              <a:t>- S4 SRC-AI-004: Prompt design strategies https://ai.google.dev/gemini-api/docs/prompting-strategies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S8 SRC-AI-008: Automation bias: a systematic review of frequency, effect mediators, and mitigators https://pmc.ncbi.nlm.nih.gov/articles/PMC3240751/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五つ目は顧客情報を含む依頼の安全な書換えです。危険な依頼は、『顧客名、電話番号、注文番号、苦情内容を貼るので返信を書いて』です。まず貼る前に止まり、四点を確認します。会社が承認したサービスとアカウントか。この業務での利用が社内ルール上許可されているか。サービスの現行規約、プライバシーポリシー、データ取扱い、設定はどうなっているか。その情報は文章の型を作るために本当に必要か、です。改善プロンプトは、『実データを使わず、製品到着遅延へのお詫びメールの型を作成してください。顧客名、注文番号、日付は担当者入力、補償内容は作らず社内規程確認と表示してください。件名と本文に分け、担当者が後で入力、確認する箇所を一覧にしてください』です。ここでは顧客固有の事情を一般的な業務場面へ変えています。人は承認環境と会社ルールを確認し、固有情報は通常の業務画面で入力し、補償内容と送信を確定します。個人情報が法律上一律に入力禁止または許可と断定せず、利用目的と提供者の取扱い等を個別に確認してください。書換え前後を比べ、実名、連絡先、識別番号、固有事情が残っていないか確認します。一つでも残るなら貼り付けず、一般文の型だけを手作業で依頼してください。</a:t>
            </a:r>
          </a:p>
          <a:p xmlns:a="http://schemas.openxmlformats.org/drawingml/2006/main">
            <a:r>
              <a:t/>
            </a:r>
          </a:p>
          <a:p xmlns:a="http://schemas.openxmlformats.org/drawingml/2006/main">
            <a:r>
              <a:t>講師補足</a:t>
            </a:r>
          </a:p>
          <a:p xmlns:a="http://schemas.openxmlformats.org/drawingml/2006/main">
            <a:r>
              <a:t>- 会社で承認済みのサービスや入力禁止情報があれば、自社ルールを先に確認する。</a:t>
            </a:r>
          </a:p>
          <a:p xmlns:a="http://schemas.openxmlformats.org/drawingml/2006/main">
            <a:r>
              <a:t>- 匿名化したつもりでも組合せから特定できる場合があるため、参加者だけで十分性を断定させない。</a:t>
            </a:r>
          </a:p>
          <a:p xmlns:a="http://schemas.openxmlformats.org/drawingml/2006/main">
            <a:r>
              <a:t/>
            </a:r>
          </a:p>
          <a:p xmlns:a="http://schemas.openxmlformats.org/drawingml/2006/main">
            <a:r>
              <a:t>主張ID</a:t>
            </a:r>
          </a:p>
          <a:p xmlns:a="http://schemas.openxmlformats.org/drawingml/2006/main">
            <a:r>
              <a:t>CLM-AI-009, CLM-AI-010, CLM-AI-011, CLM-AI-012</a:t>
            </a:r>
          </a:p>
          <a:p xmlns:a="http://schemas.openxmlformats.org/drawingml/2006/main">
            <a:r>
              <a:t/>
            </a:r>
          </a:p>
          <a:p xmlns:a="http://schemas.openxmlformats.org/drawingml/2006/main">
            <a:r>
              <a:t>[Sources]</a:t>
            </a:r>
          </a:p>
          <a:p xmlns:a="http://schemas.openxmlformats.org/drawingml/2006/main">
            <a:r>
              <a:t>- S5 SRC-AI-005: 生成AIサービスの利用に関する注意喚起等 https://www.ppc.go.jp/files/pdf/230602_alert_generative_AI_service.pdf</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架空の出力例は、『顧客名、担当者入力、様。このたびは商品の到着が遅れ申し訳ございません。状況は担当者確認、対応は社内規程確認です』という空欄付きの一般文です。確認は空欄を埋める順で行います。顧客名、注文番号、実際の遅延状況は、AIチャットへ戻さず、承認済みの顧客管理やメール作成画面で担当者が入力します。補償や返金はAIが提案した内容を採用せず、社内規程と決裁者へ照合します。宛先、事実、対応条件、期限、署名を確認してから送信します。一般化した情報でも常に安全とは限りません。地域、商品、発生日、珍しい事情の組合せから個人や案件を推測できる場合があります。伏字にしただけで十分と決めず、必要性、粒度、件数を見直します。自社の情報分類、利用目的、委託や第三者提供に関する判断が必要なら、個人情報保護や法務担当へ確認します。このケースの要点は、秘密を上手に隠してAIへ渡すことではなく、実情報を渡さずに済む工程へ仕事を組み替えることです。実情報を戻す担当者と画面を手順書に明記し、AIの会話欄へ再び貼らないようにします。下書きの型と送信済みメールも別に管理してください。利用後のチャット履歴や共有設定の扱いも会社手順へ従い、担当者判断で安全と決めないでください。</a:t>
            </a:r>
          </a:p>
          <a:p xmlns:a="http://schemas.openxmlformats.org/drawingml/2006/main">
            <a:r>
              <a:t/>
            </a:r>
          </a:p>
          <a:p xmlns:a="http://schemas.openxmlformats.org/drawingml/2006/main">
            <a:r>
              <a:t>講師補足</a:t>
            </a:r>
          </a:p>
          <a:p xmlns:a="http://schemas.openxmlformats.org/drawingml/2006/main">
            <a:r>
              <a:t>- ［担当者入力］と［社内規程確認］が残っていることを確認する。</a:t>
            </a:r>
          </a:p>
          <a:p xmlns:a="http://schemas.openxmlformats.org/drawingml/2006/main">
            <a:r>
              <a:t>- AI画面へ実情報を戻す操作はさせず、承認済みの通常業務画面へ戻す。</a:t>
            </a:r>
          </a:p>
          <a:p xmlns:a="http://schemas.openxmlformats.org/drawingml/2006/main">
            <a:r>
              <a:t/>
            </a:r>
          </a:p>
          <a:p xmlns:a="http://schemas.openxmlformats.org/drawingml/2006/main">
            <a:r>
              <a:t>主張ID</a:t>
            </a:r>
          </a:p>
          <a:p xmlns:a="http://schemas.openxmlformats.org/drawingml/2006/main">
            <a:r>
              <a:t>CLM-AI-009, CLM-AI-010, CLM-AI-011, CLM-AI-012</a:t>
            </a:r>
          </a:p>
          <a:p xmlns:a="http://schemas.openxmlformats.org/drawingml/2006/main">
            <a:r>
              <a:t/>
            </a:r>
          </a:p>
          <a:p xmlns:a="http://schemas.openxmlformats.org/drawingml/2006/main">
            <a:r>
              <a:t>[Sources]</a:t>
            </a:r>
          </a:p>
          <a:p xmlns:a="http://schemas.openxmlformats.org/drawingml/2006/main">
            <a:r>
              <a:t>- S5 SRC-AI-005: 生成AIサービスの利用に関する注意喚起等 https://www.ppc.go.jp/files/pdf/230602_alert_generative_AI_service.pdf</a:t>
            </a:r>
          </a:p>
          <a:p xmlns:a="http://schemas.openxmlformats.org/drawingml/2006/main">
            <a:r>
              <a:t>- S6 SRC-AI-006: AI事業者ガイドライン（第1.2版）別添 https://www.meti.go.jp/shingikai/mono_info_service/ai_shakai_jisso/pdf/20260331_3.pdf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著作権が関係する仕事も、具体的な手順で扱います。例は、自社作成メモから社外配布用の説明文を作る場面です。依頼には、『提供する自社作成メモだけを使い、引用部分を区別して要約してください。元資料にない表現は提案欄へ分け、公開前に確認する権利と出典を示してください』と書きます。入力前に、そのメモをAIへ渡してよい権限と利用環境を確認します。出力後は、引用、要約、新しい提案が分かれているか、引用文が元資料と一致するか、必要な出典表示が残っているかを見ます。社外公開前には、既存著作物との類似、参照資料の利用条件、社内の承認を確認します。文化庁の資料は、生成段階と利用段階を分け、侵害や生成物の著作物性は個別事情で判断されると整理しています。したがって、『AIが作ったから自由』『AIを使えば必ず自分の著作物』とは断定しません。第三者資料や画像が関係する場合、公開、配布、販売の可否を法務や知財担当へ確認してください。確認表には、入力資料の権利者、利用権限、引用箇所、出典表示、公開範囲を記録します。判断できない項目が一つでもあれば公開を保留し、担当部署へ回してください。引用を要約へ変えただけで確認不要とはせず、元資料との関係を記録します。</a:t>
            </a:r>
          </a:p>
          <a:p xmlns:a="http://schemas.openxmlformats.org/drawingml/2006/main">
            <a:r>
              <a:t/>
            </a:r>
          </a:p>
          <a:p xmlns:a="http://schemas.openxmlformats.org/drawingml/2006/main">
            <a:r>
              <a:t>講師補足</a:t>
            </a:r>
          </a:p>
          <a:p xmlns:a="http://schemas.openxmlformats.org/drawingml/2006/main">
            <a:r>
              <a:t>- 参加者が扱う社内テンプレートや第三者資料の利用ルールを確認する。</a:t>
            </a:r>
          </a:p>
          <a:p xmlns:a="http://schemas.openxmlformats.org/drawingml/2006/main">
            <a:r>
              <a:t>- 教材は個別案件の法的判断を代替しないと再確認する。</a:t>
            </a:r>
          </a:p>
          <a:p xmlns:a="http://schemas.openxmlformats.org/drawingml/2006/main">
            <a:r>
              <a:t/>
            </a:r>
          </a:p>
          <a:p xmlns:a="http://schemas.openxmlformats.org/drawingml/2006/main">
            <a:r>
              <a:t>主張ID</a:t>
            </a:r>
          </a:p>
          <a:p xmlns:a="http://schemas.openxmlformats.org/drawingml/2006/main">
            <a:r>
              <a:t>CLM-AI-013, CLM-AI-014, CLM-AI-015</a:t>
            </a:r>
          </a:p>
          <a:p xmlns:a="http://schemas.openxmlformats.org/drawingml/2006/main">
            <a:r>
              <a:t/>
            </a:r>
          </a:p>
          <a:p xmlns:a="http://schemas.openxmlformats.org/drawingml/2006/main">
            <a:r>
              <a:t>[Sources]</a:t>
            </a:r>
          </a:p>
          <a:p xmlns:a="http://schemas.openxmlformats.org/drawingml/2006/main">
            <a:r>
              <a:t>- S7 SRC-AI-007: AIと著作権に関するチェックリスト＆ガイダンス https://www.bunka.go.jp/seisaku/bunkashingikai/chosakuken/seisaku/r06_02/pdf/94101701_01.pdf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数字、引用、法令、技術情報は、追跡、照合、再計算、承認の四段階で検証します。確認用プロンプトは、『各主張を、入力から確認できるもの、一次資料候補があるもの、未確認、仮定、へ分類してください。根拠箇所が見つからない主張は撤回候補として示してください』です。第一の追跡では、文章中の主張ごとに発行主体の原資料候補へ戻ります。第二の照合では、文書名、版、日付、対象、該当箇所、前後の文脈を確認します。引用は原文と比べます。第三の再計算では、数字の単位、分母、対象期間、集計範囲、丸め、転記を手計算や正本データで確認します。例えば割合なら、分子と分母を記録して同じ値になるか計算します。第四の承認では、誤りの影響に応じて担当者、専門担当、責任者が確定します。AIへ自己検証、引用、根拠を求めることは整理を助けますが、誤りをゼロにはしません。別のAIとの一致や自信のある表現も根拠にせず、確認した資料名、該当頁、確認者、確認日を業務記録へ残してください。たとえば二十件中五件なら二十五パーセントかを自分で計算し、分母が全件か回答件数かを資料で確認します。数値だけ合っても定義が違えば採用しません。</a:t>
            </a:r>
          </a:p>
          <a:p xmlns:a="http://schemas.openxmlformats.org/drawingml/2006/main">
            <a:r>
              <a:t/>
            </a:r>
          </a:p>
          <a:p xmlns:a="http://schemas.openxmlformats.org/drawingml/2006/main">
            <a:r>
              <a:t>講師補足</a:t>
            </a:r>
          </a:p>
          <a:p xmlns:a="http://schemas.openxmlformats.org/drawingml/2006/main">
            <a:r>
              <a:t>- 実演では、架空の数値を一つ用意し、単位と分母を確認する。</a:t>
            </a:r>
          </a:p>
          <a:p xmlns:a="http://schemas.openxmlformats.org/drawingml/2006/main">
            <a:r>
              <a:t>- 高影響の判断ほど確認者と原資料を増やす。</a:t>
            </a:r>
          </a:p>
          <a:p xmlns:a="http://schemas.openxmlformats.org/drawingml/2006/main">
            <a:r>
              <a:t/>
            </a:r>
          </a:p>
          <a:p xmlns:a="http://schemas.openxmlformats.org/drawingml/2006/main">
            <a:r>
              <a:t>主張ID</a:t>
            </a:r>
          </a:p>
          <a:p xmlns:a="http://schemas.openxmlformats.org/drawingml/2006/main">
            <a:r>
              <a:t>CLM-AI-005, CLM-AI-006, CLM-AI-007, CLM-AI-008, CLM-AI-016, CLM-AI-017</a:t>
            </a:r>
          </a:p>
          <a:p xmlns:a="http://schemas.openxmlformats.org/drawingml/2006/main">
            <a:r>
              <a:t/>
            </a:r>
          </a:p>
          <a:p xmlns:a="http://schemas.openxmlformats.org/drawingml/2006/main">
            <a:r>
              <a:t>[Sources]</a:t>
            </a:r>
          </a:p>
          <a:p xmlns:a="http://schemas.openxmlformats.org/drawingml/2006/main">
            <a:r>
              <a:t>- S3 SRC-AI-003: Reduce hallucinations https://platform.claude.com/docs/en/test-and-evaluate/strengthen-guardrails/reduce-hallucinations</a:t>
            </a:r>
          </a:p>
          <a:p xmlns:a="http://schemas.openxmlformats.org/drawingml/2006/main">
            <a:r>
              <a:t>- S4 SRC-AI-004: Prompt design strategies https://ai.google.dev/gemini-api/docs/prompting-strategies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S8 SRC-AI-008: Automation bias: a systematic review of frequency, effect mediators, and mitigators https://pmc.ncbi.nlm.nih.gov/articles/PMC3240751/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ここから三つの演習を行います。実在の会社、人、案件、連絡先は使わず、画面の架空設定だけで考えてください。第一問は、会議延期メールです。元の依頼『明日の会議が延期。メールを書いて』を、目的、確定した日時、未定事項、件名と本文の長さ、作ってはいけない情報、送信前の確認点を含む形へ直します。第二問は一次資料調査です。『生成AIと個人情報の最新ルールを教えて』へ、発行主体、文書名、公表または更新日、公式URL、該当頁、未確認、人が本文を開く手順を加えます。第三問は顧客情報を含む依頼です。顧客名、電話番号、注文番号、苦情内容を削り、到着遅延への一般的なお詫び文の型だけを作る依頼へ変えます。各問で、プロンプトだけでなく、出力後に人が戻る原情報、業務画面、社内規程も一つ書いてください。三分間自分で書いてから解説を開き、AIが推測しなくてよい範囲と、人へ戻した判断が増えたかを比べます。書き終えたら、目的へ丸、使ってよい材料へ下線、禁止事項へ三角、人の確認先へ四角を付けます。四種類がそろわなければ、足りない行を一つ追加してから模範例を見てください。</a:t>
            </a:r>
          </a:p>
          <a:p xmlns:a="http://schemas.openxmlformats.org/drawingml/2006/main">
            <a:r>
              <a:t/>
            </a:r>
          </a:p>
          <a:p xmlns:a="http://schemas.openxmlformats.org/drawingml/2006/main">
            <a:r>
              <a:t>講師補足</a:t>
            </a:r>
          </a:p>
          <a:p xmlns:a="http://schemas.openxmlformats.org/drawingml/2006/main">
            <a:r>
              <a:t>- 個人3分、解説確認2分、ペア討議5分を目安にする。</a:t>
            </a:r>
          </a:p>
          <a:p xmlns:a="http://schemas.openxmlformats.org/drawingml/2006/main">
            <a:r>
              <a:t>- 完成した文面より、追加した確認条件を発表してもらう。</a:t>
            </a:r>
          </a:p>
          <a:p xmlns:a="http://schemas.openxmlformats.org/drawingml/2006/main">
            <a:r>
              <a:t/>
            </a:r>
          </a:p>
          <a:p xmlns:a="http://schemas.openxmlformats.org/drawingml/2006/main">
            <a:r>
              <a:t>主張ID</a:t>
            </a:r>
          </a:p>
          <a:p xmlns:a="http://schemas.openxmlformats.org/drawingml/2006/main">
            <a:r>
              <a:t>CLM-AI-002, CLM-AI-006, CLM-AI-008, CLM-AI-012</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a:p xmlns:a="http://schemas.openxmlformats.org/drawingml/2006/main">
            <a:r>
              <a:t>- S3 SRC-AI-003: Reduce hallucinations https://platform.claude.com/docs/en/test-and-evaluate/strengthen-guardrails/reduce-hallucinations</a:t>
            </a:r>
          </a:p>
          <a:p xmlns:a="http://schemas.openxmlformats.org/drawingml/2006/main">
            <a:r>
              <a:t>- S6 SRC-AI-006: AI事業者ガイドライン（第1.2版）別添 https://www.meti.go.jp/shingikai/mono_info_service/ai_shakai_jisso/pdf/20260331_3.pdf</a:t>
            </a:r>
          </a:p>
          <a:p xmlns:a="http://schemas.openxmlformats.org/drawingml/2006/main">
            <a:r>
              <a:t>- S5 SRC-AI-005: 生成AIサービスの利用に関する注意喚起等 https://www.ppc.go.jp/files/pdf/230602_alert_generative_AI_service.pdf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模範回答との比べ方を説明します。メールの例では、目的が社内参加者への延期連絡、材料が九月三日十時、延期は確定、代替日は未定、完成形が件名と本文百五十字以内、条件が日付や理由を作らず要確認と表示、となっています。自分の回答に宛先と送信前確認があれば十分です。調査の例では、個人情報保護委員会の公式資料を優先し、文書名、日付、URL、頁、要旨、未確認を表にし、人が公式本文の対象と文脈を照合します。リンクを出すだけでは不足です。安全な書換えの例では、実在の顧客名、電話番号、注文番号を入力せず、顧客名は担当者入力、補償は社内規程確認と残します。担当者は実情報を通常の業務画面で入れます。自分の回答と例を、使ってよい材料、AIが作ってはいけない情報、出力形式、人の確認先の四色で比べてください。文章を同じにするのではなく、推測の余地と確認漏れを見つける演習です。ペア討議では、相手の依頼へ一つだけ質問を返します。たとえば『代替日は未定ですか』『誰が公式本文を確認しますか』『固有情報はどの画面で戻しますか』です。その質問に答えられない箇所が、実務で先に確認すべき点です。</a:t>
            </a:r>
          </a:p>
          <a:p xmlns:a="http://schemas.openxmlformats.org/drawingml/2006/main">
            <a:r>
              <a:t/>
            </a:r>
          </a:p>
          <a:p xmlns:a="http://schemas.openxmlformats.org/drawingml/2006/main">
            <a:r>
              <a:t>講師補足</a:t>
            </a:r>
          </a:p>
          <a:p xmlns:a="http://schemas.openxmlformats.org/drawingml/2006/main">
            <a:r>
              <a:t>- 三問の回答欄へ、必ず『人の確認点』を一つ書かせる。</a:t>
            </a:r>
          </a:p>
          <a:p xmlns:a="http://schemas.openxmlformats.org/drawingml/2006/main">
            <a:r>
              <a:t>- 解説表示前に参加者同士で回答を見せ合わない。</a:t>
            </a:r>
          </a:p>
          <a:p xmlns:a="http://schemas.openxmlformats.org/drawingml/2006/main">
            <a:r>
              <a:t/>
            </a:r>
          </a:p>
          <a:p xmlns:a="http://schemas.openxmlformats.org/drawingml/2006/main">
            <a:r>
              <a:t>主張ID</a:t>
            </a:r>
          </a:p>
          <a:p xmlns:a="http://schemas.openxmlformats.org/drawingml/2006/main">
            <a:r>
              <a:t>CLM-AI-002, CLM-AI-003, CLM-AI-006, CLM-AI-008, CLM-AI-009, CLM-AI-012</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a:p xmlns:a="http://schemas.openxmlformats.org/drawingml/2006/main">
            <a:r>
              <a:t>- S3 SRC-AI-003: Reduce hallucinations https://platform.claude.com/docs/en/test-and-evaluate/strengthen-guardrails/reduce-hallucinations</a:t>
            </a:r>
          </a:p>
          <a:p xmlns:a="http://schemas.openxmlformats.org/drawingml/2006/main">
            <a:r>
              <a:t>- S6 SRC-AI-006: AI事業者ガイドライン（第1.2版）別添 https://www.meti.go.jp/shingikai/mono_info_service/ai_shakai_jisso/pdf/20260331_3.pdf</a:t>
            </a:r>
          </a:p>
          <a:p xmlns:a="http://schemas.openxmlformats.org/drawingml/2006/main">
            <a:r>
              <a:t>- S5 SRC-AI-005: 生成AIサービスの利用に関する注意喚起等 https://www.ppc.go.jp/files/pdf/230602_alert_generative_AI_service.pdf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仕事で迷ったら、配布する依頼テンプレートをコピーし、角括弧だけを書き換えます。目的には、誰が何に使う下書きか、AIへは下書き、整理、比較のどこまでを任せるかを書きます。材料には、使ってよい確定事実と未定事項を分けます。公開情報、架空情報、集計値、必要な抜粋へ置き換えられないか確認します。完成形には、件名と本文、表、箇条書き、文字数を指定します。条件には、入力にない情報を作らず未確認と表示することと、人の確認点を入れます。業務別の五例も使えます。メール例は日時と未定、報告書例はメモ番号と事実の区別、調査例は発行主体と頁、レビュー例は観点と確認質問、安全な書換え例は担当者入力と社内規程確認が中心です。例を丸ごと使わず、自分の材料と確認者へ差し替えます。入力前に会社ルールと承認環境を確認し、出力後に予定表、元メモ、公式本文、原文責任者、社内規程のどこへ戻るかを必ず残してください。最初の一回は、低リスクな架空例で試し、出力が指定形式になるかを確認します。その後も、入力した事実、未確認、AIの提案、人が確定した内容を別欄に残し、プロンプトだけを正本にしないでください。</a:t>
            </a:r>
          </a:p>
          <a:p xmlns:a="http://schemas.openxmlformats.org/drawingml/2006/main">
            <a:r>
              <a:t/>
            </a:r>
          </a:p>
          <a:p xmlns:a="http://schemas.openxmlformats.org/drawingml/2006/main">
            <a:r>
              <a:t>講師補足</a:t>
            </a:r>
          </a:p>
          <a:p xmlns:a="http://schemas.openxmlformats.org/drawingml/2006/main">
            <a:r>
              <a:t>- 参加者に、最初にメモした自分の業務をテンプレートへ当てはめてもらう。</a:t>
            </a:r>
          </a:p>
          <a:p xmlns:a="http://schemas.openxmlformats.org/drawingml/2006/main">
            <a:r>
              <a:t>- テンプレートは会社ルールや個別確認を代替しない。</a:t>
            </a:r>
          </a:p>
          <a:p xmlns:a="http://schemas.openxmlformats.org/drawingml/2006/main">
            <a:r>
              <a:t/>
            </a:r>
          </a:p>
          <a:p xmlns:a="http://schemas.openxmlformats.org/drawingml/2006/main">
            <a:r>
              <a:t>主張ID</a:t>
            </a:r>
          </a:p>
          <a:p xmlns:a="http://schemas.openxmlformats.org/drawingml/2006/main">
            <a:r>
              <a:t>CLM-AI-002, CLM-AI-006, CLM-AI-008, CLM-AI-010, CLM-AI-012</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S2 SRC-AI-002: Prompting best practices https://platform.claude.com/docs/en/build-with-claude/prompt-engineering/claude-prompting-best-practices</a:t>
            </a:r>
          </a:p>
          <a:p xmlns:a="http://schemas.openxmlformats.org/drawingml/2006/main">
            <a:r>
              <a:t>- S4 SRC-AI-004: Prompt design strategies https://ai.google.dev/gemini-api/docs/prompting-strategies</a:t>
            </a:r>
          </a:p>
          <a:p xmlns:a="http://schemas.openxmlformats.org/drawingml/2006/main">
            <a:r>
              <a:t>- S3 SRC-AI-003: Reduce hallucinations https://platform.claude.com/docs/en/test-and-evaluate/strengthen-guardrails/reduce-hallucinations</a:t>
            </a:r>
          </a:p>
          <a:p xmlns:a="http://schemas.openxmlformats.org/drawingml/2006/main">
            <a:r>
              <a:t>- S6 SRC-AI-006: AI事業者ガイドライン（第1.2版）別添 https://www.meti.go.jp/shingikai/mono_info_service/ai_shakai_jisso/pdf/20260331_3.pdf</a:t>
            </a:r>
          </a:p>
          <a:p xmlns:a="http://schemas.openxmlformats.org/drawingml/2006/main">
            <a:r>
              <a:t>- S5 SRC-AI-005: 生成AIサービスの利用に関する注意喚起等 https://www.ppc.go.jp/files/pdf/230602_alert_generative_AI_service.pdf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明日からは、低リスクな下書き一件で試してください。今日の五ケースから、自分の仕事に最も近いものを一つ選びます。最初に、会社で利用が認められたサービス、アカウント、業務、入力可能な情報を確認します。次に、目的、材料、完成形、条件の四行を書きます。メールなら未定日を要確認、報告書なら元メモ番号、調査なら発行主体と頁、レビューなら確認観点、安全な書換えなら担当者入力の空欄を入れます。回答が出たら、入力した事実と一行ずつ比べ、作っていない日時、原因、責任者、数字、引用がないか印を付けます。数字、引用、法令、技術情報は、発行主体の原資料を開き、版、日付、対象、該当箇所を確認します。最後に担当者が修正し、必要な承認を経て、通常の業務画面から送信または公開します。AIへ任せるのは一工程です。最終的な送信、公開、意思決定の責任は人に残してください。試した一件では、使った材料、AI出力、修正内容、確認した原資料、承認者を短く記録します。その記録を振り返り、次回のテンプレートへ不足していた確認条件だけを追加してください。うまくいかなかった出力は隠さず、どの材料や条件が不足したかをチームで共有し、次の依頼と確認手順の両方を直します。</a:t>
            </a:r>
          </a:p>
          <a:p xmlns:a="http://schemas.openxmlformats.org/drawingml/2006/main">
            <a:r>
              <a:t/>
            </a:r>
          </a:p>
          <a:p xmlns:a="http://schemas.openxmlformats.org/drawingml/2006/main">
            <a:r>
              <a:t>講師補足</a:t>
            </a:r>
          </a:p>
          <a:p xmlns:a="http://schemas.openxmlformats.org/drawingml/2006/main">
            <a:r>
              <a:t>- 参加者に、明日試す一件と人の確認者を宣言してもらう。</a:t>
            </a:r>
          </a:p>
          <a:p xmlns:a="http://schemas.openxmlformats.org/drawingml/2006/main">
            <a:r>
              <a:t>- 重要判断・個人情報・著作権は、担当部署へ確認する行動で締める。</a:t>
            </a:r>
          </a:p>
          <a:p xmlns:a="http://schemas.openxmlformats.org/drawingml/2006/main">
            <a:r>
              <a:t/>
            </a:r>
          </a:p>
          <a:p xmlns:a="http://schemas.openxmlformats.org/drawingml/2006/main">
            <a:r>
              <a:t>主張ID</a:t>
            </a:r>
          </a:p>
          <a:p xmlns:a="http://schemas.openxmlformats.org/drawingml/2006/main">
            <a:r>
              <a:t>CLM-AI-001, CLM-AI-006, CLM-AI-008, CLM-AI-012</a:t>
            </a:r>
          </a:p>
          <a:p xmlns:a="http://schemas.openxmlformats.org/drawingml/2006/main">
            <a:r>
              <a:t/>
            </a:r>
          </a:p>
          <a:p xmlns:a="http://schemas.openxmlformats.org/drawingml/2006/main">
            <a:r>
              <a:t>[Sources]</a:t>
            </a:r>
          </a:p>
          <a:p xmlns:a="http://schemas.openxmlformats.org/drawingml/2006/main">
            <a:r>
              <a:t>- S1 SRC-AI-001: Model guidance https://developers.openai.com/api/docs/guides/latest-model</a:t>
            </a:r>
          </a:p>
          <a:p xmlns:a="http://schemas.openxmlformats.org/drawingml/2006/main">
            <a:r>
              <a:t>- S6 SRC-AI-006: AI事業者ガイドライン（第1.2版）別添 https://www.meti.go.jp/shingikai/mono_info_service/ai_shakai_jisso/pdf/20260331_3.pdf</a:t>
            </a:r>
          </a:p>
          <a:p xmlns:a="http://schemas.openxmlformats.org/drawingml/2006/main">
            <a:r>
              <a:t>- S3 SRC-AI-003: Reduce hallucinations https://platform.claude.com/docs/en/test-and-evaluate/strengthen-guardrails/reduce-hallucinations</a:t>
            </a:r>
          </a:p>
          <a:p xmlns:a="http://schemas.openxmlformats.org/drawingml/2006/main">
            <a:r>
              <a:t>- S4 SRC-AI-004: Prompt design strategies https://ai.google.dev/gemini-api/docs/prompting-strategies</a:t>
            </a:r>
          </a:p>
          <a:p xmlns:a="http://schemas.openxmlformats.org/drawingml/2006/main">
            <a:r>
              <a:t>- S5 SRC-AI-005: 生成AIサービスの利用に関する注意喚起等 https://www.ppc.go.jp/files/pdf/230602_alert_generative_AI_service.pdf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c4158441474a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77ae91b57d4fd9" /><Relationship Type="http://schemas.openxmlformats.org/officeDocument/2006/relationships/slideLayout" Target="/ppt/slideLayouts/slideLayout1.xml" Id="R516646fc787944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6646fc787944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61b0c422be43e9" /><Relationship Type="http://schemas.openxmlformats.org/officeDocument/2006/relationships/notesSlide" Target="/ppt/notesSlides/notesSlide1.xml" Id="R12e96a72ff9440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455c8d8b314186" /><Relationship Type="http://schemas.openxmlformats.org/officeDocument/2006/relationships/notesSlide" Target="/ppt/notesSlides/notesSlide2.xml" Id="Rc266371a1f0542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17ff7b137d4612" /><Relationship Type="http://schemas.openxmlformats.org/officeDocument/2006/relationships/notesSlide" Target="/ppt/notesSlides/notesSlide3.xml" Id="Rf1f9468b05c8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723017136f42a2" /><Relationship Type="http://schemas.openxmlformats.org/officeDocument/2006/relationships/notesSlide" Target="/ppt/notesSlides/notesSlide4.xml" Id="R76e3e3fcc8d94a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1754511a754c47" /><Relationship Type="http://schemas.openxmlformats.org/officeDocument/2006/relationships/notesSlide" Target="/ppt/notesSlides/notesSlide5.xml" Id="R778d93d8436941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c362b7614f4798" /><Relationship Type="http://schemas.openxmlformats.org/officeDocument/2006/relationships/notesSlide" Target="/ppt/notesSlides/notesSlide6.xml" Id="R082396676b5d43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7ad1fe408c43d2" /><Relationship Type="http://schemas.openxmlformats.org/officeDocument/2006/relationships/notesSlide" Target="/ppt/notesSlides/notesSlide7.xml" Id="R56442087bb4147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cb053362cd425e" /><Relationship Type="http://schemas.openxmlformats.org/officeDocument/2006/relationships/notesSlide" Target="/ppt/notesSlides/notesSlide8.xml" Id="R80bf1b3271c14d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36f20dce0348fd" /><Relationship Type="http://schemas.openxmlformats.org/officeDocument/2006/relationships/notesSlide" Target="/ppt/notesSlides/notesSlide9.xml" Id="R06e491a734704a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363ebdbd2f412a" /><Relationship Type="http://schemas.openxmlformats.org/officeDocument/2006/relationships/notesSlide" Target="/ppt/notesSlides/notesSlide10.xml" Id="Ra687514131e74c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143feb693044f4" /><Relationship Type="http://schemas.openxmlformats.org/officeDocument/2006/relationships/notesSlide" Target="/ppt/notesSlides/notesSlide11.xml" Id="R6d227ac136a145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56b811f24e4902" /><Relationship Type="http://schemas.openxmlformats.org/officeDocument/2006/relationships/notesSlide" Target="/ppt/notesSlides/notesSlide12.xml" Id="R8eab637c660c4e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671c600c1d40eb" /><Relationship Type="http://schemas.openxmlformats.org/officeDocument/2006/relationships/notesSlide" Target="/ppt/notesSlides/notesSlide13.xml" Id="Rac61ee94ccb643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54bf5a49b94390" /><Relationship Type="http://schemas.openxmlformats.org/officeDocument/2006/relationships/notesSlide" Target="/ppt/notesSlides/notesSlide14.xml" Id="R305e270f1d9346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814c36280b492f" /><Relationship Type="http://schemas.openxmlformats.org/officeDocument/2006/relationships/notesSlide" Target="/ppt/notesSlides/notesSlide15.xml" Id="R79b36569b6824f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9f0e8204b74a32" /><Relationship Type="http://schemas.openxmlformats.org/officeDocument/2006/relationships/notesSlide" Target="/ppt/notesSlides/notesSlide16.xml" Id="R08bd725408804d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468dc44f275409b" /><Relationship Type="http://schemas.openxmlformats.org/officeDocument/2006/relationships/notesSlide" Target="/ppt/notesSlides/notesSlide17.xml" Id="Rc623c0778ec741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96cfaa932624f90" /><Relationship Type="http://schemas.openxmlformats.org/officeDocument/2006/relationships/notesSlide" Target="/ppt/notesSlides/notesSlide18.xml" Id="R12c2a12d29924c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c081f33c7c247bd" /><Relationship Type="http://schemas.openxmlformats.org/officeDocument/2006/relationships/notesSlide" Target="/ppt/notesSlides/notesSlide19.xml" Id="Rb9858f881db844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42abcc31731422e" /><Relationship Type="http://schemas.openxmlformats.org/officeDocument/2006/relationships/notesSlide" Target="/ppt/notesSlides/notesSlide20.xml" Id="R73ce60ce193843b4" /></Relationships>
</file>

<file path=ppt/slides/slide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20" name="cover-accent">
            <a:extLst xmlns:a="http://schemas.openxmlformats.org/drawingml/2006/main">
              <a:ext uri="{FF2B5EF4-FFF2-40B4-BE49-F238E27FC236}">
                <a16:creationId xmlns:a16="http://schemas.microsoft.com/office/drawing/2014/main" id="{0B72783C-EE83-486D-9F63-E2F8DB35EF1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431C06B5-FBEA-463E-88AB-39C310ED0225}"/>
              </a:ext>
            </a:extLst>
          </p:cNvPr>
          <p:cNvSpPr>
            <a:spLocks xmlns:a="http://schemas.openxmlformats.org/drawingml/2006/main" noGrp="1"/>
          </p:cNvSpPr>
          <p:nvPr/>
        </p:nvSpPr>
        <p:spPr>
          <a:xfrm xmlns:a="http://schemas.openxmlformats.org/drawingml/2006/main">
            <a:off x="80010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BDE8E2"/>
                </a:solidFill>
              </a:defRPr>
            </a:pPr>
            <a:r>
              <a:rPr sz="1500" b="1">
                <a:solidFill>
                  <a:srgbClr val="BDE8E2"/>
                </a:solidFill>
              </a:rPr>
              <a:t>AI実務研修ライブラリ</a:t>
            </a:r>
          </a:p>
        </p:txBody>
      </p:sp>
      <p:sp>
        <p:nvSpPr>
          <p:cNvPr id="3" name="cover-title">
            <a:extLst xmlns:a="http://schemas.openxmlformats.org/drawingml/2006/main">
              <a:ext uri="{FF2B5EF4-FFF2-40B4-BE49-F238E27FC236}">
                <a16:creationId xmlns:a16="http://schemas.microsoft.com/office/drawing/2014/main" id="{49FC1BC5-D4AA-4758-89FF-432FAC9F981D}"/>
              </a:ext>
            </a:extLst>
          </p:cNvPr>
          <p:cNvSpPr>
            <a:spLocks xmlns:a="http://schemas.openxmlformats.org/drawingml/2006/main" noGrp="1"/>
          </p:cNvSpPr>
          <p:nvPr/>
        </p:nvSpPr>
        <p:spPr>
          <a:xfrm xmlns:a="http://schemas.openxmlformats.org/drawingml/2006/main">
            <a:off x="800100" y="1200150"/>
            <a:ext cx="781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FFFFFF"/>
                </a:solidFill>
              </a:defRPr>
            </a:pPr>
            <a:r>
              <a:rPr sz="4350" b="1">
                <a:solidFill>
                  <a:srgbClr val="FFFFFF"/>
                </a:solidFill>
              </a:rPr>
              <a:t>AIチャット仕事術</a:t>
            </a:r>
          </a:p>
        </p:txBody>
      </p:sp>
      <p:sp>
        <p:nvSpPr>
          <p:cNvPr id="4" name="cover-message">
            <a:extLst xmlns:a="http://schemas.openxmlformats.org/drawingml/2006/main">
              <a:ext uri="{FF2B5EF4-FFF2-40B4-BE49-F238E27FC236}">
                <a16:creationId xmlns:a16="http://schemas.microsoft.com/office/drawing/2014/main" id="{1ACD3A01-8B12-438D-B539-6A5013BB44DF}"/>
              </a:ext>
            </a:extLst>
          </p:cNvPr>
          <p:cNvSpPr>
            <a:spLocks xmlns:a="http://schemas.openxmlformats.org/drawingml/2006/main" noGrp="1"/>
          </p:cNvSpPr>
          <p:nvPr/>
        </p:nvSpPr>
        <p:spPr>
          <a:xfrm xmlns:a="http://schemas.openxmlformats.org/drawingml/2006/main">
            <a:off x="819150" y="2305050"/>
            <a:ext cx="923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E2F4F1"/>
                </a:solidFill>
              </a:defRPr>
            </a:pPr>
            <a:r>
              <a:rPr sz="1875" b="1">
                <a:solidFill>
                  <a:srgbClr val="E2F4F1"/>
                </a:solidFill>
              </a:rPr>
              <a:t>5つの仕事を、悪い依頼から使える依頼へ書き換える。</a:t>
            </a:r>
          </a:p>
        </p:txBody>
      </p:sp>
      <p:sp>
        <p:nvSpPr>
          <p:cNvPr id="5" name="cover-step-0">
            <a:extLst xmlns:a="http://schemas.openxmlformats.org/drawingml/2006/main">
              <a:ext uri="{FF2B5EF4-FFF2-40B4-BE49-F238E27FC236}">
                <a16:creationId xmlns:a16="http://schemas.microsoft.com/office/drawing/2014/main" id="{2EB66A5F-F295-4B0C-9FE3-E779A770AF7C}"/>
              </a:ext>
            </a:extLst>
          </p:cNvPr>
          <p:cNvSpPr>
            <a:spLocks xmlns:a="http://schemas.openxmlformats.org/drawingml/2006/main" noGrp="1"/>
          </p:cNvSpPr>
          <p:nvPr/>
        </p:nvSpPr>
        <p:spPr>
          <a:xfrm xmlns:a="http://schemas.openxmlformats.org/drawingml/2006/main">
            <a:off x="819150" y="3486150"/>
            <a:ext cx="3105150" cy="1200150"/>
          </a:xfrm>
          <a:prstGeom xmlns:a="http://schemas.openxmlformats.org/drawingml/2006/main" prst="roundRect">
            <a:avLst>
              <a:gd name="adj" fmla="val 9524"/>
            </a:avLst>
          </a:prstGeom>
          <a:solidFill xmlns:a="http://schemas.openxmlformats.org/drawingml/2006/main">
            <a:srgbClr val="0B6B66"/>
          </a:solidFill>
          <a:ln xmlns:a="http://schemas.openxmlformats.org/drawingml/2006/main" w="0">
            <a:noFill/>
            <a:prstDash val="solid"/>
          </a:ln>
        </p:spPr>
      </p:sp>
      <p:sp>
        <p:nvSpPr>
          <p:cNvPr id="6" name="cover-step-no-0">
            <a:extLst xmlns:a="http://schemas.openxmlformats.org/drawingml/2006/main">
              <a:ext uri="{FF2B5EF4-FFF2-40B4-BE49-F238E27FC236}">
                <a16:creationId xmlns:a16="http://schemas.microsoft.com/office/drawing/2014/main" id="{CE558343-07C2-4B89-A5BA-9048210EACFD}"/>
              </a:ext>
            </a:extLst>
          </p:cNvPr>
          <p:cNvSpPr>
            <a:spLocks xmlns:a="http://schemas.openxmlformats.org/drawingml/2006/main" noGrp="1"/>
          </p:cNvSpPr>
          <p:nvPr/>
        </p:nvSpPr>
        <p:spPr>
          <a:xfrm xmlns:a="http://schemas.openxmlformats.org/drawingml/2006/main">
            <a:off x="990600" y="3638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1</a:t>
            </a:r>
          </a:p>
        </p:txBody>
      </p:sp>
      <p:sp>
        <p:nvSpPr>
          <p:cNvPr id="7" name="cover-step-label-0">
            <a:extLst xmlns:a="http://schemas.openxmlformats.org/drawingml/2006/main">
              <a:ext uri="{FF2B5EF4-FFF2-40B4-BE49-F238E27FC236}">
                <a16:creationId xmlns:a16="http://schemas.microsoft.com/office/drawing/2014/main" id="{372749EF-BFB3-4295-BCBC-F0D9A976C5AC}"/>
              </a:ext>
            </a:extLst>
          </p:cNvPr>
          <p:cNvSpPr>
            <a:spLocks xmlns:a="http://schemas.openxmlformats.org/drawingml/2006/main" noGrp="1"/>
          </p:cNvSpPr>
          <p:nvPr/>
        </p:nvSpPr>
        <p:spPr>
          <a:xfrm xmlns:a="http://schemas.openxmlformats.org/drawingml/2006/main">
            <a:off x="1447800" y="36004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頼む</a:t>
            </a:r>
          </a:p>
        </p:txBody>
      </p:sp>
      <p:sp>
        <p:nvSpPr>
          <p:cNvPr id="8" name="cover-step-detail-0">
            <a:extLst xmlns:a="http://schemas.openxmlformats.org/drawingml/2006/main">
              <a:ext uri="{FF2B5EF4-FFF2-40B4-BE49-F238E27FC236}">
                <a16:creationId xmlns:a16="http://schemas.microsoft.com/office/drawing/2014/main" id="{5D2B3395-9B5C-48F3-B4FA-547729DCF5AC}"/>
              </a:ext>
            </a:extLst>
          </p:cNvPr>
          <p:cNvSpPr>
            <a:spLocks xmlns:a="http://schemas.openxmlformats.org/drawingml/2006/main" noGrp="1"/>
          </p:cNvSpPr>
          <p:nvPr/>
        </p:nvSpPr>
        <p:spPr>
          <a:xfrm xmlns:a="http://schemas.openxmlformats.org/drawingml/2006/main">
            <a:off x="1028700" y="40957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FFFFF"/>
                </a:solidFill>
              </a:defRPr>
            </a:pPr>
            <a:r>
              <a:rPr sz="1200" b="0">
                <a:solidFill>
                  <a:srgbClr val="FFFFFF"/>
                </a:solidFill>
              </a:rPr>
              <a:t>業務場面と完成条件を伝える</a:t>
            </a:r>
          </a:p>
        </p:txBody>
      </p:sp>
      <p:sp>
        <p:nvSpPr>
          <p:cNvPr id="9" name="cover-step-1">
            <a:extLst xmlns:a="http://schemas.openxmlformats.org/drawingml/2006/main">
              <a:ext uri="{FF2B5EF4-FFF2-40B4-BE49-F238E27FC236}">
                <a16:creationId xmlns:a16="http://schemas.microsoft.com/office/drawing/2014/main" id="{49C26D2C-F429-4E86-88A3-E42BF5B4DE13}"/>
              </a:ext>
            </a:extLst>
          </p:cNvPr>
          <p:cNvSpPr>
            <a:spLocks xmlns:a="http://schemas.openxmlformats.org/drawingml/2006/main" noGrp="1"/>
          </p:cNvSpPr>
          <p:nvPr/>
        </p:nvSpPr>
        <p:spPr>
          <a:xfrm xmlns:a="http://schemas.openxmlformats.org/drawingml/2006/main">
            <a:off x="4267200" y="3486150"/>
            <a:ext cx="3105150" cy="1200150"/>
          </a:xfrm>
          <a:prstGeom xmlns:a="http://schemas.openxmlformats.org/drawingml/2006/main" prst="roundRect">
            <a:avLst>
              <a:gd name="adj" fmla="val 9524"/>
            </a:avLst>
          </a:prstGeom>
          <a:solidFill xmlns:a="http://schemas.openxmlformats.org/drawingml/2006/main">
            <a:srgbClr val="0369A1"/>
          </a:solidFill>
          <a:ln xmlns:a="http://schemas.openxmlformats.org/drawingml/2006/main" w="0">
            <a:noFill/>
            <a:prstDash val="solid"/>
          </a:ln>
        </p:spPr>
      </p:sp>
      <p:sp>
        <p:nvSpPr>
          <p:cNvPr id="10" name="cover-step-no-1">
            <a:extLst xmlns:a="http://schemas.openxmlformats.org/drawingml/2006/main">
              <a:ext uri="{FF2B5EF4-FFF2-40B4-BE49-F238E27FC236}">
                <a16:creationId xmlns:a16="http://schemas.microsoft.com/office/drawing/2014/main" id="{03FCFFBF-B59E-491F-867F-5F4CA667FB2C}"/>
              </a:ext>
            </a:extLst>
          </p:cNvPr>
          <p:cNvSpPr>
            <a:spLocks xmlns:a="http://schemas.openxmlformats.org/drawingml/2006/main" noGrp="1"/>
          </p:cNvSpPr>
          <p:nvPr/>
        </p:nvSpPr>
        <p:spPr>
          <a:xfrm xmlns:a="http://schemas.openxmlformats.org/drawingml/2006/main">
            <a:off x="4438650" y="3638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2</a:t>
            </a:r>
          </a:p>
        </p:txBody>
      </p:sp>
      <p:sp>
        <p:nvSpPr>
          <p:cNvPr id="11" name="cover-step-label-1">
            <a:extLst xmlns:a="http://schemas.openxmlformats.org/drawingml/2006/main">
              <a:ext uri="{FF2B5EF4-FFF2-40B4-BE49-F238E27FC236}">
                <a16:creationId xmlns:a16="http://schemas.microsoft.com/office/drawing/2014/main" id="{6C000036-9241-4C61-802F-A73F3F958F4C}"/>
              </a:ext>
            </a:extLst>
          </p:cNvPr>
          <p:cNvSpPr>
            <a:spLocks xmlns:a="http://schemas.openxmlformats.org/drawingml/2006/main" noGrp="1"/>
          </p:cNvSpPr>
          <p:nvPr/>
        </p:nvSpPr>
        <p:spPr>
          <a:xfrm xmlns:a="http://schemas.openxmlformats.org/drawingml/2006/main">
            <a:off x="4895850" y="36004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比べる</a:t>
            </a:r>
          </a:p>
        </p:txBody>
      </p:sp>
      <p:sp>
        <p:nvSpPr>
          <p:cNvPr id="12" name="cover-step-detail-1">
            <a:extLst xmlns:a="http://schemas.openxmlformats.org/drawingml/2006/main">
              <a:ext uri="{FF2B5EF4-FFF2-40B4-BE49-F238E27FC236}">
                <a16:creationId xmlns:a16="http://schemas.microsoft.com/office/drawing/2014/main" id="{6CFD2687-3F1C-48A3-98B5-B9B3626D18F4}"/>
              </a:ext>
            </a:extLst>
          </p:cNvPr>
          <p:cNvSpPr>
            <a:spLocks xmlns:a="http://schemas.openxmlformats.org/drawingml/2006/main" noGrp="1"/>
          </p:cNvSpPr>
          <p:nvPr/>
        </p:nvSpPr>
        <p:spPr>
          <a:xfrm xmlns:a="http://schemas.openxmlformats.org/drawingml/2006/main">
            <a:off x="4476750" y="40957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FFFFF"/>
                </a:solidFill>
              </a:defRPr>
            </a:pPr>
            <a:r>
              <a:rPr sz="1200" b="0">
                <a:solidFill>
                  <a:srgbClr val="FFFFFF"/>
                </a:solidFill>
              </a:rPr>
              <a:t>出力例を目的と原資料に照らす</a:t>
            </a:r>
          </a:p>
        </p:txBody>
      </p:sp>
      <p:sp>
        <p:nvSpPr>
          <p:cNvPr id="13" name="cover-step-2">
            <a:extLst xmlns:a="http://schemas.openxmlformats.org/drawingml/2006/main">
              <a:ext uri="{FF2B5EF4-FFF2-40B4-BE49-F238E27FC236}">
                <a16:creationId xmlns:a16="http://schemas.microsoft.com/office/drawing/2014/main" id="{A52B8110-BF1C-4527-A49E-08745290B22F}"/>
              </a:ext>
            </a:extLst>
          </p:cNvPr>
          <p:cNvSpPr>
            <a:spLocks xmlns:a="http://schemas.openxmlformats.org/drawingml/2006/main" noGrp="1"/>
          </p:cNvSpPr>
          <p:nvPr/>
        </p:nvSpPr>
        <p:spPr>
          <a:xfrm xmlns:a="http://schemas.openxmlformats.org/drawingml/2006/main">
            <a:off x="7715250" y="3486150"/>
            <a:ext cx="3105150" cy="1200150"/>
          </a:xfrm>
          <a:prstGeom xmlns:a="http://schemas.openxmlformats.org/drawingml/2006/main" prst="roundRect">
            <a:avLst>
              <a:gd name="adj" fmla="val 9524"/>
            </a:avLst>
          </a:prstGeom>
          <a:solidFill xmlns:a="http://schemas.openxmlformats.org/drawingml/2006/main">
            <a:srgbClr val="0B6B66"/>
          </a:solidFill>
          <a:ln xmlns:a="http://schemas.openxmlformats.org/drawingml/2006/main" w="0">
            <a:noFill/>
            <a:prstDash val="solid"/>
          </a:ln>
        </p:spPr>
      </p:sp>
      <p:sp>
        <p:nvSpPr>
          <p:cNvPr id="14" name="cover-step-no-2">
            <a:extLst xmlns:a="http://schemas.openxmlformats.org/drawingml/2006/main">
              <a:ext uri="{FF2B5EF4-FFF2-40B4-BE49-F238E27FC236}">
                <a16:creationId xmlns:a16="http://schemas.microsoft.com/office/drawing/2014/main" id="{3058D4B4-1567-4BC4-9CF8-F4963E35332E}"/>
              </a:ext>
            </a:extLst>
          </p:cNvPr>
          <p:cNvSpPr>
            <a:spLocks xmlns:a="http://schemas.openxmlformats.org/drawingml/2006/main" noGrp="1"/>
          </p:cNvSpPr>
          <p:nvPr/>
        </p:nvSpPr>
        <p:spPr>
          <a:xfrm xmlns:a="http://schemas.openxmlformats.org/drawingml/2006/main">
            <a:off x="7886700" y="3638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3</a:t>
            </a:r>
          </a:p>
        </p:txBody>
      </p:sp>
      <p:sp>
        <p:nvSpPr>
          <p:cNvPr id="15" name="cover-step-label-2">
            <a:extLst xmlns:a="http://schemas.openxmlformats.org/drawingml/2006/main">
              <a:ext uri="{FF2B5EF4-FFF2-40B4-BE49-F238E27FC236}">
                <a16:creationId xmlns:a16="http://schemas.microsoft.com/office/drawing/2014/main" id="{FC1C428A-D106-4868-9BBD-3EBAB114D5C3}"/>
              </a:ext>
            </a:extLst>
          </p:cNvPr>
          <p:cNvSpPr>
            <a:spLocks xmlns:a="http://schemas.openxmlformats.org/drawingml/2006/main" noGrp="1"/>
          </p:cNvSpPr>
          <p:nvPr/>
        </p:nvSpPr>
        <p:spPr>
          <a:xfrm xmlns:a="http://schemas.openxmlformats.org/drawingml/2006/main">
            <a:off x="8343900" y="36004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確定する</a:t>
            </a:r>
          </a:p>
        </p:txBody>
      </p:sp>
      <p:sp>
        <p:nvSpPr>
          <p:cNvPr id="16" name="cover-step-detail-2">
            <a:extLst xmlns:a="http://schemas.openxmlformats.org/drawingml/2006/main">
              <a:ext uri="{FF2B5EF4-FFF2-40B4-BE49-F238E27FC236}">
                <a16:creationId xmlns:a16="http://schemas.microsoft.com/office/drawing/2014/main" id="{6BCB7D95-E4D6-4D85-94E8-25A29772F623}"/>
              </a:ext>
            </a:extLst>
          </p:cNvPr>
          <p:cNvSpPr>
            <a:spLocks xmlns:a="http://schemas.openxmlformats.org/drawingml/2006/main" noGrp="1"/>
          </p:cNvSpPr>
          <p:nvPr/>
        </p:nvSpPr>
        <p:spPr>
          <a:xfrm xmlns:a="http://schemas.openxmlformats.org/drawingml/2006/main">
            <a:off x="7924800" y="40957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FFFFF"/>
                </a:solidFill>
              </a:defRPr>
            </a:pPr>
            <a:r>
              <a:rPr sz="1200" b="0">
                <a:solidFill>
                  <a:srgbClr val="FFFFFF"/>
                </a:solidFill>
              </a:rPr>
              <a:t>人が修正・承認してから使う</a:t>
            </a:r>
          </a:p>
        </p:txBody>
      </p:sp>
      <p:sp>
        <p:nvSpPr>
          <p:cNvPr id="17" name="cover-meta">
            <a:extLst xmlns:a="http://schemas.openxmlformats.org/drawingml/2006/main">
              <a:ext uri="{FF2B5EF4-FFF2-40B4-BE49-F238E27FC236}">
                <a16:creationId xmlns:a16="http://schemas.microsoft.com/office/drawing/2014/main" id="{5171F903-41FE-4041-8790-106F4064F9A5}"/>
              </a:ext>
            </a:extLst>
          </p:cNvPr>
          <p:cNvSpPr>
            <a:spLocks xmlns:a="http://schemas.openxmlformats.org/drawingml/2006/main" noGrp="1"/>
          </p:cNvSpPr>
          <p:nvPr/>
        </p:nvSpPr>
        <p:spPr>
          <a:xfrm xmlns:a="http://schemas.openxmlformats.org/drawingml/2006/main">
            <a:off x="819150" y="51054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6E7E3"/>
                </a:solidFill>
              </a:defRPr>
            </a:pPr>
            <a:r>
              <a:rPr sz="1275" b="1">
                <a:solidFill>
                  <a:srgbClr val="C6E7E3"/>
                </a:solidFill>
              </a:rPr>
              <a:t>メール・報告書・一次資料調査・レビュー・安全な書換え　｜　音声付き 約30〜35分／演習込み 約60分　｜　基準日 2026年8月28日</a:t>
            </a:r>
          </a:p>
        </p:txBody>
      </p:sp>
      <p:sp>
        <p:nvSpPr>
          <p:cNvPr id="18" name="cover-boundary">
            <a:extLst xmlns:a="http://schemas.openxmlformats.org/drawingml/2006/main">
              <a:ext uri="{FF2B5EF4-FFF2-40B4-BE49-F238E27FC236}">
                <a16:creationId xmlns:a16="http://schemas.microsoft.com/office/drawing/2014/main" id="{AEF1D9EB-E7E4-4507-977D-620FB40ED91A}"/>
              </a:ext>
            </a:extLst>
          </p:cNvPr>
          <p:cNvSpPr>
            <a:spLocks xmlns:a="http://schemas.openxmlformats.org/drawingml/2006/main" noGrp="1"/>
          </p:cNvSpPr>
          <p:nvPr/>
        </p:nvSpPr>
        <p:spPr>
          <a:xfrm xmlns:a="http://schemas.openxmlformats.org/drawingml/2006/main">
            <a:off x="819150" y="58102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A9D9D3"/>
                </a:solidFill>
              </a:defRPr>
            </a:pPr>
            <a:r>
              <a:rPr sz="1125" b="0">
                <a:solidFill>
                  <a:srgbClr val="A9D9D3"/>
                </a:solidFill>
              </a:rPr>
              <a:t>この教材は社内AI研修用です。資格・認定講座ではなく、個別案件の法務判断を代替しません。</a:t>
            </a:r>
          </a:p>
        </p:txBody>
      </p:sp>
      <p:sp>
        <p:nvSpPr>
          <p:cNvPr id="19" name="cover-no">
            <a:extLst xmlns:a="http://schemas.openxmlformats.org/drawingml/2006/main">
              <a:ext uri="{FF2B5EF4-FFF2-40B4-BE49-F238E27FC236}">
                <a16:creationId xmlns:a16="http://schemas.microsoft.com/office/drawing/2014/main" id="{790D978C-82FE-4495-940D-B2C42C46F020}"/>
              </a:ext>
            </a:extLst>
          </p:cNvPr>
          <p:cNvSpPr>
            <a:spLocks xmlns:a="http://schemas.openxmlformats.org/drawingml/2006/main" noGrp="1"/>
          </p:cNvSpPr>
          <p:nvPr/>
        </p:nvSpPr>
        <p:spPr>
          <a:xfrm xmlns:a="http://schemas.openxmlformats.org/drawingml/2006/main">
            <a:off x="10287000" y="6229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92CBC4"/>
                </a:solidFill>
              </a:defRPr>
            </a:pPr>
            <a:r>
              <a:rPr sz="1050" b="0">
                <a:solidFill>
                  <a:srgbClr val="92CBC4"/>
                </a:solidFill>
              </a:rPr>
              <a:t>01 / 20</a:t>
            </a:r>
          </a:p>
        </p:txBody>
      </p:sp>
    </p:spTree>
    <p:extLst>
      <p:ext uri="{BB962C8B-B14F-4D97-AF65-F5344CB8AC3E}">
        <p14:creationId xmlns:p14="http://schemas.microsoft.com/office/powerpoint/2010/main" val="446038907"/>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2">
            <a:extLst xmlns:a="http://schemas.openxmlformats.org/drawingml/2006/main">
              <a:ext uri="{FF2B5EF4-FFF2-40B4-BE49-F238E27FC236}">
                <a16:creationId xmlns:a16="http://schemas.microsoft.com/office/drawing/2014/main" id="{19B58B36-3F76-42AA-9A57-E4A57E2B46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2">
            <a:extLst xmlns:a="http://schemas.openxmlformats.org/drawingml/2006/main">
              <a:ext uri="{FF2B5EF4-FFF2-40B4-BE49-F238E27FC236}">
                <a16:creationId xmlns:a16="http://schemas.microsoft.com/office/drawing/2014/main" id="{0546462E-83B9-4448-BF99-2D853404046B}"/>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研修の進め方</a:t>
            </a:r>
          </a:p>
        </p:txBody>
      </p:sp>
      <p:sp>
        <p:nvSpPr>
          <p:cNvPr id="3" name="label-2">
            <a:extLst xmlns:a="http://schemas.openxmlformats.org/drawingml/2006/main">
              <a:ext uri="{FF2B5EF4-FFF2-40B4-BE49-F238E27FC236}">
                <a16:creationId xmlns:a16="http://schemas.microsoft.com/office/drawing/2014/main" id="{E64A4585-3906-4BF3-88D0-8682BE66AE69}"/>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実務手順</a:t>
            </a:r>
          </a:p>
        </p:txBody>
      </p:sp>
      <p:sp>
        <p:nvSpPr>
          <p:cNvPr id="4" name="title-2">
            <a:extLst xmlns:a="http://schemas.openxmlformats.org/drawingml/2006/main">
              <a:ext uri="{FF2B5EF4-FFF2-40B4-BE49-F238E27FC236}">
                <a16:creationId xmlns:a16="http://schemas.microsoft.com/office/drawing/2014/main" id="{B5C1473B-F820-475B-B42F-74967F9C402C}"/>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今日は「書く・比べる・確定する」を繰り返す</a:t>
            </a:r>
          </a:p>
        </p:txBody>
      </p:sp>
      <p:sp>
        <p:nvSpPr>
          <p:cNvPr id="5" name="title-rule-2">
            <a:extLst xmlns:a="http://schemas.openxmlformats.org/drawingml/2006/main">
              <a:ext uri="{FF2B5EF4-FFF2-40B4-BE49-F238E27FC236}">
                <a16:creationId xmlns:a16="http://schemas.microsoft.com/office/drawing/2014/main" id="{27B657E9-4888-4657-8F52-59CD7CBB07D4}"/>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2">
            <a:extLst xmlns:a="http://schemas.openxmlformats.org/drawingml/2006/main">
              <a:ext uri="{FF2B5EF4-FFF2-40B4-BE49-F238E27FC236}">
                <a16:creationId xmlns:a16="http://schemas.microsoft.com/office/drawing/2014/main" id="{70EE3FDB-F552-4306-A86B-B07F969185DA}"/>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良いプロンプトを暗記せず、自分の仕事へ置き換えて、確認まで実行する。</a:t>
            </a:r>
          </a:p>
        </p:txBody>
      </p:sp>
      <p:sp>
        <p:nvSpPr>
          <p:cNvPr id="7" name="step-card-2-0">
            <a:extLst xmlns:a="http://schemas.openxmlformats.org/drawingml/2006/main">
              <a:ext uri="{FF2B5EF4-FFF2-40B4-BE49-F238E27FC236}">
                <a16:creationId xmlns:a16="http://schemas.microsoft.com/office/drawing/2014/main" id="{B124FB74-6A81-4270-B87C-D79E137BD8E8}"/>
              </a:ext>
            </a:extLst>
          </p:cNvPr>
          <p:cNvSpPr>
            <a:spLocks xmlns:a="http://schemas.openxmlformats.org/drawingml/2006/main" noGrp="1"/>
          </p:cNvSpPr>
          <p:nvPr/>
        </p:nvSpPr>
        <p:spPr>
          <a:xfrm xmlns:a="http://schemas.openxmlformats.org/drawingml/2006/main">
            <a:off x="6477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2-0">
            <a:extLst xmlns:a="http://schemas.openxmlformats.org/drawingml/2006/main">
              <a:ext uri="{FF2B5EF4-FFF2-40B4-BE49-F238E27FC236}">
                <a16:creationId xmlns:a16="http://schemas.microsoft.com/office/drawing/2014/main" id="{DA6C657D-FE2E-4B9E-AEC1-1F4D9A3521D0}"/>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2-0">
            <a:extLst xmlns:a="http://schemas.openxmlformats.org/drawingml/2006/main">
              <a:ext uri="{FF2B5EF4-FFF2-40B4-BE49-F238E27FC236}">
                <a16:creationId xmlns:a16="http://schemas.microsoft.com/office/drawing/2014/main" id="{EEF5EAB1-6760-4CE3-9F53-9DDC0826F473}"/>
              </a:ext>
            </a:extLst>
          </p:cNvPr>
          <p:cNvSpPr>
            <a:spLocks xmlns:a="http://schemas.openxmlformats.org/drawingml/2006/main" noGrp="1"/>
          </p:cNvSpPr>
          <p:nvPr/>
        </p:nvSpPr>
        <p:spPr>
          <a:xfrm xmlns:a="http://schemas.openxmlformats.org/drawingml/2006/main">
            <a:off x="819150" y="3028950"/>
            <a:ext cx="309880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2-0">
            <a:extLst xmlns:a="http://schemas.openxmlformats.org/drawingml/2006/main">
              <a:ext uri="{FF2B5EF4-FFF2-40B4-BE49-F238E27FC236}">
                <a16:creationId xmlns:a16="http://schemas.microsoft.com/office/drawing/2014/main" id="{EA7366E3-8F31-417F-AD64-01FAD6627ACC}"/>
              </a:ext>
            </a:extLst>
          </p:cNvPr>
          <p:cNvSpPr>
            <a:spLocks xmlns:a="http://schemas.openxmlformats.org/drawingml/2006/main" noGrp="1"/>
          </p:cNvSpPr>
          <p:nvPr/>
        </p:nvSpPr>
        <p:spPr>
          <a:xfrm xmlns:a="http://schemas.openxmlformats.org/drawingml/2006/main">
            <a:off x="8191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書く</a:t>
            </a:r>
          </a:p>
        </p:txBody>
      </p:sp>
      <p:sp>
        <p:nvSpPr>
          <p:cNvPr id="11" name="step-detail-2-0">
            <a:extLst xmlns:a="http://schemas.openxmlformats.org/drawingml/2006/main">
              <a:ext uri="{FF2B5EF4-FFF2-40B4-BE49-F238E27FC236}">
                <a16:creationId xmlns:a16="http://schemas.microsoft.com/office/drawing/2014/main" id="{142A94F9-FA61-4D62-B02B-F3C99768F291}"/>
              </a:ext>
            </a:extLst>
          </p:cNvPr>
          <p:cNvSpPr>
            <a:spLocks xmlns:a="http://schemas.openxmlformats.org/drawingml/2006/main" noGrp="1"/>
          </p:cNvSpPr>
          <p:nvPr/>
        </p:nvSpPr>
        <p:spPr>
          <a:xfrm xmlns:a="http://schemas.openxmlformats.org/drawingml/2006/main">
            <a:off x="8191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場面・材料・完成形・禁止事項を具体化</a:t>
            </a:r>
          </a:p>
        </p:txBody>
      </p:sp>
      <p:sp>
        <p:nvSpPr>
          <p:cNvPr id="12" name="step-card-2-1">
            <a:extLst xmlns:a="http://schemas.openxmlformats.org/drawingml/2006/main">
              <a:ext uri="{FF2B5EF4-FFF2-40B4-BE49-F238E27FC236}">
                <a16:creationId xmlns:a16="http://schemas.microsoft.com/office/drawing/2014/main" id="{AED946DD-A754-4E0C-8B81-E387689EA2CA}"/>
              </a:ext>
            </a:extLst>
          </p:cNvPr>
          <p:cNvSpPr>
            <a:spLocks xmlns:a="http://schemas.openxmlformats.org/drawingml/2006/main" noGrp="1"/>
          </p:cNvSpPr>
          <p:nvPr/>
        </p:nvSpPr>
        <p:spPr>
          <a:xfrm xmlns:a="http://schemas.openxmlformats.org/drawingml/2006/main">
            <a:off x="426085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2-1">
            <a:extLst xmlns:a="http://schemas.openxmlformats.org/drawingml/2006/main">
              <a:ext uri="{FF2B5EF4-FFF2-40B4-BE49-F238E27FC236}">
                <a16:creationId xmlns:a16="http://schemas.microsoft.com/office/drawing/2014/main" id="{DF63B039-9CC7-4404-A5A4-FB52E177CD55}"/>
              </a:ext>
            </a:extLst>
          </p:cNvPr>
          <p:cNvSpPr>
            <a:spLocks xmlns:a="http://schemas.openxmlformats.org/drawingml/2006/main" noGrp="1"/>
          </p:cNvSpPr>
          <p:nvPr/>
        </p:nvSpPr>
        <p:spPr>
          <a:xfrm xmlns:a="http://schemas.openxmlformats.org/drawingml/2006/main">
            <a:off x="443230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2-1">
            <a:extLst xmlns:a="http://schemas.openxmlformats.org/drawingml/2006/main">
              <a:ext uri="{FF2B5EF4-FFF2-40B4-BE49-F238E27FC236}">
                <a16:creationId xmlns:a16="http://schemas.microsoft.com/office/drawing/2014/main" id="{B16552A1-378B-49D4-9313-85FAFCD1F1A7}"/>
              </a:ext>
            </a:extLst>
          </p:cNvPr>
          <p:cNvSpPr>
            <a:spLocks xmlns:a="http://schemas.openxmlformats.org/drawingml/2006/main" noGrp="1"/>
          </p:cNvSpPr>
          <p:nvPr/>
        </p:nvSpPr>
        <p:spPr>
          <a:xfrm xmlns:a="http://schemas.openxmlformats.org/drawingml/2006/main">
            <a:off x="4432300" y="3028950"/>
            <a:ext cx="3098800"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2-1">
            <a:extLst xmlns:a="http://schemas.openxmlformats.org/drawingml/2006/main">
              <a:ext uri="{FF2B5EF4-FFF2-40B4-BE49-F238E27FC236}">
                <a16:creationId xmlns:a16="http://schemas.microsoft.com/office/drawing/2014/main" id="{712441C4-5A5F-4F0C-A81B-0189F89FF1BC}"/>
              </a:ext>
            </a:extLst>
          </p:cNvPr>
          <p:cNvSpPr>
            <a:spLocks xmlns:a="http://schemas.openxmlformats.org/drawingml/2006/main" noGrp="1"/>
          </p:cNvSpPr>
          <p:nvPr/>
        </p:nvSpPr>
        <p:spPr>
          <a:xfrm xmlns:a="http://schemas.openxmlformats.org/drawingml/2006/main">
            <a:off x="443230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比べる</a:t>
            </a:r>
          </a:p>
        </p:txBody>
      </p:sp>
      <p:sp>
        <p:nvSpPr>
          <p:cNvPr id="16" name="step-detail-2-1">
            <a:extLst xmlns:a="http://schemas.openxmlformats.org/drawingml/2006/main">
              <a:ext uri="{FF2B5EF4-FFF2-40B4-BE49-F238E27FC236}">
                <a16:creationId xmlns:a16="http://schemas.microsoft.com/office/drawing/2014/main" id="{DC66B17F-AE7D-4443-8CC5-C1E47FE98EC0}"/>
              </a:ext>
            </a:extLst>
          </p:cNvPr>
          <p:cNvSpPr>
            <a:spLocks xmlns:a="http://schemas.openxmlformats.org/drawingml/2006/main" noGrp="1"/>
          </p:cNvSpPr>
          <p:nvPr/>
        </p:nvSpPr>
        <p:spPr>
          <a:xfrm xmlns:a="http://schemas.openxmlformats.org/drawingml/2006/main">
            <a:off x="443230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依頼、出力、原資料の食い違いを探す</a:t>
            </a:r>
          </a:p>
        </p:txBody>
      </p:sp>
      <p:sp>
        <p:nvSpPr>
          <p:cNvPr id="17" name="step-card-2-2">
            <a:extLst xmlns:a="http://schemas.openxmlformats.org/drawingml/2006/main">
              <a:ext uri="{FF2B5EF4-FFF2-40B4-BE49-F238E27FC236}">
                <a16:creationId xmlns:a16="http://schemas.microsoft.com/office/drawing/2014/main" id="{16E1C5AE-6F4D-460D-8422-21318FFC6FF2}"/>
              </a:ext>
            </a:extLst>
          </p:cNvPr>
          <p:cNvSpPr>
            <a:spLocks xmlns:a="http://schemas.openxmlformats.org/drawingml/2006/main" noGrp="1"/>
          </p:cNvSpPr>
          <p:nvPr/>
        </p:nvSpPr>
        <p:spPr>
          <a:xfrm xmlns:a="http://schemas.openxmlformats.org/drawingml/2006/main">
            <a:off x="78740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2-2">
            <a:extLst xmlns:a="http://schemas.openxmlformats.org/drawingml/2006/main">
              <a:ext uri="{FF2B5EF4-FFF2-40B4-BE49-F238E27FC236}">
                <a16:creationId xmlns:a16="http://schemas.microsoft.com/office/drawing/2014/main" id="{24F461FC-ADFC-42E5-BEDA-493331DE3622}"/>
              </a:ext>
            </a:extLst>
          </p:cNvPr>
          <p:cNvSpPr>
            <a:spLocks xmlns:a="http://schemas.openxmlformats.org/drawingml/2006/main" noGrp="1"/>
          </p:cNvSpPr>
          <p:nvPr/>
        </p:nvSpPr>
        <p:spPr>
          <a:xfrm xmlns:a="http://schemas.openxmlformats.org/drawingml/2006/main">
            <a:off x="80454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2-2">
            <a:extLst xmlns:a="http://schemas.openxmlformats.org/drawingml/2006/main">
              <a:ext uri="{FF2B5EF4-FFF2-40B4-BE49-F238E27FC236}">
                <a16:creationId xmlns:a16="http://schemas.microsoft.com/office/drawing/2014/main" id="{6115D5BE-D1A5-4718-A3B0-E59766BC2CDF}"/>
              </a:ext>
            </a:extLst>
          </p:cNvPr>
          <p:cNvSpPr>
            <a:spLocks xmlns:a="http://schemas.openxmlformats.org/drawingml/2006/main" noGrp="1"/>
          </p:cNvSpPr>
          <p:nvPr/>
        </p:nvSpPr>
        <p:spPr>
          <a:xfrm xmlns:a="http://schemas.openxmlformats.org/drawingml/2006/main">
            <a:off x="8045450" y="3028950"/>
            <a:ext cx="3098800"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2-2">
            <a:extLst xmlns:a="http://schemas.openxmlformats.org/drawingml/2006/main">
              <a:ext uri="{FF2B5EF4-FFF2-40B4-BE49-F238E27FC236}">
                <a16:creationId xmlns:a16="http://schemas.microsoft.com/office/drawing/2014/main" id="{DED1B9E3-B92E-4737-873F-7B3696BAE09E}"/>
              </a:ext>
            </a:extLst>
          </p:cNvPr>
          <p:cNvSpPr>
            <a:spLocks xmlns:a="http://schemas.openxmlformats.org/drawingml/2006/main" noGrp="1"/>
          </p:cNvSpPr>
          <p:nvPr/>
        </p:nvSpPr>
        <p:spPr>
          <a:xfrm xmlns:a="http://schemas.openxmlformats.org/drawingml/2006/main">
            <a:off x="80454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確定する</a:t>
            </a:r>
          </a:p>
        </p:txBody>
      </p:sp>
      <p:sp>
        <p:nvSpPr>
          <p:cNvPr id="21" name="step-detail-2-2">
            <a:extLst xmlns:a="http://schemas.openxmlformats.org/drawingml/2006/main">
              <a:ext uri="{FF2B5EF4-FFF2-40B4-BE49-F238E27FC236}">
                <a16:creationId xmlns:a16="http://schemas.microsoft.com/office/drawing/2014/main" id="{0EB1B757-D695-4A07-9F61-1DF2DFE2B2C6}"/>
              </a:ext>
            </a:extLst>
          </p:cNvPr>
          <p:cNvSpPr>
            <a:spLocks xmlns:a="http://schemas.openxmlformats.org/drawingml/2006/main" noGrp="1"/>
          </p:cNvSpPr>
          <p:nvPr/>
        </p:nvSpPr>
        <p:spPr>
          <a:xfrm xmlns:a="http://schemas.openxmlformats.org/drawingml/2006/main">
            <a:off x="80454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担当者が修正し、承認後に利用</a:t>
            </a:r>
          </a:p>
        </p:txBody>
      </p:sp>
      <p:sp>
        <p:nvSpPr>
          <p:cNvPr id="22" name="body-2">
            <a:extLst xmlns:a="http://schemas.openxmlformats.org/drawingml/2006/main">
              <a:ext uri="{FF2B5EF4-FFF2-40B4-BE49-F238E27FC236}">
                <a16:creationId xmlns:a16="http://schemas.microsoft.com/office/drawing/2014/main" id="{B8665E31-780B-4873-BB44-7BCFEDDA094D}"/>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AI出力は架空の参考例。送信・公開・意思決定は人が行う</a:t>
            </a:r>
          </a:p>
        </p:txBody>
      </p:sp>
      <p:sp>
        <p:nvSpPr>
          <p:cNvPr id="23" name="footer-rule-2">
            <a:extLst xmlns:a="http://schemas.openxmlformats.org/drawingml/2006/main">
              <a:ext uri="{FF2B5EF4-FFF2-40B4-BE49-F238E27FC236}">
                <a16:creationId xmlns:a16="http://schemas.microsoft.com/office/drawing/2014/main" id="{46BFE5D7-C92B-4177-98DF-9EDB6B66DE91}"/>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2">
            <a:extLst xmlns:a="http://schemas.openxmlformats.org/drawingml/2006/main">
              <a:ext uri="{FF2B5EF4-FFF2-40B4-BE49-F238E27FC236}">
                <a16:creationId xmlns:a16="http://schemas.microsoft.com/office/drawing/2014/main" id="{BFF66F8A-06FF-4C90-9818-4D4FC97BC467}"/>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S1・S6・S2・S4（詳細はノート）</a:t>
            </a:r>
          </a:p>
        </p:txBody>
      </p:sp>
      <p:sp>
        <p:nvSpPr>
          <p:cNvPr id="25" name="footer-no-2">
            <a:extLst xmlns:a="http://schemas.openxmlformats.org/drawingml/2006/main">
              <a:ext uri="{FF2B5EF4-FFF2-40B4-BE49-F238E27FC236}">
                <a16:creationId xmlns:a16="http://schemas.microsoft.com/office/drawing/2014/main" id="{49218136-AC49-47FF-920B-C131CDC44E5A}"/>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02 / 20</a:t>
            </a:r>
          </a:p>
        </p:txBody>
      </p:sp>
    </p:spTree>
    <p:extLst>
      <p:ext uri="{BB962C8B-B14F-4D97-AF65-F5344CB8AC3E}">
        <p14:creationId xmlns:p14="http://schemas.microsoft.com/office/powerpoint/2010/main" val="40325797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3">
            <a:extLst xmlns:a="http://schemas.openxmlformats.org/drawingml/2006/main">
              <a:ext uri="{FF2B5EF4-FFF2-40B4-BE49-F238E27FC236}">
                <a16:creationId xmlns:a16="http://schemas.microsoft.com/office/drawing/2014/main" id="{E29ED914-31B4-43A5-BE0B-C5DDD8A5DCC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3">
            <a:extLst xmlns:a="http://schemas.openxmlformats.org/drawingml/2006/main">
              <a:ext uri="{FF2B5EF4-FFF2-40B4-BE49-F238E27FC236}">
                <a16:creationId xmlns:a16="http://schemas.microsoft.com/office/drawing/2014/main" id="{3D57962F-F697-4A47-89A1-C2808C63343C}"/>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5つの業務ケース</a:t>
            </a:r>
          </a:p>
        </p:txBody>
      </p:sp>
      <p:sp>
        <p:nvSpPr>
          <p:cNvPr id="3" name="label-3">
            <a:extLst xmlns:a="http://schemas.openxmlformats.org/drawingml/2006/main">
              <a:ext uri="{FF2B5EF4-FFF2-40B4-BE49-F238E27FC236}">
                <a16:creationId xmlns:a16="http://schemas.microsoft.com/office/drawing/2014/main" id="{2C69F218-CAD8-4AF5-BB00-FAE103838560}"/>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役割分担</a:t>
            </a:r>
          </a:p>
        </p:txBody>
      </p:sp>
      <p:sp>
        <p:nvSpPr>
          <p:cNvPr id="4" name="title-3">
            <a:extLst xmlns:a="http://schemas.openxmlformats.org/drawingml/2006/main">
              <a:ext uri="{FF2B5EF4-FFF2-40B4-BE49-F238E27FC236}">
                <a16:creationId xmlns:a16="http://schemas.microsoft.com/office/drawing/2014/main" id="{34342570-6F3B-45C0-9333-1CE2ACE11519}"/>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AIへ渡すのは、完成品ではなく仕事の一工程</a:t>
            </a:r>
          </a:p>
        </p:txBody>
      </p:sp>
      <p:sp>
        <p:nvSpPr>
          <p:cNvPr id="5" name="title-rule-3">
            <a:extLst xmlns:a="http://schemas.openxmlformats.org/drawingml/2006/main">
              <a:ext uri="{FF2B5EF4-FFF2-40B4-BE49-F238E27FC236}">
                <a16:creationId xmlns:a16="http://schemas.microsoft.com/office/drawing/2014/main" id="{F32C64F8-7A8B-42C1-9354-B332A527D856}"/>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3">
            <a:extLst xmlns:a="http://schemas.openxmlformats.org/drawingml/2006/main">
              <a:ext uri="{FF2B5EF4-FFF2-40B4-BE49-F238E27FC236}">
                <a16:creationId xmlns:a16="http://schemas.microsoft.com/office/drawing/2014/main" id="{CE224F5C-E0E2-4EF9-ADEB-4271965D8653}"/>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下書き・整理・観点出しまで任せ、事実確定・送信・承認は人に残す。</a:t>
            </a:r>
          </a:p>
        </p:txBody>
      </p:sp>
      <p:sp>
        <p:nvSpPr>
          <p:cNvPr id="7" name="step-card-3-0">
            <a:extLst xmlns:a="http://schemas.openxmlformats.org/drawingml/2006/main">
              <a:ext uri="{FF2B5EF4-FFF2-40B4-BE49-F238E27FC236}">
                <a16:creationId xmlns:a16="http://schemas.microsoft.com/office/drawing/2014/main" id="{3CDFEA01-5227-418C-A809-50540FCFCC5C}"/>
              </a:ext>
            </a:extLst>
          </p:cNvPr>
          <p:cNvSpPr>
            <a:spLocks xmlns:a="http://schemas.openxmlformats.org/drawingml/2006/main" noGrp="1"/>
          </p:cNvSpPr>
          <p:nvPr/>
        </p:nvSpPr>
        <p:spPr>
          <a:xfrm xmlns:a="http://schemas.openxmlformats.org/drawingml/2006/main">
            <a:off x="6477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3-0">
            <a:extLst xmlns:a="http://schemas.openxmlformats.org/drawingml/2006/main">
              <a:ext uri="{FF2B5EF4-FFF2-40B4-BE49-F238E27FC236}">
                <a16:creationId xmlns:a16="http://schemas.microsoft.com/office/drawing/2014/main" id="{AA12A7FB-D225-4F43-A103-F6315CCCD5A2}"/>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3-0">
            <a:extLst xmlns:a="http://schemas.openxmlformats.org/drawingml/2006/main">
              <a:ext uri="{FF2B5EF4-FFF2-40B4-BE49-F238E27FC236}">
                <a16:creationId xmlns:a16="http://schemas.microsoft.com/office/drawing/2014/main" id="{A3BCB0FE-8AC7-49D7-BE18-C0F519BFDBBA}"/>
              </a:ext>
            </a:extLst>
          </p:cNvPr>
          <p:cNvSpPr>
            <a:spLocks xmlns:a="http://schemas.openxmlformats.org/drawingml/2006/main" noGrp="1"/>
          </p:cNvSpPr>
          <p:nvPr/>
        </p:nvSpPr>
        <p:spPr>
          <a:xfrm xmlns:a="http://schemas.openxmlformats.org/drawingml/2006/main">
            <a:off x="819150" y="3028950"/>
            <a:ext cx="309880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3-0">
            <a:extLst xmlns:a="http://schemas.openxmlformats.org/drawingml/2006/main">
              <a:ext uri="{FF2B5EF4-FFF2-40B4-BE49-F238E27FC236}">
                <a16:creationId xmlns:a16="http://schemas.microsoft.com/office/drawing/2014/main" id="{B639AAF2-F1EC-460A-AB30-12792BF0FA10}"/>
              </a:ext>
            </a:extLst>
          </p:cNvPr>
          <p:cNvSpPr>
            <a:spLocks xmlns:a="http://schemas.openxmlformats.org/drawingml/2006/main" noGrp="1"/>
          </p:cNvSpPr>
          <p:nvPr/>
        </p:nvSpPr>
        <p:spPr>
          <a:xfrm xmlns:a="http://schemas.openxmlformats.org/drawingml/2006/main">
            <a:off x="8191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文書の下書き</a:t>
            </a:r>
          </a:p>
        </p:txBody>
      </p:sp>
      <p:sp>
        <p:nvSpPr>
          <p:cNvPr id="11" name="step-detail-3-0">
            <a:extLst xmlns:a="http://schemas.openxmlformats.org/drawingml/2006/main">
              <a:ext uri="{FF2B5EF4-FFF2-40B4-BE49-F238E27FC236}">
                <a16:creationId xmlns:a16="http://schemas.microsoft.com/office/drawing/2014/main" id="{9061EAF4-3717-45D8-8D17-701C7CA56C65}"/>
              </a:ext>
            </a:extLst>
          </p:cNvPr>
          <p:cNvSpPr>
            <a:spLocks xmlns:a="http://schemas.openxmlformats.org/drawingml/2006/main" noGrp="1"/>
          </p:cNvSpPr>
          <p:nvPr/>
        </p:nvSpPr>
        <p:spPr>
          <a:xfrm xmlns:a="http://schemas.openxmlformats.org/drawingml/2006/main">
            <a:off x="8191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メール、報告書の構成と文章案</a:t>
            </a:r>
          </a:p>
        </p:txBody>
      </p:sp>
      <p:sp>
        <p:nvSpPr>
          <p:cNvPr id="12" name="step-card-3-1">
            <a:extLst xmlns:a="http://schemas.openxmlformats.org/drawingml/2006/main">
              <a:ext uri="{FF2B5EF4-FFF2-40B4-BE49-F238E27FC236}">
                <a16:creationId xmlns:a16="http://schemas.microsoft.com/office/drawing/2014/main" id="{8F522B3A-14EF-463C-ABC2-6221CB2AED13}"/>
              </a:ext>
            </a:extLst>
          </p:cNvPr>
          <p:cNvSpPr>
            <a:spLocks xmlns:a="http://schemas.openxmlformats.org/drawingml/2006/main" noGrp="1"/>
          </p:cNvSpPr>
          <p:nvPr/>
        </p:nvSpPr>
        <p:spPr>
          <a:xfrm xmlns:a="http://schemas.openxmlformats.org/drawingml/2006/main">
            <a:off x="426085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3-1">
            <a:extLst xmlns:a="http://schemas.openxmlformats.org/drawingml/2006/main">
              <a:ext uri="{FF2B5EF4-FFF2-40B4-BE49-F238E27FC236}">
                <a16:creationId xmlns:a16="http://schemas.microsoft.com/office/drawing/2014/main" id="{029AAE69-8083-4C0A-9000-5FAE6837AF79}"/>
              </a:ext>
            </a:extLst>
          </p:cNvPr>
          <p:cNvSpPr>
            <a:spLocks xmlns:a="http://schemas.openxmlformats.org/drawingml/2006/main" noGrp="1"/>
          </p:cNvSpPr>
          <p:nvPr/>
        </p:nvSpPr>
        <p:spPr>
          <a:xfrm xmlns:a="http://schemas.openxmlformats.org/drawingml/2006/main">
            <a:off x="443230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3-1">
            <a:extLst xmlns:a="http://schemas.openxmlformats.org/drawingml/2006/main">
              <a:ext uri="{FF2B5EF4-FFF2-40B4-BE49-F238E27FC236}">
                <a16:creationId xmlns:a16="http://schemas.microsoft.com/office/drawing/2014/main" id="{0F84DBF0-1290-4D1F-8EC3-5AE0A4CE2BEE}"/>
              </a:ext>
            </a:extLst>
          </p:cNvPr>
          <p:cNvSpPr>
            <a:spLocks xmlns:a="http://schemas.openxmlformats.org/drawingml/2006/main" noGrp="1"/>
          </p:cNvSpPr>
          <p:nvPr/>
        </p:nvSpPr>
        <p:spPr>
          <a:xfrm xmlns:a="http://schemas.openxmlformats.org/drawingml/2006/main">
            <a:off x="4432300" y="3028950"/>
            <a:ext cx="3098800"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3-1">
            <a:extLst xmlns:a="http://schemas.openxmlformats.org/drawingml/2006/main">
              <a:ext uri="{FF2B5EF4-FFF2-40B4-BE49-F238E27FC236}">
                <a16:creationId xmlns:a16="http://schemas.microsoft.com/office/drawing/2014/main" id="{A6E344F7-A226-432A-9D2A-028E245385A2}"/>
              </a:ext>
            </a:extLst>
          </p:cNvPr>
          <p:cNvSpPr>
            <a:spLocks xmlns:a="http://schemas.openxmlformats.org/drawingml/2006/main" noGrp="1"/>
          </p:cNvSpPr>
          <p:nvPr/>
        </p:nvSpPr>
        <p:spPr>
          <a:xfrm xmlns:a="http://schemas.openxmlformats.org/drawingml/2006/main">
            <a:off x="443230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確認の補助</a:t>
            </a:r>
          </a:p>
        </p:txBody>
      </p:sp>
      <p:sp>
        <p:nvSpPr>
          <p:cNvPr id="16" name="step-detail-3-1">
            <a:extLst xmlns:a="http://schemas.openxmlformats.org/drawingml/2006/main">
              <a:ext uri="{FF2B5EF4-FFF2-40B4-BE49-F238E27FC236}">
                <a16:creationId xmlns:a16="http://schemas.microsoft.com/office/drawing/2014/main" id="{E9D69AF8-B39A-4142-9C48-DFD5C93202B1}"/>
              </a:ext>
            </a:extLst>
          </p:cNvPr>
          <p:cNvSpPr>
            <a:spLocks xmlns:a="http://schemas.openxmlformats.org/drawingml/2006/main" noGrp="1"/>
          </p:cNvSpPr>
          <p:nvPr/>
        </p:nvSpPr>
        <p:spPr>
          <a:xfrm xmlns:a="http://schemas.openxmlformats.org/drawingml/2006/main">
            <a:off x="443230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調査候補、抜け漏れ、反対意見</a:t>
            </a:r>
          </a:p>
        </p:txBody>
      </p:sp>
      <p:sp>
        <p:nvSpPr>
          <p:cNvPr id="17" name="step-card-3-2">
            <a:extLst xmlns:a="http://schemas.openxmlformats.org/drawingml/2006/main">
              <a:ext uri="{FF2B5EF4-FFF2-40B4-BE49-F238E27FC236}">
                <a16:creationId xmlns:a16="http://schemas.microsoft.com/office/drawing/2014/main" id="{5DD6F8B4-F465-431C-ACCE-73FD49DD7CBA}"/>
              </a:ext>
            </a:extLst>
          </p:cNvPr>
          <p:cNvSpPr>
            <a:spLocks xmlns:a="http://schemas.openxmlformats.org/drawingml/2006/main" noGrp="1"/>
          </p:cNvSpPr>
          <p:nvPr/>
        </p:nvSpPr>
        <p:spPr>
          <a:xfrm xmlns:a="http://schemas.openxmlformats.org/drawingml/2006/main">
            <a:off x="78740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3-2">
            <a:extLst xmlns:a="http://schemas.openxmlformats.org/drawingml/2006/main">
              <a:ext uri="{FF2B5EF4-FFF2-40B4-BE49-F238E27FC236}">
                <a16:creationId xmlns:a16="http://schemas.microsoft.com/office/drawing/2014/main" id="{D1361EA4-BEE3-4DAD-81E9-9F7FCE22A2A1}"/>
              </a:ext>
            </a:extLst>
          </p:cNvPr>
          <p:cNvSpPr>
            <a:spLocks xmlns:a="http://schemas.openxmlformats.org/drawingml/2006/main" noGrp="1"/>
          </p:cNvSpPr>
          <p:nvPr/>
        </p:nvSpPr>
        <p:spPr>
          <a:xfrm xmlns:a="http://schemas.openxmlformats.org/drawingml/2006/main">
            <a:off x="80454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3-2">
            <a:extLst xmlns:a="http://schemas.openxmlformats.org/drawingml/2006/main">
              <a:ext uri="{FF2B5EF4-FFF2-40B4-BE49-F238E27FC236}">
                <a16:creationId xmlns:a16="http://schemas.microsoft.com/office/drawing/2014/main" id="{7BF12720-5C3A-47F4-BEF9-9C5FDF1FC6FA}"/>
              </a:ext>
            </a:extLst>
          </p:cNvPr>
          <p:cNvSpPr>
            <a:spLocks xmlns:a="http://schemas.openxmlformats.org/drawingml/2006/main" noGrp="1"/>
          </p:cNvSpPr>
          <p:nvPr/>
        </p:nvSpPr>
        <p:spPr>
          <a:xfrm xmlns:a="http://schemas.openxmlformats.org/drawingml/2006/main">
            <a:off x="8045450" y="3028950"/>
            <a:ext cx="3098800"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3-2">
            <a:extLst xmlns:a="http://schemas.openxmlformats.org/drawingml/2006/main">
              <a:ext uri="{FF2B5EF4-FFF2-40B4-BE49-F238E27FC236}">
                <a16:creationId xmlns:a16="http://schemas.microsoft.com/office/drawing/2014/main" id="{D8F7054A-0C75-4AE0-A782-2454564658AC}"/>
              </a:ext>
            </a:extLst>
          </p:cNvPr>
          <p:cNvSpPr>
            <a:spLocks xmlns:a="http://schemas.openxmlformats.org/drawingml/2006/main" noGrp="1"/>
          </p:cNvSpPr>
          <p:nvPr/>
        </p:nvSpPr>
        <p:spPr>
          <a:xfrm xmlns:a="http://schemas.openxmlformats.org/drawingml/2006/main">
            <a:off x="80454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人が残す工程</a:t>
            </a:r>
          </a:p>
        </p:txBody>
      </p:sp>
      <p:sp>
        <p:nvSpPr>
          <p:cNvPr id="21" name="step-detail-3-2">
            <a:extLst xmlns:a="http://schemas.openxmlformats.org/drawingml/2006/main">
              <a:ext uri="{FF2B5EF4-FFF2-40B4-BE49-F238E27FC236}">
                <a16:creationId xmlns:a16="http://schemas.microsoft.com/office/drawing/2014/main" id="{8938358D-ACC7-469C-B540-4A14253AD154}"/>
              </a:ext>
            </a:extLst>
          </p:cNvPr>
          <p:cNvSpPr>
            <a:spLocks xmlns:a="http://schemas.openxmlformats.org/drawingml/2006/main" noGrp="1"/>
          </p:cNvSpPr>
          <p:nvPr/>
        </p:nvSpPr>
        <p:spPr>
          <a:xfrm xmlns:a="http://schemas.openxmlformats.org/drawingml/2006/main">
            <a:off x="80454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原資料照合、事実確定、承認、送信</a:t>
            </a:r>
          </a:p>
        </p:txBody>
      </p:sp>
      <p:sp>
        <p:nvSpPr>
          <p:cNvPr id="22" name="body-3">
            <a:extLst xmlns:a="http://schemas.openxmlformats.org/drawingml/2006/main">
              <a:ext uri="{FF2B5EF4-FFF2-40B4-BE49-F238E27FC236}">
                <a16:creationId xmlns:a16="http://schemas.microsoft.com/office/drawing/2014/main" id="{F2F938A9-1D13-4493-A1F3-B15F36AFA0AD}"/>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文書：メール・報告書　｜　確認：一次資料調査・レビュー　｜　安全化：機密を除いた依頼への書換え</a:t>
            </a:r>
          </a:p>
        </p:txBody>
      </p:sp>
      <p:sp>
        <p:nvSpPr>
          <p:cNvPr id="23" name="footer-rule-3">
            <a:extLst xmlns:a="http://schemas.openxmlformats.org/drawingml/2006/main">
              <a:ext uri="{FF2B5EF4-FFF2-40B4-BE49-F238E27FC236}">
                <a16:creationId xmlns:a16="http://schemas.microsoft.com/office/drawing/2014/main" id="{A0845FFE-1528-49C7-ACB8-470D91592563}"/>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3">
            <a:extLst xmlns:a="http://schemas.openxmlformats.org/drawingml/2006/main">
              <a:ext uri="{FF2B5EF4-FFF2-40B4-BE49-F238E27FC236}">
                <a16:creationId xmlns:a16="http://schemas.microsoft.com/office/drawing/2014/main" id="{1608236B-737C-4C15-A954-15CF33109586}"/>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S1・S6（詳細はノート）</a:t>
            </a:r>
          </a:p>
        </p:txBody>
      </p:sp>
      <p:sp>
        <p:nvSpPr>
          <p:cNvPr id="25" name="footer-no-3">
            <a:extLst xmlns:a="http://schemas.openxmlformats.org/drawingml/2006/main">
              <a:ext uri="{FF2B5EF4-FFF2-40B4-BE49-F238E27FC236}">
                <a16:creationId xmlns:a16="http://schemas.microsoft.com/office/drawing/2014/main" id="{F547753D-FEF7-4A7E-A33A-4E070B60DF85}"/>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03 / 20</a:t>
            </a:r>
          </a:p>
        </p:txBody>
      </p:sp>
    </p:spTree>
    <p:extLst>
      <p:ext uri="{BB962C8B-B14F-4D97-AF65-F5344CB8AC3E}">
        <p14:creationId xmlns:p14="http://schemas.microsoft.com/office/powerpoint/2010/main" val="119197837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4">
            <a:extLst xmlns:a="http://schemas.openxmlformats.org/drawingml/2006/main">
              <a:ext uri="{FF2B5EF4-FFF2-40B4-BE49-F238E27FC236}">
                <a16:creationId xmlns:a16="http://schemas.microsoft.com/office/drawing/2014/main" id="{5AE1D13B-3B4E-4EC7-B250-2278F85F2D4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4">
            <a:extLst xmlns:a="http://schemas.openxmlformats.org/drawingml/2006/main">
              <a:ext uri="{FF2B5EF4-FFF2-40B4-BE49-F238E27FC236}">
                <a16:creationId xmlns:a16="http://schemas.microsoft.com/office/drawing/2014/main" id="{9121FD7E-F8CB-4A04-B9D3-B6E8E1B15652}"/>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全ケース共通</a:t>
            </a:r>
          </a:p>
        </p:txBody>
      </p:sp>
      <p:sp>
        <p:nvSpPr>
          <p:cNvPr id="3" name="label-4">
            <a:extLst xmlns:a="http://schemas.openxmlformats.org/drawingml/2006/main">
              <a:ext uri="{FF2B5EF4-FFF2-40B4-BE49-F238E27FC236}">
                <a16:creationId xmlns:a16="http://schemas.microsoft.com/office/drawing/2014/main" id="{C12CA579-EF77-4FE2-91D6-58ACE013ACDA}"/>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公式資料を実務化</a:t>
            </a:r>
          </a:p>
        </p:txBody>
      </p:sp>
      <p:sp>
        <p:nvSpPr>
          <p:cNvPr id="4" name="title-4">
            <a:extLst xmlns:a="http://schemas.openxmlformats.org/drawingml/2006/main">
              <a:ext uri="{FF2B5EF4-FFF2-40B4-BE49-F238E27FC236}">
                <a16:creationId xmlns:a16="http://schemas.microsoft.com/office/drawing/2014/main" id="{C9D6CC53-B5D0-4B5A-A562-EC71BF6112D1}"/>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依頼は4行から始めればよい</a:t>
            </a:r>
          </a:p>
        </p:txBody>
      </p:sp>
      <p:sp>
        <p:nvSpPr>
          <p:cNvPr id="5" name="title-rule-4">
            <a:extLst xmlns:a="http://schemas.openxmlformats.org/drawingml/2006/main">
              <a:ext uri="{FF2B5EF4-FFF2-40B4-BE49-F238E27FC236}">
                <a16:creationId xmlns:a16="http://schemas.microsoft.com/office/drawing/2014/main" id="{E7F6C2BF-3960-4653-8278-A0CA36D02BD2}"/>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4">
            <a:extLst xmlns:a="http://schemas.openxmlformats.org/drawingml/2006/main">
              <a:ext uri="{FF2B5EF4-FFF2-40B4-BE49-F238E27FC236}">
                <a16:creationId xmlns:a16="http://schemas.microsoft.com/office/drawing/2014/main" id="{7FFEEC6B-CAA6-4098-951D-4B7BAC4118E6}"/>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目的、材料、完成形、確認条件を、同僚へ引き継ぐように書く。</a:t>
            </a:r>
          </a:p>
        </p:txBody>
      </p:sp>
      <p:sp>
        <p:nvSpPr>
          <p:cNvPr id="7" name="step-card-4-0">
            <a:extLst xmlns:a="http://schemas.openxmlformats.org/drawingml/2006/main">
              <a:ext uri="{FF2B5EF4-FFF2-40B4-BE49-F238E27FC236}">
                <a16:creationId xmlns:a16="http://schemas.microsoft.com/office/drawing/2014/main" id="{C53BB9C0-FC6D-4A8D-A4D2-B8E34392B84B}"/>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4-0">
            <a:extLst xmlns:a="http://schemas.openxmlformats.org/drawingml/2006/main">
              <a:ext uri="{FF2B5EF4-FFF2-40B4-BE49-F238E27FC236}">
                <a16:creationId xmlns:a16="http://schemas.microsoft.com/office/drawing/2014/main" id="{0824935D-E844-4769-BC0C-8A5775D5E932}"/>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4-0">
            <a:extLst xmlns:a="http://schemas.openxmlformats.org/drawingml/2006/main">
              <a:ext uri="{FF2B5EF4-FFF2-40B4-BE49-F238E27FC236}">
                <a16:creationId xmlns:a16="http://schemas.microsoft.com/office/drawing/2014/main" id="{EC0FBE4F-7CDC-4C3B-A4CD-9E8200742AB4}"/>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4-0">
            <a:extLst xmlns:a="http://schemas.openxmlformats.org/drawingml/2006/main">
              <a:ext uri="{FF2B5EF4-FFF2-40B4-BE49-F238E27FC236}">
                <a16:creationId xmlns:a16="http://schemas.microsoft.com/office/drawing/2014/main" id="{553C834A-A629-4DA3-A7CA-97C7AF45DCE1}"/>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目的</a:t>
            </a:r>
          </a:p>
        </p:txBody>
      </p:sp>
      <p:sp>
        <p:nvSpPr>
          <p:cNvPr id="11" name="step-detail-4-0">
            <a:extLst xmlns:a="http://schemas.openxmlformats.org/drawingml/2006/main">
              <a:ext uri="{FF2B5EF4-FFF2-40B4-BE49-F238E27FC236}">
                <a16:creationId xmlns:a16="http://schemas.microsoft.com/office/drawing/2014/main" id="{68120168-86B0-4FAD-9BF9-39EB2366C529}"/>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誰が、何のために使うか</a:t>
            </a:r>
          </a:p>
        </p:txBody>
      </p:sp>
      <p:sp>
        <p:nvSpPr>
          <p:cNvPr id="12" name="step-card-4-1">
            <a:extLst xmlns:a="http://schemas.openxmlformats.org/drawingml/2006/main">
              <a:ext uri="{FF2B5EF4-FFF2-40B4-BE49-F238E27FC236}">
                <a16:creationId xmlns:a16="http://schemas.microsoft.com/office/drawing/2014/main" id="{9F1A1204-5674-4801-8E35-488B65463CBA}"/>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4-1">
            <a:extLst xmlns:a="http://schemas.openxmlformats.org/drawingml/2006/main">
              <a:ext uri="{FF2B5EF4-FFF2-40B4-BE49-F238E27FC236}">
                <a16:creationId xmlns:a16="http://schemas.microsoft.com/office/drawing/2014/main" id="{A98A1D28-DC73-4092-AE82-E1F5C3E8AB3F}"/>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4-1">
            <a:extLst xmlns:a="http://schemas.openxmlformats.org/drawingml/2006/main">
              <a:ext uri="{FF2B5EF4-FFF2-40B4-BE49-F238E27FC236}">
                <a16:creationId xmlns:a16="http://schemas.microsoft.com/office/drawing/2014/main" id="{A06291A0-CECF-4472-A6E4-ECA0CBB9151D}"/>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4-1">
            <a:extLst xmlns:a="http://schemas.openxmlformats.org/drawingml/2006/main">
              <a:ext uri="{FF2B5EF4-FFF2-40B4-BE49-F238E27FC236}">
                <a16:creationId xmlns:a16="http://schemas.microsoft.com/office/drawing/2014/main" id="{D55C4853-AFB2-438C-8D28-3FAFAD53051D}"/>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材料</a:t>
            </a:r>
          </a:p>
        </p:txBody>
      </p:sp>
      <p:sp>
        <p:nvSpPr>
          <p:cNvPr id="16" name="step-detail-4-1">
            <a:extLst xmlns:a="http://schemas.openxmlformats.org/drawingml/2006/main">
              <a:ext uri="{FF2B5EF4-FFF2-40B4-BE49-F238E27FC236}">
                <a16:creationId xmlns:a16="http://schemas.microsoft.com/office/drawing/2014/main" id="{66BBF31E-9F17-4938-85F4-35D6530F6C41}"/>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使ってよい事実・文章・前提</a:t>
            </a:r>
          </a:p>
        </p:txBody>
      </p:sp>
      <p:sp>
        <p:nvSpPr>
          <p:cNvPr id="17" name="step-card-4-2">
            <a:extLst xmlns:a="http://schemas.openxmlformats.org/drawingml/2006/main">
              <a:ext uri="{FF2B5EF4-FFF2-40B4-BE49-F238E27FC236}">
                <a16:creationId xmlns:a16="http://schemas.microsoft.com/office/drawing/2014/main" id="{69D7823B-845C-4960-A0E1-DB835683E243}"/>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4-2">
            <a:extLst xmlns:a="http://schemas.openxmlformats.org/drawingml/2006/main">
              <a:ext uri="{FF2B5EF4-FFF2-40B4-BE49-F238E27FC236}">
                <a16:creationId xmlns:a16="http://schemas.microsoft.com/office/drawing/2014/main" id="{8C18D42E-2142-4867-80C8-A9C1726D69E1}"/>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4-2">
            <a:extLst xmlns:a="http://schemas.openxmlformats.org/drawingml/2006/main">
              <a:ext uri="{FF2B5EF4-FFF2-40B4-BE49-F238E27FC236}">
                <a16:creationId xmlns:a16="http://schemas.microsoft.com/office/drawing/2014/main" id="{FE233EDD-E52D-4680-8954-2D223465FE6A}"/>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4-2">
            <a:extLst xmlns:a="http://schemas.openxmlformats.org/drawingml/2006/main">
              <a:ext uri="{FF2B5EF4-FFF2-40B4-BE49-F238E27FC236}">
                <a16:creationId xmlns:a16="http://schemas.microsoft.com/office/drawing/2014/main" id="{F47C7EE0-55E5-4242-9402-CBD88E0739C9}"/>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完成形</a:t>
            </a:r>
          </a:p>
        </p:txBody>
      </p:sp>
      <p:sp>
        <p:nvSpPr>
          <p:cNvPr id="21" name="step-detail-4-2">
            <a:extLst xmlns:a="http://schemas.openxmlformats.org/drawingml/2006/main">
              <a:ext uri="{FF2B5EF4-FFF2-40B4-BE49-F238E27FC236}">
                <a16:creationId xmlns:a16="http://schemas.microsoft.com/office/drawing/2014/main" id="{4AD3B9C0-8008-40B5-ADD4-D967B993A072}"/>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見出し、長さ、表、案数</a:t>
            </a:r>
          </a:p>
        </p:txBody>
      </p:sp>
      <p:sp>
        <p:nvSpPr>
          <p:cNvPr id="22" name="step-card-4-3">
            <a:extLst xmlns:a="http://schemas.openxmlformats.org/drawingml/2006/main">
              <a:ext uri="{FF2B5EF4-FFF2-40B4-BE49-F238E27FC236}">
                <a16:creationId xmlns:a16="http://schemas.microsoft.com/office/drawing/2014/main" id="{FF6E633D-3DDB-4B04-8BA2-409AAF106A7F}"/>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4-3">
            <a:extLst xmlns:a="http://schemas.openxmlformats.org/drawingml/2006/main">
              <a:ext uri="{FF2B5EF4-FFF2-40B4-BE49-F238E27FC236}">
                <a16:creationId xmlns:a16="http://schemas.microsoft.com/office/drawing/2014/main" id="{D902BD08-DF08-4241-AB5D-878D6DE9A41E}"/>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4-3">
            <a:extLst xmlns:a="http://schemas.openxmlformats.org/drawingml/2006/main">
              <a:ext uri="{FF2B5EF4-FFF2-40B4-BE49-F238E27FC236}">
                <a16:creationId xmlns:a16="http://schemas.microsoft.com/office/drawing/2014/main" id="{D6CEAA36-0F7B-46CA-809E-09928C91A231}"/>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4-3">
            <a:extLst xmlns:a="http://schemas.openxmlformats.org/drawingml/2006/main">
              <a:ext uri="{FF2B5EF4-FFF2-40B4-BE49-F238E27FC236}">
                <a16:creationId xmlns:a16="http://schemas.microsoft.com/office/drawing/2014/main" id="{C7274FC7-EB1D-431D-8447-9A3BCBF7A742}"/>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確認条件</a:t>
            </a:r>
          </a:p>
        </p:txBody>
      </p:sp>
      <p:sp>
        <p:nvSpPr>
          <p:cNvPr id="26" name="step-detail-4-3">
            <a:extLst xmlns:a="http://schemas.openxmlformats.org/drawingml/2006/main">
              <a:ext uri="{FF2B5EF4-FFF2-40B4-BE49-F238E27FC236}">
                <a16:creationId xmlns:a16="http://schemas.microsoft.com/office/drawing/2014/main" id="{2D43E609-E7A8-4D55-8266-3B20F6D932B3}"/>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推測禁止、未確認表示、人の確認点</a:t>
            </a:r>
          </a:p>
        </p:txBody>
      </p:sp>
      <p:sp>
        <p:nvSpPr>
          <p:cNvPr id="27" name="body-4">
            <a:extLst xmlns:a="http://schemas.openxmlformats.org/drawingml/2006/main">
              <a:ext uri="{FF2B5EF4-FFF2-40B4-BE49-F238E27FC236}">
                <a16:creationId xmlns:a16="http://schemas.microsoft.com/office/drawing/2014/main" id="{AFEE49C3-583B-40DB-A9BD-356B57F89681}"/>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長い呪文は不要。足りない情報はAIに質問させる</a:t>
            </a:r>
          </a:p>
        </p:txBody>
      </p:sp>
      <p:sp>
        <p:nvSpPr>
          <p:cNvPr id="28" name="footer-rule-4">
            <a:extLst xmlns:a="http://schemas.openxmlformats.org/drawingml/2006/main">
              <a:ext uri="{FF2B5EF4-FFF2-40B4-BE49-F238E27FC236}">
                <a16:creationId xmlns:a16="http://schemas.microsoft.com/office/drawing/2014/main" id="{B62BEE64-84A6-407D-A870-98CDC9CC85D0}"/>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4">
            <a:extLst xmlns:a="http://schemas.openxmlformats.org/drawingml/2006/main">
              <a:ext uri="{FF2B5EF4-FFF2-40B4-BE49-F238E27FC236}">
                <a16:creationId xmlns:a16="http://schemas.microsoft.com/office/drawing/2014/main" id="{CBA2E524-927E-488C-9D6C-669D4B87CAA8}"/>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S1・S2・S4（詳細はノート）</a:t>
            </a:r>
          </a:p>
        </p:txBody>
      </p:sp>
      <p:sp>
        <p:nvSpPr>
          <p:cNvPr id="30" name="footer-no-4">
            <a:extLst xmlns:a="http://schemas.openxmlformats.org/drawingml/2006/main">
              <a:ext uri="{FF2B5EF4-FFF2-40B4-BE49-F238E27FC236}">
                <a16:creationId xmlns:a16="http://schemas.microsoft.com/office/drawing/2014/main" id="{DC269A3A-71D8-477F-8156-37B7144CDEB5}"/>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04 / 20</a:t>
            </a:r>
          </a:p>
        </p:txBody>
      </p:sp>
    </p:spTree>
    <p:extLst>
      <p:ext uri="{BB962C8B-B14F-4D97-AF65-F5344CB8AC3E}">
        <p14:creationId xmlns:p14="http://schemas.microsoft.com/office/powerpoint/2010/main" val="30675420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5">
            <a:extLst xmlns:a="http://schemas.openxmlformats.org/drawingml/2006/main">
              <a:ext uri="{FF2B5EF4-FFF2-40B4-BE49-F238E27FC236}">
                <a16:creationId xmlns:a16="http://schemas.microsoft.com/office/drawing/2014/main" id="{6478D18F-CFAF-413A-908F-1F27FDA13D1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5">
            <a:extLst xmlns:a="http://schemas.openxmlformats.org/drawingml/2006/main">
              <a:ext uri="{FF2B5EF4-FFF2-40B4-BE49-F238E27FC236}">
                <a16:creationId xmlns:a16="http://schemas.microsoft.com/office/drawing/2014/main" id="{FE9FC17E-4161-4AAB-BD6A-924EE1E3FDB7}"/>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メール作成</a:t>
            </a:r>
          </a:p>
        </p:txBody>
      </p:sp>
      <p:sp>
        <p:nvSpPr>
          <p:cNvPr id="3" name="label-5">
            <a:extLst xmlns:a="http://schemas.openxmlformats.org/drawingml/2006/main">
              <a:ext uri="{FF2B5EF4-FFF2-40B4-BE49-F238E27FC236}">
                <a16:creationId xmlns:a16="http://schemas.microsoft.com/office/drawing/2014/main" id="{0593D94C-3B4B-414E-9503-0AFC4CEAE65D}"/>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ケース1</a:t>
            </a:r>
          </a:p>
        </p:txBody>
      </p:sp>
      <p:sp>
        <p:nvSpPr>
          <p:cNvPr id="4" name="title-5">
            <a:extLst xmlns:a="http://schemas.openxmlformats.org/drawingml/2006/main">
              <a:ext uri="{FF2B5EF4-FFF2-40B4-BE49-F238E27FC236}">
                <a16:creationId xmlns:a16="http://schemas.microsoft.com/office/drawing/2014/main" id="{33EFD041-75C0-4BA2-AADF-5D2DD2E6603C}"/>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ケース1：日程変更メールを下書きする</a:t>
            </a:r>
          </a:p>
        </p:txBody>
      </p:sp>
      <p:sp>
        <p:nvSpPr>
          <p:cNvPr id="5" name="title-rule-5">
            <a:extLst xmlns:a="http://schemas.openxmlformats.org/drawingml/2006/main">
              <a:ext uri="{FF2B5EF4-FFF2-40B4-BE49-F238E27FC236}">
                <a16:creationId xmlns:a16="http://schemas.microsoft.com/office/drawing/2014/main" id="{14F5B5B5-C671-43FC-B5FD-C370CA1091BE}"/>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5">
            <a:extLst xmlns:a="http://schemas.openxmlformats.org/drawingml/2006/main">
              <a:ext uri="{FF2B5EF4-FFF2-40B4-BE49-F238E27FC236}">
                <a16:creationId xmlns:a16="http://schemas.microsoft.com/office/drawing/2014/main" id="{8107D9B1-9CED-4A65-B6B9-145516C8445C}"/>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『丁寧なメールを書いて』を、相手・事実・長さ・未確定事項が分かる依頼へ直す。</a:t>
            </a:r>
          </a:p>
        </p:txBody>
      </p:sp>
      <p:sp>
        <p:nvSpPr>
          <p:cNvPr id="7" name="case-bad-5-bg">
            <a:extLst xmlns:a="http://schemas.openxmlformats.org/drawingml/2006/main">
              <a:ext uri="{FF2B5EF4-FFF2-40B4-BE49-F238E27FC236}">
                <a16:creationId xmlns:a16="http://schemas.microsoft.com/office/drawing/2014/main" id="{B3E069E4-EC82-4CD9-B632-B23ED21AD8E8}"/>
              </a:ext>
            </a:extLst>
          </p:cNvPr>
          <p:cNvSpPr>
            <a:spLocks xmlns:a="http://schemas.openxmlformats.org/drawingml/2006/main" noGrp="1"/>
          </p:cNvSpPr>
          <p:nvPr/>
        </p:nvSpPr>
        <p:spPr>
          <a:xfrm xmlns:a="http://schemas.openxmlformats.org/drawingml/2006/main">
            <a:off x="647700" y="2152650"/>
            <a:ext cx="5238750" cy="1047750"/>
          </a:xfrm>
          <a:prstGeom xmlns:a="http://schemas.openxmlformats.org/drawingml/2006/main" prst="roundRect">
            <a:avLst>
              <a:gd name="adj" fmla="val 10909"/>
            </a:avLst>
          </a:prstGeom>
          <a:solidFill xmlns:a="http://schemas.openxmlformats.org/drawingml/2006/main">
            <a:srgbClr val="FDEBE7"/>
          </a:solidFill>
          <a:ln xmlns:a="http://schemas.openxmlformats.org/drawingml/2006/main" w="9525">
            <a:solidFill>
              <a:srgbClr val="D3DEE3"/>
            </a:solidFill>
            <a:prstDash val="solid"/>
          </a:ln>
        </p:spPr>
      </p:sp>
      <p:sp>
        <p:nvSpPr>
          <p:cNvPr id="8" name="case-bad-5-bar">
            <a:extLst xmlns:a="http://schemas.openxmlformats.org/drawingml/2006/main">
              <a:ext uri="{FF2B5EF4-FFF2-40B4-BE49-F238E27FC236}">
                <a16:creationId xmlns:a16="http://schemas.microsoft.com/office/drawing/2014/main" id="{0E00886E-C55A-4A03-B54B-628FF3C4E3D3}"/>
              </a:ext>
            </a:extLst>
          </p:cNvPr>
          <p:cNvSpPr>
            <a:spLocks xmlns:a="http://schemas.openxmlformats.org/drawingml/2006/main" noGrp="1"/>
          </p:cNvSpPr>
          <p:nvPr/>
        </p:nvSpPr>
        <p:spPr>
          <a:xfrm xmlns:a="http://schemas.openxmlformats.org/drawingml/2006/main">
            <a:off x="647700" y="2152650"/>
            <a:ext cx="76200" cy="1047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9" name="case-bad-5-label">
            <a:extLst xmlns:a="http://schemas.openxmlformats.org/drawingml/2006/main">
              <a:ext uri="{FF2B5EF4-FFF2-40B4-BE49-F238E27FC236}">
                <a16:creationId xmlns:a16="http://schemas.microsoft.com/office/drawing/2014/main" id="{BCBA57E3-D569-4907-BC49-2FF7B5FE034A}"/>
              </a:ext>
            </a:extLst>
          </p:cNvPr>
          <p:cNvSpPr>
            <a:spLocks xmlns:a="http://schemas.openxmlformats.org/drawingml/2006/main" noGrp="1"/>
          </p:cNvSpPr>
          <p:nvPr/>
        </p:nvSpPr>
        <p:spPr>
          <a:xfrm xmlns:a="http://schemas.openxmlformats.org/drawingml/2006/main">
            <a:off x="87630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B42318"/>
                </a:solidFill>
              </a:defRPr>
            </a:pPr>
            <a:r>
              <a:rPr sz="1125" b="1">
                <a:solidFill>
                  <a:srgbClr val="B42318"/>
                </a:solidFill>
              </a:rPr>
              <a:t>悪い依頼</a:t>
            </a:r>
          </a:p>
        </p:txBody>
      </p:sp>
      <p:sp>
        <p:nvSpPr>
          <p:cNvPr id="10" name="case-bad-5-text">
            <a:extLst xmlns:a="http://schemas.openxmlformats.org/drawingml/2006/main">
              <a:ext uri="{FF2B5EF4-FFF2-40B4-BE49-F238E27FC236}">
                <a16:creationId xmlns:a16="http://schemas.microsoft.com/office/drawing/2014/main" id="{FAF8D0BC-658A-486F-A296-4320B8F98BF3}"/>
              </a:ext>
            </a:extLst>
          </p:cNvPr>
          <p:cNvSpPr>
            <a:spLocks xmlns:a="http://schemas.openxmlformats.org/drawingml/2006/main" noGrp="1"/>
          </p:cNvSpPr>
          <p:nvPr/>
        </p:nvSpPr>
        <p:spPr>
          <a:xfrm xmlns:a="http://schemas.openxmlformats.org/drawingml/2006/main">
            <a:off x="876300" y="257175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72B3A"/>
                </a:solidFill>
              </a:defRPr>
            </a:pPr>
            <a:r>
              <a:rPr sz="1200" b="1">
                <a:solidFill>
                  <a:srgbClr val="172B3A"/>
                </a:solidFill>
              </a:rPr>
              <a:t>会議が変わった。取引先へ丁寧なメールを書いて。</a:t>
            </a:r>
          </a:p>
        </p:txBody>
      </p:sp>
      <p:sp>
        <p:nvSpPr>
          <p:cNvPr id="11" name="case-prompt-5-bg">
            <a:extLst xmlns:a="http://schemas.openxmlformats.org/drawingml/2006/main">
              <a:ext uri="{FF2B5EF4-FFF2-40B4-BE49-F238E27FC236}">
                <a16:creationId xmlns:a16="http://schemas.microsoft.com/office/drawing/2014/main" id="{F184C4C4-97FD-4CDC-95EE-328F28C8AEF3}"/>
              </a:ext>
            </a:extLst>
          </p:cNvPr>
          <p:cNvSpPr>
            <a:spLocks xmlns:a="http://schemas.openxmlformats.org/drawingml/2006/main" noGrp="1"/>
          </p:cNvSpPr>
          <p:nvPr/>
        </p:nvSpPr>
        <p:spPr>
          <a:xfrm xmlns:a="http://schemas.openxmlformats.org/drawingml/2006/main">
            <a:off x="647700" y="3333750"/>
            <a:ext cx="5238750" cy="2190750"/>
          </a:xfrm>
          <a:prstGeom xmlns:a="http://schemas.openxmlformats.org/drawingml/2006/main" prst="roundRect">
            <a:avLst>
              <a:gd name="adj" fmla="val 5217"/>
            </a:avLst>
          </a:prstGeom>
          <a:solidFill xmlns:a="http://schemas.openxmlformats.org/drawingml/2006/main">
            <a:srgbClr val="E5F4FC"/>
          </a:solidFill>
          <a:ln xmlns:a="http://schemas.openxmlformats.org/drawingml/2006/main" w="9525">
            <a:solidFill>
              <a:srgbClr val="D3DEE3"/>
            </a:solidFill>
            <a:prstDash val="solid"/>
          </a:ln>
        </p:spPr>
      </p:sp>
      <p:sp>
        <p:nvSpPr>
          <p:cNvPr id="12" name="case-prompt-5-bar">
            <a:extLst xmlns:a="http://schemas.openxmlformats.org/drawingml/2006/main">
              <a:ext uri="{FF2B5EF4-FFF2-40B4-BE49-F238E27FC236}">
                <a16:creationId xmlns:a16="http://schemas.microsoft.com/office/drawing/2014/main" id="{906F59A4-CC73-44E1-94B9-8D0D74A7BEC0}"/>
              </a:ext>
            </a:extLst>
          </p:cNvPr>
          <p:cNvSpPr>
            <a:spLocks xmlns:a="http://schemas.openxmlformats.org/drawingml/2006/main" noGrp="1"/>
          </p:cNvSpPr>
          <p:nvPr/>
        </p:nvSpPr>
        <p:spPr>
          <a:xfrm xmlns:a="http://schemas.openxmlformats.org/drawingml/2006/main">
            <a:off x="647700" y="3333750"/>
            <a:ext cx="76200" cy="219075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3" name="case-prompt-5-label">
            <a:extLst xmlns:a="http://schemas.openxmlformats.org/drawingml/2006/main">
              <a:ext uri="{FF2B5EF4-FFF2-40B4-BE49-F238E27FC236}">
                <a16:creationId xmlns:a16="http://schemas.microsoft.com/office/drawing/2014/main" id="{1435712C-0C48-4D58-BDC0-5FD5CFE60B7D}"/>
              </a:ext>
            </a:extLst>
          </p:cNvPr>
          <p:cNvSpPr>
            <a:spLocks xmlns:a="http://schemas.openxmlformats.org/drawingml/2006/main" noGrp="1"/>
          </p:cNvSpPr>
          <p:nvPr/>
        </p:nvSpPr>
        <p:spPr>
          <a:xfrm xmlns:a="http://schemas.openxmlformats.org/drawingml/2006/main">
            <a:off x="876300" y="34480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369A1"/>
                </a:solidFill>
              </a:defRPr>
            </a:pPr>
            <a:r>
              <a:rPr sz="1125" b="1">
                <a:solidFill>
                  <a:srgbClr val="0369A1"/>
                </a:solidFill>
              </a:rPr>
              <a:t>改善した具体的プロンプト</a:t>
            </a:r>
          </a:p>
        </p:txBody>
      </p:sp>
      <p:sp>
        <p:nvSpPr>
          <p:cNvPr id="14" name="case-prompt-5-text">
            <a:extLst xmlns:a="http://schemas.openxmlformats.org/drawingml/2006/main">
              <a:ext uri="{FF2B5EF4-FFF2-40B4-BE49-F238E27FC236}">
                <a16:creationId xmlns:a16="http://schemas.microsoft.com/office/drawing/2014/main" id="{4F50538A-C1F1-40E8-A729-1DEA521E804B}"/>
              </a:ext>
            </a:extLst>
          </p:cNvPr>
          <p:cNvSpPr>
            <a:spLocks xmlns:a="http://schemas.openxmlformats.org/drawingml/2006/main" noGrp="1"/>
          </p:cNvSpPr>
          <p:nvPr/>
        </p:nvSpPr>
        <p:spPr>
          <a:xfrm xmlns:a="http://schemas.openxmlformats.org/drawingml/2006/main">
            <a:off x="876300" y="3752850"/>
            <a:ext cx="4819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B3A"/>
                </a:solidFill>
              </a:defRPr>
            </a:pPr>
            <a:r>
              <a:rPr sz="1200" b="0">
                <a:solidFill>
                  <a:srgbClr val="172B3A"/>
                </a:solidFill>
              </a:rPr>
              <a:t>架空の取引先へ、9月3日10時の会議を延期するメールの下書きを作成。理由は『社内都合』、代替日は未定。件名と本文を180字以内で。不足情報は作らず［要確認］と表示。</a:t>
            </a:r>
          </a:p>
        </p:txBody>
      </p:sp>
      <p:sp>
        <p:nvSpPr>
          <p:cNvPr id="15" name="case-output-5-bg">
            <a:extLst xmlns:a="http://schemas.openxmlformats.org/drawingml/2006/main">
              <a:ext uri="{FF2B5EF4-FFF2-40B4-BE49-F238E27FC236}">
                <a16:creationId xmlns:a16="http://schemas.microsoft.com/office/drawing/2014/main" id="{551629FF-F525-4B47-9D4C-B5D9A7CE99EE}"/>
              </a:ext>
            </a:extLst>
          </p:cNvPr>
          <p:cNvSpPr>
            <a:spLocks xmlns:a="http://schemas.openxmlformats.org/drawingml/2006/main" noGrp="1"/>
          </p:cNvSpPr>
          <p:nvPr/>
        </p:nvSpPr>
        <p:spPr>
          <a:xfrm xmlns:a="http://schemas.openxmlformats.org/drawingml/2006/main">
            <a:off x="6267450" y="2152650"/>
            <a:ext cx="5238750" cy="1562100"/>
          </a:xfrm>
          <a:prstGeom xmlns:a="http://schemas.openxmlformats.org/drawingml/2006/main" prst="roundRect">
            <a:avLst>
              <a:gd name="adj" fmla="val 7317"/>
            </a:avLst>
          </a:prstGeom>
          <a:solidFill xmlns:a="http://schemas.openxmlformats.org/drawingml/2006/main">
            <a:srgbClr val="F0EAFE"/>
          </a:solidFill>
          <a:ln xmlns:a="http://schemas.openxmlformats.org/drawingml/2006/main" w="9525">
            <a:solidFill>
              <a:srgbClr val="D3DEE3"/>
            </a:solidFill>
            <a:prstDash val="solid"/>
          </a:ln>
        </p:spPr>
      </p:sp>
      <p:sp>
        <p:nvSpPr>
          <p:cNvPr id="16" name="case-output-5-bar">
            <a:extLst xmlns:a="http://schemas.openxmlformats.org/drawingml/2006/main">
              <a:ext uri="{FF2B5EF4-FFF2-40B4-BE49-F238E27FC236}">
                <a16:creationId xmlns:a16="http://schemas.microsoft.com/office/drawing/2014/main" id="{63AADA29-F1F2-47AD-AB9C-2E63D412A3C2}"/>
              </a:ext>
            </a:extLst>
          </p:cNvPr>
          <p:cNvSpPr>
            <a:spLocks xmlns:a="http://schemas.openxmlformats.org/drawingml/2006/main" noGrp="1"/>
          </p:cNvSpPr>
          <p:nvPr/>
        </p:nvSpPr>
        <p:spPr>
          <a:xfrm xmlns:a="http://schemas.openxmlformats.org/drawingml/2006/main">
            <a:off x="6267450" y="2152650"/>
            <a:ext cx="76200" cy="1562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17" name="case-output-5-label">
            <a:extLst xmlns:a="http://schemas.openxmlformats.org/drawingml/2006/main">
              <a:ext uri="{FF2B5EF4-FFF2-40B4-BE49-F238E27FC236}">
                <a16:creationId xmlns:a16="http://schemas.microsoft.com/office/drawing/2014/main" id="{2F171DBE-3676-4124-9196-D2AAF1AEEEC7}"/>
              </a:ext>
            </a:extLst>
          </p:cNvPr>
          <p:cNvSpPr>
            <a:spLocks xmlns:a="http://schemas.openxmlformats.org/drawingml/2006/main" noGrp="1"/>
          </p:cNvSpPr>
          <p:nvPr/>
        </p:nvSpPr>
        <p:spPr>
          <a:xfrm xmlns:a="http://schemas.openxmlformats.org/drawingml/2006/main">
            <a:off x="649605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28D9"/>
                </a:solidFill>
              </a:defRPr>
            </a:pPr>
            <a:r>
              <a:rPr sz="1125" b="1">
                <a:solidFill>
                  <a:srgbClr val="6D28D9"/>
                </a:solidFill>
              </a:rPr>
              <a:t>短い出力例（架空・参考）</a:t>
            </a:r>
          </a:p>
        </p:txBody>
      </p:sp>
      <p:sp>
        <p:nvSpPr>
          <p:cNvPr id="18" name="case-output-5-text">
            <a:extLst xmlns:a="http://schemas.openxmlformats.org/drawingml/2006/main">
              <a:ext uri="{FF2B5EF4-FFF2-40B4-BE49-F238E27FC236}">
                <a16:creationId xmlns:a16="http://schemas.microsoft.com/office/drawing/2014/main" id="{81476CB9-993B-4CE8-BB4B-EE13F7419268}"/>
              </a:ext>
            </a:extLst>
          </p:cNvPr>
          <p:cNvSpPr>
            <a:spLocks xmlns:a="http://schemas.openxmlformats.org/drawingml/2006/main" noGrp="1"/>
          </p:cNvSpPr>
          <p:nvPr/>
        </p:nvSpPr>
        <p:spPr>
          <a:xfrm xmlns:a="http://schemas.openxmlformats.org/drawingml/2006/main">
            <a:off x="6496050" y="2571750"/>
            <a:ext cx="4819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B3A"/>
                </a:solidFill>
              </a:defRPr>
            </a:pPr>
            <a:r>
              <a:rPr sz="1275" b="0">
                <a:solidFill>
                  <a:srgbClr val="172B3A"/>
                </a:solidFill>
              </a:rPr>
              <a:t>9月3日の会議を延期。代替日は［要確認］です。</a:t>
            </a:r>
          </a:p>
        </p:txBody>
      </p:sp>
      <p:sp>
        <p:nvSpPr>
          <p:cNvPr id="19" name="case-check-5-bg">
            <a:extLst xmlns:a="http://schemas.openxmlformats.org/drawingml/2006/main">
              <a:ext uri="{FF2B5EF4-FFF2-40B4-BE49-F238E27FC236}">
                <a16:creationId xmlns:a16="http://schemas.microsoft.com/office/drawing/2014/main" id="{5012C4B4-D120-41B1-AD7B-583198F9212C}"/>
              </a:ext>
            </a:extLst>
          </p:cNvPr>
          <p:cNvSpPr>
            <a:spLocks xmlns:a="http://schemas.openxmlformats.org/drawingml/2006/main" noGrp="1"/>
          </p:cNvSpPr>
          <p:nvPr/>
        </p:nvSpPr>
        <p:spPr>
          <a:xfrm xmlns:a="http://schemas.openxmlformats.org/drawingml/2006/main">
            <a:off x="6267450" y="3867150"/>
            <a:ext cx="5238750" cy="1657350"/>
          </a:xfrm>
          <a:prstGeom xmlns:a="http://schemas.openxmlformats.org/drawingml/2006/main" prst="roundRect">
            <a:avLst>
              <a:gd name="adj" fmla="val 6897"/>
            </a:avLst>
          </a:prstGeom>
          <a:solidFill xmlns:a="http://schemas.openxmlformats.org/drawingml/2006/main">
            <a:srgbClr val="FFF4D6"/>
          </a:solidFill>
          <a:ln xmlns:a="http://schemas.openxmlformats.org/drawingml/2006/main" w="9525">
            <a:solidFill>
              <a:srgbClr val="D3DEE3"/>
            </a:solidFill>
            <a:prstDash val="solid"/>
          </a:ln>
        </p:spPr>
      </p:sp>
      <p:sp>
        <p:nvSpPr>
          <p:cNvPr id="20" name="case-check-5-bar">
            <a:extLst xmlns:a="http://schemas.openxmlformats.org/drawingml/2006/main">
              <a:ext uri="{FF2B5EF4-FFF2-40B4-BE49-F238E27FC236}">
                <a16:creationId xmlns:a16="http://schemas.microsoft.com/office/drawing/2014/main" id="{4AD58B39-6077-467E-B99A-11B3CF79F981}"/>
              </a:ext>
            </a:extLst>
          </p:cNvPr>
          <p:cNvSpPr>
            <a:spLocks xmlns:a="http://schemas.openxmlformats.org/drawingml/2006/main" noGrp="1"/>
          </p:cNvSpPr>
          <p:nvPr/>
        </p:nvSpPr>
        <p:spPr>
          <a:xfrm xmlns:a="http://schemas.openxmlformats.org/drawingml/2006/main">
            <a:off x="6267450" y="3867150"/>
            <a:ext cx="76200" cy="16573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1" name="case-check-5-label">
            <a:extLst xmlns:a="http://schemas.openxmlformats.org/drawingml/2006/main">
              <a:ext uri="{FF2B5EF4-FFF2-40B4-BE49-F238E27FC236}">
                <a16:creationId xmlns:a16="http://schemas.microsoft.com/office/drawing/2014/main" id="{7432E21F-7D54-470F-8605-12B254AA6CCE}"/>
              </a:ext>
            </a:extLst>
          </p:cNvPr>
          <p:cNvSpPr>
            <a:spLocks xmlns:a="http://schemas.openxmlformats.org/drawingml/2006/main" noGrp="1"/>
          </p:cNvSpPr>
          <p:nvPr/>
        </p:nvSpPr>
        <p:spPr>
          <a:xfrm xmlns:a="http://schemas.openxmlformats.org/drawingml/2006/main">
            <a:off x="6496050" y="39814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97316"/>
                </a:solidFill>
              </a:defRPr>
            </a:pPr>
            <a:r>
              <a:rPr sz="1125" b="1">
                <a:solidFill>
                  <a:srgbClr val="F97316"/>
                </a:solidFill>
              </a:rPr>
              <a:t>人が確認する点</a:t>
            </a:r>
          </a:p>
        </p:txBody>
      </p:sp>
      <p:sp>
        <p:nvSpPr>
          <p:cNvPr id="22" name="case-check-5-text">
            <a:extLst xmlns:a="http://schemas.openxmlformats.org/drawingml/2006/main">
              <a:ext uri="{FF2B5EF4-FFF2-40B4-BE49-F238E27FC236}">
                <a16:creationId xmlns:a16="http://schemas.microsoft.com/office/drawing/2014/main" id="{26A26C26-8232-4A68-8CBF-36250F6FD5B4}"/>
              </a:ext>
            </a:extLst>
          </p:cNvPr>
          <p:cNvSpPr>
            <a:spLocks xmlns:a="http://schemas.openxmlformats.org/drawingml/2006/main" noGrp="1"/>
          </p:cNvSpPr>
          <p:nvPr/>
        </p:nvSpPr>
        <p:spPr>
          <a:xfrm xmlns:a="http://schemas.openxmlformats.org/drawingml/2006/main">
            <a:off x="6496050" y="4286250"/>
            <a:ext cx="4819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B3A"/>
                </a:solidFill>
              </a:defRPr>
            </a:pPr>
            <a:r>
              <a:rPr sz="1350" b="0">
                <a:solidFill>
                  <a:srgbClr val="172B3A"/>
                </a:solidFill>
              </a:rPr>
              <a:t>宛先、元の日時、延期理由、代替日の確定状況</a:t>
            </a:r>
          </a:p>
        </p:txBody>
      </p:sp>
      <p:sp>
        <p:nvSpPr>
          <p:cNvPr id="23" name="footer-rule-5">
            <a:extLst xmlns:a="http://schemas.openxmlformats.org/drawingml/2006/main">
              <a:ext uri="{FF2B5EF4-FFF2-40B4-BE49-F238E27FC236}">
                <a16:creationId xmlns:a16="http://schemas.microsoft.com/office/drawing/2014/main" id="{FEA7A6C5-862B-4A07-B97B-B5F6DA825688}"/>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5">
            <a:extLst xmlns:a="http://schemas.openxmlformats.org/drawingml/2006/main">
              <a:ext uri="{FF2B5EF4-FFF2-40B4-BE49-F238E27FC236}">
                <a16:creationId xmlns:a16="http://schemas.microsoft.com/office/drawing/2014/main" id="{FB7FA925-01BD-493F-9003-C72D3E0CF434}"/>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S1・S6・S2・S4（詳細はノート）</a:t>
            </a:r>
          </a:p>
        </p:txBody>
      </p:sp>
      <p:sp>
        <p:nvSpPr>
          <p:cNvPr id="25" name="footer-no-5">
            <a:extLst xmlns:a="http://schemas.openxmlformats.org/drawingml/2006/main">
              <a:ext uri="{FF2B5EF4-FFF2-40B4-BE49-F238E27FC236}">
                <a16:creationId xmlns:a16="http://schemas.microsoft.com/office/drawing/2014/main" id="{55EBD122-8132-4F96-81F1-67B2591E24F1}"/>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05 / 20</a:t>
            </a:r>
          </a:p>
        </p:txBody>
      </p:sp>
    </p:spTree>
    <p:extLst>
      <p:ext uri="{BB962C8B-B14F-4D97-AF65-F5344CB8AC3E}">
        <p14:creationId xmlns:p14="http://schemas.microsoft.com/office/powerpoint/2010/main" val="141876249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6">
            <a:extLst xmlns:a="http://schemas.openxmlformats.org/drawingml/2006/main">
              <a:ext uri="{FF2B5EF4-FFF2-40B4-BE49-F238E27FC236}">
                <a16:creationId xmlns:a16="http://schemas.microsoft.com/office/drawing/2014/main" id="{2AD42091-9A60-4AF7-8BE4-F0CC5ADB9C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6">
            <a:extLst xmlns:a="http://schemas.openxmlformats.org/drawingml/2006/main">
              <a:ext uri="{FF2B5EF4-FFF2-40B4-BE49-F238E27FC236}">
                <a16:creationId xmlns:a16="http://schemas.microsoft.com/office/drawing/2014/main" id="{65F64E13-9D74-40A9-9BAF-412156F0F515}"/>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ケース1・出力例</a:t>
            </a:r>
          </a:p>
        </p:txBody>
      </p:sp>
      <p:sp>
        <p:nvSpPr>
          <p:cNvPr id="3" name="label-6">
            <a:extLst xmlns:a="http://schemas.openxmlformats.org/drawingml/2006/main">
              <a:ext uri="{FF2B5EF4-FFF2-40B4-BE49-F238E27FC236}">
                <a16:creationId xmlns:a16="http://schemas.microsoft.com/office/drawing/2014/main" id="{368CAF02-087C-4FF8-873B-CAE87B81C54A}"/>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人の確認</a:t>
            </a:r>
          </a:p>
        </p:txBody>
      </p:sp>
      <p:sp>
        <p:nvSpPr>
          <p:cNvPr id="4" name="title-6">
            <a:extLst xmlns:a="http://schemas.openxmlformats.org/drawingml/2006/main">
              <a:ext uri="{FF2B5EF4-FFF2-40B4-BE49-F238E27FC236}">
                <a16:creationId xmlns:a16="http://schemas.microsoft.com/office/drawing/2014/main" id="{14B3BDE8-5158-4F0B-9406-B5E7EC6BFDE3}"/>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メール出力は、送信前の3点で確定する</a:t>
            </a:r>
          </a:p>
        </p:txBody>
      </p:sp>
      <p:sp>
        <p:nvSpPr>
          <p:cNvPr id="5" name="title-rule-6">
            <a:extLst xmlns:a="http://schemas.openxmlformats.org/drawingml/2006/main">
              <a:ext uri="{FF2B5EF4-FFF2-40B4-BE49-F238E27FC236}">
                <a16:creationId xmlns:a16="http://schemas.microsoft.com/office/drawing/2014/main" id="{2C140A0E-61BC-464B-A944-C9CE28575D80}"/>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6">
            <a:extLst xmlns:a="http://schemas.openxmlformats.org/drawingml/2006/main">
              <a:ext uri="{FF2B5EF4-FFF2-40B4-BE49-F238E27FC236}">
                <a16:creationId xmlns:a16="http://schemas.microsoft.com/office/drawing/2014/main" id="{A307C1F3-8BAF-424F-B452-2E40FF44B460}"/>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文章が自然でも、日時・相手・次の行動を人が原情報へ照合する。</a:t>
            </a:r>
          </a:p>
        </p:txBody>
      </p:sp>
      <p:sp>
        <p:nvSpPr>
          <p:cNvPr id="7" name="check-6-0">
            <a:extLst xmlns:a="http://schemas.openxmlformats.org/drawingml/2006/main">
              <a:ext uri="{FF2B5EF4-FFF2-40B4-BE49-F238E27FC236}">
                <a16:creationId xmlns:a16="http://schemas.microsoft.com/office/drawing/2014/main" id="{1172BC17-17AF-4DC3-8DD1-6994B1A6236E}"/>
              </a:ext>
            </a:extLst>
          </p:cNvPr>
          <p:cNvSpPr>
            <a:spLocks xmlns:a="http://schemas.openxmlformats.org/drawingml/2006/main" noGrp="1"/>
          </p:cNvSpPr>
          <p:nvPr/>
        </p:nvSpPr>
        <p:spPr>
          <a:xfrm xmlns:a="http://schemas.openxmlformats.org/drawingml/2006/main">
            <a:off x="647700" y="22764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6-0">
            <a:extLst xmlns:a="http://schemas.openxmlformats.org/drawingml/2006/main">
              <a:ext uri="{FF2B5EF4-FFF2-40B4-BE49-F238E27FC236}">
                <a16:creationId xmlns:a16="http://schemas.microsoft.com/office/drawing/2014/main" id="{8821FA9F-97CB-4F05-B113-CFD7797B1B3B}"/>
              </a:ext>
            </a:extLst>
          </p:cNvPr>
          <p:cNvSpPr>
            <a:spLocks xmlns:a="http://schemas.openxmlformats.org/drawingml/2006/main" noGrp="1"/>
          </p:cNvSpPr>
          <p:nvPr/>
        </p:nvSpPr>
        <p:spPr>
          <a:xfrm xmlns:a="http://schemas.openxmlformats.org/drawingml/2006/main">
            <a:off x="647700" y="22764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text-6-0">
            <a:extLst xmlns:a="http://schemas.openxmlformats.org/drawingml/2006/main">
              <a:ext uri="{FF2B5EF4-FFF2-40B4-BE49-F238E27FC236}">
                <a16:creationId xmlns:a16="http://schemas.microsoft.com/office/drawing/2014/main" id="{B6BC5EE0-0740-46FC-8372-509BA61FF822}"/>
              </a:ext>
            </a:extLst>
          </p:cNvPr>
          <p:cNvSpPr>
            <a:spLocks xmlns:a="http://schemas.openxmlformats.org/drawingml/2006/main" noGrp="1"/>
          </p:cNvSpPr>
          <p:nvPr/>
        </p:nvSpPr>
        <p:spPr>
          <a:xfrm xmlns:a="http://schemas.openxmlformats.org/drawingml/2006/main">
            <a:off x="1123950" y="22098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日時と会議名は予定表・依頼メールと一致しているか</a:t>
            </a:r>
          </a:p>
        </p:txBody>
      </p:sp>
      <p:sp>
        <p:nvSpPr>
          <p:cNvPr id="10" name="check-rule-6-0">
            <a:extLst xmlns:a="http://schemas.openxmlformats.org/drawingml/2006/main">
              <a:ext uri="{FF2B5EF4-FFF2-40B4-BE49-F238E27FC236}">
                <a16:creationId xmlns:a16="http://schemas.microsoft.com/office/drawing/2014/main" id="{664EDA6B-658C-473C-9CD9-977A58A67716}"/>
              </a:ext>
            </a:extLst>
          </p:cNvPr>
          <p:cNvSpPr>
            <a:spLocks xmlns:a="http://schemas.openxmlformats.org/drawingml/2006/main" noGrp="1"/>
          </p:cNvSpPr>
          <p:nvPr/>
        </p:nvSpPr>
        <p:spPr>
          <a:xfrm xmlns:a="http://schemas.openxmlformats.org/drawingml/2006/main">
            <a:off x="1123950" y="28194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6-1">
            <a:extLst xmlns:a="http://schemas.openxmlformats.org/drawingml/2006/main">
              <a:ext uri="{FF2B5EF4-FFF2-40B4-BE49-F238E27FC236}">
                <a16:creationId xmlns:a16="http://schemas.microsoft.com/office/drawing/2014/main" id="{55C8EC7D-4861-49C8-A9B5-36CA19EA1FA5}"/>
              </a:ext>
            </a:extLst>
          </p:cNvPr>
          <p:cNvSpPr>
            <a:spLocks xmlns:a="http://schemas.openxmlformats.org/drawingml/2006/main" noGrp="1"/>
          </p:cNvSpPr>
          <p:nvPr/>
        </p:nvSpPr>
        <p:spPr>
          <a:xfrm xmlns:a="http://schemas.openxmlformats.org/drawingml/2006/main">
            <a:off x="647700" y="31146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6-1">
            <a:extLst xmlns:a="http://schemas.openxmlformats.org/drawingml/2006/main">
              <a:ext uri="{FF2B5EF4-FFF2-40B4-BE49-F238E27FC236}">
                <a16:creationId xmlns:a16="http://schemas.microsoft.com/office/drawing/2014/main" id="{3053523E-D466-4C12-908C-EDFC8AC94AF6}"/>
              </a:ext>
            </a:extLst>
          </p:cNvPr>
          <p:cNvSpPr>
            <a:spLocks xmlns:a="http://schemas.openxmlformats.org/drawingml/2006/main" noGrp="1"/>
          </p:cNvSpPr>
          <p:nvPr/>
        </p:nvSpPr>
        <p:spPr>
          <a:xfrm xmlns:a="http://schemas.openxmlformats.org/drawingml/2006/main">
            <a:off x="647700" y="31146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text-6-1">
            <a:extLst xmlns:a="http://schemas.openxmlformats.org/drawingml/2006/main">
              <a:ext uri="{FF2B5EF4-FFF2-40B4-BE49-F238E27FC236}">
                <a16:creationId xmlns:a16="http://schemas.microsoft.com/office/drawing/2014/main" id="{86B1B485-C660-4555-9CFE-30B963C15C6F}"/>
              </a:ext>
            </a:extLst>
          </p:cNvPr>
          <p:cNvSpPr>
            <a:spLocks xmlns:a="http://schemas.openxmlformats.org/drawingml/2006/main" noGrp="1"/>
          </p:cNvSpPr>
          <p:nvPr/>
        </p:nvSpPr>
        <p:spPr>
          <a:xfrm xmlns:a="http://schemas.openxmlformats.org/drawingml/2006/main">
            <a:off x="1123950" y="30480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変更理由は社内で承認された表現か</a:t>
            </a:r>
          </a:p>
        </p:txBody>
      </p:sp>
      <p:sp>
        <p:nvSpPr>
          <p:cNvPr id="14" name="check-rule-6-1">
            <a:extLst xmlns:a="http://schemas.openxmlformats.org/drawingml/2006/main">
              <a:ext uri="{FF2B5EF4-FFF2-40B4-BE49-F238E27FC236}">
                <a16:creationId xmlns:a16="http://schemas.microsoft.com/office/drawing/2014/main" id="{26A900F3-7A7F-4A6C-AB5D-B007A5BF8CE1}"/>
              </a:ext>
            </a:extLst>
          </p:cNvPr>
          <p:cNvSpPr>
            <a:spLocks xmlns:a="http://schemas.openxmlformats.org/drawingml/2006/main" noGrp="1"/>
          </p:cNvSpPr>
          <p:nvPr/>
        </p:nvSpPr>
        <p:spPr>
          <a:xfrm xmlns:a="http://schemas.openxmlformats.org/drawingml/2006/main">
            <a:off x="1123950" y="36576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6-2">
            <a:extLst xmlns:a="http://schemas.openxmlformats.org/drawingml/2006/main">
              <a:ext uri="{FF2B5EF4-FFF2-40B4-BE49-F238E27FC236}">
                <a16:creationId xmlns:a16="http://schemas.microsoft.com/office/drawing/2014/main" id="{8FE871EC-53CC-4E2D-8177-6DEB7D4CE45D}"/>
              </a:ext>
            </a:extLst>
          </p:cNvPr>
          <p:cNvSpPr>
            <a:spLocks xmlns:a="http://schemas.openxmlformats.org/drawingml/2006/main" noGrp="1"/>
          </p:cNvSpPr>
          <p:nvPr/>
        </p:nvSpPr>
        <p:spPr>
          <a:xfrm xmlns:a="http://schemas.openxmlformats.org/drawingml/2006/main">
            <a:off x="647700" y="39528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6-2">
            <a:extLst xmlns:a="http://schemas.openxmlformats.org/drawingml/2006/main">
              <a:ext uri="{FF2B5EF4-FFF2-40B4-BE49-F238E27FC236}">
                <a16:creationId xmlns:a16="http://schemas.microsoft.com/office/drawing/2014/main" id="{DE0B83BC-B1E1-4326-BDBC-DCC4A7F79F00}"/>
              </a:ext>
            </a:extLst>
          </p:cNvPr>
          <p:cNvSpPr>
            <a:spLocks xmlns:a="http://schemas.openxmlformats.org/drawingml/2006/main" noGrp="1"/>
          </p:cNvSpPr>
          <p:nvPr/>
        </p:nvSpPr>
        <p:spPr>
          <a:xfrm xmlns:a="http://schemas.openxmlformats.org/drawingml/2006/main">
            <a:off x="647700" y="39528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text-6-2">
            <a:extLst xmlns:a="http://schemas.openxmlformats.org/drawingml/2006/main">
              <a:ext uri="{FF2B5EF4-FFF2-40B4-BE49-F238E27FC236}">
                <a16:creationId xmlns:a16="http://schemas.microsoft.com/office/drawing/2014/main" id="{DDBA6E2D-8369-4451-87AF-AB4F53B21F96}"/>
              </a:ext>
            </a:extLst>
          </p:cNvPr>
          <p:cNvSpPr>
            <a:spLocks xmlns:a="http://schemas.openxmlformats.org/drawingml/2006/main" noGrp="1"/>
          </p:cNvSpPr>
          <p:nvPr/>
        </p:nvSpPr>
        <p:spPr>
          <a:xfrm xmlns:a="http://schemas.openxmlformats.org/drawingml/2006/main">
            <a:off x="1123950" y="38862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代替日をAIが勝手に追加していないか</a:t>
            </a:r>
          </a:p>
        </p:txBody>
      </p:sp>
      <p:sp>
        <p:nvSpPr>
          <p:cNvPr id="18" name="check-rule-6-2">
            <a:extLst xmlns:a="http://schemas.openxmlformats.org/drawingml/2006/main">
              <a:ext uri="{FF2B5EF4-FFF2-40B4-BE49-F238E27FC236}">
                <a16:creationId xmlns:a16="http://schemas.microsoft.com/office/drawing/2014/main" id="{D5D99F3A-4D78-4529-8FD4-C258BC8C6609}"/>
              </a:ext>
            </a:extLst>
          </p:cNvPr>
          <p:cNvSpPr>
            <a:spLocks xmlns:a="http://schemas.openxmlformats.org/drawingml/2006/main" noGrp="1"/>
          </p:cNvSpPr>
          <p:nvPr/>
        </p:nvSpPr>
        <p:spPr>
          <a:xfrm xmlns:a="http://schemas.openxmlformats.org/drawingml/2006/main">
            <a:off x="1123950" y="44958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6-3">
            <a:extLst xmlns:a="http://schemas.openxmlformats.org/drawingml/2006/main">
              <a:ext uri="{FF2B5EF4-FFF2-40B4-BE49-F238E27FC236}">
                <a16:creationId xmlns:a16="http://schemas.microsoft.com/office/drawing/2014/main" id="{439D0271-AB04-47F9-B616-50969300604C}"/>
              </a:ext>
            </a:extLst>
          </p:cNvPr>
          <p:cNvSpPr>
            <a:spLocks xmlns:a="http://schemas.openxmlformats.org/drawingml/2006/main" noGrp="1"/>
          </p:cNvSpPr>
          <p:nvPr/>
        </p:nvSpPr>
        <p:spPr>
          <a:xfrm xmlns:a="http://schemas.openxmlformats.org/drawingml/2006/main">
            <a:off x="6076950" y="22764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6-3">
            <a:extLst xmlns:a="http://schemas.openxmlformats.org/drawingml/2006/main">
              <a:ext uri="{FF2B5EF4-FFF2-40B4-BE49-F238E27FC236}">
                <a16:creationId xmlns:a16="http://schemas.microsoft.com/office/drawing/2014/main" id="{A6677DD7-B80B-4F09-82A9-454F269941BC}"/>
              </a:ext>
            </a:extLst>
          </p:cNvPr>
          <p:cNvSpPr>
            <a:spLocks xmlns:a="http://schemas.openxmlformats.org/drawingml/2006/main" noGrp="1"/>
          </p:cNvSpPr>
          <p:nvPr/>
        </p:nvSpPr>
        <p:spPr>
          <a:xfrm xmlns:a="http://schemas.openxmlformats.org/drawingml/2006/main">
            <a:off x="6076950" y="22764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text-6-3">
            <a:extLst xmlns:a="http://schemas.openxmlformats.org/drawingml/2006/main">
              <a:ext uri="{FF2B5EF4-FFF2-40B4-BE49-F238E27FC236}">
                <a16:creationId xmlns:a16="http://schemas.microsoft.com/office/drawing/2014/main" id="{D412DC39-0A77-40B2-8DAF-599EA4FBFF30}"/>
              </a:ext>
            </a:extLst>
          </p:cNvPr>
          <p:cNvSpPr>
            <a:spLocks xmlns:a="http://schemas.openxmlformats.org/drawingml/2006/main" noGrp="1"/>
          </p:cNvSpPr>
          <p:nvPr/>
        </p:nvSpPr>
        <p:spPr>
          <a:xfrm xmlns:a="http://schemas.openxmlformats.org/drawingml/2006/main">
            <a:off x="6553200" y="22098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相手名・署名・連絡先は送信者が入力したか</a:t>
            </a:r>
          </a:p>
        </p:txBody>
      </p:sp>
      <p:sp>
        <p:nvSpPr>
          <p:cNvPr id="22" name="check-rule-6-3">
            <a:extLst xmlns:a="http://schemas.openxmlformats.org/drawingml/2006/main">
              <a:ext uri="{FF2B5EF4-FFF2-40B4-BE49-F238E27FC236}">
                <a16:creationId xmlns:a16="http://schemas.microsoft.com/office/drawing/2014/main" id="{AF28C78F-6B32-423A-8D3B-7A3397AA8808}"/>
              </a:ext>
            </a:extLst>
          </p:cNvPr>
          <p:cNvSpPr>
            <a:spLocks xmlns:a="http://schemas.openxmlformats.org/drawingml/2006/main" noGrp="1"/>
          </p:cNvSpPr>
          <p:nvPr/>
        </p:nvSpPr>
        <p:spPr>
          <a:xfrm xmlns:a="http://schemas.openxmlformats.org/drawingml/2006/main">
            <a:off x="6553200" y="28194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check-6-4">
            <a:extLst xmlns:a="http://schemas.openxmlformats.org/drawingml/2006/main">
              <a:ext uri="{FF2B5EF4-FFF2-40B4-BE49-F238E27FC236}">
                <a16:creationId xmlns:a16="http://schemas.microsoft.com/office/drawing/2014/main" id="{5ACC940B-3E15-4DF7-A84F-E6A6F0A7DC7C}"/>
              </a:ext>
            </a:extLst>
          </p:cNvPr>
          <p:cNvSpPr>
            <a:spLocks xmlns:a="http://schemas.openxmlformats.org/drawingml/2006/main" noGrp="1"/>
          </p:cNvSpPr>
          <p:nvPr/>
        </p:nvSpPr>
        <p:spPr>
          <a:xfrm xmlns:a="http://schemas.openxmlformats.org/drawingml/2006/main">
            <a:off x="6076950" y="31146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4" name="check-mark-6-4">
            <a:extLst xmlns:a="http://schemas.openxmlformats.org/drawingml/2006/main">
              <a:ext uri="{FF2B5EF4-FFF2-40B4-BE49-F238E27FC236}">
                <a16:creationId xmlns:a16="http://schemas.microsoft.com/office/drawing/2014/main" id="{D78ABB50-7D00-41F0-80A5-42D7063261C5}"/>
              </a:ext>
            </a:extLst>
          </p:cNvPr>
          <p:cNvSpPr>
            <a:spLocks xmlns:a="http://schemas.openxmlformats.org/drawingml/2006/main" noGrp="1"/>
          </p:cNvSpPr>
          <p:nvPr/>
        </p:nvSpPr>
        <p:spPr>
          <a:xfrm xmlns:a="http://schemas.openxmlformats.org/drawingml/2006/main">
            <a:off x="6076950" y="31146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5" name="check-text-6-4">
            <a:extLst xmlns:a="http://schemas.openxmlformats.org/drawingml/2006/main">
              <a:ext uri="{FF2B5EF4-FFF2-40B4-BE49-F238E27FC236}">
                <a16:creationId xmlns:a16="http://schemas.microsoft.com/office/drawing/2014/main" id="{EC967035-8264-4471-8ED1-C0AFD8D6A133}"/>
              </a:ext>
            </a:extLst>
          </p:cNvPr>
          <p:cNvSpPr>
            <a:spLocks xmlns:a="http://schemas.openxmlformats.org/drawingml/2006/main" noGrp="1"/>
          </p:cNvSpPr>
          <p:nvPr/>
        </p:nvSpPr>
        <p:spPr>
          <a:xfrm xmlns:a="http://schemas.openxmlformats.org/drawingml/2006/main">
            <a:off x="6553200" y="30480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件名、宛先、添付を人が確認してから送信する</a:t>
            </a:r>
          </a:p>
        </p:txBody>
      </p:sp>
      <p:sp>
        <p:nvSpPr>
          <p:cNvPr id="26" name="check-rule-6-4">
            <a:extLst xmlns:a="http://schemas.openxmlformats.org/drawingml/2006/main">
              <a:ext uri="{FF2B5EF4-FFF2-40B4-BE49-F238E27FC236}">
                <a16:creationId xmlns:a16="http://schemas.microsoft.com/office/drawing/2014/main" id="{08B9F05C-3470-48F9-9FE9-6D398FF0241E}"/>
              </a:ext>
            </a:extLst>
          </p:cNvPr>
          <p:cNvSpPr>
            <a:spLocks xmlns:a="http://schemas.openxmlformats.org/drawingml/2006/main" noGrp="1"/>
          </p:cNvSpPr>
          <p:nvPr/>
        </p:nvSpPr>
        <p:spPr>
          <a:xfrm xmlns:a="http://schemas.openxmlformats.org/drawingml/2006/main">
            <a:off x="6553200" y="36576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7" name="body-6">
            <a:extLst xmlns:a="http://schemas.openxmlformats.org/drawingml/2006/main">
              <a:ext uri="{FF2B5EF4-FFF2-40B4-BE49-F238E27FC236}">
                <a16:creationId xmlns:a16="http://schemas.microsoft.com/office/drawing/2014/main" id="{5B1FF921-77E5-48C0-B9C2-AD68DA92B252}"/>
              </a:ext>
            </a:extLst>
          </p:cNvPr>
          <p:cNvSpPr>
            <a:spLocks xmlns:a="http://schemas.openxmlformats.org/drawingml/2006/main" noGrp="1"/>
          </p:cNvSpPr>
          <p:nvPr/>
        </p:nvSpPr>
        <p:spPr>
          <a:xfrm xmlns:a="http://schemas.openxmlformats.org/drawingml/2006/main">
            <a:off x="647700" y="52197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出力例（架空・参考）：『9月3日の会議につきまして、弊社都合により延期をお願い申し上げます。代替日は［要確認］です。』</a:t>
            </a:r>
          </a:p>
        </p:txBody>
      </p:sp>
      <p:sp>
        <p:nvSpPr>
          <p:cNvPr id="28" name="footer-rule-6">
            <a:extLst xmlns:a="http://schemas.openxmlformats.org/drawingml/2006/main">
              <a:ext uri="{FF2B5EF4-FFF2-40B4-BE49-F238E27FC236}">
                <a16:creationId xmlns:a16="http://schemas.microsoft.com/office/drawing/2014/main" id="{86514A20-44C4-473F-A37E-5946BDACFF17}"/>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6">
            <a:extLst xmlns:a="http://schemas.openxmlformats.org/drawingml/2006/main">
              <a:ext uri="{FF2B5EF4-FFF2-40B4-BE49-F238E27FC236}">
                <a16:creationId xmlns:a16="http://schemas.microsoft.com/office/drawing/2014/main" id="{3501619F-4747-4345-AB90-D9178D9C14C7}"/>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S1・S2・S4・S6（詳細はノート）</a:t>
            </a:r>
          </a:p>
        </p:txBody>
      </p:sp>
      <p:sp>
        <p:nvSpPr>
          <p:cNvPr id="30" name="footer-no-6">
            <a:extLst xmlns:a="http://schemas.openxmlformats.org/drawingml/2006/main">
              <a:ext uri="{FF2B5EF4-FFF2-40B4-BE49-F238E27FC236}">
                <a16:creationId xmlns:a16="http://schemas.microsoft.com/office/drawing/2014/main" id="{54A20C74-F94B-4012-8BC2-81F50F7481A0}"/>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06 / 20</a:t>
            </a:r>
          </a:p>
        </p:txBody>
      </p:sp>
    </p:spTree>
    <p:extLst>
      <p:ext uri="{BB962C8B-B14F-4D97-AF65-F5344CB8AC3E}">
        <p14:creationId xmlns:p14="http://schemas.microsoft.com/office/powerpoint/2010/main" val="8351066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7">
            <a:extLst xmlns:a="http://schemas.openxmlformats.org/drawingml/2006/main">
              <a:ext uri="{FF2B5EF4-FFF2-40B4-BE49-F238E27FC236}">
                <a16:creationId xmlns:a16="http://schemas.microsoft.com/office/drawing/2014/main" id="{8196DD1D-4550-42FC-89E8-E4AA54203E3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7">
            <a:extLst xmlns:a="http://schemas.openxmlformats.org/drawingml/2006/main">
              <a:ext uri="{FF2B5EF4-FFF2-40B4-BE49-F238E27FC236}">
                <a16:creationId xmlns:a16="http://schemas.microsoft.com/office/drawing/2014/main" id="{9F721851-2DAE-4B78-A108-37B09534EF88}"/>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報告書作成</a:t>
            </a:r>
          </a:p>
        </p:txBody>
      </p:sp>
      <p:sp>
        <p:nvSpPr>
          <p:cNvPr id="3" name="label-7">
            <a:extLst xmlns:a="http://schemas.openxmlformats.org/drawingml/2006/main">
              <a:ext uri="{FF2B5EF4-FFF2-40B4-BE49-F238E27FC236}">
                <a16:creationId xmlns:a16="http://schemas.microsoft.com/office/drawing/2014/main" id="{5C684630-0935-401C-8082-B8CE2E1B80EF}"/>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ケース2</a:t>
            </a:r>
          </a:p>
        </p:txBody>
      </p:sp>
      <p:sp>
        <p:nvSpPr>
          <p:cNvPr id="4" name="title-7">
            <a:extLst xmlns:a="http://schemas.openxmlformats.org/drawingml/2006/main">
              <a:ext uri="{FF2B5EF4-FFF2-40B4-BE49-F238E27FC236}">
                <a16:creationId xmlns:a16="http://schemas.microsoft.com/office/drawing/2014/main" id="{0E65F256-2212-4E6C-BF04-B361B2A17837}"/>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ケース2：巡回メモを報告書へ整理する</a:t>
            </a:r>
          </a:p>
        </p:txBody>
      </p:sp>
      <p:sp>
        <p:nvSpPr>
          <p:cNvPr id="5" name="title-rule-7">
            <a:extLst xmlns:a="http://schemas.openxmlformats.org/drawingml/2006/main">
              <a:ext uri="{FF2B5EF4-FFF2-40B4-BE49-F238E27FC236}">
                <a16:creationId xmlns:a16="http://schemas.microsoft.com/office/drawing/2014/main" id="{0B7821C8-24CF-4F82-B7B1-027080549BCF}"/>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7">
            <a:extLst xmlns:a="http://schemas.openxmlformats.org/drawingml/2006/main">
              <a:ext uri="{FF2B5EF4-FFF2-40B4-BE49-F238E27FC236}">
                <a16:creationId xmlns:a16="http://schemas.microsoft.com/office/drawing/2014/main" id="{89905F5C-DB86-433C-B5BF-2FF117719A01}"/>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観察した事実と提案を分け、ない事実を補わせない。</a:t>
            </a:r>
          </a:p>
        </p:txBody>
      </p:sp>
      <p:sp>
        <p:nvSpPr>
          <p:cNvPr id="7" name="case-bad-7-bg">
            <a:extLst xmlns:a="http://schemas.openxmlformats.org/drawingml/2006/main">
              <a:ext uri="{FF2B5EF4-FFF2-40B4-BE49-F238E27FC236}">
                <a16:creationId xmlns:a16="http://schemas.microsoft.com/office/drawing/2014/main" id="{8BF48307-E817-4EC2-9DA6-79143FC5CDAB}"/>
              </a:ext>
            </a:extLst>
          </p:cNvPr>
          <p:cNvSpPr>
            <a:spLocks xmlns:a="http://schemas.openxmlformats.org/drawingml/2006/main" noGrp="1"/>
          </p:cNvSpPr>
          <p:nvPr/>
        </p:nvSpPr>
        <p:spPr>
          <a:xfrm xmlns:a="http://schemas.openxmlformats.org/drawingml/2006/main">
            <a:off x="647700" y="2152650"/>
            <a:ext cx="5238750" cy="1047750"/>
          </a:xfrm>
          <a:prstGeom xmlns:a="http://schemas.openxmlformats.org/drawingml/2006/main" prst="roundRect">
            <a:avLst>
              <a:gd name="adj" fmla="val 10909"/>
            </a:avLst>
          </a:prstGeom>
          <a:solidFill xmlns:a="http://schemas.openxmlformats.org/drawingml/2006/main">
            <a:srgbClr val="FDEBE7"/>
          </a:solidFill>
          <a:ln xmlns:a="http://schemas.openxmlformats.org/drawingml/2006/main" w="9525">
            <a:solidFill>
              <a:srgbClr val="D3DEE3"/>
            </a:solidFill>
            <a:prstDash val="solid"/>
          </a:ln>
        </p:spPr>
      </p:sp>
      <p:sp>
        <p:nvSpPr>
          <p:cNvPr id="8" name="case-bad-7-bar">
            <a:extLst xmlns:a="http://schemas.openxmlformats.org/drawingml/2006/main">
              <a:ext uri="{FF2B5EF4-FFF2-40B4-BE49-F238E27FC236}">
                <a16:creationId xmlns:a16="http://schemas.microsoft.com/office/drawing/2014/main" id="{8EB5B503-8F65-484F-9C1B-5A12E3CD9B11}"/>
              </a:ext>
            </a:extLst>
          </p:cNvPr>
          <p:cNvSpPr>
            <a:spLocks xmlns:a="http://schemas.openxmlformats.org/drawingml/2006/main" noGrp="1"/>
          </p:cNvSpPr>
          <p:nvPr/>
        </p:nvSpPr>
        <p:spPr>
          <a:xfrm xmlns:a="http://schemas.openxmlformats.org/drawingml/2006/main">
            <a:off x="647700" y="2152650"/>
            <a:ext cx="76200" cy="1047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9" name="case-bad-7-label">
            <a:extLst xmlns:a="http://schemas.openxmlformats.org/drawingml/2006/main">
              <a:ext uri="{FF2B5EF4-FFF2-40B4-BE49-F238E27FC236}">
                <a16:creationId xmlns:a16="http://schemas.microsoft.com/office/drawing/2014/main" id="{6249905B-B0DD-4448-8072-03FBD9623ECB}"/>
              </a:ext>
            </a:extLst>
          </p:cNvPr>
          <p:cNvSpPr>
            <a:spLocks xmlns:a="http://schemas.openxmlformats.org/drawingml/2006/main" noGrp="1"/>
          </p:cNvSpPr>
          <p:nvPr/>
        </p:nvSpPr>
        <p:spPr>
          <a:xfrm xmlns:a="http://schemas.openxmlformats.org/drawingml/2006/main">
            <a:off x="87630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B42318"/>
                </a:solidFill>
              </a:defRPr>
            </a:pPr>
            <a:r>
              <a:rPr sz="1125" b="1">
                <a:solidFill>
                  <a:srgbClr val="B42318"/>
                </a:solidFill>
              </a:rPr>
              <a:t>悪い依頼</a:t>
            </a:r>
          </a:p>
        </p:txBody>
      </p:sp>
      <p:sp>
        <p:nvSpPr>
          <p:cNvPr id="10" name="case-bad-7-text">
            <a:extLst xmlns:a="http://schemas.openxmlformats.org/drawingml/2006/main">
              <a:ext uri="{FF2B5EF4-FFF2-40B4-BE49-F238E27FC236}">
                <a16:creationId xmlns:a16="http://schemas.microsoft.com/office/drawing/2014/main" id="{672BB7E6-9401-4F33-8EE8-4DFF795C50E8}"/>
              </a:ext>
            </a:extLst>
          </p:cNvPr>
          <p:cNvSpPr>
            <a:spLocks xmlns:a="http://schemas.openxmlformats.org/drawingml/2006/main" noGrp="1"/>
          </p:cNvSpPr>
          <p:nvPr/>
        </p:nvSpPr>
        <p:spPr>
          <a:xfrm xmlns:a="http://schemas.openxmlformats.org/drawingml/2006/main">
            <a:off x="876300" y="257175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72B3A"/>
                </a:solidFill>
              </a:defRPr>
            </a:pPr>
            <a:r>
              <a:rPr sz="1200" b="1">
                <a:solidFill>
                  <a:srgbClr val="172B3A"/>
                </a:solidFill>
              </a:rPr>
              <a:t>今日の巡回メモから、立派な安全報告書を作って。</a:t>
            </a:r>
          </a:p>
        </p:txBody>
      </p:sp>
      <p:sp>
        <p:nvSpPr>
          <p:cNvPr id="11" name="case-prompt-7-bg">
            <a:extLst xmlns:a="http://schemas.openxmlformats.org/drawingml/2006/main">
              <a:ext uri="{FF2B5EF4-FFF2-40B4-BE49-F238E27FC236}">
                <a16:creationId xmlns:a16="http://schemas.microsoft.com/office/drawing/2014/main" id="{B1FD18CE-0E7D-415F-A3C1-5A94B4166E1B}"/>
              </a:ext>
            </a:extLst>
          </p:cNvPr>
          <p:cNvSpPr>
            <a:spLocks xmlns:a="http://schemas.openxmlformats.org/drawingml/2006/main" noGrp="1"/>
          </p:cNvSpPr>
          <p:nvPr/>
        </p:nvSpPr>
        <p:spPr>
          <a:xfrm xmlns:a="http://schemas.openxmlformats.org/drawingml/2006/main">
            <a:off x="647700" y="3333750"/>
            <a:ext cx="5238750" cy="2190750"/>
          </a:xfrm>
          <a:prstGeom xmlns:a="http://schemas.openxmlformats.org/drawingml/2006/main" prst="roundRect">
            <a:avLst>
              <a:gd name="adj" fmla="val 5217"/>
            </a:avLst>
          </a:prstGeom>
          <a:solidFill xmlns:a="http://schemas.openxmlformats.org/drawingml/2006/main">
            <a:srgbClr val="E5F4FC"/>
          </a:solidFill>
          <a:ln xmlns:a="http://schemas.openxmlformats.org/drawingml/2006/main" w="9525">
            <a:solidFill>
              <a:srgbClr val="D3DEE3"/>
            </a:solidFill>
            <a:prstDash val="solid"/>
          </a:ln>
        </p:spPr>
      </p:sp>
      <p:sp>
        <p:nvSpPr>
          <p:cNvPr id="12" name="case-prompt-7-bar">
            <a:extLst xmlns:a="http://schemas.openxmlformats.org/drawingml/2006/main">
              <a:ext uri="{FF2B5EF4-FFF2-40B4-BE49-F238E27FC236}">
                <a16:creationId xmlns:a16="http://schemas.microsoft.com/office/drawing/2014/main" id="{16884807-F8FA-4FD3-9A23-CD3EAD37B713}"/>
              </a:ext>
            </a:extLst>
          </p:cNvPr>
          <p:cNvSpPr>
            <a:spLocks xmlns:a="http://schemas.openxmlformats.org/drawingml/2006/main" noGrp="1"/>
          </p:cNvSpPr>
          <p:nvPr/>
        </p:nvSpPr>
        <p:spPr>
          <a:xfrm xmlns:a="http://schemas.openxmlformats.org/drawingml/2006/main">
            <a:off x="647700" y="3333750"/>
            <a:ext cx="76200" cy="219075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3" name="case-prompt-7-label">
            <a:extLst xmlns:a="http://schemas.openxmlformats.org/drawingml/2006/main">
              <a:ext uri="{FF2B5EF4-FFF2-40B4-BE49-F238E27FC236}">
                <a16:creationId xmlns:a16="http://schemas.microsoft.com/office/drawing/2014/main" id="{03379DA0-6B56-43BA-9A7D-EFA490130F84}"/>
              </a:ext>
            </a:extLst>
          </p:cNvPr>
          <p:cNvSpPr>
            <a:spLocks xmlns:a="http://schemas.openxmlformats.org/drawingml/2006/main" noGrp="1"/>
          </p:cNvSpPr>
          <p:nvPr/>
        </p:nvSpPr>
        <p:spPr>
          <a:xfrm xmlns:a="http://schemas.openxmlformats.org/drawingml/2006/main">
            <a:off x="876300" y="34480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369A1"/>
                </a:solidFill>
              </a:defRPr>
            </a:pPr>
            <a:r>
              <a:rPr sz="1125" b="1">
                <a:solidFill>
                  <a:srgbClr val="0369A1"/>
                </a:solidFill>
              </a:rPr>
              <a:t>改善した具体的プロンプト</a:t>
            </a:r>
          </a:p>
        </p:txBody>
      </p:sp>
      <p:sp>
        <p:nvSpPr>
          <p:cNvPr id="14" name="case-prompt-7-text">
            <a:extLst xmlns:a="http://schemas.openxmlformats.org/drawingml/2006/main">
              <a:ext uri="{FF2B5EF4-FFF2-40B4-BE49-F238E27FC236}">
                <a16:creationId xmlns:a16="http://schemas.microsoft.com/office/drawing/2014/main" id="{620AFFE7-3ACD-4EE4-8D87-51EE64E7F2D7}"/>
              </a:ext>
            </a:extLst>
          </p:cNvPr>
          <p:cNvSpPr>
            <a:spLocks xmlns:a="http://schemas.openxmlformats.org/drawingml/2006/main" noGrp="1"/>
          </p:cNvSpPr>
          <p:nvPr/>
        </p:nvSpPr>
        <p:spPr>
          <a:xfrm xmlns:a="http://schemas.openxmlformats.org/drawingml/2006/main">
            <a:off x="876300" y="3752850"/>
            <a:ext cx="4819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B3A"/>
                </a:solidFill>
              </a:defRPr>
            </a:pPr>
            <a:r>
              <a:rPr sz="1200" b="0">
                <a:solidFill>
                  <a:srgbClr val="172B3A"/>
                </a:solidFill>
              </a:rPr>
              <a:t>架空メモだけを使い、①観察事実②未確認③是正案④質問に分ける。原因・責任者・期限を追加せず、根拠メモ番号を付ける。</a:t>
            </a:r>
          </a:p>
        </p:txBody>
      </p:sp>
      <p:sp>
        <p:nvSpPr>
          <p:cNvPr id="15" name="case-output-7-bg">
            <a:extLst xmlns:a="http://schemas.openxmlformats.org/drawingml/2006/main">
              <a:ext uri="{FF2B5EF4-FFF2-40B4-BE49-F238E27FC236}">
                <a16:creationId xmlns:a16="http://schemas.microsoft.com/office/drawing/2014/main" id="{8EFDE431-2465-40F1-B852-DC388BF4B574}"/>
              </a:ext>
            </a:extLst>
          </p:cNvPr>
          <p:cNvSpPr>
            <a:spLocks xmlns:a="http://schemas.openxmlformats.org/drawingml/2006/main" noGrp="1"/>
          </p:cNvSpPr>
          <p:nvPr/>
        </p:nvSpPr>
        <p:spPr>
          <a:xfrm xmlns:a="http://schemas.openxmlformats.org/drawingml/2006/main">
            <a:off x="6267450" y="2152650"/>
            <a:ext cx="5238750" cy="1562100"/>
          </a:xfrm>
          <a:prstGeom xmlns:a="http://schemas.openxmlformats.org/drawingml/2006/main" prst="roundRect">
            <a:avLst>
              <a:gd name="adj" fmla="val 7317"/>
            </a:avLst>
          </a:prstGeom>
          <a:solidFill xmlns:a="http://schemas.openxmlformats.org/drawingml/2006/main">
            <a:srgbClr val="F0EAFE"/>
          </a:solidFill>
          <a:ln xmlns:a="http://schemas.openxmlformats.org/drawingml/2006/main" w="9525">
            <a:solidFill>
              <a:srgbClr val="D3DEE3"/>
            </a:solidFill>
            <a:prstDash val="solid"/>
          </a:ln>
        </p:spPr>
      </p:sp>
      <p:sp>
        <p:nvSpPr>
          <p:cNvPr id="16" name="case-output-7-bar">
            <a:extLst xmlns:a="http://schemas.openxmlformats.org/drawingml/2006/main">
              <a:ext uri="{FF2B5EF4-FFF2-40B4-BE49-F238E27FC236}">
                <a16:creationId xmlns:a16="http://schemas.microsoft.com/office/drawing/2014/main" id="{C259663D-AEE0-47FC-90DE-E8AF110D61E6}"/>
              </a:ext>
            </a:extLst>
          </p:cNvPr>
          <p:cNvSpPr>
            <a:spLocks xmlns:a="http://schemas.openxmlformats.org/drawingml/2006/main" noGrp="1"/>
          </p:cNvSpPr>
          <p:nvPr/>
        </p:nvSpPr>
        <p:spPr>
          <a:xfrm xmlns:a="http://schemas.openxmlformats.org/drawingml/2006/main">
            <a:off x="6267450" y="2152650"/>
            <a:ext cx="76200" cy="1562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17" name="case-output-7-label">
            <a:extLst xmlns:a="http://schemas.openxmlformats.org/drawingml/2006/main">
              <a:ext uri="{FF2B5EF4-FFF2-40B4-BE49-F238E27FC236}">
                <a16:creationId xmlns:a16="http://schemas.microsoft.com/office/drawing/2014/main" id="{2FF38C0D-912D-4A59-8B2C-7E5B2FD55A11}"/>
              </a:ext>
            </a:extLst>
          </p:cNvPr>
          <p:cNvSpPr>
            <a:spLocks xmlns:a="http://schemas.openxmlformats.org/drawingml/2006/main" noGrp="1"/>
          </p:cNvSpPr>
          <p:nvPr/>
        </p:nvSpPr>
        <p:spPr>
          <a:xfrm xmlns:a="http://schemas.openxmlformats.org/drawingml/2006/main">
            <a:off x="649605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28D9"/>
                </a:solidFill>
              </a:defRPr>
            </a:pPr>
            <a:r>
              <a:rPr sz="1125" b="1">
                <a:solidFill>
                  <a:srgbClr val="6D28D9"/>
                </a:solidFill>
              </a:rPr>
              <a:t>短い出力例（架空・参考）</a:t>
            </a:r>
          </a:p>
        </p:txBody>
      </p:sp>
      <p:sp>
        <p:nvSpPr>
          <p:cNvPr id="18" name="case-output-7-text">
            <a:extLst xmlns:a="http://schemas.openxmlformats.org/drawingml/2006/main">
              <a:ext uri="{FF2B5EF4-FFF2-40B4-BE49-F238E27FC236}">
                <a16:creationId xmlns:a16="http://schemas.microsoft.com/office/drawing/2014/main" id="{44687146-CA9B-4F71-B096-CD232FA3FB05}"/>
              </a:ext>
            </a:extLst>
          </p:cNvPr>
          <p:cNvSpPr>
            <a:spLocks xmlns:a="http://schemas.openxmlformats.org/drawingml/2006/main" noGrp="1"/>
          </p:cNvSpPr>
          <p:nvPr/>
        </p:nvSpPr>
        <p:spPr>
          <a:xfrm xmlns:a="http://schemas.openxmlformats.org/drawingml/2006/main">
            <a:off x="6496050" y="2571750"/>
            <a:ext cx="4819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B3A"/>
                </a:solidFill>
              </a:defRPr>
            </a:pPr>
            <a:r>
              <a:rPr sz="1275" b="0">
                <a:solidFill>
                  <a:srgbClr val="172B3A"/>
                </a:solidFill>
              </a:rPr>
              <a:t>事実［メモ1・2］資材3箱で誘導表示が見えにくい／未確認：設置者・撤去時刻</a:t>
            </a:r>
          </a:p>
        </p:txBody>
      </p:sp>
      <p:sp>
        <p:nvSpPr>
          <p:cNvPr id="19" name="case-check-7-bg">
            <a:extLst xmlns:a="http://schemas.openxmlformats.org/drawingml/2006/main">
              <a:ext uri="{FF2B5EF4-FFF2-40B4-BE49-F238E27FC236}">
                <a16:creationId xmlns:a16="http://schemas.microsoft.com/office/drawing/2014/main" id="{A2903521-000E-4236-A7FC-13CCEC5E5DF8}"/>
              </a:ext>
            </a:extLst>
          </p:cNvPr>
          <p:cNvSpPr>
            <a:spLocks xmlns:a="http://schemas.openxmlformats.org/drawingml/2006/main" noGrp="1"/>
          </p:cNvSpPr>
          <p:nvPr/>
        </p:nvSpPr>
        <p:spPr>
          <a:xfrm xmlns:a="http://schemas.openxmlformats.org/drawingml/2006/main">
            <a:off x="6267450" y="3867150"/>
            <a:ext cx="5238750" cy="1657350"/>
          </a:xfrm>
          <a:prstGeom xmlns:a="http://schemas.openxmlformats.org/drawingml/2006/main" prst="roundRect">
            <a:avLst>
              <a:gd name="adj" fmla="val 6897"/>
            </a:avLst>
          </a:prstGeom>
          <a:solidFill xmlns:a="http://schemas.openxmlformats.org/drawingml/2006/main">
            <a:srgbClr val="FFF4D6"/>
          </a:solidFill>
          <a:ln xmlns:a="http://schemas.openxmlformats.org/drawingml/2006/main" w="9525">
            <a:solidFill>
              <a:srgbClr val="D3DEE3"/>
            </a:solidFill>
            <a:prstDash val="solid"/>
          </a:ln>
        </p:spPr>
      </p:sp>
      <p:sp>
        <p:nvSpPr>
          <p:cNvPr id="20" name="case-check-7-bar">
            <a:extLst xmlns:a="http://schemas.openxmlformats.org/drawingml/2006/main">
              <a:ext uri="{FF2B5EF4-FFF2-40B4-BE49-F238E27FC236}">
                <a16:creationId xmlns:a16="http://schemas.microsoft.com/office/drawing/2014/main" id="{0C374188-AF85-481F-BD31-08A1C0A3A258}"/>
              </a:ext>
            </a:extLst>
          </p:cNvPr>
          <p:cNvSpPr>
            <a:spLocks xmlns:a="http://schemas.openxmlformats.org/drawingml/2006/main" noGrp="1"/>
          </p:cNvSpPr>
          <p:nvPr/>
        </p:nvSpPr>
        <p:spPr>
          <a:xfrm xmlns:a="http://schemas.openxmlformats.org/drawingml/2006/main">
            <a:off x="6267450" y="3867150"/>
            <a:ext cx="76200" cy="16573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1" name="case-check-7-label">
            <a:extLst xmlns:a="http://schemas.openxmlformats.org/drawingml/2006/main">
              <a:ext uri="{FF2B5EF4-FFF2-40B4-BE49-F238E27FC236}">
                <a16:creationId xmlns:a16="http://schemas.microsoft.com/office/drawing/2014/main" id="{30D806F9-CF60-4968-BAF9-298C04BA909F}"/>
              </a:ext>
            </a:extLst>
          </p:cNvPr>
          <p:cNvSpPr>
            <a:spLocks xmlns:a="http://schemas.openxmlformats.org/drawingml/2006/main" noGrp="1"/>
          </p:cNvSpPr>
          <p:nvPr/>
        </p:nvSpPr>
        <p:spPr>
          <a:xfrm xmlns:a="http://schemas.openxmlformats.org/drawingml/2006/main">
            <a:off x="6496050" y="39814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97316"/>
                </a:solidFill>
              </a:defRPr>
            </a:pPr>
            <a:r>
              <a:rPr sz="1125" b="1">
                <a:solidFill>
                  <a:srgbClr val="F97316"/>
                </a:solidFill>
              </a:rPr>
              <a:t>人が確認する点</a:t>
            </a:r>
          </a:p>
        </p:txBody>
      </p:sp>
      <p:sp>
        <p:nvSpPr>
          <p:cNvPr id="22" name="case-check-7-text">
            <a:extLst xmlns:a="http://schemas.openxmlformats.org/drawingml/2006/main">
              <a:ext uri="{FF2B5EF4-FFF2-40B4-BE49-F238E27FC236}">
                <a16:creationId xmlns:a16="http://schemas.microsoft.com/office/drawing/2014/main" id="{0B986451-6E18-456F-A657-CF04377F143D}"/>
              </a:ext>
            </a:extLst>
          </p:cNvPr>
          <p:cNvSpPr>
            <a:spLocks xmlns:a="http://schemas.openxmlformats.org/drawingml/2006/main" noGrp="1"/>
          </p:cNvSpPr>
          <p:nvPr/>
        </p:nvSpPr>
        <p:spPr>
          <a:xfrm xmlns:a="http://schemas.openxmlformats.org/drawingml/2006/main">
            <a:off x="6496050" y="4286250"/>
            <a:ext cx="4819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B3A"/>
                </a:solidFill>
              </a:defRPr>
            </a:pPr>
            <a:r>
              <a:rPr sz="1350" b="0">
                <a:solidFill>
                  <a:srgbClr val="172B3A"/>
                </a:solidFill>
              </a:rPr>
              <a:t>写真・時刻・数量、事実と提案の区別、担当者と期限</a:t>
            </a:r>
          </a:p>
        </p:txBody>
      </p:sp>
      <p:sp>
        <p:nvSpPr>
          <p:cNvPr id="23" name="footer-rule-7">
            <a:extLst xmlns:a="http://schemas.openxmlformats.org/drawingml/2006/main">
              <a:ext uri="{FF2B5EF4-FFF2-40B4-BE49-F238E27FC236}">
                <a16:creationId xmlns:a16="http://schemas.microsoft.com/office/drawing/2014/main" id="{0D8682B6-30C5-4FEE-BA6A-7F2E5845F985}"/>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7">
            <a:extLst xmlns:a="http://schemas.openxmlformats.org/drawingml/2006/main">
              <a:ext uri="{FF2B5EF4-FFF2-40B4-BE49-F238E27FC236}">
                <a16:creationId xmlns:a16="http://schemas.microsoft.com/office/drawing/2014/main" id="{FA6F1D02-64B5-465A-B0D6-D12C8BD8A201}"/>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S1・S6・S2・S4（詳細はノート）</a:t>
            </a:r>
          </a:p>
        </p:txBody>
      </p:sp>
      <p:sp>
        <p:nvSpPr>
          <p:cNvPr id="25" name="footer-no-7">
            <a:extLst xmlns:a="http://schemas.openxmlformats.org/drawingml/2006/main">
              <a:ext uri="{FF2B5EF4-FFF2-40B4-BE49-F238E27FC236}">
                <a16:creationId xmlns:a16="http://schemas.microsoft.com/office/drawing/2014/main" id="{15C2951A-CA9B-4486-B8FA-78BCFB791790}"/>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07 / 20</a:t>
            </a:r>
          </a:p>
        </p:txBody>
      </p:sp>
    </p:spTree>
    <p:extLst>
      <p:ext uri="{BB962C8B-B14F-4D97-AF65-F5344CB8AC3E}">
        <p14:creationId xmlns:p14="http://schemas.microsoft.com/office/powerpoint/2010/main" val="1287575865"/>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8">
            <a:extLst xmlns:a="http://schemas.openxmlformats.org/drawingml/2006/main">
              <a:ext uri="{FF2B5EF4-FFF2-40B4-BE49-F238E27FC236}">
                <a16:creationId xmlns:a16="http://schemas.microsoft.com/office/drawing/2014/main" id="{A57DE2ED-0350-4650-BAC1-6F52FA7FF18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8">
            <a:extLst xmlns:a="http://schemas.openxmlformats.org/drawingml/2006/main">
              <a:ext uri="{FF2B5EF4-FFF2-40B4-BE49-F238E27FC236}">
                <a16:creationId xmlns:a16="http://schemas.microsoft.com/office/drawing/2014/main" id="{D34199A2-2382-4FE7-91EB-FD17A57B9020}"/>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ケース2・出力例</a:t>
            </a:r>
          </a:p>
        </p:txBody>
      </p:sp>
      <p:sp>
        <p:nvSpPr>
          <p:cNvPr id="3" name="label-8">
            <a:extLst xmlns:a="http://schemas.openxmlformats.org/drawingml/2006/main">
              <a:ext uri="{FF2B5EF4-FFF2-40B4-BE49-F238E27FC236}">
                <a16:creationId xmlns:a16="http://schemas.microsoft.com/office/drawing/2014/main" id="{1B5AEBFE-A31B-436B-8263-603281EF13D4}"/>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人の確認</a:t>
            </a:r>
          </a:p>
        </p:txBody>
      </p:sp>
      <p:sp>
        <p:nvSpPr>
          <p:cNvPr id="4" name="title-8">
            <a:extLst xmlns:a="http://schemas.openxmlformats.org/drawingml/2006/main">
              <a:ext uri="{FF2B5EF4-FFF2-40B4-BE49-F238E27FC236}">
                <a16:creationId xmlns:a16="http://schemas.microsoft.com/office/drawing/2014/main" id="{5B8C16D8-7EC6-415A-AD46-9E023A7AFEE5}"/>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報告書出力は、事実・未確認・提案を混ぜない</a:t>
            </a:r>
          </a:p>
        </p:txBody>
      </p:sp>
      <p:sp>
        <p:nvSpPr>
          <p:cNvPr id="5" name="title-rule-8">
            <a:extLst xmlns:a="http://schemas.openxmlformats.org/drawingml/2006/main">
              <a:ext uri="{FF2B5EF4-FFF2-40B4-BE49-F238E27FC236}">
                <a16:creationId xmlns:a16="http://schemas.microsoft.com/office/drawing/2014/main" id="{4535615B-B523-48DE-B90C-082C8550D5AD}"/>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8">
            <a:extLst xmlns:a="http://schemas.openxmlformats.org/drawingml/2006/main">
              <a:ext uri="{FF2B5EF4-FFF2-40B4-BE49-F238E27FC236}">
                <a16:creationId xmlns:a16="http://schemas.microsoft.com/office/drawing/2014/main" id="{C9C494B4-7020-44C0-914E-8D2BCC2778B9}"/>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AIの整った文章より、元メモへ追跡できることを優先する。</a:t>
            </a:r>
          </a:p>
        </p:txBody>
      </p:sp>
      <p:sp>
        <p:nvSpPr>
          <p:cNvPr id="7" name="step-card-8-0">
            <a:extLst xmlns:a="http://schemas.openxmlformats.org/drawingml/2006/main">
              <a:ext uri="{FF2B5EF4-FFF2-40B4-BE49-F238E27FC236}">
                <a16:creationId xmlns:a16="http://schemas.microsoft.com/office/drawing/2014/main" id="{4142363D-5100-47EE-8DDA-B0D95A7EA430}"/>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8-0">
            <a:extLst xmlns:a="http://schemas.openxmlformats.org/drawingml/2006/main">
              <a:ext uri="{FF2B5EF4-FFF2-40B4-BE49-F238E27FC236}">
                <a16:creationId xmlns:a16="http://schemas.microsoft.com/office/drawing/2014/main" id="{6900D106-FFC3-435D-834E-9B863172FC62}"/>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8-0">
            <a:extLst xmlns:a="http://schemas.openxmlformats.org/drawingml/2006/main">
              <a:ext uri="{FF2B5EF4-FFF2-40B4-BE49-F238E27FC236}">
                <a16:creationId xmlns:a16="http://schemas.microsoft.com/office/drawing/2014/main" id="{32984F84-AADB-45F3-9E15-13947FCEDD49}"/>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8-0">
            <a:extLst xmlns:a="http://schemas.openxmlformats.org/drawingml/2006/main">
              <a:ext uri="{FF2B5EF4-FFF2-40B4-BE49-F238E27FC236}">
                <a16:creationId xmlns:a16="http://schemas.microsoft.com/office/drawing/2014/main" id="{2EFA3F42-7376-4AA1-9439-121EEDE247F5}"/>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観察事実</a:t>
            </a:r>
          </a:p>
        </p:txBody>
      </p:sp>
      <p:sp>
        <p:nvSpPr>
          <p:cNvPr id="11" name="step-detail-8-0">
            <a:extLst xmlns:a="http://schemas.openxmlformats.org/drawingml/2006/main">
              <a:ext uri="{FF2B5EF4-FFF2-40B4-BE49-F238E27FC236}">
                <a16:creationId xmlns:a16="http://schemas.microsoft.com/office/drawing/2014/main" id="{7700F98C-E3BE-45A6-A51A-7C9D502FB139}"/>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誰が見ても確認できる記録</a:t>
            </a:r>
          </a:p>
        </p:txBody>
      </p:sp>
      <p:sp>
        <p:nvSpPr>
          <p:cNvPr id="12" name="step-card-8-1">
            <a:extLst xmlns:a="http://schemas.openxmlformats.org/drawingml/2006/main">
              <a:ext uri="{FF2B5EF4-FFF2-40B4-BE49-F238E27FC236}">
                <a16:creationId xmlns:a16="http://schemas.microsoft.com/office/drawing/2014/main" id="{E4A9DB5C-423F-40AC-B78F-065B855ADCEE}"/>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8-1">
            <a:extLst xmlns:a="http://schemas.openxmlformats.org/drawingml/2006/main">
              <a:ext uri="{FF2B5EF4-FFF2-40B4-BE49-F238E27FC236}">
                <a16:creationId xmlns:a16="http://schemas.microsoft.com/office/drawing/2014/main" id="{EB6E9AC7-F7A2-480A-87C6-E792D7464CED}"/>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8-1">
            <a:extLst xmlns:a="http://schemas.openxmlformats.org/drawingml/2006/main">
              <a:ext uri="{FF2B5EF4-FFF2-40B4-BE49-F238E27FC236}">
                <a16:creationId xmlns:a16="http://schemas.microsoft.com/office/drawing/2014/main" id="{E13711E0-5E9A-4D1F-A583-94DD2790EFB4}"/>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8-1">
            <a:extLst xmlns:a="http://schemas.openxmlformats.org/drawingml/2006/main">
              <a:ext uri="{FF2B5EF4-FFF2-40B4-BE49-F238E27FC236}">
                <a16:creationId xmlns:a16="http://schemas.microsoft.com/office/drawing/2014/main" id="{20333FA4-969C-46C2-A663-DAEEEA2D7A14}"/>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未確認</a:t>
            </a:r>
          </a:p>
        </p:txBody>
      </p:sp>
      <p:sp>
        <p:nvSpPr>
          <p:cNvPr id="16" name="step-detail-8-1">
            <a:extLst xmlns:a="http://schemas.openxmlformats.org/drawingml/2006/main">
              <a:ext uri="{FF2B5EF4-FFF2-40B4-BE49-F238E27FC236}">
                <a16:creationId xmlns:a16="http://schemas.microsoft.com/office/drawing/2014/main" id="{BB17251C-A0B3-4062-BBE0-E742A4BAFE8F}"/>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不足を推測で埋めず明記</a:t>
            </a:r>
          </a:p>
        </p:txBody>
      </p:sp>
      <p:sp>
        <p:nvSpPr>
          <p:cNvPr id="17" name="step-card-8-2">
            <a:extLst xmlns:a="http://schemas.openxmlformats.org/drawingml/2006/main">
              <a:ext uri="{FF2B5EF4-FFF2-40B4-BE49-F238E27FC236}">
                <a16:creationId xmlns:a16="http://schemas.microsoft.com/office/drawing/2014/main" id="{5B69B01E-FE5B-461E-B40B-12B285DDD582}"/>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8-2">
            <a:extLst xmlns:a="http://schemas.openxmlformats.org/drawingml/2006/main">
              <a:ext uri="{FF2B5EF4-FFF2-40B4-BE49-F238E27FC236}">
                <a16:creationId xmlns:a16="http://schemas.microsoft.com/office/drawing/2014/main" id="{35A65F38-3D31-4687-BFD1-896D782D5FA0}"/>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8-2">
            <a:extLst xmlns:a="http://schemas.openxmlformats.org/drawingml/2006/main">
              <a:ext uri="{FF2B5EF4-FFF2-40B4-BE49-F238E27FC236}">
                <a16:creationId xmlns:a16="http://schemas.microsoft.com/office/drawing/2014/main" id="{25FC206A-D0A1-4E1B-AD94-9D8E8218E492}"/>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8-2">
            <a:extLst xmlns:a="http://schemas.openxmlformats.org/drawingml/2006/main">
              <a:ext uri="{FF2B5EF4-FFF2-40B4-BE49-F238E27FC236}">
                <a16:creationId xmlns:a16="http://schemas.microsoft.com/office/drawing/2014/main" id="{8AEA3271-6E35-434F-ADF5-21993F8DE5A4}"/>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提案</a:t>
            </a:r>
          </a:p>
        </p:txBody>
      </p:sp>
      <p:sp>
        <p:nvSpPr>
          <p:cNvPr id="21" name="step-detail-8-2">
            <a:extLst xmlns:a="http://schemas.openxmlformats.org/drawingml/2006/main">
              <a:ext uri="{FF2B5EF4-FFF2-40B4-BE49-F238E27FC236}">
                <a16:creationId xmlns:a16="http://schemas.microsoft.com/office/drawing/2014/main" id="{9E44E41C-783A-4146-A493-250F0C78ED4A}"/>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事実と分け、決定者を示す</a:t>
            </a:r>
          </a:p>
        </p:txBody>
      </p:sp>
      <p:sp>
        <p:nvSpPr>
          <p:cNvPr id="22" name="step-card-8-3">
            <a:extLst xmlns:a="http://schemas.openxmlformats.org/drawingml/2006/main">
              <a:ext uri="{FF2B5EF4-FFF2-40B4-BE49-F238E27FC236}">
                <a16:creationId xmlns:a16="http://schemas.microsoft.com/office/drawing/2014/main" id="{B8BB6862-30D2-49F5-AF56-46D8343361D2}"/>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8-3">
            <a:extLst xmlns:a="http://schemas.openxmlformats.org/drawingml/2006/main">
              <a:ext uri="{FF2B5EF4-FFF2-40B4-BE49-F238E27FC236}">
                <a16:creationId xmlns:a16="http://schemas.microsoft.com/office/drawing/2014/main" id="{795BCB47-734A-4465-9B2D-141775A2E023}"/>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8-3">
            <a:extLst xmlns:a="http://schemas.openxmlformats.org/drawingml/2006/main">
              <a:ext uri="{FF2B5EF4-FFF2-40B4-BE49-F238E27FC236}">
                <a16:creationId xmlns:a16="http://schemas.microsoft.com/office/drawing/2014/main" id="{E8307EB9-A31D-4E6B-A904-331006E09A38}"/>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8-3">
            <a:extLst xmlns:a="http://schemas.openxmlformats.org/drawingml/2006/main">
              <a:ext uri="{FF2B5EF4-FFF2-40B4-BE49-F238E27FC236}">
                <a16:creationId xmlns:a16="http://schemas.microsoft.com/office/drawing/2014/main" id="{E1DE9F2B-8153-4467-B722-272B2F5DF008}"/>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人が確定</a:t>
            </a:r>
          </a:p>
        </p:txBody>
      </p:sp>
      <p:sp>
        <p:nvSpPr>
          <p:cNvPr id="26" name="step-detail-8-3">
            <a:extLst xmlns:a="http://schemas.openxmlformats.org/drawingml/2006/main">
              <a:ext uri="{FF2B5EF4-FFF2-40B4-BE49-F238E27FC236}">
                <a16:creationId xmlns:a16="http://schemas.microsoft.com/office/drawing/2014/main" id="{26D5C035-F00D-42E3-9CE7-ECDCDA1A708A}"/>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写真・時刻・担当者へ照合</a:t>
            </a:r>
          </a:p>
        </p:txBody>
      </p:sp>
      <p:sp>
        <p:nvSpPr>
          <p:cNvPr id="27" name="body-8">
            <a:extLst xmlns:a="http://schemas.openxmlformats.org/drawingml/2006/main">
              <a:ext uri="{FF2B5EF4-FFF2-40B4-BE49-F238E27FC236}">
                <a16:creationId xmlns:a16="http://schemas.microsoft.com/office/drawing/2014/main" id="{1D81E76D-2925-4F07-BBBC-14D872C2CFD4}"/>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出力例（架空・参考）：観察事実［メモ1・2］通路の資材3箱により誘導表示が見えにくい。未確認：設置者・撤去時刻。是正案：現場責任者が移動可否を判断。</a:t>
            </a:r>
          </a:p>
        </p:txBody>
      </p:sp>
      <p:sp>
        <p:nvSpPr>
          <p:cNvPr id="28" name="footer-rule-8">
            <a:extLst xmlns:a="http://schemas.openxmlformats.org/drawingml/2006/main">
              <a:ext uri="{FF2B5EF4-FFF2-40B4-BE49-F238E27FC236}">
                <a16:creationId xmlns:a16="http://schemas.microsoft.com/office/drawing/2014/main" id="{9CCE4FF9-62C9-4273-AAA1-15B5CC124C3D}"/>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8">
            <a:extLst xmlns:a="http://schemas.openxmlformats.org/drawingml/2006/main">
              <a:ext uri="{FF2B5EF4-FFF2-40B4-BE49-F238E27FC236}">
                <a16:creationId xmlns:a16="http://schemas.microsoft.com/office/drawing/2014/main" id="{483EC043-4ED6-49DE-B6A7-56F4BDC9EBC0}"/>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S3・S4・S1・S6（詳細はノート）</a:t>
            </a:r>
          </a:p>
        </p:txBody>
      </p:sp>
      <p:sp>
        <p:nvSpPr>
          <p:cNvPr id="30" name="footer-no-8">
            <a:extLst xmlns:a="http://schemas.openxmlformats.org/drawingml/2006/main">
              <a:ext uri="{FF2B5EF4-FFF2-40B4-BE49-F238E27FC236}">
                <a16:creationId xmlns:a16="http://schemas.microsoft.com/office/drawing/2014/main" id="{437B535C-87E5-4378-B883-7CE8AEA74B8C}"/>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08 / 20</a:t>
            </a:r>
          </a:p>
        </p:txBody>
      </p:sp>
    </p:spTree>
    <p:extLst>
      <p:ext uri="{BB962C8B-B14F-4D97-AF65-F5344CB8AC3E}">
        <p14:creationId xmlns:p14="http://schemas.microsoft.com/office/powerpoint/2010/main" val="2036097121"/>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9">
            <a:extLst xmlns:a="http://schemas.openxmlformats.org/drawingml/2006/main">
              <a:ext uri="{FF2B5EF4-FFF2-40B4-BE49-F238E27FC236}">
                <a16:creationId xmlns:a16="http://schemas.microsoft.com/office/drawing/2014/main" id="{2B14C69C-3082-45CB-9559-5A19EBF443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9">
            <a:extLst xmlns:a="http://schemas.openxmlformats.org/drawingml/2006/main">
              <a:ext uri="{FF2B5EF4-FFF2-40B4-BE49-F238E27FC236}">
                <a16:creationId xmlns:a16="http://schemas.microsoft.com/office/drawing/2014/main" id="{2A7DB854-D473-4F61-A879-97B36173B799}"/>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一次資料調査</a:t>
            </a:r>
          </a:p>
        </p:txBody>
      </p:sp>
      <p:sp>
        <p:nvSpPr>
          <p:cNvPr id="3" name="label-9">
            <a:extLst xmlns:a="http://schemas.openxmlformats.org/drawingml/2006/main">
              <a:ext uri="{FF2B5EF4-FFF2-40B4-BE49-F238E27FC236}">
                <a16:creationId xmlns:a16="http://schemas.microsoft.com/office/drawing/2014/main" id="{EB1096CA-DD7E-4F9C-BEAE-98829FADA645}"/>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ケース3</a:t>
            </a:r>
          </a:p>
        </p:txBody>
      </p:sp>
      <p:sp>
        <p:nvSpPr>
          <p:cNvPr id="4" name="title-9">
            <a:extLst xmlns:a="http://schemas.openxmlformats.org/drawingml/2006/main">
              <a:ext uri="{FF2B5EF4-FFF2-40B4-BE49-F238E27FC236}">
                <a16:creationId xmlns:a16="http://schemas.microsoft.com/office/drawing/2014/main" id="{50905A79-4007-4B0B-861C-9BA4E95DA794}"/>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ケース3：一次資料を探す調査依頼に変える</a:t>
            </a:r>
          </a:p>
        </p:txBody>
      </p:sp>
      <p:sp>
        <p:nvSpPr>
          <p:cNvPr id="5" name="title-rule-9">
            <a:extLst xmlns:a="http://schemas.openxmlformats.org/drawingml/2006/main">
              <a:ext uri="{FF2B5EF4-FFF2-40B4-BE49-F238E27FC236}">
                <a16:creationId xmlns:a16="http://schemas.microsoft.com/office/drawing/2014/main" id="{10D90F0B-8EDD-41ED-BDDB-4932D8E8C3F1}"/>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9">
            <a:extLst xmlns:a="http://schemas.openxmlformats.org/drawingml/2006/main">
              <a:ext uri="{FF2B5EF4-FFF2-40B4-BE49-F238E27FC236}">
                <a16:creationId xmlns:a16="http://schemas.microsoft.com/office/drawing/2014/main" id="{FBC81DC9-0A66-45CA-954F-D533495BEF14}"/>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答えを聞くのではなく、発行主体・日付・該当箇所を確認する作業を頼む。</a:t>
            </a:r>
          </a:p>
        </p:txBody>
      </p:sp>
      <p:sp>
        <p:nvSpPr>
          <p:cNvPr id="7" name="case-bad-9-bg">
            <a:extLst xmlns:a="http://schemas.openxmlformats.org/drawingml/2006/main">
              <a:ext uri="{FF2B5EF4-FFF2-40B4-BE49-F238E27FC236}">
                <a16:creationId xmlns:a16="http://schemas.microsoft.com/office/drawing/2014/main" id="{4D33EDBB-381C-4E08-8D00-19CA1A855DBE}"/>
              </a:ext>
            </a:extLst>
          </p:cNvPr>
          <p:cNvSpPr>
            <a:spLocks xmlns:a="http://schemas.openxmlformats.org/drawingml/2006/main" noGrp="1"/>
          </p:cNvSpPr>
          <p:nvPr/>
        </p:nvSpPr>
        <p:spPr>
          <a:xfrm xmlns:a="http://schemas.openxmlformats.org/drawingml/2006/main">
            <a:off x="647700" y="2152650"/>
            <a:ext cx="5238750" cy="1047750"/>
          </a:xfrm>
          <a:prstGeom xmlns:a="http://schemas.openxmlformats.org/drawingml/2006/main" prst="roundRect">
            <a:avLst>
              <a:gd name="adj" fmla="val 10909"/>
            </a:avLst>
          </a:prstGeom>
          <a:solidFill xmlns:a="http://schemas.openxmlformats.org/drawingml/2006/main">
            <a:srgbClr val="FDEBE7"/>
          </a:solidFill>
          <a:ln xmlns:a="http://schemas.openxmlformats.org/drawingml/2006/main" w="9525">
            <a:solidFill>
              <a:srgbClr val="D3DEE3"/>
            </a:solidFill>
            <a:prstDash val="solid"/>
          </a:ln>
        </p:spPr>
      </p:sp>
      <p:sp>
        <p:nvSpPr>
          <p:cNvPr id="8" name="case-bad-9-bar">
            <a:extLst xmlns:a="http://schemas.openxmlformats.org/drawingml/2006/main">
              <a:ext uri="{FF2B5EF4-FFF2-40B4-BE49-F238E27FC236}">
                <a16:creationId xmlns:a16="http://schemas.microsoft.com/office/drawing/2014/main" id="{2513FFB3-D486-4EAB-9027-DCACBEE2599B}"/>
              </a:ext>
            </a:extLst>
          </p:cNvPr>
          <p:cNvSpPr>
            <a:spLocks xmlns:a="http://schemas.openxmlformats.org/drawingml/2006/main" noGrp="1"/>
          </p:cNvSpPr>
          <p:nvPr/>
        </p:nvSpPr>
        <p:spPr>
          <a:xfrm xmlns:a="http://schemas.openxmlformats.org/drawingml/2006/main">
            <a:off x="647700" y="2152650"/>
            <a:ext cx="76200" cy="1047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9" name="case-bad-9-label">
            <a:extLst xmlns:a="http://schemas.openxmlformats.org/drawingml/2006/main">
              <a:ext uri="{FF2B5EF4-FFF2-40B4-BE49-F238E27FC236}">
                <a16:creationId xmlns:a16="http://schemas.microsoft.com/office/drawing/2014/main" id="{4BD55440-D688-4972-9DBB-9B9B1AAD9D75}"/>
              </a:ext>
            </a:extLst>
          </p:cNvPr>
          <p:cNvSpPr>
            <a:spLocks xmlns:a="http://schemas.openxmlformats.org/drawingml/2006/main" noGrp="1"/>
          </p:cNvSpPr>
          <p:nvPr/>
        </p:nvSpPr>
        <p:spPr>
          <a:xfrm xmlns:a="http://schemas.openxmlformats.org/drawingml/2006/main">
            <a:off x="87630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B42318"/>
                </a:solidFill>
              </a:defRPr>
            </a:pPr>
            <a:r>
              <a:rPr sz="1125" b="1">
                <a:solidFill>
                  <a:srgbClr val="B42318"/>
                </a:solidFill>
              </a:rPr>
              <a:t>悪い依頼</a:t>
            </a:r>
          </a:p>
        </p:txBody>
      </p:sp>
      <p:sp>
        <p:nvSpPr>
          <p:cNvPr id="10" name="case-bad-9-text">
            <a:extLst xmlns:a="http://schemas.openxmlformats.org/drawingml/2006/main">
              <a:ext uri="{FF2B5EF4-FFF2-40B4-BE49-F238E27FC236}">
                <a16:creationId xmlns:a16="http://schemas.microsoft.com/office/drawing/2014/main" id="{F9D0E9AE-30CD-4F94-99AF-35041827EE0F}"/>
              </a:ext>
            </a:extLst>
          </p:cNvPr>
          <p:cNvSpPr>
            <a:spLocks xmlns:a="http://schemas.openxmlformats.org/drawingml/2006/main" noGrp="1"/>
          </p:cNvSpPr>
          <p:nvPr/>
        </p:nvSpPr>
        <p:spPr>
          <a:xfrm xmlns:a="http://schemas.openxmlformats.org/drawingml/2006/main">
            <a:off x="876300" y="257175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72B3A"/>
                </a:solidFill>
              </a:defRPr>
            </a:pPr>
            <a:r>
              <a:rPr sz="1200" b="1">
                <a:solidFill>
                  <a:srgbClr val="172B3A"/>
                </a:solidFill>
              </a:rPr>
              <a:t>生成AIへ個人情報を入れても大丈夫？ 最新ルールを教えて。</a:t>
            </a:r>
          </a:p>
        </p:txBody>
      </p:sp>
      <p:sp>
        <p:nvSpPr>
          <p:cNvPr id="11" name="case-prompt-9-bg">
            <a:extLst xmlns:a="http://schemas.openxmlformats.org/drawingml/2006/main">
              <a:ext uri="{FF2B5EF4-FFF2-40B4-BE49-F238E27FC236}">
                <a16:creationId xmlns:a16="http://schemas.microsoft.com/office/drawing/2014/main" id="{F221F067-1180-4B91-855A-F3F0C5CBE8B6}"/>
              </a:ext>
            </a:extLst>
          </p:cNvPr>
          <p:cNvSpPr>
            <a:spLocks xmlns:a="http://schemas.openxmlformats.org/drawingml/2006/main" noGrp="1"/>
          </p:cNvSpPr>
          <p:nvPr/>
        </p:nvSpPr>
        <p:spPr>
          <a:xfrm xmlns:a="http://schemas.openxmlformats.org/drawingml/2006/main">
            <a:off x="647700" y="3333750"/>
            <a:ext cx="5238750" cy="2190750"/>
          </a:xfrm>
          <a:prstGeom xmlns:a="http://schemas.openxmlformats.org/drawingml/2006/main" prst="roundRect">
            <a:avLst>
              <a:gd name="adj" fmla="val 5217"/>
            </a:avLst>
          </a:prstGeom>
          <a:solidFill xmlns:a="http://schemas.openxmlformats.org/drawingml/2006/main">
            <a:srgbClr val="E5F4FC"/>
          </a:solidFill>
          <a:ln xmlns:a="http://schemas.openxmlformats.org/drawingml/2006/main" w="9525">
            <a:solidFill>
              <a:srgbClr val="D3DEE3"/>
            </a:solidFill>
            <a:prstDash val="solid"/>
          </a:ln>
        </p:spPr>
      </p:sp>
      <p:sp>
        <p:nvSpPr>
          <p:cNvPr id="12" name="case-prompt-9-bar">
            <a:extLst xmlns:a="http://schemas.openxmlformats.org/drawingml/2006/main">
              <a:ext uri="{FF2B5EF4-FFF2-40B4-BE49-F238E27FC236}">
                <a16:creationId xmlns:a16="http://schemas.microsoft.com/office/drawing/2014/main" id="{B93C23F2-EEE9-4703-9B00-2C41D51E7A15}"/>
              </a:ext>
            </a:extLst>
          </p:cNvPr>
          <p:cNvSpPr>
            <a:spLocks xmlns:a="http://schemas.openxmlformats.org/drawingml/2006/main" noGrp="1"/>
          </p:cNvSpPr>
          <p:nvPr/>
        </p:nvSpPr>
        <p:spPr>
          <a:xfrm xmlns:a="http://schemas.openxmlformats.org/drawingml/2006/main">
            <a:off x="647700" y="3333750"/>
            <a:ext cx="76200" cy="219075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3" name="case-prompt-9-label">
            <a:extLst xmlns:a="http://schemas.openxmlformats.org/drawingml/2006/main">
              <a:ext uri="{FF2B5EF4-FFF2-40B4-BE49-F238E27FC236}">
                <a16:creationId xmlns:a16="http://schemas.microsoft.com/office/drawing/2014/main" id="{23C5E223-FA02-420E-925A-0AA5D7822A0F}"/>
              </a:ext>
            </a:extLst>
          </p:cNvPr>
          <p:cNvSpPr>
            <a:spLocks xmlns:a="http://schemas.openxmlformats.org/drawingml/2006/main" noGrp="1"/>
          </p:cNvSpPr>
          <p:nvPr/>
        </p:nvSpPr>
        <p:spPr>
          <a:xfrm xmlns:a="http://schemas.openxmlformats.org/drawingml/2006/main">
            <a:off x="876300" y="34480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369A1"/>
                </a:solidFill>
              </a:defRPr>
            </a:pPr>
            <a:r>
              <a:rPr sz="1125" b="1">
                <a:solidFill>
                  <a:srgbClr val="0369A1"/>
                </a:solidFill>
              </a:rPr>
              <a:t>改善した具体的プロンプト</a:t>
            </a:r>
          </a:p>
        </p:txBody>
      </p:sp>
      <p:sp>
        <p:nvSpPr>
          <p:cNvPr id="14" name="case-prompt-9-text">
            <a:extLst xmlns:a="http://schemas.openxmlformats.org/drawingml/2006/main">
              <a:ext uri="{FF2B5EF4-FFF2-40B4-BE49-F238E27FC236}">
                <a16:creationId xmlns:a16="http://schemas.microsoft.com/office/drawing/2014/main" id="{4A49B957-8B97-416A-9BC1-76F08B981A75}"/>
              </a:ext>
            </a:extLst>
          </p:cNvPr>
          <p:cNvSpPr>
            <a:spLocks xmlns:a="http://schemas.openxmlformats.org/drawingml/2006/main" noGrp="1"/>
          </p:cNvSpPr>
          <p:nvPr/>
        </p:nvSpPr>
        <p:spPr>
          <a:xfrm xmlns:a="http://schemas.openxmlformats.org/drawingml/2006/main">
            <a:off x="876300" y="3752850"/>
            <a:ext cx="4819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B3A"/>
                </a:solidFill>
              </a:defRPr>
            </a:pPr>
            <a:r>
              <a:rPr sz="1200" b="0">
                <a:solidFill>
                  <a:srgbClr val="172B3A"/>
                </a:solidFill>
              </a:rPr>
              <a:t>個人情報保護委員会の公式資料だけを候補化。文書名、公表日、URL、該当頁、短い要旨、未確認を表にし、人が開く順を示す。</a:t>
            </a:r>
          </a:p>
        </p:txBody>
      </p:sp>
      <p:sp>
        <p:nvSpPr>
          <p:cNvPr id="15" name="case-output-9-bg">
            <a:extLst xmlns:a="http://schemas.openxmlformats.org/drawingml/2006/main">
              <a:ext uri="{FF2B5EF4-FFF2-40B4-BE49-F238E27FC236}">
                <a16:creationId xmlns:a16="http://schemas.microsoft.com/office/drawing/2014/main" id="{C2E48E04-7A3D-450E-ABDC-D8863D26D2E0}"/>
              </a:ext>
            </a:extLst>
          </p:cNvPr>
          <p:cNvSpPr>
            <a:spLocks xmlns:a="http://schemas.openxmlformats.org/drawingml/2006/main" noGrp="1"/>
          </p:cNvSpPr>
          <p:nvPr/>
        </p:nvSpPr>
        <p:spPr>
          <a:xfrm xmlns:a="http://schemas.openxmlformats.org/drawingml/2006/main">
            <a:off x="6267450" y="2152650"/>
            <a:ext cx="5238750" cy="1562100"/>
          </a:xfrm>
          <a:prstGeom xmlns:a="http://schemas.openxmlformats.org/drawingml/2006/main" prst="roundRect">
            <a:avLst>
              <a:gd name="adj" fmla="val 7317"/>
            </a:avLst>
          </a:prstGeom>
          <a:solidFill xmlns:a="http://schemas.openxmlformats.org/drawingml/2006/main">
            <a:srgbClr val="F0EAFE"/>
          </a:solidFill>
          <a:ln xmlns:a="http://schemas.openxmlformats.org/drawingml/2006/main" w="9525">
            <a:solidFill>
              <a:srgbClr val="D3DEE3"/>
            </a:solidFill>
            <a:prstDash val="solid"/>
          </a:ln>
        </p:spPr>
      </p:sp>
      <p:sp>
        <p:nvSpPr>
          <p:cNvPr id="16" name="case-output-9-bar">
            <a:extLst xmlns:a="http://schemas.openxmlformats.org/drawingml/2006/main">
              <a:ext uri="{FF2B5EF4-FFF2-40B4-BE49-F238E27FC236}">
                <a16:creationId xmlns:a16="http://schemas.microsoft.com/office/drawing/2014/main" id="{CAEA3D4F-35B2-4FEA-B464-050ABB7E5433}"/>
              </a:ext>
            </a:extLst>
          </p:cNvPr>
          <p:cNvSpPr>
            <a:spLocks xmlns:a="http://schemas.openxmlformats.org/drawingml/2006/main" noGrp="1"/>
          </p:cNvSpPr>
          <p:nvPr/>
        </p:nvSpPr>
        <p:spPr>
          <a:xfrm xmlns:a="http://schemas.openxmlformats.org/drawingml/2006/main">
            <a:off x="6267450" y="2152650"/>
            <a:ext cx="76200" cy="1562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17" name="case-output-9-label">
            <a:extLst xmlns:a="http://schemas.openxmlformats.org/drawingml/2006/main">
              <a:ext uri="{FF2B5EF4-FFF2-40B4-BE49-F238E27FC236}">
                <a16:creationId xmlns:a16="http://schemas.microsoft.com/office/drawing/2014/main" id="{FD12F21A-9BE4-417A-9F19-4D0D2787F19F}"/>
              </a:ext>
            </a:extLst>
          </p:cNvPr>
          <p:cNvSpPr>
            <a:spLocks xmlns:a="http://schemas.openxmlformats.org/drawingml/2006/main" noGrp="1"/>
          </p:cNvSpPr>
          <p:nvPr/>
        </p:nvSpPr>
        <p:spPr>
          <a:xfrm xmlns:a="http://schemas.openxmlformats.org/drawingml/2006/main">
            <a:off x="649605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28D9"/>
                </a:solidFill>
              </a:defRPr>
            </a:pPr>
            <a:r>
              <a:rPr sz="1125" b="1">
                <a:solidFill>
                  <a:srgbClr val="6D28D9"/>
                </a:solidFill>
              </a:rPr>
              <a:t>短い出力例（架空・参考）</a:t>
            </a:r>
          </a:p>
        </p:txBody>
      </p:sp>
      <p:sp>
        <p:nvSpPr>
          <p:cNvPr id="18" name="case-output-9-text">
            <a:extLst xmlns:a="http://schemas.openxmlformats.org/drawingml/2006/main">
              <a:ext uri="{FF2B5EF4-FFF2-40B4-BE49-F238E27FC236}">
                <a16:creationId xmlns:a16="http://schemas.microsoft.com/office/drawing/2014/main" id="{F4AF80C2-C4E2-4FC4-A54D-01A08BB1813B}"/>
              </a:ext>
            </a:extLst>
          </p:cNvPr>
          <p:cNvSpPr>
            <a:spLocks xmlns:a="http://schemas.openxmlformats.org/drawingml/2006/main" noGrp="1"/>
          </p:cNvSpPr>
          <p:nvPr/>
        </p:nvSpPr>
        <p:spPr>
          <a:xfrm xmlns:a="http://schemas.openxmlformats.org/drawingml/2006/main">
            <a:off x="6496050" y="2571750"/>
            <a:ext cx="4819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B3A"/>
                </a:solidFill>
              </a:defRPr>
            </a:pPr>
            <a:r>
              <a:rPr sz="1275" b="0">
                <a:solidFill>
                  <a:srgbClr val="172B3A"/>
                </a:solidFill>
              </a:rPr>
              <a:t>注意喚起資料／2023-06-02／該当候補 pp.2-3／製品別設定は未確認</a:t>
            </a:r>
          </a:p>
        </p:txBody>
      </p:sp>
      <p:sp>
        <p:nvSpPr>
          <p:cNvPr id="19" name="case-check-9-bg">
            <a:extLst xmlns:a="http://schemas.openxmlformats.org/drawingml/2006/main">
              <a:ext uri="{FF2B5EF4-FFF2-40B4-BE49-F238E27FC236}">
                <a16:creationId xmlns:a16="http://schemas.microsoft.com/office/drawing/2014/main" id="{4664E43B-6B6D-4280-A3FA-0D8E4621DE9D}"/>
              </a:ext>
            </a:extLst>
          </p:cNvPr>
          <p:cNvSpPr>
            <a:spLocks xmlns:a="http://schemas.openxmlformats.org/drawingml/2006/main" noGrp="1"/>
          </p:cNvSpPr>
          <p:nvPr/>
        </p:nvSpPr>
        <p:spPr>
          <a:xfrm xmlns:a="http://schemas.openxmlformats.org/drawingml/2006/main">
            <a:off x="6267450" y="3867150"/>
            <a:ext cx="5238750" cy="1657350"/>
          </a:xfrm>
          <a:prstGeom xmlns:a="http://schemas.openxmlformats.org/drawingml/2006/main" prst="roundRect">
            <a:avLst>
              <a:gd name="adj" fmla="val 6897"/>
            </a:avLst>
          </a:prstGeom>
          <a:solidFill xmlns:a="http://schemas.openxmlformats.org/drawingml/2006/main">
            <a:srgbClr val="FFF4D6"/>
          </a:solidFill>
          <a:ln xmlns:a="http://schemas.openxmlformats.org/drawingml/2006/main" w="9525">
            <a:solidFill>
              <a:srgbClr val="D3DEE3"/>
            </a:solidFill>
            <a:prstDash val="solid"/>
          </a:ln>
        </p:spPr>
      </p:sp>
      <p:sp>
        <p:nvSpPr>
          <p:cNvPr id="20" name="case-check-9-bar">
            <a:extLst xmlns:a="http://schemas.openxmlformats.org/drawingml/2006/main">
              <a:ext uri="{FF2B5EF4-FFF2-40B4-BE49-F238E27FC236}">
                <a16:creationId xmlns:a16="http://schemas.microsoft.com/office/drawing/2014/main" id="{D6A472A6-29D9-47C6-BB7F-169FF4C7E1BA}"/>
              </a:ext>
            </a:extLst>
          </p:cNvPr>
          <p:cNvSpPr>
            <a:spLocks xmlns:a="http://schemas.openxmlformats.org/drawingml/2006/main" noGrp="1"/>
          </p:cNvSpPr>
          <p:nvPr/>
        </p:nvSpPr>
        <p:spPr>
          <a:xfrm xmlns:a="http://schemas.openxmlformats.org/drawingml/2006/main">
            <a:off x="6267450" y="3867150"/>
            <a:ext cx="76200" cy="16573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1" name="case-check-9-label">
            <a:extLst xmlns:a="http://schemas.openxmlformats.org/drawingml/2006/main">
              <a:ext uri="{FF2B5EF4-FFF2-40B4-BE49-F238E27FC236}">
                <a16:creationId xmlns:a16="http://schemas.microsoft.com/office/drawing/2014/main" id="{8AE7A904-A332-4C2C-AF97-4FB1687CEE56}"/>
              </a:ext>
            </a:extLst>
          </p:cNvPr>
          <p:cNvSpPr>
            <a:spLocks xmlns:a="http://schemas.openxmlformats.org/drawingml/2006/main" noGrp="1"/>
          </p:cNvSpPr>
          <p:nvPr/>
        </p:nvSpPr>
        <p:spPr>
          <a:xfrm xmlns:a="http://schemas.openxmlformats.org/drawingml/2006/main">
            <a:off x="6496050" y="39814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97316"/>
                </a:solidFill>
              </a:defRPr>
            </a:pPr>
            <a:r>
              <a:rPr sz="1125" b="1">
                <a:solidFill>
                  <a:srgbClr val="F97316"/>
                </a:solidFill>
              </a:rPr>
              <a:t>人が確認する点</a:t>
            </a:r>
          </a:p>
        </p:txBody>
      </p:sp>
      <p:sp>
        <p:nvSpPr>
          <p:cNvPr id="22" name="case-check-9-text">
            <a:extLst xmlns:a="http://schemas.openxmlformats.org/drawingml/2006/main">
              <a:ext uri="{FF2B5EF4-FFF2-40B4-BE49-F238E27FC236}">
                <a16:creationId xmlns:a16="http://schemas.microsoft.com/office/drawing/2014/main" id="{AF7FDEA5-90C8-4BAF-B846-4FECEA45F12C}"/>
              </a:ext>
            </a:extLst>
          </p:cNvPr>
          <p:cNvSpPr>
            <a:spLocks xmlns:a="http://schemas.openxmlformats.org/drawingml/2006/main" noGrp="1"/>
          </p:cNvSpPr>
          <p:nvPr/>
        </p:nvSpPr>
        <p:spPr>
          <a:xfrm xmlns:a="http://schemas.openxmlformats.org/drawingml/2006/main">
            <a:off x="6496050" y="4286250"/>
            <a:ext cx="4819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B3A"/>
                </a:solidFill>
              </a:defRPr>
            </a:pPr>
            <a:r>
              <a:rPr sz="1350" b="0">
                <a:solidFill>
                  <a:srgbClr val="172B3A"/>
                </a:solidFill>
              </a:rPr>
              <a:t>公式ドメイン、最新版、対象者、該当箇所と前後の文脈</a:t>
            </a:r>
          </a:p>
        </p:txBody>
      </p:sp>
      <p:sp>
        <p:nvSpPr>
          <p:cNvPr id="23" name="footer-rule-9">
            <a:extLst xmlns:a="http://schemas.openxmlformats.org/drawingml/2006/main">
              <a:ext uri="{FF2B5EF4-FFF2-40B4-BE49-F238E27FC236}">
                <a16:creationId xmlns:a16="http://schemas.microsoft.com/office/drawing/2014/main" id="{5633BF6B-84A8-47D3-9F6D-4AE823F205C0}"/>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9">
            <a:extLst xmlns:a="http://schemas.openxmlformats.org/drawingml/2006/main">
              <a:ext uri="{FF2B5EF4-FFF2-40B4-BE49-F238E27FC236}">
                <a16:creationId xmlns:a16="http://schemas.microsoft.com/office/drawing/2014/main" id="{5B32A5C3-9766-4FFA-A263-2730CFA8327B}"/>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S1・S2・S4・S3（詳細はノート）</a:t>
            </a:r>
          </a:p>
        </p:txBody>
      </p:sp>
      <p:sp>
        <p:nvSpPr>
          <p:cNvPr id="25" name="footer-no-9">
            <a:extLst xmlns:a="http://schemas.openxmlformats.org/drawingml/2006/main">
              <a:ext uri="{FF2B5EF4-FFF2-40B4-BE49-F238E27FC236}">
                <a16:creationId xmlns:a16="http://schemas.microsoft.com/office/drawing/2014/main" id="{5104DAC9-4BAA-457A-AE64-0E3118941C8A}"/>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09 / 20</a:t>
            </a:r>
          </a:p>
        </p:txBody>
      </p:sp>
    </p:spTree>
    <p:extLst>
      <p:ext uri="{BB962C8B-B14F-4D97-AF65-F5344CB8AC3E}">
        <p14:creationId xmlns:p14="http://schemas.microsoft.com/office/powerpoint/2010/main" val="1211914235"/>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0">
            <a:extLst xmlns:a="http://schemas.openxmlformats.org/drawingml/2006/main">
              <a:ext uri="{FF2B5EF4-FFF2-40B4-BE49-F238E27FC236}">
                <a16:creationId xmlns:a16="http://schemas.microsoft.com/office/drawing/2014/main" id="{B00845E1-7790-40F0-A427-EFAB4176712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0">
            <a:extLst xmlns:a="http://schemas.openxmlformats.org/drawingml/2006/main">
              <a:ext uri="{FF2B5EF4-FFF2-40B4-BE49-F238E27FC236}">
                <a16:creationId xmlns:a16="http://schemas.microsoft.com/office/drawing/2014/main" id="{0790CCE8-1807-406D-B04C-01D105CE1699}"/>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ケース3・出力例</a:t>
            </a:r>
          </a:p>
        </p:txBody>
      </p:sp>
      <p:sp>
        <p:nvSpPr>
          <p:cNvPr id="3" name="label-10">
            <a:extLst xmlns:a="http://schemas.openxmlformats.org/drawingml/2006/main">
              <a:ext uri="{FF2B5EF4-FFF2-40B4-BE49-F238E27FC236}">
                <a16:creationId xmlns:a16="http://schemas.microsoft.com/office/drawing/2014/main" id="{E48FF51E-C9F1-4714-A6C3-274755497CCB}"/>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人の確認</a:t>
            </a:r>
          </a:p>
        </p:txBody>
      </p:sp>
      <p:sp>
        <p:nvSpPr>
          <p:cNvPr id="4" name="title-10">
            <a:extLst xmlns:a="http://schemas.openxmlformats.org/drawingml/2006/main">
              <a:ext uri="{FF2B5EF4-FFF2-40B4-BE49-F238E27FC236}">
                <a16:creationId xmlns:a16="http://schemas.microsoft.com/office/drawing/2014/main" id="{9AFBA01A-C674-451C-A409-FC926C587B3B}"/>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調査出力は、公式本文を開いてから採用する</a:t>
            </a:r>
          </a:p>
        </p:txBody>
      </p:sp>
      <p:sp>
        <p:nvSpPr>
          <p:cNvPr id="5" name="title-rule-10">
            <a:extLst xmlns:a="http://schemas.openxmlformats.org/drawingml/2006/main">
              <a:ext uri="{FF2B5EF4-FFF2-40B4-BE49-F238E27FC236}">
                <a16:creationId xmlns:a16="http://schemas.microsoft.com/office/drawing/2014/main" id="{40F21DC6-4AC6-4FB1-A5B2-D3E751657D40}"/>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0">
            <a:extLst xmlns:a="http://schemas.openxmlformats.org/drawingml/2006/main">
              <a:ext uri="{FF2B5EF4-FFF2-40B4-BE49-F238E27FC236}">
                <a16:creationId xmlns:a16="http://schemas.microsoft.com/office/drawing/2014/main" id="{C38F931F-C25C-44AD-AD19-B5A15D5EDFD6}"/>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出典候補が具体的でも、URL・日付・該当箇所・文脈を人が照合する。</a:t>
            </a:r>
          </a:p>
        </p:txBody>
      </p:sp>
      <p:sp>
        <p:nvSpPr>
          <p:cNvPr id="7" name="step-card-10-0">
            <a:extLst xmlns:a="http://schemas.openxmlformats.org/drawingml/2006/main">
              <a:ext uri="{FF2B5EF4-FFF2-40B4-BE49-F238E27FC236}">
                <a16:creationId xmlns:a16="http://schemas.microsoft.com/office/drawing/2014/main" id="{71049D84-9A76-46A3-99BD-FBBAB0635E0A}"/>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0-0">
            <a:extLst xmlns:a="http://schemas.openxmlformats.org/drawingml/2006/main">
              <a:ext uri="{FF2B5EF4-FFF2-40B4-BE49-F238E27FC236}">
                <a16:creationId xmlns:a16="http://schemas.microsoft.com/office/drawing/2014/main" id="{2C52D776-9AE9-4F63-A9E0-79239EA098C0}"/>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0-0">
            <a:extLst xmlns:a="http://schemas.openxmlformats.org/drawingml/2006/main">
              <a:ext uri="{FF2B5EF4-FFF2-40B4-BE49-F238E27FC236}">
                <a16:creationId xmlns:a16="http://schemas.microsoft.com/office/drawing/2014/main" id="{53BC0491-7FB6-45E7-A6D0-149F42CEF947}"/>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0-0">
            <a:extLst xmlns:a="http://schemas.openxmlformats.org/drawingml/2006/main">
              <a:ext uri="{FF2B5EF4-FFF2-40B4-BE49-F238E27FC236}">
                <a16:creationId xmlns:a16="http://schemas.microsoft.com/office/drawing/2014/main" id="{A6361F64-5B27-47D9-87AD-6881B49CD23D}"/>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候補を得る</a:t>
            </a:r>
          </a:p>
        </p:txBody>
      </p:sp>
      <p:sp>
        <p:nvSpPr>
          <p:cNvPr id="11" name="step-detail-10-0">
            <a:extLst xmlns:a="http://schemas.openxmlformats.org/drawingml/2006/main">
              <a:ext uri="{FF2B5EF4-FFF2-40B4-BE49-F238E27FC236}">
                <a16:creationId xmlns:a16="http://schemas.microsoft.com/office/drawing/2014/main" id="{42F39B01-9E3B-4468-93CE-1F8AC764395F}"/>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文書名・発行者・URL・日付</a:t>
            </a:r>
          </a:p>
        </p:txBody>
      </p:sp>
      <p:sp>
        <p:nvSpPr>
          <p:cNvPr id="12" name="step-card-10-1">
            <a:extLst xmlns:a="http://schemas.openxmlformats.org/drawingml/2006/main">
              <a:ext uri="{FF2B5EF4-FFF2-40B4-BE49-F238E27FC236}">
                <a16:creationId xmlns:a16="http://schemas.microsoft.com/office/drawing/2014/main" id="{67A1EBB8-5961-4D7D-9E8C-44B7960FD429}"/>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0-1">
            <a:extLst xmlns:a="http://schemas.openxmlformats.org/drawingml/2006/main">
              <a:ext uri="{FF2B5EF4-FFF2-40B4-BE49-F238E27FC236}">
                <a16:creationId xmlns:a16="http://schemas.microsoft.com/office/drawing/2014/main" id="{46CF35C7-7D1D-41E5-B63D-67AD2CF97DC3}"/>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0-1">
            <a:extLst xmlns:a="http://schemas.openxmlformats.org/drawingml/2006/main">
              <a:ext uri="{FF2B5EF4-FFF2-40B4-BE49-F238E27FC236}">
                <a16:creationId xmlns:a16="http://schemas.microsoft.com/office/drawing/2014/main" id="{A01809EA-FD3D-4643-BDBD-BE9588590634}"/>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0-1">
            <a:extLst xmlns:a="http://schemas.openxmlformats.org/drawingml/2006/main">
              <a:ext uri="{FF2B5EF4-FFF2-40B4-BE49-F238E27FC236}">
                <a16:creationId xmlns:a16="http://schemas.microsoft.com/office/drawing/2014/main" id="{F4C2E89B-CE12-49D9-A7E2-F4C2CB555A63}"/>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公式本文を開く</a:t>
            </a:r>
          </a:p>
        </p:txBody>
      </p:sp>
      <p:sp>
        <p:nvSpPr>
          <p:cNvPr id="16" name="step-detail-10-1">
            <a:extLst xmlns:a="http://schemas.openxmlformats.org/drawingml/2006/main">
              <a:ext uri="{FF2B5EF4-FFF2-40B4-BE49-F238E27FC236}">
                <a16:creationId xmlns:a16="http://schemas.microsoft.com/office/drawing/2014/main" id="{14B64A47-C135-4B80-8DD1-AE0D012E3ADD}"/>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URLの正当性と最新版を確認</a:t>
            </a:r>
          </a:p>
        </p:txBody>
      </p:sp>
      <p:sp>
        <p:nvSpPr>
          <p:cNvPr id="17" name="step-card-10-2">
            <a:extLst xmlns:a="http://schemas.openxmlformats.org/drawingml/2006/main">
              <a:ext uri="{FF2B5EF4-FFF2-40B4-BE49-F238E27FC236}">
                <a16:creationId xmlns:a16="http://schemas.microsoft.com/office/drawing/2014/main" id="{8ABBDE6C-6DE1-4B74-918C-760E9FD61317}"/>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0-2">
            <a:extLst xmlns:a="http://schemas.openxmlformats.org/drawingml/2006/main">
              <a:ext uri="{FF2B5EF4-FFF2-40B4-BE49-F238E27FC236}">
                <a16:creationId xmlns:a16="http://schemas.microsoft.com/office/drawing/2014/main" id="{D0AF5517-B400-4919-B908-3E3F177A8FA9}"/>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0-2">
            <a:extLst xmlns:a="http://schemas.openxmlformats.org/drawingml/2006/main">
              <a:ext uri="{FF2B5EF4-FFF2-40B4-BE49-F238E27FC236}">
                <a16:creationId xmlns:a16="http://schemas.microsoft.com/office/drawing/2014/main" id="{810CAA1C-3D72-4450-AB19-EB1C4D935C52}"/>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0-2">
            <a:extLst xmlns:a="http://schemas.openxmlformats.org/drawingml/2006/main">
              <a:ext uri="{FF2B5EF4-FFF2-40B4-BE49-F238E27FC236}">
                <a16:creationId xmlns:a16="http://schemas.microsoft.com/office/drawing/2014/main" id="{AC3714FD-1D36-4438-B632-B10D587E4381}"/>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該当箇所を読む</a:t>
            </a:r>
          </a:p>
        </p:txBody>
      </p:sp>
      <p:sp>
        <p:nvSpPr>
          <p:cNvPr id="21" name="step-detail-10-2">
            <a:extLst xmlns:a="http://schemas.openxmlformats.org/drawingml/2006/main">
              <a:ext uri="{FF2B5EF4-FFF2-40B4-BE49-F238E27FC236}">
                <a16:creationId xmlns:a16="http://schemas.microsoft.com/office/drawing/2014/main" id="{BECCA4EE-AAEE-4DC7-AC74-EABB861DCF2D}"/>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前後の文脈、対象者、条件を確認</a:t>
            </a:r>
          </a:p>
        </p:txBody>
      </p:sp>
      <p:sp>
        <p:nvSpPr>
          <p:cNvPr id="22" name="step-card-10-3">
            <a:extLst xmlns:a="http://schemas.openxmlformats.org/drawingml/2006/main">
              <a:ext uri="{FF2B5EF4-FFF2-40B4-BE49-F238E27FC236}">
                <a16:creationId xmlns:a16="http://schemas.microsoft.com/office/drawing/2014/main" id="{BDF55B04-6156-456F-841E-34BC4E520AE3}"/>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10-3">
            <a:extLst xmlns:a="http://schemas.openxmlformats.org/drawingml/2006/main">
              <a:ext uri="{FF2B5EF4-FFF2-40B4-BE49-F238E27FC236}">
                <a16:creationId xmlns:a16="http://schemas.microsoft.com/office/drawing/2014/main" id="{2FA809A6-4912-43F2-B896-6E521E55AEE1}"/>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10-3">
            <a:extLst xmlns:a="http://schemas.openxmlformats.org/drawingml/2006/main">
              <a:ext uri="{FF2B5EF4-FFF2-40B4-BE49-F238E27FC236}">
                <a16:creationId xmlns:a16="http://schemas.microsoft.com/office/drawing/2014/main" id="{DD0E24AB-951F-4A26-BC19-D9854D860573}"/>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10-3">
            <a:extLst xmlns:a="http://schemas.openxmlformats.org/drawingml/2006/main">
              <a:ext uri="{FF2B5EF4-FFF2-40B4-BE49-F238E27FC236}">
                <a16:creationId xmlns:a16="http://schemas.microsoft.com/office/drawing/2014/main" id="{0B5ACF3B-086F-4A3B-A896-8DB772CA80B7}"/>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記録する</a:t>
            </a:r>
          </a:p>
        </p:txBody>
      </p:sp>
      <p:sp>
        <p:nvSpPr>
          <p:cNvPr id="26" name="step-detail-10-3">
            <a:extLst xmlns:a="http://schemas.openxmlformats.org/drawingml/2006/main">
              <a:ext uri="{FF2B5EF4-FFF2-40B4-BE49-F238E27FC236}">
                <a16:creationId xmlns:a16="http://schemas.microsoft.com/office/drawing/2014/main" id="{C1F4E0CE-A2B1-4579-9166-C7FB4E711C5C}"/>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確認日、頁、未確認事項を残す</a:t>
            </a:r>
          </a:p>
        </p:txBody>
      </p:sp>
      <p:sp>
        <p:nvSpPr>
          <p:cNvPr id="27" name="body-10">
            <a:extLst xmlns:a="http://schemas.openxmlformats.org/drawingml/2006/main">
              <a:ext uri="{FF2B5EF4-FFF2-40B4-BE49-F238E27FC236}">
                <a16:creationId xmlns:a16="http://schemas.microsoft.com/office/drawing/2014/main" id="{ACDE365A-E449-49A1-A2E5-8A98B1F38871}"/>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出力例（架空・参考）：候補『生成AIサービスの利用に関する注意喚起等』／個人情報保護委員会／2023-06-02／該当候補 pp.2-3／製品別設定は未確認</a:t>
            </a:r>
          </a:p>
        </p:txBody>
      </p:sp>
      <p:sp>
        <p:nvSpPr>
          <p:cNvPr id="28" name="footer-rule-10">
            <a:extLst xmlns:a="http://schemas.openxmlformats.org/drawingml/2006/main">
              <a:ext uri="{FF2B5EF4-FFF2-40B4-BE49-F238E27FC236}">
                <a16:creationId xmlns:a16="http://schemas.microsoft.com/office/drawing/2014/main" id="{1217BBC2-1BF5-4BD0-902B-AC087653691B}"/>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0">
            <a:extLst xmlns:a="http://schemas.openxmlformats.org/drawingml/2006/main">
              <a:ext uri="{FF2B5EF4-FFF2-40B4-BE49-F238E27FC236}">
                <a16:creationId xmlns:a16="http://schemas.microsoft.com/office/drawing/2014/main" id="{BC02D0F5-84E7-4A78-879E-743FF60BF759}"/>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S3・S4・S1・S6（詳細はノート）</a:t>
            </a:r>
          </a:p>
        </p:txBody>
      </p:sp>
      <p:sp>
        <p:nvSpPr>
          <p:cNvPr id="30" name="footer-no-10">
            <a:extLst xmlns:a="http://schemas.openxmlformats.org/drawingml/2006/main">
              <a:ext uri="{FF2B5EF4-FFF2-40B4-BE49-F238E27FC236}">
                <a16:creationId xmlns:a16="http://schemas.microsoft.com/office/drawing/2014/main" id="{73820601-89C9-4A45-B120-B0E91A1DE8DC}"/>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10 / 20</a:t>
            </a:r>
          </a:p>
        </p:txBody>
      </p:sp>
    </p:spTree>
    <p:extLst>
      <p:ext uri="{BB962C8B-B14F-4D97-AF65-F5344CB8AC3E}">
        <p14:creationId xmlns:p14="http://schemas.microsoft.com/office/powerpoint/2010/main" val="190090636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11">
            <a:extLst xmlns:a="http://schemas.openxmlformats.org/drawingml/2006/main">
              <a:ext uri="{FF2B5EF4-FFF2-40B4-BE49-F238E27FC236}">
                <a16:creationId xmlns:a16="http://schemas.microsoft.com/office/drawing/2014/main" id="{E6196D12-B935-4F24-BED9-22B177E00D4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1">
            <a:extLst xmlns:a="http://schemas.openxmlformats.org/drawingml/2006/main">
              <a:ext uri="{FF2B5EF4-FFF2-40B4-BE49-F238E27FC236}">
                <a16:creationId xmlns:a16="http://schemas.microsoft.com/office/drawing/2014/main" id="{494B0606-431E-45D7-8B7E-95B06A16ABFB}"/>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レビュー</a:t>
            </a:r>
          </a:p>
        </p:txBody>
      </p:sp>
      <p:sp>
        <p:nvSpPr>
          <p:cNvPr id="3" name="label-11">
            <a:extLst xmlns:a="http://schemas.openxmlformats.org/drawingml/2006/main">
              <a:ext uri="{FF2B5EF4-FFF2-40B4-BE49-F238E27FC236}">
                <a16:creationId xmlns:a16="http://schemas.microsoft.com/office/drawing/2014/main" id="{A962F398-1827-4F75-B235-E98A400F761E}"/>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ケース4</a:t>
            </a:r>
          </a:p>
        </p:txBody>
      </p:sp>
      <p:sp>
        <p:nvSpPr>
          <p:cNvPr id="4" name="title-11">
            <a:extLst xmlns:a="http://schemas.openxmlformats.org/drawingml/2006/main">
              <a:ext uri="{FF2B5EF4-FFF2-40B4-BE49-F238E27FC236}">
                <a16:creationId xmlns:a16="http://schemas.microsoft.com/office/drawing/2014/main" id="{A2D0F72C-45A5-4290-A282-F2B9B679A9E4}"/>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ケース4：文章レビューは観点を指定する</a:t>
            </a:r>
          </a:p>
        </p:txBody>
      </p:sp>
      <p:sp>
        <p:nvSpPr>
          <p:cNvPr id="5" name="title-rule-11">
            <a:extLst xmlns:a="http://schemas.openxmlformats.org/drawingml/2006/main">
              <a:ext uri="{FF2B5EF4-FFF2-40B4-BE49-F238E27FC236}">
                <a16:creationId xmlns:a16="http://schemas.microsoft.com/office/drawing/2014/main" id="{3EC0F5C6-0BF8-49F3-8FE1-686277E17F06}"/>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1">
            <a:extLst xmlns:a="http://schemas.openxmlformats.org/drawingml/2006/main">
              <a:ext uri="{FF2B5EF4-FFF2-40B4-BE49-F238E27FC236}">
                <a16:creationId xmlns:a16="http://schemas.microsoft.com/office/drawing/2014/main" id="{2B8E1E5F-B908-4A68-9E91-A25221AC5B43}"/>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『添削して』ではなく、読み手・目的・確認観点・直さない範囲を伝える。</a:t>
            </a:r>
          </a:p>
        </p:txBody>
      </p:sp>
      <p:sp>
        <p:nvSpPr>
          <p:cNvPr id="7" name="case-bad-11-bg">
            <a:extLst xmlns:a="http://schemas.openxmlformats.org/drawingml/2006/main">
              <a:ext uri="{FF2B5EF4-FFF2-40B4-BE49-F238E27FC236}">
                <a16:creationId xmlns:a16="http://schemas.microsoft.com/office/drawing/2014/main" id="{E28057F6-AFC3-404F-BB2B-DEBA658521FD}"/>
              </a:ext>
            </a:extLst>
          </p:cNvPr>
          <p:cNvSpPr>
            <a:spLocks xmlns:a="http://schemas.openxmlformats.org/drawingml/2006/main" noGrp="1"/>
          </p:cNvSpPr>
          <p:nvPr/>
        </p:nvSpPr>
        <p:spPr>
          <a:xfrm xmlns:a="http://schemas.openxmlformats.org/drawingml/2006/main">
            <a:off x="647700" y="2152650"/>
            <a:ext cx="5238750" cy="1047750"/>
          </a:xfrm>
          <a:prstGeom xmlns:a="http://schemas.openxmlformats.org/drawingml/2006/main" prst="roundRect">
            <a:avLst>
              <a:gd name="adj" fmla="val 10909"/>
            </a:avLst>
          </a:prstGeom>
          <a:solidFill xmlns:a="http://schemas.openxmlformats.org/drawingml/2006/main">
            <a:srgbClr val="FDEBE7"/>
          </a:solidFill>
          <a:ln xmlns:a="http://schemas.openxmlformats.org/drawingml/2006/main" w="9525">
            <a:solidFill>
              <a:srgbClr val="D3DEE3"/>
            </a:solidFill>
            <a:prstDash val="solid"/>
          </a:ln>
        </p:spPr>
      </p:sp>
      <p:sp>
        <p:nvSpPr>
          <p:cNvPr id="8" name="case-bad-11-bar">
            <a:extLst xmlns:a="http://schemas.openxmlformats.org/drawingml/2006/main">
              <a:ext uri="{FF2B5EF4-FFF2-40B4-BE49-F238E27FC236}">
                <a16:creationId xmlns:a16="http://schemas.microsoft.com/office/drawing/2014/main" id="{57E006DE-C579-4DAE-8ACA-B52F1BF23223}"/>
              </a:ext>
            </a:extLst>
          </p:cNvPr>
          <p:cNvSpPr>
            <a:spLocks xmlns:a="http://schemas.openxmlformats.org/drawingml/2006/main" noGrp="1"/>
          </p:cNvSpPr>
          <p:nvPr/>
        </p:nvSpPr>
        <p:spPr>
          <a:xfrm xmlns:a="http://schemas.openxmlformats.org/drawingml/2006/main">
            <a:off x="647700" y="2152650"/>
            <a:ext cx="76200" cy="1047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9" name="case-bad-11-label">
            <a:extLst xmlns:a="http://schemas.openxmlformats.org/drawingml/2006/main">
              <a:ext uri="{FF2B5EF4-FFF2-40B4-BE49-F238E27FC236}">
                <a16:creationId xmlns:a16="http://schemas.microsoft.com/office/drawing/2014/main" id="{28E2D287-E50D-4057-8542-5FC8D15B60DA}"/>
              </a:ext>
            </a:extLst>
          </p:cNvPr>
          <p:cNvSpPr>
            <a:spLocks xmlns:a="http://schemas.openxmlformats.org/drawingml/2006/main" noGrp="1"/>
          </p:cNvSpPr>
          <p:nvPr/>
        </p:nvSpPr>
        <p:spPr>
          <a:xfrm xmlns:a="http://schemas.openxmlformats.org/drawingml/2006/main">
            <a:off x="87630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B42318"/>
                </a:solidFill>
              </a:defRPr>
            </a:pPr>
            <a:r>
              <a:rPr sz="1125" b="1">
                <a:solidFill>
                  <a:srgbClr val="B42318"/>
                </a:solidFill>
              </a:rPr>
              <a:t>悪い依頼</a:t>
            </a:r>
          </a:p>
        </p:txBody>
      </p:sp>
      <p:sp>
        <p:nvSpPr>
          <p:cNvPr id="10" name="case-bad-11-text">
            <a:extLst xmlns:a="http://schemas.openxmlformats.org/drawingml/2006/main">
              <a:ext uri="{FF2B5EF4-FFF2-40B4-BE49-F238E27FC236}">
                <a16:creationId xmlns:a16="http://schemas.microsoft.com/office/drawing/2014/main" id="{40F9DA0F-B570-45C2-B81E-57E53F8D6762}"/>
              </a:ext>
            </a:extLst>
          </p:cNvPr>
          <p:cNvSpPr>
            <a:spLocks xmlns:a="http://schemas.openxmlformats.org/drawingml/2006/main" noGrp="1"/>
          </p:cNvSpPr>
          <p:nvPr/>
        </p:nvSpPr>
        <p:spPr>
          <a:xfrm xmlns:a="http://schemas.openxmlformats.org/drawingml/2006/main">
            <a:off x="876300" y="257175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72B3A"/>
                </a:solidFill>
              </a:defRPr>
            </a:pPr>
            <a:r>
              <a:rPr sz="1200" b="1">
                <a:solidFill>
                  <a:srgbClr val="172B3A"/>
                </a:solidFill>
              </a:rPr>
              <a:t>この社内案内を分かりやすく添削して。</a:t>
            </a:r>
          </a:p>
        </p:txBody>
      </p:sp>
      <p:sp>
        <p:nvSpPr>
          <p:cNvPr id="11" name="case-prompt-11-bg">
            <a:extLst xmlns:a="http://schemas.openxmlformats.org/drawingml/2006/main">
              <a:ext uri="{FF2B5EF4-FFF2-40B4-BE49-F238E27FC236}">
                <a16:creationId xmlns:a16="http://schemas.microsoft.com/office/drawing/2014/main" id="{ADD4ED43-52DD-4A53-A8D1-E34004069169}"/>
              </a:ext>
            </a:extLst>
          </p:cNvPr>
          <p:cNvSpPr>
            <a:spLocks xmlns:a="http://schemas.openxmlformats.org/drawingml/2006/main" noGrp="1"/>
          </p:cNvSpPr>
          <p:nvPr/>
        </p:nvSpPr>
        <p:spPr>
          <a:xfrm xmlns:a="http://schemas.openxmlformats.org/drawingml/2006/main">
            <a:off x="647700" y="3333750"/>
            <a:ext cx="5238750" cy="2190750"/>
          </a:xfrm>
          <a:prstGeom xmlns:a="http://schemas.openxmlformats.org/drawingml/2006/main" prst="roundRect">
            <a:avLst>
              <a:gd name="adj" fmla="val 5217"/>
            </a:avLst>
          </a:prstGeom>
          <a:solidFill xmlns:a="http://schemas.openxmlformats.org/drawingml/2006/main">
            <a:srgbClr val="E5F4FC"/>
          </a:solidFill>
          <a:ln xmlns:a="http://schemas.openxmlformats.org/drawingml/2006/main" w="9525">
            <a:solidFill>
              <a:srgbClr val="D3DEE3"/>
            </a:solidFill>
            <a:prstDash val="solid"/>
          </a:ln>
        </p:spPr>
      </p:sp>
      <p:sp>
        <p:nvSpPr>
          <p:cNvPr id="12" name="case-prompt-11-bar">
            <a:extLst xmlns:a="http://schemas.openxmlformats.org/drawingml/2006/main">
              <a:ext uri="{FF2B5EF4-FFF2-40B4-BE49-F238E27FC236}">
                <a16:creationId xmlns:a16="http://schemas.microsoft.com/office/drawing/2014/main" id="{58368A35-60B2-4B8A-9A88-2316BB0DE97E}"/>
              </a:ext>
            </a:extLst>
          </p:cNvPr>
          <p:cNvSpPr>
            <a:spLocks xmlns:a="http://schemas.openxmlformats.org/drawingml/2006/main" noGrp="1"/>
          </p:cNvSpPr>
          <p:nvPr/>
        </p:nvSpPr>
        <p:spPr>
          <a:xfrm xmlns:a="http://schemas.openxmlformats.org/drawingml/2006/main">
            <a:off x="647700" y="3333750"/>
            <a:ext cx="76200" cy="219075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3" name="case-prompt-11-label">
            <a:extLst xmlns:a="http://schemas.openxmlformats.org/drawingml/2006/main">
              <a:ext uri="{FF2B5EF4-FFF2-40B4-BE49-F238E27FC236}">
                <a16:creationId xmlns:a16="http://schemas.microsoft.com/office/drawing/2014/main" id="{38A16CF7-D2F6-46C3-8F21-06F84749CC84}"/>
              </a:ext>
            </a:extLst>
          </p:cNvPr>
          <p:cNvSpPr>
            <a:spLocks xmlns:a="http://schemas.openxmlformats.org/drawingml/2006/main" noGrp="1"/>
          </p:cNvSpPr>
          <p:nvPr/>
        </p:nvSpPr>
        <p:spPr>
          <a:xfrm xmlns:a="http://schemas.openxmlformats.org/drawingml/2006/main">
            <a:off x="876300" y="34480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369A1"/>
                </a:solidFill>
              </a:defRPr>
            </a:pPr>
            <a:r>
              <a:rPr sz="1125" b="1">
                <a:solidFill>
                  <a:srgbClr val="0369A1"/>
                </a:solidFill>
              </a:rPr>
              <a:t>改善した具体的プロンプト</a:t>
            </a:r>
          </a:p>
        </p:txBody>
      </p:sp>
      <p:sp>
        <p:nvSpPr>
          <p:cNvPr id="14" name="case-prompt-11-text">
            <a:extLst xmlns:a="http://schemas.openxmlformats.org/drawingml/2006/main">
              <a:ext uri="{FF2B5EF4-FFF2-40B4-BE49-F238E27FC236}">
                <a16:creationId xmlns:a16="http://schemas.microsoft.com/office/drawing/2014/main" id="{2417BEB2-4368-49CB-A9F7-C60BBB13847E}"/>
              </a:ext>
            </a:extLst>
          </p:cNvPr>
          <p:cNvSpPr>
            <a:spLocks xmlns:a="http://schemas.openxmlformats.org/drawingml/2006/main" noGrp="1"/>
          </p:cNvSpPr>
          <p:nvPr/>
        </p:nvSpPr>
        <p:spPr>
          <a:xfrm xmlns:a="http://schemas.openxmlformats.org/drawingml/2006/main">
            <a:off x="876300" y="3752850"/>
            <a:ext cx="4819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B3A"/>
                </a:solidFill>
              </a:defRPr>
            </a:pPr>
            <a:r>
              <a:rPr sz="1200" b="0">
                <a:solidFill>
                  <a:srgbClr val="172B3A"/>
                </a:solidFill>
              </a:rPr>
              <a:t>新入社員向け案内を、①行動②日時・場所③専門語④誤解の4観点でレビュー。指摘・理由・修正案・確認質問を表にする。</a:t>
            </a:r>
          </a:p>
        </p:txBody>
      </p:sp>
      <p:sp>
        <p:nvSpPr>
          <p:cNvPr id="15" name="case-output-11-bg">
            <a:extLst xmlns:a="http://schemas.openxmlformats.org/drawingml/2006/main">
              <a:ext uri="{FF2B5EF4-FFF2-40B4-BE49-F238E27FC236}">
                <a16:creationId xmlns:a16="http://schemas.microsoft.com/office/drawing/2014/main" id="{FC674518-3FCC-4A08-85D8-E8879C87D476}"/>
              </a:ext>
            </a:extLst>
          </p:cNvPr>
          <p:cNvSpPr>
            <a:spLocks xmlns:a="http://schemas.openxmlformats.org/drawingml/2006/main" noGrp="1"/>
          </p:cNvSpPr>
          <p:nvPr/>
        </p:nvSpPr>
        <p:spPr>
          <a:xfrm xmlns:a="http://schemas.openxmlformats.org/drawingml/2006/main">
            <a:off x="6267450" y="2152650"/>
            <a:ext cx="5238750" cy="1562100"/>
          </a:xfrm>
          <a:prstGeom xmlns:a="http://schemas.openxmlformats.org/drawingml/2006/main" prst="roundRect">
            <a:avLst>
              <a:gd name="adj" fmla="val 7317"/>
            </a:avLst>
          </a:prstGeom>
          <a:solidFill xmlns:a="http://schemas.openxmlformats.org/drawingml/2006/main">
            <a:srgbClr val="F0EAFE"/>
          </a:solidFill>
          <a:ln xmlns:a="http://schemas.openxmlformats.org/drawingml/2006/main" w="9525">
            <a:solidFill>
              <a:srgbClr val="D3DEE3"/>
            </a:solidFill>
            <a:prstDash val="solid"/>
          </a:ln>
        </p:spPr>
      </p:sp>
      <p:sp>
        <p:nvSpPr>
          <p:cNvPr id="16" name="case-output-11-bar">
            <a:extLst xmlns:a="http://schemas.openxmlformats.org/drawingml/2006/main">
              <a:ext uri="{FF2B5EF4-FFF2-40B4-BE49-F238E27FC236}">
                <a16:creationId xmlns:a16="http://schemas.microsoft.com/office/drawing/2014/main" id="{AC8076AC-9EB6-4300-B7AC-486C4F7DEE79}"/>
              </a:ext>
            </a:extLst>
          </p:cNvPr>
          <p:cNvSpPr>
            <a:spLocks xmlns:a="http://schemas.openxmlformats.org/drawingml/2006/main" noGrp="1"/>
          </p:cNvSpPr>
          <p:nvPr/>
        </p:nvSpPr>
        <p:spPr>
          <a:xfrm xmlns:a="http://schemas.openxmlformats.org/drawingml/2006/main">
            <a:off x="6267450" y="2152650"/>
            <a:ext cx="76200" cy="1562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17" name="case-output-11-label">
            <a:extLst xmlns:a="http://schemas.openxmlformats.org/drawingml/2006/main">
              <a:ext uri="{FF2B5EF4-FFF2-40B4-BE49-F238E27FC236}">
                <a16:creationId xmlns:a16="http://schemas.microsoft.com/office/drawing/2014/main" id="{B5E51900-E831-4D1F-B56E-A66D7FFB08BA}"/>
              </a:ext>
            </a:extLst>
          </p:cNvPr>
          <p:cNvSpPr>
            <a:spLocks xmlns:a="http://schemas.openxmlformats.org/drawingml/2006/main" noGrp="1"/>
          </p:cNvSpPr>
          <p:nvPr/>
        </p:nvSpPr>
        <p:spPr>
          <a:xfrm xmlns:a="http://schemas.openxmlformats.org/drawingml/2006/main">
            <a:off x="649605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28D9"/>
                </a:solidFill>
              </a:defRPr>
            </a:pPr>
            <a:r>
              <a:rPr sz="1125" b="1">
                <a:solidFill>
                  <a:srgbClr val="6D28D9"/>
                </a:solidFill>
              </a:rPr>
              <a:t>短い出力例（架空・参考）</a:t>
            </a:r>
          </a:p>
        </p:txBody>
      </p:sp>
      <p:sp>
        <p:nvSpPr>
          <p:cNvPr id="18" name="case-output-11-text">
            <a:extLst xmlns:a="http://schemas.openxmlformats.org/drawingml/2006/main">
              <a:ext uri="{FF2B5EF4-FFF2-40B4-BE49-F238E27FC236}">
                <a16:creationId xmlns:a16="http://schemas.microsoft.com/office/drawing/2014/main" id="{033ED31D-6646-43F4-8706-2DBA2766A018}"/>
              </a:ext>
            </a:extLst>
          </p:cNvPr>
          <p:cNvSpPr>
            <a:spLocks xmlns:a="http://schemas.openxmlformats.org/drawingml/2006/main" noGrp="1"/>
          </p:cNvSpPr>
          <p:nvPr/>
        </p:nvSpPr>
        <p:spPr>
          <a:xfrm xmlns:a="http://schemas.openxmlformats.org/drawingml/2006/main">
            <a:off x="6496050" y="2571750"/>
            <a:ext cx="4819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B3A"/>
                </a:solidFill>
              </a:defRPr>
            </a:pPr>
            <a:r>
              <a:rPr sz="1275" b="0">
                <a:solidFill>
                  <a:srgbClr val="172B3A"/>
                </a:solidFill>
              </a:rPr>
              <a:t>指摘『受付後の行動が不明』／修正案『待機場所を明記』／質問『場所は確定済みか』</a:t>
            </a:r>
          </a:p>
        </p:txBody>
      </p:sp>
      <p:sp>
        <p:nvSpPr>
          <p:cNvPr id="19" name="case-check-11-bg">
            <a:extLst xmlns:a="http://schemas.openxmlformats.org/drawingml/2006/main">
              <a:ext uri="{FF2B5EF4-FFF2-40B4-BE49-F238E27FC236}">
                <a16:creationId xmlns:a16="http://schemas.microsoft.com/office/drawing/2014/main" id="{9C3AD1D5-B9F2-43AA-A951-70FD2446A45F}"/>
              </a:ext>
            </a:extLst>
          </p:cNvPr>
          <p:cNvSpPr>
            <a:spLocks xmlns:a="http://schemas.openxmlformats.org/drawingml/2006/main" noGrp="1"/>
          </p:cNvSpPr>
          <p:nvPr/>
        </p:nvSpPr>
        <p:spPr>
          <a:xfrm xmlns:a="http://schemas.openxmlformats.org/drawingml/2006/main">
            <a:off x="6267450" y="3867150"/>
            <a:ext cx="5238750" cy="1657350"/>
          </a:xfrm>
          <a:prstGeom xmlns:a="http://schemas.openxmlformats.org/drawingml/2006/main" prst="roundRect">
            <a:avLst>
              <a:gd name="adj" fmla="val 6897"/>
            </a:avLst>
          </a:prstGeom>
          <a:solidFill xmlns:a="http://schemas.openxmlformats.org/drawingml/2006/main">
            <a:srgbClr val="FFF4D6"/>
          </a:solidFill>
          <a:ln xmlns:a="http://schemas.openxmlformats.org/drawingml/2006/main" w="9525">
            <a:solidFill>
              <a:srgbClr val="D3DEE3"/>
            </a:solidFill>
            <a:prstDash val="solid"/>
          </a:ln>
        </p:spPr>
      </p:sp>
      <p:sp>
        <p:nvSpPr>
          <p:cNvPr id="20" name="case-check-11-bar">
            <a:extLst xmlns:a="http://schemas.openxmlformats.org/drawingml/2006/main">
              <a:ext uri="{FF2B5EF4-FFF2-40B4-BE49-F238E27FC236}">
                <a16:creationId xmlns:a16="http://schemas.microsoft.com/office/drawing/2014/main" id="{73071644-38F4-4656-8B38-E44258BF5129}"/>
              </a:ext>
            </a:extLst>
          </p:cNvPr>
          <p:cNvSpPr>
            <a:spLocks xmlns:a="http://schemas.openxmlformats.org/drawingml/2006/main" noGrp="1"/>
          </p:cNvSpPr>
          <p:nvPr/>
        </p:nvSpPr>
        <p:spPr>
          <a:xfrm xmlns:a="http://schemas.openxmlformats.org/drawingml/2006/main">
            <a:off x="6267450" y="3867150"/>
            <a:ext cx="76200" cy="16573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1" name="case-check-11-label">
            <a:extLst xmlns:a="http://schemas.openxmlformats.org/drawingml/2006/main">
              <a:ext uri="{FF2B5EF4-FFF2-40B4-BE49-F238E27FC236}">
                <a16:creationId xmlns:a16="http://schemas.microsoft.com/office/drawing/2014/main" id="{BFB059C1-CBAC-4F6E-9FAA-349BAD436F42}"/>
              </a:ext>
            </a:extLst>
          </p:cNvPr>
          <p:cNvSpPr>
            <a:spLocks xmlns:a="http://schemas.openxmlformats.org/drawingml/2006/main" noGrp="1"/>
          </p:cNvSpPr>
          <p:nvPr/>
        </p:nvSpPr>
        <p:spPr>
          <a:xfrm xmlns:a="http://schemas.openxmlformats.org/drawingml/2006/main">
            <a:off x="6496050" y="39814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97316"/>
                </a:solidFill>
              </a:defRPr>
            </a:pPr>
            <a:r>
              <a:rPr sz="1125" b="1">
                <a:solidFill>
                  <a:srgbClr val="F97316"/>
                </a:solidFill>
              </a:rPr>
              <a:t>人が確認する点</a:t>
            </a:r>
          </a:p>
        </p:txBody>
      </p:sp>
      <p:sp>
        <p:nvSpPr>
          <p:cNvPr id="22" name="case-check-11-text">
            <a:extLst xmlns:a="http://schemas.openxmlformats.org/drawingml/2006/main">
              <a:ext uri="{FF2B5EF4-FFF2-40B4-BE49-F238E27FC236}">
                <a16:creationId xmlns:a16="http://schemas.microsoft.com/office/drawing/2014/main" id="{81181006-3188-448E-BB4D-80924C2FDB0B}"/>
              </a:ext>
            </a:extLst>
          </p:cNvPr>
          <p:cNvSpPr>
            <a:spLocks xmlns:a="http://schemas.openxmlformats.org/drawingml/2006/main" noGrp="1"/>
          </p:cNvSpPr>
          <p:nvPr/>
        </p:nvSpPr>
        <p:spPr>
          <a:xfrm xmlns:a="http://schemas.openxmlformats.org/drawingml/2006/main">
            <a:off x="6496050" y="4286250"/>
            <a:ext cx="4819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B3A"/>
                </a:solidFill>
              </a:defRPr>
            </a:pPr>
            <a:r>
              <a:rPr sz="1350" b="0">
                <a:solidFill>
                  <a:srgbClr val="172B3A"/>
                </a:solidFill>
              </a:rPr>
              <a:t>原文の意図、確定した日時・場所、修正案の採否</a:t>
            </a:r>
          </a:p>
        </p:txBody>
      </p:sp>
      <p:sp>
        <p:nvSpPr>
          <p:cNvPr id="23" name="footer-rule-11">
            <a:extLst xmlns:a="http://schemas.openxmlformats.org/drawingml/2006/main">
              <a:ext uri="{FF2B5EF4-FFF2-40B4-BE49-F238E27FC236}">
                <a16:creationId xmlns:a16="http://schemas.microsoft.com/office/drawing/2014/main" id="{9C443A7D-520C-4708-8CE1-6A06852E5269}"/>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11">
            <a:extLst xmlns:a="http://schemas.openxmlformats.org/drawingml/2006/main">
              <a:ext uri="{FF2B5EF4-FFF2-40B4-BE49-F238E27FC236}">
                <a16:creationId xmlns:a16="http://schemas.microsoft.com/office/drawing/2014/main" id="{4CC2878D-904C-4ACB-98B3-8F441174FA4D}"/>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S1・S6・S2・S4（詳細はノート）</a:t>
            </a:r>
          </a:p>
        </p:txBody>
      </p:sp>
      <p:sp>
        <p:nvSpPr>
          <p:cNvPr id="25" name="footer-no-11">
            <a:extLst xmlns:a="http://schemas.openxmlformats.org/drawingml/2006/main">
              <a:ext uri="{FF2B5EF4-FFF2-40B4-BE49-F238E27FC236}">
                <a16:creationId xmlns:a16="http://schemas.microsoft.com/office/drawing/2014/main" id="{80AC0430-08DD-4F72-B57A-11A3816D4FCA}"/>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11 / 20</a:t>
            </a:r>
          </a:p>
        </p:txBody>
      </p:sp>
    </p:spTree>
    <p:extLst>
      <p:ext uri="{BB962C8B-B14F-4D97-AF65-F5344CB8AC3E}">
        <p14:creationId xmlns:p14="http://schemas.microsoft.com/office/powerpoint/2010/main" val="1054734094"/>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2">
            <a:extLst xmlns:a="http://schemas.openxmlformats.org/drawingml/2006/main">
              <a:ext uri="{FF2B5EF4-FFF2-40B4-BE49-F238E27FC236}">
                <a16:creationId xmlns:a16="http://schemas.microsoft.com/office/drawing/2014/main" id="{880CF94B-C8B2-45E7-AB82-F157AE54B48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2">
            <a:extLst xmlns:a="http://schemas.openxmlformats.org/drawingml/2006/main">
              <a:ext uri="{FF2B5EF4-FFF2-40B4-BE49-F238E27FC236}">
                <a16:creationId xmlns:a16="http://schemas.microsoft.com/office/drawing/2014/main" id="{76E24130-79C5-42C8-A5E9-A2E81B339925}"/>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ケース4・出力例</a:t>
            </a:r>
          </a:p>
        </p:txBody>
      </p:sp>
      <p:sp>
        <p:nvSpPr>
          <p:cNvPr id="3" name="label-12">
            <a:extLst xmlns:a="http://schemas.openxmlformats.org/drawingml/2006/main">
              <a:ext uri="{FF2B5EF4-FFF2-40B4-BE49-F238E27FC236}">
                <a16:creationId xmlns:a16="http://schemas.microsoft.com/office/drawing/2014/main" id="{1B3E4C6C-5D45-41C9-801E-E12B5A4631CB}"/>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人の確認</a:t>
            </a:r>
          </a:p>
        </p:txBody>
      </p:sp>
      <p:sp>
        <p:nvSpPr>
          <p:cNvPr id="4" name="title-12">
            <a:extLst xmlns:a="http://schemas.openxmlformats.org/drawingml/2006/main">
              <a:ext uri="{FF2B5EF4-FFF2-40B4-BE49-F238E27FC236}">
                <a16:creationId xmlns:a16="http://schemas.microsoft.com/office/drawing/2014/main" id="{487D6A97-054F-4EE7-9361-5395B247AE80}"/>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レビュー出力は、指摘と修正案を分けて採否を決める</a:t>
            </a:r>
          </a:p>
        </p:txBody>
      </p:sp>
      <p:sp>
        <p:nvSpPr>
          <p:cNvPr id="5" name="title-rule-12">
            <a:extLst xmlns:a="http://schemas.openxmlformats.org/drawingml/2006/main">
              <a:ext uri="{FF2B5EF4-FFF2-40B4-BE49-F238E27FC236}">
                <a16:creationId xmlns:a16="http://schemas.microsoft.com/office/drawing/2014/main" id="{1D8549F7-DBF3-43EF-8399-1E265217979F}"/>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2">
            <a:extLst xmlns:a="http://schemas.openxmlformats.org/drawingml/2006/main">
              <a:ext uri="{FF2B5EF4-FFF2-40B4-BE49-F238E27FC236}">
                <a16:creationId xmlns:a16="http://schemas.microsoft.com/office/drawing/2014/main" id="{C2F742E6-ED15-41EE-9651-0C8B460E1A84}"/>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AIの指摘を採用するかは、原文・目的・社内ルールに照らして人が決める。</a:t>
            </a:r>
          </a:p>
        </p:txBody>
      </p:sp>
      <p:sp>
        <p:nvSpPr>
          <p:cNvPr id="7" name="step-card-12-0">
            <a:extLst xmlns:a="http://schemas.openxmlformats.org/drawingml/2006/main">
              <a:ext uri="{FF2B5EF4-FFF2-40B4-BE49-F238E27FC236}">
                <a16:creationId xmlns:a16="http://schemas.microsoft.com/office/drawing/2014/main" id="{1A7BDCB9-F96B-4D68-852C-E2D61AD39C35}"/>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2-0">
            <a:extLst xmlns:a="http://schemas.openxmlformats.org/drawingml/2006/main">
              <a:ext uri="{FF2B5EF4-FFF2-40B4-BE49-F238E27FC236}">
                <a16:creationId xmlns:a16="http://schemas.microsoft.com/office/drawing/2014/main" id="{88AD36C9-754C-4088-AD3B-BE4B174F29D0}"/>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2-0">
            <a:extLst xmlns:a="http://schemas.openxmlformats.org/drawingml/2006/main">
              <a:ext uri="{FF2B5EF4-FFF2-40B4-BE49-F238E27FC236}">
                <a16:creationId xmlns:a16="http://schemas.microsoft.com/office/drawing/2014/main" id="{909842C9-D266-4D7A-A062-F1275410D0BD}"/>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2-0">
            <a:extLst xmlns:a="http://schemas.openxmlformats.org/drawingml/2006/main">
              <a:ext uri="{FF2B5EF4-FFF2-40B4-BE49-F238E27FC236}">
                <a16:creationId xmlns:a16="http://schemas.microsoft.com/office/drawing/2014/main" id="{665BA58C-27CD-4D1E-9871-0AEDD780FA62}"/>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指摘</a:t>
            </a:r>
          </a:p>
        </p:txBody>
      </p:sp>
      <p:sp>
        <p:nvSpPr>
          <p:cNvPr id="11" name="step-detail-12-0">
            <a:extLst xmlns:a="http://schemas.openxmlformats.org/drawingml/2006/main">
              <a:ext uri="{FF2B5EF4-FFF2-40B4-BE49-F238E27FC236}">
                <a16:creationId xmlns:a16="http://schemas.microsoft.com/office/drawing/2014/main" id="{A95108EB-0568-40A4-AAB2-1139E172AC8F}"/>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どの箇所が目的を妨げるか</a:t>
            </a:r>
          </a:p>
        </p:txBody>
      </p:sp>
      <p:sp>
        <p:nvSpPr>
          <p:cNvPr id="12" name="step-card-12-1">
            <a:extLst xmlns:a="http://schemas.openxmlformats.org/drawingml/2006/main">
              <a:ext uri="{FF2B5EF4-FFF2-40B4-BE49-F238E27FC236}">
                <a16:creationId xmlns:a16="http://schemas.microsoft.com/office/drawing/2014/main" id="{F784AAFE-87DC-4DDE-8C4B-9B27EB990A1B}"/>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2-1">
            <a:extLst xmlns:a="http://schemas.openxmlformats.org/drawingml/2006/main">
              <a:ext uri="{FF2B5EF4-FFF2-40B4-BE49-F238E27FC236}">
                <a16:creationId xmlns:a16="http://schemas.microsoft.com/office/drawing/2014/main" id="{74AB6E09-E4FD-44C0-AC7D-0EBF13D5CBCA}"/>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2-1">
            <a:extLst xmlns:a="http://schemas.openxmlformats.org/drawingml/2006/main">
              <a:ext uri="{FF2B5EF4-FFF2-40B4-BE49-F238E27FC236}">
                <a16:creationId xmlns:a16="http://schemas.microsoft.com/office/drawing/2014/main" id="{29E77F5A-F110-4A0E-8843-8D7F4278CD63}"/>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2-1">
            <a:extLst xmlns:a="http://schemas.openxmlformats.org/drawingml/2006/main">
              <a:ext uri="{FF2B5EF4-FFF2-40B4-BE49-F238E27FC236}">
                <a16:creationId xmlns:a16="http://schemas.microsoft.com/office/drawing/2014/main" id="{0DC6C309-9FE0-47C5-ADDD-3C99A7D6FB34}"/>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理由</a:t>
            </a:r>
          </a:p>
        </p:txBody>
      </p:sp>
      <p:sp>
        <p:nvSpPr>
          <p:cNvPr id="16" name="step-detail-12-1">
            <a:extLst xmlns:a="http://schemas.openxmlformats.org/drawingml/2006/main">
              <a:ext uri="{FF2B5EF4-FFF2-40B4-BE49-F238E27FC236}">
                <a16:creationId xmlns:a16="http://schemas.microsoft.com/office/drawing/2014/main" id="{1107BDF0-14E1-4135-A621-A3923C1B9818}"/>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読み手が何に迷うか</a:t>
            </a:r>
          </a:p>
        </p:txBody>
      </p:sp>
      <p:sp>
        <p:nvSpPr>
          <p:cNvPr id="17" name="step-card-12-2">
            <a:extLst xmlns:a="http://schemas.openxmlformats.org/drawingml/2006/main">
              <a:ext uri="{FF2B5EF4-FFF2-40B4-BE49-F238E27FC236}">
                <a16:creationId xmlns:a16="http://schemas.microsoft.com/office/drawing/2014/main" id="{7A7ACDC0-3099-4B58-9B5B-9D0AD73823EB}"/>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2-2">
            <a:extLst xmlns:a="http://schemas.openxmlformats.org/drawingml/2006/main">
              <a:ext uri="{FF2B5EF4-FFF2-40B4-BE49-F238E27FC236}">
                <a16:creationId xmlns:a16="http://schemas.microsoft.com/office/drawing/2014/main" id="{BB13B1DF-2621-4ED8-9EFE-F2C1CA787539}"/>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2-2">
            <a:extLst xmlns:a="http://schemas.openxmlformats.org/drawingml/2006/main">
              <a:ext uri="{FF2B5EF4-FFF2-40B4-BE49-F238E27FC236}">
                <a16:creationId xmlns:a16="http://schemas.microsoft.com/office/drawing/2014/main" id="{812CD54A-496E-46EF-8580-777A2BAF8677}"/>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2-2">
            <a:extLst xmlns:a="http://schemas.openxmlformats.org/drawingml/2006/main">
              <a:ext uri="{FF2B5EF4-FFF2-40B4-BE49-F238E27FC236}">
                <a16:creationId xmlns:a16="http://schemas.microsoft.com/office/drawing/2014/main" id="{9CFE3F41-1E28-44D6-97DE-52E35765A34D}"/>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修正案</a:t>
            </a:r>
          </a:p>
        </p:txBody>
      </p:sp>
      <p:sp>
        <p:nvSpPr>
          <p:cNvPr id="21" name="step-detail-12-2">
            <a:extLst xmlns:a="http://schemas.openxmlformats.org/drawingml/2006/main">
              <a:ext uri="{FF2B5EF4-FFF2-40B4-BE49-F238E27FC236}">
                <a16:creationId xmlns:a16="http://schemas.microsoft.com/office/drawing/2014/main" id="{F9E427D3-318B-41A1-BCB2-5EB31FB0D7AB}"/>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未確定事項は仮案と表示</a:t>
            </a:r>
          </a:p>
        </p:txBody>
      </p:sp>
      <p:sp>
        <p:nvSpPr>
          <p:cNvPr id="22" name="step-card-12-3">
            <a:extLst xmlns:a="http://schemas.openxmlformats.org/drawingml/2006/main">
              <a:ext uri="{FF2B5EF4-FFF2-40B4-BE49-F238E27FC236}">
                <a16:creationId xmlns:a16="http://schemas.microsoft.com/office/drawing/2014/main" id="{2E588A82-0062-4E8B-9A5B-A0BCAC85E5DC}"/>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12-3">
            <a:extLst xmlns:a="http://schemas.openxmlformats.org/drawingml/2006/main">
              <a:ext uri="{FF2B5EF4-FFF2-40B4-BE49-F238E27FC236}">
                <a16:creationId xmlns:a16="http://schemas.microsoft.com/office/drawing/2014/main" id="{625A322D-7293-4094-A09C-3152F0F8FBC2}"/>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12-3">
            <a:extLst xmlns:a="http://schemas.openxmlformats.org/drawingml/2006/main">
              <a:ext uri="{FF2B5EF4-FFF2-40B4-BE49-F238E27FC236}">
                <a16:creationId xmlns:a16="http://schemas.microsoft.com/office/drawing/2014/main" id="{37846478-88C3-4727-9448-8CF552B41104}"/>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12-3">
            <a:extLst xmlns:a="http://schemas.openxmlformats.org/drawingml/2006/main">
              <a:ext uri="{FF2B5EF4-FFF2-40B4-BE49-F238E27FC236}">
                <a16:creationId xmlns:a16="http://schemas.microsoft.com/office/drawing/2014/main" id="{1E841EAA-3E14-4938-B8E4-DFBA1F7D30D1}"/>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採否</a:t>
            </a:r>
          </a:p>
        </p:txBody>
      </p:sp>
      <p:sp>
        <p:nvSpPr>
          <p:cNvPr id="26" name="step-detail-12-3">
            <a:extLst xmlns:a="http://schemas.openxmlformats.org/drawingml/2006/main">
              <a:ext uri="{FF2B5EF4-FFF2-40B4-BE49-F238E27FC236}">
                <a16:creationId xmlns:a16="http://schemas.microsoft.com/office/drawing/2014/main" id="{B91BF1E6-F0E7-464C-A3AD-F257A48429EC}"/>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原文責任者が確認して決定</a:t>
            </a:r>
          </a:p>
        </p:txBody>
      </p:sp>
      <p:sp>
        <p:nvSpPr>
          <p:cNvPr id="27" name="body-12">
            <a:extLst xmlns:a="http://schemas.openxmlformats.org/drawingml/2006/main">
              <a:ext uri="{FF2B5EF4-FFF2-40B4-BE49-F238E27FC236}">
                <a16:creationId xmlns:a16="http://schemas.microsoft.com/office/drawing/2014/main" id="{04E0F563-8475-4FB2-BACF-0547A70F5162}"/>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出力例（架空・参考）：指摘『受付後の行動が不明』／理由『初参加者が待機場所を判断できない』／修正案『受付後は2階会議室前で待機』／確認質問『待機場所は確定済みか』</a:t>
            </a:r>
          </a:p>
        </p:txBody>
      </p:sp>
      <p:sp>
        <p:nvSpPr>
          <p:cNvPr id="28" name="footer-rule-12">
            <a:extLst xmlns:a="http://schemas.openxmlformats.org/drawingml/2006/main">
              <a:ext uri="{FF2B5EF4-FFF2-40B4-BE49-F238E27FC236}">
                <a16:creationId xmlns:a16="http://schemas.microsoft.com/office/drawing/2014/main" id="{579D92A9-F93E-4F25-B910-99320725018B}"/>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2">
            <a:extLst xmlns:a="http://schemas.openxmlformats.org/drawingml/2006/main">
              <a:ext uri="{FF2B5EF4-FFF2-40B4-BE49-F238E27FC236}">
                <a16:creationId xmlns:a16="http://schemas.microsoft.com/office/drawing/2014/main" id="{6169FC8B-C1DF-4900-87C8-4CDB59DC933A}"/>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S3・S4・S1・S6・S8（詳細はノート）</a:t>
            </a:r>
          </a:p>
        </p:txBody>
      </p:sp>
      <p:sp>
        <p:nvSpPr>
          <p:cNvPr id="30" name="footer-no-12">
            <a:extLst xmlns:a="http://schemas.openxmlformats.org/drawingml/2006/main">
              <a:ext uri="{FF2B5EF4-FFF2-40B4-BE49-F238E27FC236}">
                <a16:creationId xmlns:a16="http://schemas.microsoft.com/office/drawing/2014/main" id="{A390376D-3E16-4B85-884D-4B162F248305}"/>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12 / 20</a:t>
            </a:r>
          </a:p>
        </p:txBody>
      </p:sp>
    </p:spTree>
    <p:extLst>
      <p:ext uri="{BB962C8B-B14F-4D97-AF65-F5344CB8AC3E}">
        <p14:creationId xmlns:p14="http://schemas.microsoft.com/office/powerpoint/2010/main" val="1027074276"/>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13">
            <a:extLst xmlns:a="http://schemas.openxmlformats.org/drawingml/2006/main">
              <a:ext uri="{FF2B5EF4-FFF2-40B4-BE49-F238E27FC236}">
                <a16:creationId xmlns:a16="http://schemas.microsoft.com/office/drawing/2014/main" id="{56ED1811-E1B7-462E-B984-6A85E8001E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3">
            <a:extLst xmlns:a="http://schemas.openxmlformats.org/drawingml/2006/main">
              <a:ext uri="{FF2B5EF4-FFF2-40B4-BE49-F238E27FC236}">
                <a16:creationId xmlns:a16="http://schemas.microsoft.com/office/drawing/2014/main" id="{B5A10C52-CCDE-4B58-A725-326B3D06ADFB}"/>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個人情報・機密情報</a:t>
            </a:r>
          </a:p>
        </p:txBody>
      </p:sp>
      <p:sp>
        <p:nvSpPr>
          <p:cNvPr id="3" name="label-13">
            <a:extLst xmlns:a="http://schemas.openxmlformats.org/drawingml/2006/main">
              <a:ext uri="{FF2B5EF4-FFF2-40B4-BE49-F238E27FC236}">
                <a16:creationId xmlns:a16="http://schemas.microsoft.com/office/drawing/2014/main" id="{9569F13D-CB3D-47CE-96C3-C6C6DE0AD1BB}"/>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ケース5</a:t>
            </a:r>
          </a:p>
        </p:txBody>
      </p:sp>
      <p:sp>
        <p:nvSpPr>
          <p:cNvPr id="4" name="title-13">
            <a:extLst xmlns:a="http://schemas.openxmlformats.org/drawingml/2006/main">
              <a:ext uri="{FF2B5EF4-FFF2-40B4-BE49-F238E27FC236}">
                <a16:creationId xmlns:a16="http://schemas.microsoft.com/office/drawing/2014/main" id="{DEB39663-7AEB-49B4-88BA-F4AD15B4B362}"/>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ケース5：機密を貼らずに依頼を作り直す</a:t>
            </a:r>
          </a:p>
        </p:txBody>
      </p:sp>
      <p:sp>
        <p:nvSpPr>
          <p:cNvPr id="5" name="title-rule-13">
            <a:extLst xmlns:a="http://schemas.openxmlformats.org/drawingml/2006/main">
              <a:ext uri="{FF2B5EF4-FFF2-40B4-BE49-F238E27FC236}">
                <a16:creationId xmlns:a16="http://schemas.microsoft.com/office/drawing/2014/main" id="{CC0A4CB7-ABDA-4F2C-8E84-33561FFD5E67}"/>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3">
            <a:extLst xmlns:a="http://schemas.openxmlformats.org/drawingml/2006/main">
              <a:ext uri="{FF2B5EF4-FFF2-40B4-BE49-F238E27FC236}">
                <a16:creationId xmlns:a16="http://schemas.microsoft.com/office/drawing/2014/main" id="{A9990B6A-0545-44C9-B2C9-0121652C2E39}"/>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元データを入力する前に、承認環境と必要性を確認し、公開・架空・集計へ置き換える。</a:t>
            </a:r>
          </a:p>
        </p:txBody>
      </p:sp>
      <p:sp>
        <p:nvSpPr>
          <p:cNvPr id="7" name="case-bad-13-bg">
            <a:extLst xmlns:a="http://schemas.openxmlformats.org/drawingml/2006/main">
              <a:ext uri="{FF2B5EF4-FFF2-40B4-BE49-F238E27FC236}">
                <a16:creationId xmlns:a16="http://schemas.microsoft.com/office/drawing/2014/main" id="{40930AD6-C175-4E6A-B58B-B48F8947914F}"/>
              </a:ext>
            </a:extLst>
          </p:cNvPr>
          <p:cNvSpPr>
            <a:spLocks xmlns:a="http://schemas.openxmlformats.org/drawingml/2006/main" noGrp="1"/>
          </p:cNvSpPr>
          <p:nvPr/>
        </p:nvSpPr>
        <p:spPr>
          <a:xfrm xmlns:a="http://schemas.openxmlformats.org/drawingml/2006/main">
            <a:off x="647700" y="2152650"/>
            <a:ext cx="5238750" cy="1047750"/>
          </a:xfrm>
          <a:prstGeom xmlns:a="http://schemas.openxmlformats.org/drawingml/2006/main" prst="roundRect">
            <a:avLst>
              <a:gd name="adj" fmla="val 10909"/>
            </a:avLst>
          </a:prstGeom>
          <a:solidFill xmlns:a="http://schemas.openxmlformats.org/drawingml/2006/main">
            <a:srgbClr val="FDEBE7"/>
          </a:solidFill>
          <a:ln xmlns:a="http://schemas.openxmlformats.org/drawingml/2006/main" w="9525">
            <a:solidFill>
              <a:srgbClr val="D3DEE3"/>
            </a:solidFill>
            <a:prstDash val="solid"/>
          </a:ln>
        </p:spPr>
      </p:sp>
      <p:sp>
        <p:nvSpPr>
          <p:cNvPr id="8" name="case-bad-13-bar">
            <a:extLst xmlns:a="http://schemas.openxmlformats.org/drawingml/2006/main">
              <a:ext uri="{FF2B5EF4-FFF2-40B4-BE49-F238E27FC236}">
                <a16:creationId xmlns:a16="http://schemas.microsoft.com/office/drawing/2014/main" id="{A654657F-05E1-4E60-8E42-DCBEA879FE10}"/>
              </a:ext>
            </a:extLst>
          </p:cNvPr>
          <p:cNvSpPr>
            <a:spLocks xmlns:a="http://schemas.openxmlformats.org/drawingml/2006/main" noGrp="1"/>
          </p:cNvSpPr>
          <p:nvPr/>
        </p:nvSpPr>
        <p:spPr>
          <a:xfrm xmlns:a="http://schemas.openxmlformats.org/drawingml/2006/main">
            <a:off x="647700" y="2152650"/>
            <a:ext cx="76200" cy="1047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9" name="case-bad-13-label">
            <a:extLst xmlns:a="http://schemas.openxmlformats.org/drawingml/2006/main">
              <a:ext uri="{FF2B5EF4-FFF2-40B4-BE49-F238E27FC236}">
                <a16:creationId xmlns:a16="http://schemas.microsoft.com/office/drawing/2014/main" id="{E7D20278-A83C-42A3-9FD6-207806F0114D}"/>
              </a:ext>
            </a:extLst>
          </p:cNvPr>
          <p:cNvSpPr>
            <a:spLocks xmlns:a="http://schemas.openxmlformats.org/drawingml/2006/main" noGrp="1"/>
          </p:cNvSpPr>
          <p:nvPr/>
        </p:nvSpPr>
        <p:spPr>
          <a:xfrm xmlns:a="http://schemas.openxmlformats.org/drawingml/2006/main">
            <a:off x="87630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B42318"/>
                </a:solidFill>
              </a:defRPr>
            </a:pPr>
            <a:r>
              <a:rPr sz="1125" b="1">
                <a:solidFill>
                  <a:srgbClr val="B42318"/>
                </a:solidFill>
              </a:rPr>
              <a:t>悪い依頼</a:t>
            </a:r>
          </a:p>
        </p:txBody>
      </p:sp>
      <p:sp>
        <p:nvSpPr>
          <p:cNvPr id="10" name="case-bad-13-text">
            <a:extLst xmlns:a="http://schemas.openxmlformats.org/drawingml/2006/main">
              <a:ext uri="{FF2B5EF4-FFF2-40B4-BE49-F238E27FC236}">
                <a16:creationId xmlns:a16="http://schemas.microsoft.com/office/drawing/2014/main" id="{BCE83017-FB6F-4FCC-8AB7-09E045BCD549}"/>
              </a:ext>
            </a:extLst>
          </p:cNvPr>
          <p:cNvSpPr>
            <a:spLocks xmlns:a="http://schemas.openxmlformats.org/drawingml/2006/main" noGrp="1"/>
          </p:cNvSpPr>
          <p:nvPr/>
        </p:nvSpPr>
        <p:spPr>
          <a:xfrm xmlns:a="http://schemas.openxmlformats.org/drawingml/2006/main">
            <a:off x="876300" y="257175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72B3A"/>
                </a:solidFill>
              </a:defRPr>
            </a:pPr>
            <a:r>
              <a:rPr sz="1200" b="1">
                <a:solidFill>
                  <a:srgbClr val="172B3A"/>
                </a:solidFill>
              </a:rPr>
              <a:t>顧客名、電話番号、苦情内容を貼るので返信を書いて。</a:t>
            </a:r>
          </a:p>
        </p:txBody>
      </p:sp>
      <p:sp>
        <p:nvSpPr>
          <p:cNvPr id="11" name="case-prompt-13-bg">
            <a:extLst xmlns:a="http://schemas.openxmlformats.org/drawingml/2006/main">
              <a:ext uri="{FF2B5EF4-FFF2-40B4-BE49-F238E27FC236}">
                <a16:creationId xmlns:a16="http://schemas.microsoft.com/office/drawing/2014/main" id="{BD357DDE-F0C7-4381-BE43-3BFC8AEBCC13}"/>
              </a:ext>
            </a:extLst>
          </p:cNvPr>
          <p:cNvSpPr>
            <a:spLocks xmlns:a="http://schemas.openxmlformats.org/drawingml/2006/main" noGrp="1"/>
          </p:cNvSpPr>
          <p:nvPr/>
        </p:nvSpPr>
        <p:spPr>
          <a:xfrm xmlns:a="http://schemas.openxmlformats.org/drawingml/2006/main">
            <a:off x="647700" y="3333750"/>
            <a:ext cx="5238750" cy="2190750"/>
          </a:xfrm>
          <a:prstGeom xmlns:a="http://schemas.openxmlformats.org/drawingml/2006/main" prst="roundRect">
            <a:avLst>
              <a:gd name="adj" fmla="val 5217"/>
            </a:avLst>
          </a:prstGeom>
          <a:solidFill xmlns:a="http://schemas.openxmlformats.org/drawingml/2006/main">
            <a:srgbClr val="E5F4FC"/>
          </a:solidFill>
          <a:ln xmlns:a="http://schemas.openxmlformats.org/drawingml/2006/main" w="9525">
            <a:solidFill>
              <a:srgbClr val="D3DEE3"/>
            </a:solidFill>
            <a:prstDash val="solid"/>
          </a:ln>
        </p:spPr>
      </p:sp>
      <p:sp>
        <p:nvSpPr>
          <p:cNvPr id="12" name="case-prompt-13-bar">
            <a:extLst xmlns:a="http://schemas.openxmlformats.org/drawingml/2006/main">
              <a:ext uri="{FF2B5EF4-FFF2-40B4-BE49-F238E27FC236}">
                <a16:creationId xmlns:a16="http://schemas.microsoft.com/office/drawing/2014/main" id="{730D38BA-9321-4ED1-B4B5-0C1D463A4001}"/>
              </a:ext>
            </a:extLst>
          </p:cNvPr>
          <p:cNvSpPr>
            <a:spLocks xmlns:a="http://schemas.openxmlformats.org/drawingml/2006/main" noGrp="1"/>
          </p:cNvSpPr>
          <p:nvPr/>
        </p:nvSpPr>
        <p:spPr>
          <a:xfrm xmlns:a="http://schemas.openxmlformats.org/drawingml/2006/main">
            <a:off x="647700" y="3333750"/>
            <a:ext cx="76200" cy="219075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3" name="case-prompt-13-label">
            <a:extLst xmlns:a="http://schemas.openxmlformats.org/drawingml/2006/main">
              <a:ext uri="{FF2B5EF4-FFF2-40B4-BE49-F238E27FC236}">
                <a16:creationId xmlns:a16="http://schemas.microsoft.com/office/drawing/2014/main" id="{1E3D93FD-041C-417D-B344-34392A59E63F}"/>
              </a:ext>
            </a:extLst>
          </p:cNvPr>
          <p:cNvSpPr>
            <a:spLocks xmlns:a="http://schemas.openxmlformats.org/drawingml/2006/main" noGrp="1"/>
          </p:cNvSpPr>
          <p:nvPr/>
        </p:nvSpPr>
        <p:spPr>
          <a:xfrm xmlns:a="http://schemas.openxmlformats.org/drawingml/2006/main">
            <a:off x="876300" y="34480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369A1"/>
                </a:solidFill>
              </a:defRPr>
            </a:pPr>
            <a:r>
              <a:rPr sz="1125" b="1">
                <a:solidFill>
                  <a:srgbClr val="0369A1"/>
                </a:solidFill>
              </a:rPr>
              <a:t>改善した具体的プロンプト</a:t>
            </a:r>
          </a:p>
        </p:txBody>
      </p:sp>
      <p:sp>
        <p:nvSpPr>
          <p:cNvPr id="14" name="case-prompt-13-text">
            <a:extLst xmlns:a="http://schemas.openxmlformats.org/drawingml/2006/main">
              <a:ext uri="{FF2B5EF4-FFF2-40B4-BE49-F238E27FC236}">
                <a16:creationId xmlns:a16="http://schemas.microsoft.com/office/drawing/2014/main" id="{461884E8-4C8C-451F-A78B-809454ED6EA7}"/>
              </a:ext>
            </a:extLst>
          </p:cNvPr>
          <p:cNvSpPr>
            <a:spLocks xmlns:a="http://schemas.openxmlformats.org/drawingml/2006/main" noGrp="1"/>
          </p:cNvSpPr>
          <p:nvPr/>
        </p:nvSpPr>
        <p:spPr>
          <a:xfrm xmlns:a="http://schemas.openxmlformats.org/drawingml/2006/main">
            <a:off x="876300" y="3752850"/>
            <a:ext cx="4819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B3A"/>
                </a:solidFill>
              </a:defRPr>
            </a:pPr>
            <a:r>
              <a:rPr sz="1200" b="0">
                <a:solidFill>
                  <a:srgbClr val="172B3A"/>
                </a:solidFill>
              </a:rPr>
              <a:t>実データを入れず、到着遅延へのお詫びメールの型を作成。顧客名・注文番号は［担当者入力］、補償は［社内規程確認］と表示。</a:t>
            </a:r>
          </a:p>
        </p:txBody>
      </p:sp>
      <p:sp>
        <p:nvSpPr>
          <p:cNvPr id="15" name="case-output-13-bg">
            <a:extLst xmlns:a="http://schemas.openxmlformats.org/drawingml/2006/main">
              <a:ext uri="{FF2B5EF4-FFF2-40B4-BE49-F238E27FC236}">
                <a16:creationId xmlns:a16="http://schemas.microsoft.com/office/drawing/2014/main" id="{8004E44F-5B56-46F3-9A52-F90C63F78729}"/>
              </a:ext>
            </a:extLst>
          </p:cNvPr>
          <p:cNvSpPr>
            <a:spLocks xmlns:a="http://schemas.openxmlformats.org/drawingml/2006/main" noGrp="1"/>
          </p:cNvSpPr>
          <p:nvPr/>
        </p:nvSpPr>
        <p:spPr>
          <a:xfrm xmlns:a="http://schemas.openxmlformats.org/drawingml/2006/main">
            <a:off x="6267450" y="2152650"/>
            <a:ext cx="5238750" cy="1562100"/>
          </a:xfrm>
          <a:prstGeom xmlns:a="http://schemas.openxmlformats.org/drawingml/2006/main" prst="roundRect">
            <a:avLst>
              <a:gd name="adj" fmla="val 7317"/>
            </a:avLst>
          </a:prstGeom>
          <a:solidFill xmlns:a="http://schemas.openxmlformats.org/drawingml/2006/main">
            <a:srgbClr val="F0EAFE"/>
          </a:solidFill>
          <a:ln xmlns:a="http://schemas.openxmlformats.org/drawingml/2006/main" w="9525">
            <a:solidFill>
              <a:srgbClr val="D3DEE3"/>
            </a:solidFill>
            <a:prstDash val="solid"/>
          </a:ln>
        </p:spPr>
      </p:sp>
      <p:sp>
        <p:nvSpPr>
          <p:cNvPr id="16" name="case-output-13-bar">
            <a:extLst xmlns:a="http://schemas.openxmlformats.org/drawingml/2006/main">
              <a:ext uri="{FF2B5EF4-FFF2-40B4-BE49-F238E27FC236}">
                <a16:creationId xmlns:a16="http://schemas.microsoft.com/office/drawing/2014/main" id="{5C9EF29B-1C74-47E8-B071-D6076BC9CDD4}"/>
              </a:ext>
            </a:extLst>
          </p:cNvPr>
          <p:cNvSpPr>
            <a:spLocks xmlns:a="http://schemas.openxmlformats.org/drawingml/2006/main" noGrp="1"/>
          </p:cNvSpPr>
          <p:nvPr/>
        </p:nvSpPr>
        <p:spPr>
          <a:xfrm xmlns:a="http://schemas.openxmlformats.org/drawingml/2006/main">
            <a:off x="6267450" y="2152650"/>
            <a:ext cx="76200" cy="1562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17" name="case-output-13-label">
            <a:extLst xmlns:a="http://schemas.openxmlformats.org/drawingml/2006/main">
              <a:ext uri="{FF2B5EF4-FFF2-40B4-BE49-F238E27FC236}">
                <a16:creationId xmlns:a16="http://schemas.microsoft.com/office/drawing/2014/main" id="{9402C756-B7DC-4316-98E9-0D0268A4B1CB}"/>
              </a:ext>
            </a:extLst>
          </p:cNvPr>
          <p:cNvSpPr>
            <a:spLocks xmlns:a="http://schemas.openxmlformats.org/drawingml/2006/main" noGrp="1"/>
          </p:cNvSpPr>
          <p:nvPr/>
        </p:nvSpPr>
        <p:spPr>
          <a:xfrm xmlns:a="http://schemas.openxmlformats.org/drawingml/2006/main">
            <a:off x="6496050" y="2266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28D9"/>
                </a:solidFill>
              </a:defRPr>
            </a:pPr>
            <a:r>
              <a:rPr sz="1125" b="1">
                <a:solidFill>
                  <a:srgbClr val="6D28D9"/>
                </a:solidFill>
              </a:rPr>
              <a:t>短い出力例（架空・参考）</a:t>
            </a:r>
          </a:p>
        </p:txBody>
      </p:sp>
      <p:sp>
        <p:nvSpPr>
          <p:cNvPr id="18" name="case-output-13-text">
            <a:extLst xmlns:a="http://schemas.openxmlformats.org/drawingml/2006/main">
              <a:ext uri="{FF2B5EF4-FFF2-40B4-BE49-F238E27FC236}">
                <a16:creationId xmlns:a16="http://schemas.microsoft.com/office/drawing/2014/main" id="{6457C75B-8199-4189-A1B3-9B0FF495C869}"/>
              </a:ext>
            </a:extLst>
          </p:cNvPr>
          <p:cNvSpPr>
            <a:spLocks xmlns:a="http://schemas.openxmlformats.org/drawingml/2006/main" noGrp="1"/>
          </p:cNvSpPr>
          <p:nvPr/>
        </p:nvSpPr>
        <p:spPr>
          <a:xfrm xmlns:a="http://schemas.openxmlformats.org/drawingml/2006/main">
            <a:off x="6496050" y="2571750"/>
            <a:ext cx="4819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B3A"/>
                </a:solidFill>
              </a:defRPr>
            </a:pPr>
            <a:r>
              <a:rPr sz="1275" b="0">
                <a:solidFill>
                  <a:srgbClr val="172B3A"/>
                </a:solidFill>
              </a:rPr>
              <a:t>［顧客名：担当者入力］様／状況は［担当者確認］／対応は［社内規程確認］</a:t>
            </a:r>
          </a:p>
        </p:txBody>
      </p:sp>
      <p:sp>
        <p:nvSpPr>
          <p:cNvPr id="19" name="case-check-13-bg">
            <a:extLst xmlns:a="http://schemas.openxmlformats.org/drawingml/2006/main">
              <a:ext uri="{FF2B5EF4-FFF2-40B4-BE49-F238E27FC236}">
                <a16:creationId xmlns:a16="http://schemas.microsoft.com/office/drawing/2014/main" id="{875C7A11-381E-4F73-925E-4E0951D2425B}"/>
              </a:ext>
            </a:extLst>
          </p:cNvPr>
          <p:cNvSpPr>
            <a:spLocks xmlns:a="http://schemas.openxmlformats.org/drawingml/2006/main" noGrp="1"/>
          </p:cNvSpPr>
          <p:nvPr/>
        </p:nvSpPr>
        <p:spPr>
          <a:xfrm xmlns:a="http://schemas.openxmlformats.org/drawingml/2006/main">
            <a:off x="6267450" y="3867150"/>
            <a:ext cx="5238750" cy="1657350"/>
          </a:xfrm>
          <a:prstGeom xmlns:a="http://schemas.openxmlformats.org/drawingml/2006/main" prst="roundRect">
            <a:avLst>
              <a:gd name="adj" fmla="val 6897"/>
            </a:avLst>
          </a:prstGeom>
          <a:solidFill xmlns:a="http://schemas.openxmlformats.org/drawingml/2006/main">
            <a:srgbClr val="FFF4D6"/>
          </a:solidFill>
          <a:ln xmlns:a="http://schemas.openxmlformats.org/drawingml/2006/main" w="9525">
            <a:solidFill>
              <a:srgbClr val="D3DEE3"/>
            </a:solidFill>
            <a:prstDash val="solid"/>
          </a:ln>
        </p:spPr>
      </p:sp>
      <p:sp>
        <p:nvSpPr>
          <p:cNvPr id="20" name="case-check-13-bar">
            <a:extLst xmlns:a="http://schemas.openxmlformats.org/drawingml/2006/main">
              <a:ext uri="{FF2B5EF4-FFF2-40B4-BE49-F238E27FC236}">
                <a16:creationId xmlns:a16="http://schemas.microsoft.com/office/drawing/2014/main" id="{84642289-AF6B-430D-A17C-9ED331F206D9}"/>
              </a:ext>
            </a:extLst>
          </p:cNvPr>
          <p:cNvSpPr>
            <a:spLocks xmlns:a="http://schemas.openxmlformats.org/drawingml/2006/main" noGrp="1"/>
          </p:cNvSpPr>
          <p:nvPr/>
        </p:nvSpPr>
        <p:spPr>
          <a:xfrm xmlns:a="http://schemas.openxmlformats.org/drawingml/2006/main">
            <a:off x="6267450" y="3867150"/>
            <a:ext cx="76200" cy="16573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1" name="case-check-13-label">
            <a:extLst xmlns:a="http://schemas.openxmlformats.org/drawingml/2006/main">
              <a:ext uri="{FF2B5EF4-FFF2-40B4-BE49-F238E27FC236}">
                <a16:creationId xmlns:a16="http://schemas.microsoft.com/office/drawing/2014/main" id="{A0F20D74-501F-4CB2-BBB0-7A246BDEEF1B}"/>
              </a:ext>
            </a:extLst>
          </p:cNvPr>
          <p:cNvSpPr>
            <a:spLocks xmlns:a="http://schemas.openxmlformats.org/drawingml/2006/main" noGrp="1"/>
          </p:cNvSpPr>
          <p:nvPr/>
        </p:nvSpPr>
        <p:spPr>
          <a:xfrm xmlns:a="http://schemas.openxmlformats.org/drawingml/2006/main">
            <a:off x="6496050" y="39814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97316"/>
                </a:solidFill>
              </a:defRPr>
            </a:pPr>
            <a:r>
              <a:rPr sz="1125" b="1">
                <a:solidFill>
                  <a:srgbClr val="F97316"/>
                </a:solidFill>
              </a:rPr>
              <a:t>人が確認する点</a:t>
            </a:r>
          </a:p>
        </p:txBody>
      </p:sp>
      <p:sp>
        <p:nvSpPr>
          <p:cNvPr id="22" name="case-check-13-text">
            <a:extLst xmlns:a="http://schemas.openxmlformats.org/drawingml/2006/main">
              <a:ext uri="{FF2B5EF4-FFF2-40B4-BE49-F238E27FC236}">
                <a16:creationId xmlns:a16="http://schemas.microsoft.com/office/drawing/2014/main" id="{889378F7-9B80-45B9-A2E4-1E09B2F246F9}"/>
              </a:ext>
            </a:extLst>
          </p:cNvPr>
          <p:cNvSpPr>
            <a:spLocks xmlns:a="http://schemas.openxmlformats.org/drawingml/2006/main" noGrp="1"/>
          </p:cNvSpPr>
          <p:nvPr/>
        </p:nvSpPr>
        <p:spPr>
          <a:xfrm xmlns:a="http://schemas.openxmlformats.org/drawingml/2006/main">
            <a:off x="6496050" y="4286250"/>
            <a:ext cx="4819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B3A"/>
                </a:solidFill>
              </a:defRPr>
            </a:pPr>
            <a:r>
              <a:rPr sz="1350" b="0">
                <a:solidFill>
                  <a:srgbClr val="172B3A"/>
                </a:solidFill>
              </a:rPr>
              <a:t>承認環境、会社ルール、実情報の入力場所、補償内容と送信判断</a:t>
            </a:r>
          </a:p>
        </p:txBody>
      </p:sp>
      <p:sp>
        <p:nvSpPr>
          <p:cNvPr id="23" name="footer-rule-13">
            <a:extLst xmlns:a="http://schemas.openxmlformats.org/drawingml/2006/main">
              <a:ext uri="{FF2B5EF4-FFF2-40B4-BE49-F238E27FC236}">
                <a16:creationId xmlns:a16="http://schemas.microsoft.com/office/drawing/2014/main" id="{B50C9A2E-80FC-4561-AE40-B296B744ED6C}"/>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13">
            <a:extLst xmlns:a="http://schemas.openxmlformats.org/drawingml/2006/main">
              <a:ext uri="{FF2B5EF4-FFF2-40B4-BE49-F238E27FC236}">
                <a16:creationId xmlns:a16="http://schemas.microsoft.com/office/drawing/2014/main" id="{53A64C91-66D8-4DF7-8FC6-E6B0289EE890}"/>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S5・S6（詳細はノート）</a:t>
            </a:r>
          </a:p>
        </p:txBody>
      </p:sp>
      <p:sp>
        <p:nvSpPr>
          <p:cNvPr id="25" name="footer-no-13">
            <a:extLst xmlns:a="http://schemas.openxmlformats.org/drawingml/2006/main">
              <a:ext uri="{FF2B5EF4-FFF2-40B4-BE49-F238E27FC236}">
                <a16:creationId xmlns:a16="http://schemas.microsoft.com/office/drawing/2014/main" id="{A42181EC-3923-40A3-AFCF-9861042C8517}"/>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13 / 20</a:t>
            </a:r>
          </a:p>
        </p:txBody>
      </p:sp>
    </p:spTree>
    <p:extLst>
      <p:ext uri="{BB962C8B-B14F-4D97-AF65-F5344CB8AC3E}">
        <p14:creationId xmlns:p14="http://schemas.microsoft.com/office/powerpoint/2010/main" val="835117923"/>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4">
            <a:extLst xmlns:a="http://schemas.openxmlformats.org/drawingml/2006/main">
              <a:ext uri="{FF2B5EF4-FFF2-40B4-BE49-F238E27FC236}">
                <a16:creationId xmlns:a16="http://schemas.microsoft.com/office/drawing/2014/main" id="{B8FDAD5C-19A1-4ADA-A50B-C6DEFB152A4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4">
            <a:extLst xmlns:a="http://schemas.openxmlformats.org/drawingml/2006/main">
              <a:ext uri="{FF2B5EF4-FFF2-40B4-BE49-F238E27FC236}">
                <a16:creationId xmlns:a16="http://schemas.microsoft.com/office/drawing/2014/main" id="{82B818F4-6101-4389-BF24-2C50A820B600}"/>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ケース5・出力例</a:t>
            </a:r>
          </a:p>
        </p:txBody>
      </p:sp>
      <p:sp>
        <p:nvSpPr>
          <p:cNvPr id="3" name="label-14">
            <a:extLst xmlns:a="http://schemas.openxmlformats.org/drawingml/2006/main">
              <a:ext uri="{FF2B5EF4-FFF2-40B4-BE49-F238E27FC236}">
                <a16:creationId xmlns:a16="http://schemas.microsoft.com/office/drawing/2014/main" id="{74133393-7C24-4574-B79D-75B4FFFE5001}"/>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人の確認</a:t>
            </a:r>
          </a:p>
        </p:txBody>
      </p:sp>
      <p:sp>
        <p:nvSpPr>
          <p:cNvPr id="4" name="title-14">
            <a:extLst xmlns:a="http://schemas.openxmlformats.org/drawingml/2006/main">
              <a:ext uri="{FF2B5EF4-FFF2-40B4-BE49-F238E27FC236}">
                <a16:creationId xmlns:a16="http://schemas.microsoft.com/office/drawing/2014/main" id="{9B6E9874-11B3-454B-B9D1-A1244B8FFEBC}"/>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安全な出力例は、後から実情報を人が入れる「型」</a:t>
            </a:r>
          </a:p>
        </p:txBody>
      </p:sp>
      <p:sp>
        <p:nvSpPr>
          <p:cNvPr id="5" name="title-rule-14">
            <a:extLst xmlns:a="http://schemas.openxmlformats.org/drawingml/2006/main">
              <a:ext uri="{FF2B5EF4-FFF2-40B4-BE49-F238E27FC236}">
                <a16:creationId xmlns:a16="http://schemas.microsoft.com/office/drawing/2014/main" id="{D8EFA587-A809-4E16-BD02-691E689A72D8}"/>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4">
            <a:extLst xmlns:a="http://schemas.openxmlformats.org/drawingml/2006/main">
              <a:ext uri="{FF2B5EF4-FFF2-40B4-BE49-F238E27FC236}">
                <a16:creationId xmlns:a16="http://schemas.microsoft.com/office/drawing/2014/main" id="{9B5B9F83-40AF-49D5-B398-F282A9598734}"/>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AIには一般文を作らせ、顧客情報・補償内容・送信判断を担当者へ戻す。</a:t>
            </a:r>
          </a:p>
        </p:txBody>
      </p:sp>
      <p:sp>
        <p:nvSpPr>
          <p:cNvPr id="7" name="step-card-14-0">
            <a:extLst xmlns:a="http://schemas.openxmlformats.org/drawingml/2006/main">
              <a:ext uri="{FF2B5EF4-FFF2-40B4-BE49-F238E27FC236}">
                <a16:creationId xmlns:a16="http://schemas.microsoft.com/office/drawing/2014/main" id="{0E897543-C32E-4A55-B27C-D5BD1F5CEEE7}"/>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4-0">
            <a:extLst xmlns:a="http://schemas.openxmlformats.org/drawingml/2006/main">
              <a:ext uri="{FF2B5EF4-FFF2-40B4-BE49-F238E27FC236}">
                <a16:creationId xmlns:a16="http://schemas.microsoft.com/office/drawing/2014/main" id="{BBED23BC-2A29-4D99-BE42-CB52D2AF79C1}"/>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4-0">
            <a:extLst xmlns:a="http://schemas.openxmlformats.org/drawingml/2006/main">
              <a:ext uri="{FF2B5EF4-FFF2-40B4-BE49-F238E27FC236}">
                <a16:creationId xmlns:a16="http://schemas.microsoft.com/office/drawing/2014/main" id="{17BFBD35-1B6D-4B8C-9219-6197070D4762}"/>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4-0">
            <a:extLst xmlns:a="http://schemas.openxmlformats.org/drawingml/2006/main">
              <a:ext uri="{FF2B5EF4-FFF2-40B4-BE49-F238E27FC236}">
                <a16:creationId xmlns:a16="http://schemas.microsoft.com/office/drawing/2014/main" id="{063F0779-E588-4532-B3E2-A89574E3F5C9}"/>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一般文を作る</a:t>
            </a:r>
          </a:p>
        </p:txBody>
      </p:sp>
      <p:sp>
        <p:nvSpPr>
          <p:cNvPr id="11" name="step-detail-14-0">
            <a:extLst xmlns:a="http://schemas.openxmlformats.org/drawingml/2006/main">
              <a:ext uri="{FF2B5EF4-FFF2-40B4-BE49-F238E27FC236}">
                <a16:creationId xmlns:a16="http://schemas.microsoft.com/office/drawing/2014/main" id="{7826EA3E-B045-42CE-9A03-27F8361F9700}"/>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実名・番号・固有事情を使わない</a:t>
            </a:r>
          </a:p>
        </p:txBody>
      </p:sp>
      <p:sp>
        <p:nvSpPr>
          <p:cNvPr id="12" name="step-card-14-1">
            <a:extLst xmlns:a="http://schemas.openxmlformats.org/drawingml/2006/main">
              <a:ext uri="{FF2B5EF4-FFF2-40B4-BE49-F238E27FC236}">
                <a16:creationId xmlns:a16="http://schemas.microsoft.com/office/drawing/2014/main" id="{974C35DF-6EFA-43B6-B8FF-9172464875D1}"/>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4-1">
            <a:extLst xmlns:a="http://schemas.openxmlformats.org/drawingml/2006/main">
              <a:ext uri="{FF2B5EF4-FFF2-40B4-BE49-F238E27FC236}">
                <a16:creationId xmlns:a16="http://schemas.microsoft.com/office/drawing/2014/main" id="{31BEC8AF-6549-4EB6-B5A2-1C57038E3DA0}"/>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4-1">
            <a:extLst xmlns:a="http://schemas.openxmlformats.org/drawingml/2006/main">
              <a:ext uri="{FF2B5EF4-FFF2-40B4-BE49-F238E27FC236}">
                <a16:creationId xmlns:a16="http://schemas.microsoft.com/office/drawing/2014/main" id="{87959FB9-ADB0-4B32-981E-E25BD127F36F}"/>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4-1">
            <a:extLst xmlns:a="http://schemas.openxmlformats.org/drawingml/2006/main">
              <a:ext uri="{FF2B5EF4-FFF2-40B4-BE49-F238E27FC236}">
                <a16:creationId xmlns:a16="http://schemas.microsoft.com/office/drawing/2014/main" id="{7CD4DFA4-B396-4454-83C9-5157A96A9303}"/>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空欄を残す</a:t>
            </a:r>
          </a:p>
        </p:txBody>
      </p:sp>
      <p:sp>
        <p:nvSpPr>
          <p:cNvPr id="16" name="step-detail-14-1">
            <a:extLst xmlns:a="http://schemas.openxmlformats.org/drawingml/2006/main">
              <a:ext uri="{FF2B5EF4-FFF2-40B4-BE49-F238E27FC236}">
                <a16:creationId xmlns:a16="http://schemas.microsoft.com/office/drawing/2014/main" id="{6B43A1E9-D89F-4971-B7EB-37FE65D6949D}"/>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担当者入力・規程確認を明示</a:t>
            </a:r>
          </a:p>
        </p:txBody>
      </p:sp>
      <p:sp>
        <p:nvSpPr>
          <p:cNvPr id="17" name="step-card-14-2">
            <a:extLst xmlns:a="http://schemas.openxmlformats.org/drawingml/2006/main">
              <a:ext uri="{FF2B5EF4-FFF2-40B4-BE49-F238E27FC236}">
                <a16:creationId xmlns:a16="http://schemas.microsoft.com/office/drawing/2014/main" id="{90054F05-CF5F-4CBE-93E4-4D41AF11A1CC}"/>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4-2">
            <a:extLst xmlns:a="http://schemas.openxmlformats.org/drawingml/2006/main">
              <a:ext uri="{FF2B5EF4-FFF2-40B4-BE49-F238E27FC236}">
                <a16:creationId xmlns:a16="http://schemas.microsoft.com/office/drawing/2014/main" id="{2BD9B015-38A1-40B1-A7F3-FFEDDB8A43CD}"/>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4-2">
            <a:extLst xmlns:a="http://schemas.openxmlformats.org/drawingml/2006/main">
              <a:ext uri="{FF2B5EF4-FFF2-40B4-BE49-F238E27FC236}">
                <a16:creationId xmlns:a16="http://schemas.microsoft.com/office/drawing/2014/main" id="{9205F942-6DB7-4696-AF78-F2271179C067}"/>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4-2">
            <a:extLst xmlns:a="http://schemas.openxmlformats.org/drawingml/2006/main">
              <a:ext uri="{FF2B5EF4-FFF2-40B4-BE49-F238E27FC236}">
                <a16:creationId xmlns:a16="http://schemas.microsoft.com/office/drawing/2014/main" id="{FE777DCC-BF3F-4E53-A9A8-A5AB0F0B7703}"/>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人が入力</a:t>
            </a:r>
          </a:p>
        </p:txBody>
      </p:sp>
      <p:sp>
        <p:nvSpPr>
          <p:cNvPr id="21" name="step-detail-14-2">
            <a:extLst xmlns:a="http://schemas.openxmlformats.org/drawingml/2006/main">
              <a:ext uri="{FF2B5EF4-FFF2-40B4-BE49-F238E27FC236}">
                <a16:creationId xmlns:a16="http://schemas.microsoft.com/office/drawing/2014/main" id="{684B838B-3854-4A56-BFEF-F22AAF5907C2}"/>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承認済みの業務画面で反映</a:t>
            </a:r>
          </a:p>
        </p:txBody>
      </p:sp>
      <p:sp>
        <p:nvSpPr>
          <p:cNvPr id="22" name="step-card-14-3">
            <a:extLst xmlns:a="http://schemas.openxmlformats.org/drawingml/2006/main">
              <a:ext uri="{FF2B5EF4-FFF2-40B4-BE49-F238E27FC236}">
                <a16:creationId xmlns:a16="http://schemas.microsoft.com/office/drawing/2014/main" id="{0A69B595-C0CE-460E-B69C-A91AC6EAE780}"/>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14-3">
            <a:extLst xmlns:a="http://schemas.openxmlformats.org/drawingml/2006/main">
              <a:ext uri="{FF2B5EF4-FFF2-40B4-BE49-F238E27FC236}">
                <a16:creationId xmlns:a16="http://schemas.microsoft.com/office/drawing/2014/main" id="{E62290E8-795F-40E8-83DB-672023DFC936}"/>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14-3">
            <a:extLst xmlns:a="http://schemas.openxmlformats.org/drawingml/2006/main">
              <a:ext uri="{FF2B5EF4-FFF2-40B4-BE49-F238E27FC236}">
                <a16:creationId xmlns:a16="http://schemas.microsoft.com/office/drawing/2014/main" id="{DBC4238D-6BCD-4AB5-AA5E-D7B243A47647}"/>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14-3">
            <a:extLst xmlns:a="http://schemas.openxmlformats.org/drawingml/2006/main">
              <a:ext uri="{FF2B5EF4-FFF2-40B4-BE49-F238E27FC236}">
                <a16:creationId xmlns:a16="http://schemas.microsoft.com/office/drawing/2014/main" id="{1CF1A680-C5D4-42F7-983D-7F3D56122555}"/>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人が送信</a:t>
            </a:r>
          </a:p>
        </p:txBody>
      </p:sp>
      <p:sp>
        <p:nvSpPr>
          <p:cNvPr id="26" name="step-detail-14-3">
            <a:extLst xmlns:a="http://schemas.openxmlformats.org/drawingml/2006/main">
              <a:ext uri="{FF2B5EF4-FFF2-40B4-BE49-F238E27FC236}">
                <a16:creationId xmlns:a16="http://schemas.microsoft.com/office/drawing/2014/main" id="{412E0782-1BA7-4FBE-A424-29BBD936E22A}"/>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事実・条件・宛先を最終確認</a:t>
            </a:r>
          </a:p>
        </p:txBody>
      </p:sp>
      <p:sp>
        <p:nvSpPr>
          <p:cNvPr id="27" name="body-14">
            <a:extLst xmlns:a="http://schemas.openxmlformats.org/drawingml/2006/main">
              <a:ext uri="{FF2B5EF4-FFF2-40B4-BE49-F238E27FC236}">
                <a16:creationId xmlns:a16="http://schemas.microsoft.com/office/drawing/2014/main" id="{B0F1FD98-E63D-439B-999C-A231F6B60250}"/>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出力例（架空・参考）：『［顧客名：担当者入力］様、このたびは商品の到着が遅れ申し訳ございません。状況は［担当者確認］、対応は［社内規程確認］です。』</a:t>
            </a:r>
          </a:p>
        </p:txBody>
      </p:sp>
      <p:sp>
        <p:nvSpPr>
          <p:cNvPr id="28" name="footer-rule-14">
            <a:extLst xmlns:a="http://schemas.openxmlformats.org/drawingml/2006/main">
              <a:ext uri="{FF2B5EF4-FFF2-40B4-BE49-F238E27FC236}">
                <a16:creationId xmlns:a16="http://schemas.microsoft.com/office/drawing/2014/main" id="{E6714052-445A-489B-978D-160F50E79B14}"/>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4">
            <a:extLst xmlns:a="http://schemas.openxmlformats.org/drawingml/2006/main">
              <a:ext uri="{FF2B5EF4-FFF2-40B4-BE49-F238E27FC236}">
                <a16:creationId xmlns:a16="http://schemas.microsoft.com/office/drawing/2014/main" id="{28946D09-11DE-465D-B19F-44601EF19B05}"/>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S5・S6（詳細はノート）</a:t>
            </a:r>
          </a:p>
        </p:txBody>
      </p:sp>
      <p:sp>
        <p:nvSpPr>
          <p:cNvPr id="30" name="footer-no-14">
            <a:extLst xmlns:a="http://schemas.openxmlformats.org/drawingml/2006/main">
              <a:ext uri="{FF2B5EF4-FFF2-40B4-BE49-F238E27FC236}">
                <a16:creationId xmlns:a16="http://schemas.microsoft.com/office/drawing/2014/main" id="{48ADC14C-3BA6-4813-9C5C-D01662EB8FC9}"/>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14 / 20</a:t>
            </a:r>
          </a:p>
        </p:txBody>
      </p:sp>
    </p:spTree>
    <p:extLst>
      <p:ext uri="{BB962C8B-B14F-4D97-AF65-F5344CB8AC3E}">
        <p14:creationId xmlns:p14="http://schemas.microsoft.com/office/powerpoint/2010/main" val="27805650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5">
            <a:extLst xmlns:a="http://schemas.openxmlformats.org/drawingml/2006/main">
              <a:ext uri="{FF2B5EF4-FFF2-40B4-BE49-F238E27FC236}">
                <a16:creationId xmlns:a16="http://schemas.microsoft.com/office/drawing/2014/main" id="{1D4B7531-8676-4060-A319-862E991800B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5">
            <a:extLst xmlns:a="http://schemas.openxmlformats.org/drawingml/2006/main">
              <a:ext uri="{FF2B5EF4-FFF2-40B4-BE49-F238E27FC236}">
                <a16:creationId xmlns:a16="http://schemas.microsoft.com/office/drawing/2014/main" id="{FF66BCED-7D51-4FE7-B4A2-99D93DE33EA2}"/>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著作権・社内資料</a:t>
            </a:r>
          </a:p>
        </p:txBody>
      </p:sp>
      <p:sp>
        <p:nvSpPr>
          <p:cNvPr id="3" name="label-15">
            <a:extLst xmlns:a="http://schemas.openxmlformats.org/drawingml/2006/main">
              <a:ext uri="{FF2B5EF4-FFF2-40B4-BE49-F238E27FC236}">
                <a16:creationId xmlns:a16="http://schemas.microsoft.com/office/drawing/2014/main" id="{5350144C-1C49-4788-AF2E-2B316A18272A}"/>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政府資料</a:t>
            </a:r>
          </a:p>
        </p:txBody>
      </p:sp>
      <p:sp>
        <p:nvSpPr>
          <p:cNvPr id="4" name="title-15">
            <a:extLst xmlns:a="http://schemas.openxmlformats.org/drawingml/2006/main">
              <a:ext uri="{FF2B5EF4-FFF2-40B4-BE49-F238E27FC236}">
                <a16:creationId xmlns:a16="http://schemas.microsoft.com/office/drawing/2014/main" id="{3F1E018C-D0BC-45D9-AE8B-0B86C6974CD5}"/>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生成した文章も、公開前に権利と出典を確認する</a:t>
            </a:r>
          </a:p>
        </p:txBody>
      </p:sp>
      <p:sp>
        <p:nvSpPr>
          <p:cNvPr id="5" name="title-rule-15">
            <a:extLst xmlns:a="http://schemas.openxmlformats.org/drawingml/2006/main">
              <a:ext uri="{FF2B5EF4-FFF2-40B4-BE49-F238E27FC236}">
                <a16:creationId xmlns:a16="http://schemas.microsoft.com/office/drawing/2014/main" id="{99AABC2D-6A2F-4062-B8FD-DF2F1B12D9D1}"/>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5">
            <a:extLst xmlns:a="http://schemas.openxmlformats.org/drawingml/2006/main">
              <a:ext uri="{FF2B5EF4-FFF2-40B4-BE49-F238E27FC236}">
                <a16:creationId xmlns:a16="http://schemas.microsoft.com/office/drawing/2014/main" id="{C5D477C2-B99F-41A2-B33F-C404661F8034}"/>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『AIが作ったから自由』と決めず、既存資料との類似、利用条件、人の寄与を確認する。</a:t>
            </a:r>
          </a:p>
        </p:txBody>
      </p:sp>
      <p:sp>
        <p:nvSpPr>
          <p:cNvPr id="7" name="step-card-15-0">
            <a:extLst xmlns:a="http://schemas.openxmlformats.org/drawingml/2006/main">
              <a:ext uri="{FF2B5EF4-FFF2-40B4-BE49-F238E27FC236}">
                <a16:creationId xmlns:a16="http://schemas.microsoft.com/office/drawing/2014/main" id="{6ED300F6-2C6D-4E10-B810-46778B019E54}"/>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5-0">
            <a:extLst xmlns:a="http://schemas.openxmlformats.org/drawingml/2006/main">
              <a:ext uri="{FF2B5EF4-FFF2-40B4-BE49-F238E27FC236}">
                <a16:creationId xmlns:a16="http://schemas.microsoft.com/office/drawing/2014/main" id="{D45307DA-9A29-45C0-A806-3FE12DF93E4D}"/>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5-0">
            <a:extLst xmlns:a="http://schemas.openxmlformats.org/drawingml/2006/main">
              <a:ext uri="{FF2B5EF4-FFF2-40B4-BE49-F238E27FC236}">
                <a16:creationId xmlns:a16="http://schemas.microsoft.com/office/drawing/2014/main" id="{7F2EB43C-DA90-482B-86CA-848DF3638676}"/>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5-0">
            <a:extLst xmlns:a="http://schemas.openxmlformats.org/drawingml/2006/main">
              <a:ext uri="{FF2B5EF4-FFF2-40B4-BE49-F238E27FC236}">
                <a16:creationId xmlns:a16="http://schemas.microsoft.com/office/drawing/2014/main" id="{8FA54E1E-E362-4609-960D-DD8BD1BDCFA5}"/>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入力</a:t>
            </a:r>
          </a:p>
        </p:txBody>
      </p:sp>
      <p:sp>
        <p:nvSpPr>
          <p:cNvPr id="11" name="step-detail-15-0">
            <a:extLst xmlns:a="http://schemas.openxmlformats.org/drawingml/2006/main">
              <a:ext uri="{FF2B5EF4-FFF2-40B4-BE49-F238E27FC236}">
                <a16:creationId xmlns:a16="http://schemas.microsoft.com/office/drawing/2014/main" id="{1F89FD6C-BCBC-44FA-BB32-35A5551B982A}"/>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利用権限のある資料だけを使う</a:t>
            </a:r>
          </a:p>
        </p:txBody>
      </p:sp>
      <p:sp>
        <p:nvSpPr>
          <p:cNvPr id="12" name="step-card-15-1">
            <a:extLst xmlns:a="http://schemas.openxmlformats.org/drawingml/2006/main">
              <a:ext uri="{FF2B5EF4-FFF2-40B4-BE49-F238E27FC236}">
                <a16:creationId xmlns:a16="http://schemas.microsoft.com/office/drawing/2014/main" id="{6BF6377D-CDF2-4557-9449-23AAB9792C82}"/>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5-1">
            <a:extLst xmlns:a="http://schemas.openxmlformats.org/drawingml/2006/main">
              <a:ext uri="{FF2B5EF4-FFF2-40B4-BE49-F238E27FC236}">
                <a16:creationId xmlns:a16="http://schemas.microsoft.com/office/drawing/2014/main" id="{14667AE1-5D2F-46AF-A8EE-604CD3FE254D}"/>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5-1">
            <a:extLst xmlns:a="http://schemas.openxmlformats.org/drawingml/2006/main">
              <a:ext uri="{FF2B5EF4-FFF2-40B4-BE49-F238E27FC236}">
                <a16:creationId xmlns:a16="http://schemas.microsoft.com/office/drawing/2014/main" id="{3604E298-4DFD-4879-8684-C7AE915EE3F6}"/>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5-1">
            <a:extLst xmlns:a="http://schemas.openxmlformats.org/drawingml/2006/main">
              <a:ext uri="{FF2B5EF4-FFF2-40B4-BE49-F238E27FC236}">
                <a16:creationId xmlns:a16="http://schemas.microsoft.com/office/drawing/2014/main" id="{A8B5D502-D59E-49B7-B861-FB408647A40B}"/>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生成</a:t>
            </a:r>
          </a:p>
        </p:txBody>
      </p:sp>
      <p:sp>
        <p:nvSpPr>
          <p:cNvPr id="16" name="step-detail-15-1">
            <a:extLst xmlns:a="http://schemas.openxmlformats.org/drawingml/2006/main">
              <a:ext uri="{FF2B5EF4-FFF2-40B4-BE49-F238E27FC236}">
                <a16:creationId xmlns:a16="http://schemas.microsoft.com/office/drawing/2014/main" id="{3962B3B4-8412-4716-9650-93E3559CD7B4}"/>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引用・要約・新規提案を分ける</a:t>
            </a:r>
          </a:p>
        </p:txBody>
      </p:sp>
      <p:sp>
        <p:nvSpPr>
          <p:cNvPr id="17" name="step-card-15-2">
            <a:extLst xmlns:a="http://schemas.openxmlformats.org/drawingml/2006/main">
              <a:ext uri="{FF2B5EF4-FFF2-40B4-BE49-F238E27FC236}">
                <a16:creationId xmlns:a16="http://schemas.microsoft.com/office/drawing/2014/main" id="{723467B5-4F28-468A-A90D-D308A5B0AABF}"/>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5-2">
            <a:extLst xmlns:a="http://schemas.openxmlformats.org/drawingml/2006/main">
              <a:ext uri="{FF2B5EF4-FFF2-40B4-BE49-F238E27FC236}">
                <a16:creationId xmlns:a16="http://schemas.microsoft.com/office/drawing/2014/main" id="{620EF250-07FB-428E-B7C8-C76A9E1FD4B5}"/>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5-2">
            <a:extLst xmlns:a="http://schemas.openxmlformats.org/drawingml/2006/main">
              <a:ext uri="{FF2B5EF4-FFF2-40B4-BE49-F238E27FC236}">
                <a16:creationId xmlns:a16="http://schemas.microsoft.com/office/drawing/2014/main" id="{7BAE86BA-A202-4375-ADF2-2D8A5675F5FA}"/>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5-2">
            <a:extLst xmlns:a="http://schemas.openxmlformats.org/drawingml/2006/main">
              <a:ext uri="{FF2B5EF4-FFF2-40B4-BE49-F238E27FC236}">
                <a16:creationId xmlns:a16="http://schemas.microsoft.com/office/drawing/2014/main" id="{11A06D8E-C16C-496C-90E2-BF453CA87E87}"/>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確認</a:t>
            </a:r>
          </a:p>
        </p:txBody>
      </p:sp>
      <p:sp>
        <p:nvSpPr>
          <p:cNvPr id="21" name="step-detail-15-2">
            <a:extLst xmlns:a="http://schemas.openxmlformats.org/drawingml/2006/main">
              <a:ext uri="{FF2B5EF4-FFF2-40B4-BE49-F238E27FC236}">
                <a16:creationId xmlns:a16="http://schemas.microsoft.com/office/drawing/2014/main" id="{4F677705-B8CA-4F10-AD03-480B30B30044}"/>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既存著作物との類似と利用条件</a:t>
            </a:r>
          </a:p>
        </p:txBody>
      </p:sp>
      <p:sp>
        <p:nvSpPr>
          <p:cNvPr id="22" name="step-card-15-3">
            <a:extLst xmlns:a="http://schemas.openxmlformats.org/drawingml/2006/main">
              <a:ext uri="{FF2B5EF4-FFF2-40B4-BE49-F238E27FC236}">
                <a16:creationId xmlns:a16="http://schemas.microsoft.com/office/drawing/2014/main" id="{7C39D660-CD04-4051-AEC8-185CCD00A0C7}"/>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15-3">
            <a:extLst xmlns:a="http://schemas.openxmlformats.org/drawingml/2006/main">
              <a:ext uri="{FF2B5EF4-FFF2-40B4-BE49-F238E27FC236}">
                <a16:creationId xmlns:a16="http://schemas.microsoft.com/office/drawing/2014/main" id="{772435DB-1D8E-4D99-AC52-71EBAE0DEC5D}"/>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15-3">
            <a:extLst xmlns:a="http://schemas.openxmlformats.org/drawingml/2006/main">
              <a:ext uri="{FF2B5EF4-FFF2-40B4-BE49-F238E27FC236}">
                <a16:creationId xmlns:a16="http://schemas.microsoft.com/office/drawing/2014/main" id="{D6976816-E558-443C-9255-1949A271CAC7}"/>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15-3">
            <a:extLst xmlns:a="http://schemas.openxmlformats.org/drawingml/2006/main">
              <a:ext uri="{FF2B5EF4-FFF2-40B4-BE49-F238E27FC236}">
                <a16:creationId xmlns:a16="http://schemas.microsoft.com/office/drawing/2014/main" id="{89F2C479-6B84-466E-A671-233E31D3EA2F}"/>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利用</a:t>
            </a:r>
          </a:p>
        </p:txBody>
      </p:sp>
      <p:sp>
        <p:nvSpPr>
          <p:cNvPr id="26" name="step-detail-15-3">
            <a:extLst xmlns:a="http://schemas.openxmlformats.org/drawingml/2006/main">
              <a:ext uri="{FF2B5EF4-FFF2-40B4-BE49-F238E27FC236}">
                <a16:creationId xmlns:a16="http://schemas.microsoft.com/office/drawing/2014/main" id="{5230626A-5C35-4B55-96F1-4C2152D01FBB}"/>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公開・配布の可否を個別判断</a:t>
            </a:r>
          </a:p>
        </p:txBody>
      </p:sp>
      <p:sp>
        <p:nvSpPr>
          <p:cNvPr id="27" name="body-15">
            <a:extLst xmlns:a="http://schemas.openxmlformats.org/drawingml/2006/main">
              <a:ext uri="{FF2B5EF4-FFF2-40B4-BE49-F238E27FC236}">
                <a16:creationId xmlns:a16="http://schemas.microsoft.com/office/drawing/2014/main" id="{820A9F67-9D9F-442F-9A1F-E0C85465B0DE}"/>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依頼例：提供する自社作成メモだけを使い、引用部分を区別して要約。元資料にない表現は提案欄へ分け、公開前の権利確認点を示す</a:t>
            </a:r>
          </a:p>
        </p:txBody>
      </p:sp>
      <p:sp>
        <p:nvSpPr>
          <p:cNvPr id="28" name="footer-rule-15">
            <a:extLst xmlns:a="http://schemas.openxmlformats.org/drawingml/2006/main">
              <a:ext uri="{FF2B5EF4-FFF2-40B4-BE49-F238E27FC236}">
                <a16:creationId xmlns:a16="http://schemas.microsoft.com/office/drawing/2014/main" id="{3CBC0277-54E1-41BD-9AA8-FF02E81AB55A}"/>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5">
            <a:extLst xmlns:a="http://schemas.openxmlformats.org/drawingml/2006/main">
              <a:ext uri="{FF2B5EF4-FFF2-40B4-BE49-F238E27FC236}">
                <a16:creationId xmlns:a16="http://schemas.microsoft.com/office/drawing/2014/main" id="{9D02F378-A522-4181-9286-DB2B95DE5CCD}"/>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S7（詳細はノート）</a:t>
            </a:r>
          </a:p>
        </p:txBody>
      </p:sp>
      <p:sp>
        <p:nvSpPr>
          <p:cNvPr id="30" name="footer-no-15">
            <a:extLst xmlns:a="http://schemas.openxmlformats.org/drawingml/2006/main">
              <a:ext uri="{FF2B5EF4-FFF2-40B4-BE49-F238E27FC236}">
                <a16:creationId xmlns:a16="http://schemas.microsoft.com/office/drawing/2014/main" id="{BEF28993-77FE-4487-B17E-F7A90AA47681}"/>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15 / 20</a:t>
            </a:r>
          </a:p>
        </p:txBody>
      </p:sp>
    </p:spTree>
    <p:extLst>
      <p:ext uri="{BB962C8B-B14F-4D97-AF65-F5344CB8AC3E}">
        <p14:creationId xmlns:p14="http://schemas.microsoft.com/office/powerpoint/2010/main" val="865699365"/>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6">
            <a:extLst xmlns:a="http://schemas.openxmlformats.org/drawingml/2006/main">
              <a:ext uri="{FF2B5EF4-FFF2-40B4-BE49-F238E27FC236}">
                <a16:creationId xmlns:a16="http://schemas.microsoft.com/office/drawing/2014/main" id="{F805C053-11B0-4A33-9D1A-9A9D60F976D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6">
            <a:extLst xmlns:a="http://schemas.openxmlformats.org/drawingml/2006/main">
              <a:ext uri="{FF2B5EF4-FFF2-40B4-BE49-F238E27FC236}">
                <a16:creationId xmlns:a16="http://schemas.microsoft.com/office/drawing/2014/main" id="{5D5B0DD5-90AE-453D-B0DD-CE0F7B1B7B12}"/>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重要情報の確認</a:t>
            </a:r>
          </a:p>
        </p:txBody>
      </p:sp>
      <p:sp>
        <p:nvSpPr>
          <p:cNvPr id="3" name="label-16">
            <a:extLst xmlns:a="http://schemas.openxmlformats.org/drawingml/2006/main">
              <a:ext uri="{FF2B5EF4-FFF2-40B4-BE49-F238E27FC236}">
                <a16:creationId xmlns:a16="http://schemas.microsoft.com/office/drawing/2014/main" id="{63866042-6FCC-455A-8EE9-2BDF19990550}"/>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公式ガイダンス</a:t>
            </a:r>
          </a:p>
        </p:txBody>
      </p:sp>
      <p:sp>
        <p:nvSpPr>
          <p:cNvPr id="4" name="title-16">
            <a:extLst xmlns:a="http://schemas.openxmlformats.org/drawingml/2006/main">
              <a:ext uri="{FF2B5EF4-FFF2-40B4-BE49-F238E27FC236}">
                <a16:creationId xmlns:a16="http://schemas.microsoft.com/office/drawing/2014/main" id="{0B008988-74D6-45C6-A829-EE837FD441A1}"/>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数字・引用・法令は、4段階で検証する</a:t>
            </a:r>
          </a:p>
        </p:txBody>
      </p:sp>
      <p:sp>
        <p:nvSpPr>
          <p:cNvPr id="5" name="title-rule-16">
            <a:extLst xmlns:a="http://schemas.openxmlformats.org/drawingml/2006/main">
              <a:ext uri="{FF2B5EF4-FFF2-40B4-BE49-F238E27FC236}">
                <a16:creationId xmlns:a16="http://schemas.microsoft.com/office/drawing/2014/main" id="{1C64A24C-8A17-4B36-BF69-3569AFFEC9DC}"/>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6">
            <a:extLst xmlns:a="http://schemas.openxmlformats.org/drawingml/2006/main">
              <a:ext uri="{FF2B5EF4-FFF2-40B4-BE49-F238E27FC236}">
                <a16:creationId xmlns:a16="http://schemas.microsoft.com/office/drawing/2014/main" id="{79651A2E-6CF8-4DAA-B521-E8EB99BE9426}"/>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AIの自信や別AIとの一致ではなく、発行者の原資料と再計算で確定する。</a:t>
            </a:r>
          </a:p>
        </p:txBody>
      </p:sp>
      <p:sp>
        <p:nvSpPr>
          <p:cNvPr id="7" name="step-card-16-0">
            <a:extLst xmlns:a="http://schemas.openxmlformats.org/drawingml/2006/main">
              <a:ext uri="{FF2B5EF4-FFF2-40B4-BE49-F238E27FC236}">
                <a16:creationId xmlns:a16="http://schemas.microsoft.com/office/drawing/2014/main" id="{4E3ECB58-DBE7-4AB9-A513-7AFB8FACF5D1}"/>
              </a:ext>
            </a:extLst>
          </p:cNvPr>
          <p:cNvSpPr>
            <a:spLocks xmlns:a="http://schemas.openxmlformats.org/drawingml/2006/main" noGrp="1"/>
          </p:cNvSpPr>
          <p:nvPr/>
        </p:nvSpPr>
        <p:spPr>
          <a:xfrm xmlns:a="http://schemas.openxmlformats.org/drawingml/2006/main">
            <a:off x="647700"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6-0">
            <a:extLst xmlns:a="http://schemas.openxmlformats.org/drawingml/2006/main">
              <a:ext uri="{FF2B5EF4-FFF2-40B4-BE49-F238E27FC236}">
                <a16:creationId xmlns:a16="http://schemas.microsoft.com/office/drawing/2014/main" id="{7D4190C1-6DCE-43AB-B3CC-B056B2F0DE52}"/>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6-0">
            <a:extLst xmlns:a="http://schemas.openxmlformats.org/drawingml/2006/main">
              <a:ext uri="{FF2B5EF4-FFF2-40B4-BE49-F238E27FC236}">
                <a16:creationId xmlns:a16="http://schemas.microsoft.com/office/drawing/2014/main" id="{E7C97414-B8F3-4FB4-AF93-C140A8A05BC8}"/>
              </a:ext>
            </a:extLst>
          </p:cNvPr>
          <p:cNvSpPr>
            <a:spLocks xmlns:a="http://schemas.openxmlformats.org/drawingml/2006/main" noGrp="1"/>
          </p:cNvSpPr>
          <p:nvPr/>
        </p:nvSpPr>
        <p:spPr>
          <a:xfrm xmlns:a="http://schemas.openxmlformats.org/drawingml/2006/main">
            <a:off x="819150" y="3028950"/>
            <a:ext cx="2195513"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6-0">
            <a:extLst xmlns:a="http://schemas.openxmlformats.org/drawingml/2006/main">
              <a:ext uri="{FF2B5EF4-FFF2-40B4-BE49-F238E27FC236}">
                <a16:creationId xmlns:a16="http://schemas.microsoft.com/office/drawing/2014/main" id="{3E8A6BF5-E33B-47D9-946D-C2F345F7BF84}"/>
              </a:ext>
            </a:extLst>
          </p:cNvPr>
          <p:cNvSpPr>
            <a:spLocks xmlns:a="http://schemas.openxmlformats.org/drawingml/2006/main" noGrp="1"/>
          </p:cNvSpPr>
          <p:nvPr/>
        </p:nvSpPr>
        <p:spPr>
          <a:xfrm xmlns:a="http://schemas.openxmlformats.org/drawingml/2006/main">
            <a:off x="819150"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追跡</a:t>
            </a:r>
          </a:p>
        </p:txBody>
      </p:sp>
      <p:sp>
        <p:nvSpPr>
          <p:cNvPr id="11" name="step-detail-16-0">
            <a:extLst xmlns:a="http://schemas.openxmlformats.org/drawingml/2006/main">
              <a:ext uri="{FF2B5EF4-FFF2-40B4-BE49-F238E27FC236}">
                <a16:creationId xmlns:a16="http://schemas.microsoft.com/office/drawing/2014/main" id="{A16285D1-B178-42CC-8875-51C4D395F1B4}"/>
              </a:ext>
            </a:extLst>
          </p:cNvPr>
          <p:cNvSpPr>
            <a:spLocks xmlns:a="http://schemas.openxmlformats.org/drawingml/2006/main" noGrp="1"/>
          </p:cNvSpPr>
          <p:nvPr/>
        </p:nvSpPr>
        <p:spPr>
          <a:xfrm xmlns:a="http://schemas.openxmlformats.org/drawingml/2006/main">
            <a:off x="819150"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主張から発行主体の資料へ戻る</a:t>
            </a:r>
          </a:p>
        </p:txBody>
      </p:sp>
      <p:sp>
        <p:nvSpPr>
          <p:cNvPr id="12" name="step-card-16-1">
            <a:extLst xmlns:a="http://schemas.openxmlformats.org/drawingml/2006/main">
              <a:ext uri="{FF2B5EF4-FFF2-40B4-BE49-F238E27FC236}">
                <a16:creationId xmlns:a16="http://schemas.microsoft.com/office/drawing/2014/main" id="{BF9659B5-F719-4C64-ABA2-596BE7A39800}"/>
              </a:ext>
            </a:extLst>
          </p:cNvPr>
          <p:cNvSpPr>
            <a:spLocks xmlns:a="http://schemas.openxmlformats.org/drawingml/2006/main" noGrp="1"/>
          </p:cNvSpPr>
          <p:nvPr/>
        </p:nvSpPr>
        <p:spPr>
          <a:xfrm xmlns:a="http://schemas.openxmlformats.org/drawingml/2006/main">
            <a:off x="3357563"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6-1">
            <a:extLst xmlns:a="http://schemas.openxmlformats.org/drawingml/2006/main">
              <a:ext uri="{FF2B5EF4-FFF2-40B4-BE49-F238E27FC236}">
                <a16:creationId xmlns:a16="http://schemas.microsoft.com/office/drawing/2014/main" id="{1D06CDB3-F048-494F-A590-51DCCC942736}"/>
              </a:ext>
            </a:extLst>
          </p:cNvPr>
          <p:cNvSpPr>
            <a:spLocks xmlns:a="http://schemas.openxmlformats.org/drawingml/2006/main" noGrp="1"/>
          </p:cNvSpPr>
          <p:nvPr/>
        </p:nvSpPr>
        <p:spPr>
          <a:xfrm xmlns:a="http://schemas.openxmlformats.org/drawingml/2006/main">
            <a:off x="3529013"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6-1">
            <a:extLst xmlns:a="http://schemas.openxmlformats.org/drawingml/2006/main">
              <a:ext uri="{FF2B5EF4-FFF2-40B4-BE49-F238E27FC236}">
                <a16:creationId xmlns:a16="http://schemas.microsoft.com/office/drawing/2014/main" id="{2A40549F-0F0B-4AF9-B76E-6DB818BFA8DD}"/>
              </a:ext>
            </a:extLst>
          </p:cNvPr>
          <p:cNvSpPr>
            <a:spLocks xmlns:a="http://schemas.openxmlformats.org/drawingml/2006/main" noGrp="1"/>
          </p:cNvSpPr>
          <p:nvPr/>
        </p:nvSpPr>
        <p:spPr>
          <a:xfrm xmlns:a="http://schemas.openxmlformats.org/drawingml/2006/main">
            <a:off x="3529013" y="3028950"/>
            <a:ext cx="2195513"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6-1">
            <a:extLst xmlns:a="http://schemas.openxmlformats.org/drawingml/2006/main">
              <a:ext uri="{FF2B5EF4-FFF2-40B4-BE49-F238E27FC236}">
                <a16:creationId xmlns:a16="http://schemas.microsoft.com/office/drawing/2014/main" id="{9C86A948-E943-4002-8428-B4CEDC31DFBE}"/>
              </a:ext>
            </a:extLst>
          </p:cNvPr>
          <p:cNvSpPr>
            <a:spLocks xmlns:a="http://schemas.openxmlformats.org/drawingml/2006/main" noGrp="1"/>
          </p:cNvSpPr>
          <p:nvPr/>
        </p:nvSpPr>
        <p:spPr>
          <a:xfrm xmlns:a="http://schemas.openxmlformats.org/drawingml/2006/main">
            <a:off x="3529013"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照合</a:t>
            </a:r>
          </a:p>
        </p:txBody>
      </p:sp>
      <p:sp>
        <p:nvSpPr>
          <p:cNvPr id="16" name="step-detail-16-1">
            <a:extLst xmlns:a="http://schemas.openxmlformats.org/drawingml/2006/main">
              <a:ext uri="{FF2B5EF4-FFF2-40B4-BE49-F238E27FC236}">
                <a16:creationId xmlns:a16="http://schemas.microsoft.com/office/drawing/2014/main" id="{CA995C3A-C05D-4079-99C0-FF8113BDF284}"/>
              </a:ext>
            </a:extLst>
          </p:cNvPr>
          <p:cNvSpPr>
            <a:spLocks xmlns:a="http://schemas.openxmlformats.org/drawingml/2006/main" noGrp="1"/>
          </p:cNvSpPr>
          <p:nvPr/>
        </p:nvSpPr>
        <p:spPr>
          <a:xfrm xmlns:a="http://schemas.openxmlformats.org/drawingml/2006/main">
            <a:off x="3529013"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版・日付・該当箇所・文脈</a:t>
            </a:r>
          </a:p>
        </p:txBody>
      </p:sp>
      <p:sp>
        <p:nvSpPr>
          <p:cNvPr id="17" name="step-card-16-2">
            <a:extLst xmlns:a="http://schemas.openxmlformats.org/drawingml/2006/main">
              <a:ext uri="{FF2B5EF4-FFF2-40B4-BE49-F238E27FC236}">
                <a16:creationId xmlns:a16="http://schemas.microsoft.com/office/drawing/2014/main" id="{C6E8C71C-F6FA-475F-9EA6-7F0DEFEE8769}"/>
              </a:ext>
            </a:extLst>
          </p:cNvPr>
          <p:cNvSpPr>
            <a:spLocks xmlns:a="http://schemas.openxmlformats.org/drawingml/2006/main" noGrp="1"/>
          </p:cNvSpPr>
          <p:nvPr/>
        </p:nvSpPr>
        <p:spPr>
          <a:xfrm xmlns:a="http://schemas.openxmlformats.org/drawingml/2006/main">
            <a:off x="6067425"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6-2">
            <a:extLst xmlns:a="http://schemas.openxmlformats.org/drawingml/2006/main">
              <a:ext uri="{FF2B5EF4-FFF2-40B4-BE49-F238E27FC236}">
                <a16:creationId xmlns:a16="http://schemas.microsoft.com/office/drawing/2014/main" id="{A0B5229C-520C-4332-BC08-9B8C057085B6}"/>
              </a:ext>
            </a:extLst>
          </p:cNvPr>
          <p:cNvSpPr>
            <a:spLocks xmlns:a="http://schemas.openxmlformats.org/drawingml/2006/main" noGrp="1"/>
          </p:cNvSpPr>
          <p:nvPr/>
        </p:nvSpPr>
        <p:spPr>
          <a:xfrm xmlns:a="http://schemas.openxmlformats.org/drawingml/2006/main">
            <a:off x="6238875"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6-2">
            <a:extLst xmlns:a="http://schemas.openxmlformats.org/drawingml/2006/main">
              <a:ext uri="{FF2B5EF4-FFF2-40B4-BE49-F238E27FC236}">
                <a16:creationId xmlns:a16="http://schemas.microsoft.com/office/drawing/2014/main" id="{D7B02CFB-E4A5-4D95-8A17-811EF72D4632}"/>
              </a:ext>
            </a:extLst>
          </p:cNvPr>
          <p:cNvSpPr>
            <a:spLocks xmlns:a="http://schemas.openxmlformats.org/drawingml/2006/main" noGrp="1"/>
          </p:cNvSpPr>
          <p:nvPr/>
        </p:nvSpPr>
        <p:spPr>
          <a:xfrm xmlns:a="http://schemas.openxmlformats.org/drawingml/2006/main">
            <a:off x="6238875" y="3028950"/>
            <a:ext cx="2195513"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6-2">
            <a:extLst xmlns:a="http://schemas.openxmlformats.org/drawingml/2006/main">
              <a:ext uri="{FF2B5EF4-FFF2-40B4-BE49-F238E27FC236}">
                <a16:creationId xmlns:a16="http://schemas.microsoft.com/office/drawing/2014/main" id="{492C3CD5-69AD-4CC6-9F4A-2B0BF0CBFDF3}"/>
              </a:ext>
            </a:extLst>
          </p:cNvPr>
          <p:cNvSpPr>
            <a:spLocks xmlns:a="http://schemas.openxmlformats.org/drawingml/2006/main" noGrp="1"/>
          </p:cNvSpPr>
          <p:nvPr/>
        </p:nvSpPr>
        <p:spPr>
          <a:xfrm xmlns:a="http://schemas.openxmlformats.org/drawingml/2006/main">
            <a:off x="6238875"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再計算</a:t>
            </a:r>
          </a:p>
        </p:txBody>
      </p:sp>
      <p:sp>
        <p:nvSpPr>
          <p:cNvPr id="21" name="step-detail-16-2">
            <a:extLst xmlns:a="http://schemas.openxmlformats.org/drawingml/2006/main">
              <a:ext uri="{FF2B5EF4-FFF2-40B4-BE49-F238E27FC236}">
                <a16:creationId xmlns:a16="http://schemas.microsoft.com/office/drawing/2014/main" id="{B427A28F-9D6E-4E3C-B204-572F715C6F86}"/>
              </a:ext>
            </a:extLst>
          </p:cNvPr>
          <p:cNvSpPr>
            <a:spLocks xmlns:a="http://schemas.openxmlformats.org/drawingml/2006/main" noGrp="1"/>
          </p:cNvSpPr>
          <p:nvPr/>
        </p:nvSpPr>
        <p:spPr>
          <a:xfrm xmlns:a="http://schemas.openxmlformats.org/drawingml/2006/main">
            <a:off x="6238875"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単位・分母・丸め・転記を確認</a:t>
            </a:r>
          </a:p>
        </p:txBody>
      </p:sp>
      <p:sp>
        <p:nvSpPr>
          <p:cNvPr id="22" name="step-card-16-3">
            <a:extLst xmlns:a="http://schemas.openxmlformats.org/drawingml/2006/main">
              <a:ext uri="{FF2B5EF4-FFF2-40B4-BE49-F238E27FC236}">
                <a16:creationId xmlns:a16="http://schemas.microsoft.com/office/drawing/2014/main" id="{3ACB6F57-1104-4085-BA71-D2524B15674E}"/>
              </a:ext>
            </a:extLst>
          </p:cNvPr>
          <p:cNvSpPr>
            <a:spLocks xmlns:a="http://schemas.openxmlformats.org/drawingml/2006/main" noGrp="1"/>
          </p:cNvSpPr>
          <p:nvPr/>
        </p:nvSpPr>
        <p:spPr>
          <a:xfrm xmlns:a="http://schemas.openxmlformats.org/drawingml/2006/main">
            <a:off x="8777288" y="2247900"/>
            <a:ext cx="2538413" cy="2667000"/>
          </a:xfrm>
          <a:prstGeom xmlns:a="http://schemas.openxmlformats.org/drawingml/2006/main" prst="roundRect">
            <a:avLst>
              <a:gd name="adj" fmla="val 4503"/>
            </a:avLst>
          </a:prstGeom>
          <a:solidFill xmlns:a="http://schemas.openxmlformats.org/drawingml/2006/main">
            <a:srgbClr val="FFFFFF"/>
          </a:solidFill>
          <a:ln xmlns:a="http://schemas.openxmlformats.org/drawingml/2006/main" w="9525">
            <a:solidFill>
              <a:srgbClr val="D3DEE3"/>
            </a:solidFill>
            <a:prstDash val="solid"/>
          </a:ln>
        </p:spPr>
      </p:sp>
      <p:sp>
        <p:nvSpPr>
          <p:cNvPr id="23" name="step-no-16-3">
            <a:extLst xmlns:a="http://schemas.openxmlformats.org/drawingml/2006/main">
              <a:ext uri="{FF2B5EF4-FFF2-40B4-BE49-F238E27FC236}">
                <a16:creationId xmlns:a16="http://schemas.microsoft.com/office/drawing/2014/main" id="{6DCF9817-0C34-4BF9-AD25-5E6037269C6A}"/>
              </a:ext>
            </a:extLst>
          </p:cNvPr>
          <p:cNvSpPr>
            <a:spLocks xmlns:a="http://schemas.openxmlformats.org/drawingml/2006/main" noGrp="1"/>
          </p:cNvSpPr>
          <p:nvPr/>
        </p:nvSpPr>
        <p:spPr>
          <a:xfrm xmlns:a="http://schemas.openxmlformats.org/drawingml/2006/main">
            <a:off x="8948738"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04</a:t>
            </a:r>
          </a:p>
        </p:txBody>
      </p:sp>
      <p:sp>
        <p:nvSpPr>
          <p:cNvPr id="24" name="step-rule-16-3">
            <a:extLst xmlns:a="http://schemas.openxmlformats.org/drawingml/2006/main">
              <a:ext uri="{FF2B5EF4-FFF2-40B4-BE49-F238E27FC236}">
                <a16:creationId xmlns:a16="http://schemas.microsoft.com/office/drawing/2014/main" id="{59CFBD26-A1AA-4596-91EE-1FEDE21FDE93}"/>
              </a:ext>
            </a:extLst>
          </p:cNvPr>
          <p:cNvSpPr>
            <a:spLocks xmlns:a="http://schemas.openxmlformats.org/drawingml/2006/main" noGrp="1"/>
          </p:cNvSpPr>
          <p:nvPr/>
        </p:nvSpPr>
        <p:spPr>
          <a:xfrm xmlns:a="http://schemas.openxmlformats.org/drawingml/2006/main">
            <a:off x="8948738" y="3028950"/>
            <a:ext cx="2195513"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5" name="step-label-16-3">
            <a:extLst xmlns:a="http://schemas.openxmlformats.org/drawingml/2006/main">
              <a:ext uri="{FF2B5EF4-FFF2-40B4-BE49-F238E27FC236}">
                <a16:creationId xmlns:a16="http://schemas.microsoft.com/office/drawing/2014/main" id="{27EF48F0-98B3-4938-9A21-D68033E0906B}"/>
              </a:ext>
            </a:extLst>
          </p:cNvPr>
          <p:cNvSpPr>
            <a:spLocks xmlns:a="http://schemas.openxmlformats.org/drawingml/2006/main" noGrp="1"/>
          </p:cNvSpPr>
          <p:nvPr/>
        </p:nvSpPr>
        <p:spPr>
          <a:xfrm xmlns:a="http://schemas.openxmlformats.org/drawingml/2006/main">
            <a:off x="8948738" y="3257550"/>
            <a:ext cx="21955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2A43"/>
                </a:solidFill>
              </a:defRPr>
            </a:pPr>
            <a:r>
              <a:rPr sz="1650" b="1">
                <a:solidFill>
                  <a:srgbClr val="102A43"/>
                </a:solidFill>
              </a:rPr>
              <a:t>承認</a:t>
            </a:r>
          </a:p>
        </p:txBody>
      </p:sp>
      <p:sp>
        <p:nvSpPr>
          <p:cNvPr id="26" name="step-detail-16-3">
            <a:extLst xmlns:a="http://schemas.openxmlformats.org/drawingml/2006/main">
              <a:ext uri="{FF2B5EF4-FFF2-40B4-BE49-F238E27FC236}">
                <a16:creationId xmlns:a16="http://schemas.microsoft.com/office/drawing/2014/main" id="{6682A76C-53EC-4BBA-9AED-838F67E0DDEF}"/>
              </a:ext>
            </a:extLst>
          </p:cNvPr>
          <p:cNvSpPr>
            <a:spLocks xmlns:a="http://schemas.openxmlformats.org/drawingml/2006/main" noGrp="1"/>
          </p:cNvSpPr>
          <p:nvPr/>
        </p:nvSpPr>
        <p:spPr>
          <a:xfrm xmlns:a="http://schemas.openxmlformats.org/drawingml/2006/main">
            <a:off x="8948738" y="3924300"/>
            <a:ext cx="2195513"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270"/>
                </a:solidFill>
              </a:defRPr>
            </a:pPr>
            <a:r>
              <a:rPr sz="1275" b="0">
                <a:solidFill>
                  <a:srgbClr val="526270"/>
                </a:solidFill>
              </a:rPr>
              <a:t>影響に応じた確認者が確定</a:t>
            </a:r>
          </a:p>
        </p:txBody>
      </p:sp>
      <p:sp>
        <p:nvSpPr>
          <p:cNvPr id="27" name="body-16">
            <a:extLst xmlns:a="http://schemas.openxmlformats.org/drawingml/2006/main">
              <a:ext uri="{FF2B5EF4-FFF2-40B4-BE49-F238E27FC236}">
                <a16:creationId xmlns:a16="http://schemas.microsoft.com/office/drawing/2014/main" id="{2D12DE62-D9B4-45F5-ACD2-0B4099179A7D}"/>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確認プロンプト：各主張を『入力から確認／一次資料候補／未確認／仮定』へ分類し、根拠箇所が見つからない主張は撤回候補として示す</a:t>
            </a:r>
          </a:p>
        </p:txBody>
      </p:sp>
      <p:sp>
        <p:nvSpPr>
          <p:cNvPr id="28" name="footer-rule-16">
            <a:extLst xmlns:a="http://schemas.openxmlformats.org/drawingml/2006/main">
              <a:ext uri="{FF2B5EF4-FFF2-40B4-BE49-F238E27FC236}">
                <a16:creationId xmlns:a16="http://schemas.microsoft.com/office/drawing/2014/main" id="{1F6D1A54-B1CB-4D1E-ABB1-ED538003DB2C}"/>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6">
            <a:extLst xmlns:a="http://schemas.openxmlformats.org/drawingml/2006/main">
              <a:ext uri="{FF2B5EF4-FFF2-40B4-BE49-F238E27FC236}">
                <a16:creationId xmlns:a16="http://schemas.microsoft.com/office/drawing/2014/main" id="{31723A81-B839-4349-99BB-E6C7037DF85E}"/>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S3・S4・S1・S6・S8（詳細はノート）</a:t>
            </a:r>
          </a:p>
        </p:txBody>
      </p:sp>
      <p:sp>
        <p:nvSpPr>
          <p:cNvPr id="30" name="footer-no-16">
            <a:extLst xmlns:a="http://schemas.openxmlformats.org/drawingml/2006/main">
              <a:ext uri="{FF2B5EF4-FFF2-40B4-BE49-F238E27FC236}">
                <a16:creationId xmlns:a16="http://schemas.microsoft.com/office/drawing/2014/main" id="{E1B0BA51-BB9E-4004-9D51-CAB95D050376}"/>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16 / 20</a:t>
            </a:r>
          </a:p>
        </p:txBody>
      </p:sp>
    </p:spTree>
    <p:extLst>
      <p:ext uri="{BB962C8B-B14F-4D97-AF65-F5344CB8AC3E}">
        <p14:creationId xmlns:p14="http://schemas.microsoft.com/office/powerpoint/2010/main" val="201229472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17">
            <a:extLst xmlns:a="http://schemas.openxmlformats.org/drawingml/2006/main">
              <a:ext uri="{FF2B5EF4-FFF2-40B4-BE49-F238E27FC236}">
                <a16:creationId xmlns:a16="http://schemas.microsoft.com/office/drawing/2014/main" id="{AD049C0E-BC9D-457A-91E3-B575FFB5BF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7">
            <a:extLst xmlns:a="http://schemas.openxmlformats.org/drawingml/2006/main">
              <a:ext uri="{FF2B5EF4-FFF2-40B4-BE49-F238E27FC236}">
                <a16:creationId xmlns:a16="http://schemas.microsoft.com/office/drawing/2014/main" id="{30DAD679-DDE7-4D40-8F48-C2B53BE5B9BC}"/>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実践演習</a:t>
            </a:r>
          </a:p>
        </p:txBody>
      </p:sp>
      <p:sp>
        <p:nvSpPr>
          <p:cNvPr id="3" name="label-17">
            <a:extLst xmlns:a="http://schemas.openxmlformats.org/drawingml/2006/main">
              <a:ext uri="{FF2B5EF4-FFF2-40B4-BE49-F238E27FC236}">
                <a16:creationId xmlns:a16="http://schemas.microsoft.com/office/drawing/2014/main" id="{57185A92-E8BB-4445-8ADF-DD713B1AC095}"/>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演習</a:t>
            </a:r>
          </a:p>
        </p:txBody>
      </p:sp>
      <p:sp>
        <p:nvSpPr>
          <p:cNvPr id="4" name="title-17">
            <a:extLst xmlns:a="http://schemas.openxmlformats.org/drawingml/2006/main">
              <a:ext uri="{FF2B5EF4-FFF2-40B4-BE49-F238E27FC236}">
                <a16:creationId xmlns:a16="http://schemas.microsoft.com/office/drawing/2014/main" id="{5E55B236-E0C5-407A-AB07-DFA393E658F2}"/>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演習は、実在情報を使わず3ケースで行う</a:t>
            </a:r>
          </a:p>
        </p:txBody>
      </p:sp>
      <p:sp>
        <p:nvSpPr>
          <p:cNvPr id="5" name="title-rule-17">
            <a:extLst xmlns:a="http://schemas.openxmlformats.org/drawingml/2006/main">
              <a:ext uri="{FF2B5EF4-FFF2-40B4-BE49-F238E27FC236}">
                <a16:creationId xmlns:a16="http://schemas.microsoft.com/office/drawing/2014/main" id="{C6CB923E-7C96-4426-9041-60F079AC5759}"/>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7">
            <a:extLst xmlns:a="http://schemas.openxmlformats.org/drawingml/2006/main">
              <a:ext uri="{FF2B5EF4-FFF2-40B4-BE49-F238E27FC236}">
                <a16:creationId xmlns:a16="http://schemas.microsoft.com/office/drawing/2014/main" id="{227C7C52-E67C-4B77-8242-D57E8F8B15B3}"/>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自分で依頼を書いてから解説を開き、どの確認工程が増えたかを比べる。</a:t>
            </a:r>
          </a:p>
        </p:txBody>
      </p:sp>
      <p:sp>
        <p:nvSpPr>
          <p:cNvPr id="7" name="step-card-17-0">
            <a:extLst xmlns:a="http://schemas.openxmlformats.org/drawingml/2006/main">
              <a:ext uri="{FF2B5EF4-FFF2-40B4-BE49-F238E27FC236}">
                <a16:creationId xmlns:a16="http://schemas.microsoft.com/office/drawing/2014/main" id="{7F87FDBF-9F4E-473E-A9FE-31A5E25185FE}"/>
              </a:ext>
            </a:extLst>
          </p:cNvPr>
          <p:cNvSpPr>
            <a:spLocks xmlns:a="http://schemas.openxmlformats.org/drawingml/2006/main" noGrp="1"/>
          </p:cNvSpPr>
          <p:nvPr/>
        </p:nvSpPr>
        <p:spPr>
          <a:xfrm xmlns:a="http://schemas.openxmlformats.org/drawingml/2006/main">
            <a:off x="6477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7-0">
            <a:extLst xmlns:a="http://schemas.openxmlformats.org/drawingml/2006/main">
              <a:ext uri="{FF2B5EF4-FFF2-40B4-BE49-F238E27FC236}">
                <a16:creationId xmlns:a16="http://schemas.microsoft.com/office/drawing/2014/main" id="{3B490164-EFBA-42D3-88D9-F350B1F20527}"/>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7-0">
            <a:extLst xmlns:a="http://schemas.openxmlformats.org/drawingml/2006/main">
              <a:ext uri="{FF2B5EF4-FFF2-40B4-BE49-F238E27FC236}">
                <a16:creationId xmlns:a16="http://schemas.microsoft.com/office/drawing/2014/main" id="{7575D76E-650C-4F7F-AC7C-E7EC41EDC45A}"/>
              </a:ext>
            </a:extLst>
          </p:cNvPr>
          <p:cNvSpPr>
            <a:spLocks xmlns:a="http://schemas.openxmlformats.org/drawingml/2006/main" noGrp="1"/>
          </p:cNvSpPr>
          <p:nvPr/>
        </p:nvSpPr>
        <p:spPr>
          <a:xfrm xmlns:a="http://schemas.openxmlformats.org/drawingml/2006/main">
            <a:off x="819150" y="3028950"/>
            <a:ext cx="309880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7-0">
            <a:extLst xmlns:a="http://schemas.openxmlformats.org/drawingml/2006/main">
              <a:ext uri="{FF2B5EF4-FFF2-40B4-BE49-F238E27FC236}">
                <a16:creationId xmlns:a16="http://schemas.microsoft.com/office/drawing/2014/main" id="{0663AAF7-DD43-44FE-9BDD-92F6742B223E}"/>
              </a:ext>
            </a:extLst>
          </p:cNvPr>
          <p:cNvSpPr>
            <a:spLocks xmlns:a="http://schemas.openxmlformats.org/drawingml/2006/main" noGrp="1"/>
          </p:cNvSpPr>
          <p:nvPr/>
        </p:nvSpPr>
        <p:spPr>
          <a:xfrm xmlns:a="http://schemas.openxmlformats.org/drawingml/2006/main">
            <a:off x="8191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演習1</a:t>
            </a:r>
          </a:p>
        </p:txBody>
      </p:sp>
      <p:sp>
        <p:nvSpPr>
          <p:cNvPr id="11" name="step-detail-17-0">
            <a:extLst xmlns:a="http://schemas.openxmlformats.org/drawingml/2006/main">
              <a:ext uri="{FF2B5EF4-FFF2-40B4-BE49-F238E27FC236}">
                <a16:creationId xmlns:a16="http://schemas.microsoft.com/office/drawing/2014/main" id="{1209D334-0EB7-406D-8B7E-73366C8D879C}"/>
              </a:ext>
            </a:extLst>
          </p:cNvPr>
          <p:cNvSpPr>
            <a:spLocks xmlns:a="http://schemas.openxmlformats.org/drawingml/2006/main" noGrp="1"/>
          </p:cNvSpPr>
          <p:nvPr/>
        </p:nvSpPr>
        <p:spPr>
          <a:xfrm xmlns:a="http://schemas.openxmlformats.org/drawingml/2006/main">
            <a:off x="8191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曖昧な会議メールを具体化</a:t>
            </a:r>
          </a:p>
        </p:txBody>
      </p:sp>
      <p:sp>
        <p:nvSpPr>
          <p:cNvPr id="12" name="step-card-17-1">
            <a:extLst xmlns:a="http://schemas.openxmlformats.org/drawingml/2006/main">
              <a:ext uri="{FF2B5EF4-FFF2-40B4-BE49-F238E27FC236}">
                <a16:creationId xmlns:a16="http://schemas.microsoft.com/office/drawing/2014/main" id="{2DB8D595-2316-4488-AAC7-12BCF0DFEACD}"/>
              </a:ext>
            </a:extLst>
          </p:cNvPr>
          <p:cNvSpPr>
            <a:spLocks xmlns:a="http://schemas.openxmlformats.org/drawingml/2006/main" noGrp="1"/>
          </p:cNvSpPr>
          <p:nvPr/>
        </p:nvSpPr>
        <p:spPr>
          <a:xfrm xmlns:a="http://schemas.openxmlformats.org/drawingml/2006/main">
            <a:off x="426085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7-1">
            <a:extLst xmlns:a="http://schemas.openxmlformats.org/drawingml/2006/main">
              <a:ext uri="{FF2B5EF4-FFF2-40B4-BE49-F238E27FC236}">
                <a16:creationId xmlns:a16="http://schemas.microsoft.com/office/drawing/2014/main" id="{13568037-E8B9-43BC-924A-0463833925AF}"/>
              </a:ext>
            </a:extLst>
          </p:cNvPr>
          <p:cNvSpPr>
            <a:spLocks xmlns:a="http://schemas.openxmlformats.org/drawingml/2006/main" noGrp="1"/>
          </p:cNvSpPr>
          <p:nvPr/>
        </p:nvSpPr>
        <p:spPr>
          <a:xfrm xmlns:a="http://schemas.openxmlformats.org/drawingml/2006/main">
            <a:off x="443230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7-1">
            <a:extLst xmlns:a="http://schemas.openxmlformats.org/drawingml/2006/main">
              <a:ext uri="{FF2B5EF4-FFF2-40B4-BE49-F238E27FC236}">
                <a16:creationId xmlns:a16="http://schemas.microsoft.com/office/drawing/2014/main" id="{D7FF9756-CDCA-43C4-A2BB-FF1FDAAD9750}"/>
              </a:ext>
            </a:extLst>
          </p:cNvPr>
          <p:cNvSpPr>
            <a:spLocks xmlns:a="http://schemas.openxmlformats.org/drawingml/2006/main" noGrp="1"/>
          </p:cNvSpPr>
          <p:nvPr/>
        </p:nvSpPr>
        <p:spPr>
          <a:xfrm xmlns:a="http://schemas.openxmlformats.org/drawingml/2006/main">
            <a:off x="4432300" y="3028950"/>
            <a:ext cx="3098800"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7-1">
            <a:extLst xmlns:a="http://schemas.openxmlformats.org/drawingml/2006/main">
              <a:ext uri="{FF2B5EF4-FFF2-40B4-BE49-F238E27FC236}">
                <a16:creationId xmlns:a16="http://schemas.microsoft.com/office/drawing/2014/main" id="{C89654D6-70E0-478C-8C05-78761BED493A}"/>
              </a:ext>
            </a:extLst>
          </p:cNvPr>
          <p:cNvSpPr>
            <a:spLocks xmlns:a="http://schemas.openxmlformats.org/drawingml/2006/main" noGrp="1"/>
          </p:cNvSpPr>
          <p:nvPr/>
        </p:nvSpPr>
        <p:spPr>
          <a:xfrm xmlns:a="http://schemas.openxmlformats.org/drawingml/2006/main">
            <a:off x="443230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演習2</a:t>
            </a:r>
          </a:p>
        </p:txBody>
      </p:sp>
      <p:sp>
        <p:nvSpPr>
          <p:cNvPr id="16" name="step-detail-17-1">
            <a:extLst xmlns:a="http://schemas.openxmlformats.org/drawingml/2006/main">
              <a:ext uri="{FF2B5EF4-FFF2-40B4-BE49-F238E27FC236}">
                <a16:creationId xmlns:a16="http://schemas.microsoft.com/office/drawing/2014/main" id="{7940F78A-89E9-4C81-902B-4CF6B1594F8C}"/>
              </a:ext>
            </a:extLst>
          </p:cNvPr>
          <p:cNvSpPr>
            <a:spLocks xmlns:a="http://schemas.openxmlformats.org/drawingml/2006/main" noGrp="1"/>
          </p:cNvSpPr>
          <p:nvPr/>
        </p:nvSpPr>
        <p:spPr>
          <a:xfrm xmlns:a="http://schemas.openxmlformats.org/drawingml/2006/main">
            <a:off x="443230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調査依頼へ一次資料確認を追加</a:t>
            </a:r>
          </a:p>
        </p:txBody>
      </p:sp>
      <p:sp>
        <p:nvSpPr>
          <p:cNvPr id="17" name="step-card-17-2">
            <a:extLst xmlns:a="http://schemas.openxmlformats.org/drawingml/2006/main">
              <a:ext uri="{FF2B5EF4-FFF2-40B4-BE49-F238E27FC236}">
                <a16:creationId xmlns:a16="http://schemas.microsoft.com/office/drawing/2014/main" id="{33B8838A-CEA8-4E55-A3FD-58A219A89771}"/>
              </a:ext>
            </a:extLst>
          </p:cNvPr>
          <p:cNvSpPr>
            <a:spLocks xmlns:a="http://schemas.openxmlformats.org/drawingml/2006/main" noGrp="1"/>
          </p:cNvSpPr>
          <p:nvPr/>
        </p:nvSpPr>
        <p:spPr>
          <a:xfrm xmlns:a="http://schemas.openxmlformats.org/drawingml/2006/main">
            <a:off x="78740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7-2">
            <a:extLst xmlns:a="http://schemas.openxmlformats.org/drawingml/2006/main">
              <a:ext uri="{FF2B5EF4-FFF2-40B4-BE49-F238E27FC236}">
                <a16:creationId xmlns:a16="http://schemas.microsoft.com/office/drawing/2014/main" id="{C4EF2A53-8F85-4BFB-BBB3-342D5D7E17AE}"/>
              </a:ext>
            </a:extLst>
          </p:cNvPr>
          <p:cNvSpPr>
            <a:spLocks xmlns:a="http://schemas.openxmlformats.org/drawingml/2006/main" noGrp="1"/>
          </p:cNvSpPr>
          <p:nvPr/>
        </p:nvSpPr>
        <p:spPr>
          <a:xfrm xmlns:a="http://schemas.openxmlformats.org/drawingml/2006/main">
            <a:off x="80454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7-2">
            <a:extLst xmlns:a="http://schemas.openxmlformats.org/drawingml/2006/main">
              <a:ext uri="{FF2B5EF4-FFF2-40B4-BE49-F238E27FC236}">
                <a16:creationId xmlns:a16="http://schemas.microsoft.com/office/drawing/2014/main" id="{927F6805-4022-4D97-ADEF-818AF0AF6767}"/>
              </a:ext>
            </a:extLst>
          </p:cNvPr>
          <p:cNvSpPr>
            <a:spLocks xmlns:a="http://schemas.openxmlformats.org/drawingml/2006/main" noGrp="1"/>
          </p:cNvSpPr>
          <p:nvPr/>
        </p:nvSpPr>
        <p:spPr>
          <a:xfrm xmlns:a="http://schemas.openxmlformats.org/drawingml/2006/main">
            <a:off x="8045450" y="3028950"/>
            <a:ext cx="3098800"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7-2">
            <a:extLst xmlns:a="http://schemas.openxmlformats.org/drawingml/2006/main">
              <a:ext uri="{FF2B5EF4-FFF2-40B4-BE49-F238E27FC236}">
                <a16:creationId xmlns:a16="http://schemas.microsoft.com/office/drawing/2014/main" id="{DC9F46C9-3C63-4703-B441-769822E3D924}"/>
              </a:ext>
            </a:extLst>
          </p:cNvPr>
          <p:cNvSpPr>
            <a:spLocks xmlns:a="http://schemas.openxmlformats.org/drawingml/2006/main" noGrp="1"/>
          </p:cNvSpPr>
          <p:nvPr/>
        </p:nvSpPr>
        <p:spPr>
          <a:xfrm xmlns:a="http://schemas.openxmlformats.org/drawingml/2006/main">
            <a:off x="80454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演習3</a:t>
            </a:r>
          </a:p>
        </p:txBody>
      </p:sp>
      <p:sp>
        <p:nvSpPr>
          <p:cNvPr id="21" name="step-detail-17-2">
            <a:extLst xmlns:a="http://schemas.openxmlformats.org/drawingml/2006/main">
              <a:ext uri="{FF2B5EF4-FFF2-40B4-BE49-F238E27FC236}">
                <a16:creationId xmlns:a16="http://schemas.microsoft.com/office/drawing/2014/main" id="{16B8AE39-B39C-499B-B6C5-BFF9BDB8652B}"/>
              </a:ext>
            </a:extLst>
          </p:cNvPr>
          <p:cNvSpPr>
            <a:spLocks xmlns:a="http://schemas.openxmlformats.org/drawingml/2006/main" noGrp="1"/>
          </p:cNvSpPr>
          <p:nvPr/>
        </p:nvSpPr>
        <p:spPr>
          <a:xfrm xmlns:a="http://schemas.openxmlformats.org/drawingml/2006/main">
            <a:off x="80454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機密を含む依頼を一般化</a:t>
            </a:r>
          </a:p>
        </p:txBody>
      </p:sp>
      <p:sp>
        <p:nvSpPr>
          <p:cNvPr id="22" name="body-17">
            <a:extLst xmlns:a="http://schemas.openxmlformats.org/drawingml/2006/main">
              <a:ext uri="{FF2B5EF4-FFF2-40B4-BE49-F238E27FC236}">
                <a16:creationId xmlns:a16="http://schemas.microsoft.com/office/drawing/2014/main" id="{710DEC47-8639-48EF-9E1C-4E443AE0FE09}"/>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入力内容は画面内だけで扱う。実在の会社・人・案件・連絡先を入力しない</a:t>
            </a:r>
          </a:p>
        </p:txBody>
      </p:sp>
      <p:sp>
        <p:nvSpPr>
          <p:cNvPr id="23" name="footer-rule-17">
            <a:extLst xmlns:a="http://schemas.openxmlformats.org/drawingml/2006/main">
              <a:ext uri="{FF2B5EF4-FFF2-40B4-BE49-F238E27FC236}">
                <a16:creationId xmlns:a16="http://schemas.microsoft.com/office/drawing/2014/main" id="{815E004D-DA85-4BF3-9F28-B79089952896}"/>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17">
            <a:extLst xmlns:a="http://schemas.openxmlformats.org/drawingml/2006/main">
              <a:ext uri="{FF2B5EF4-FFF2-40B4-BE49-F238E27FC236}">
                <a16:creationId xmlns:a16="http://schemas.microsoft.com/office/drawing/2014/main" id="{A372DC2C-661C-4292-B18C-AF3ABE0A56F8}"/>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S1・S2・S4・S3・S6・S5（詳細はノート）</a:t>
            </a:r>
          </a:p>
        </p:txBody>
      </p:sp>
      <p:sp>
        <p:nvSpPr>
          <p:cNvPr id="25" name="footer-no-17">
            <a:extLst xmlns:a="http://schemas.openxmlformats.org/drawingml/2006/main">
              <a:ext uri="{FF2B5EF4-FFF2-40B4-BE49-F238E27FC236}">
                <a16:creationId xmlns:a16="http://schemas.microsoft.com/office/drawing/2014/main" id="{5F2F2063-CB19-41A1-87CC-83D3A7079508}"/>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17 / 20</a:t>
            </a:r>
          </a:p>
        </p:txBody>
      </p:sp>
    </p:spTree>
    <p:extLst>
      <p:ext uri="{BB962C8B-B14F-4D97-AF65-F5344CB8AC3E}">
        <p14:creationId xmlns:p14="http://schemas.microsoft.com/office/powerpoint/2010/main" val="993949227"/>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18">
            <a:extLst xmlns:a="http://schemas.openxmlformats.org/drawingml/2006/main">
              <a:ext uri="{FF2B5EF4-FFF2-40B4-BE49-F238E27FC236}">
                <a16:creationId xmlns:a16="http://schemas.microsoft.com/office/drawing/2014/main" id="{7684EE24-37E8-433D-AC69-F2F67203C7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8">
            <a:extLst xmlns:a="http://schemas.openxmlformats.org/drawingml/2006/main">
              <a:ext uri="{FF2B5EF4-FFF2-40B4-BE49-F238E27FC236}">
                <a16:creationId xmlns:a16="http://schemas.microsoft.com/office/drawing/2014/main" id="{88E7EDD0-0112-4808-A63A-A2397EC25510}"/>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実践演習</a:t>
            </a:r>
          </a:p>
        </p:txBody>
      </p:sp>
      <p:sp>
        <p:nvSpPr>
          <p:cNvPr id="3" name="label-18">
            <a:extLst xmlns:a="http://schemas.openxmlformats.org/drawingml/2006/main">
              <a:ext uri="{FF2B5EF4-FFF2-40B4-BE49-F238E27FC236}">
                <a16:creationId xmlns:a16="http://schemas.microsoft.com/office/drawing/2014/main" id="{939FE72A-FB76-4019-A0F3-F4C1F5F5EE23}"/>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演習</a:t>
            </a:r>
          </a:p>
        </p:txBody>
      </p:sp>
      <p:sp>
        <p:nvSpPr>
          <p:cNvPr id="4" name="title-18">
            <a:extLst xmlns:a="http://schemas.openxmlformats.org/drawingml/2006/main">
              <a:ext uri="{FF2B5EF4-FFF2-40B4-BE49-F238E27FC236}">
                <a16:creationId xmlns:a16="http://schemas.microsoft.com/office/drawing/2014/main" id="{22D6D1BB-A40F-4342-BF63-DA27D80C22B5}"/>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3問とも「出力後の確認」まで書く</a:t>
            </a:r>
          </a:p>
        </p:txBody>
      </p:sp>
      <p:sp>
        <p:nvSpPr>
          <p:cNvPr id="5" name="title-rule-18">
            <a:extLst xmlns:a="http://schemas.openxmlformats.org/drawingml/2006/main">
              <a:ext uri="{FF2B5EF4-FFF2-40B4-BE49-F238E27FC236}">
                <a16:creationId xmlns:a16="http://schemas.microsoft.com/office/drawing/2014/main" id="{C8A6B6D7-608B-42D5-84E2-9A1A8E86FC16}"/>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8">
            <a:extLst xmlns:a="http://schemas.openxmlformats.org/drawingml/2006/main">
              <a:ext uri="{FF2B5EF4-FFF2-40B4-BE49-F238E27FC236}">
                <a16:creationId xmlns:a16="http://schemas.microsoft.com/office/drawing/2014/main" id="{551FA60A-46FC-4807-98B6-BB7A6159D9B1}"/>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プロンプトを改善して終わらず、使う前に誰が何を確かめるかを決める。</a:t>
            </a:r>
          </a:p>
        </p:txBody>
      </p:sp>
      <p:sp>
        <p:nvSpPr>
          <p:cNvPr id="7" name="step-card-18-0">
            <a:extLst xmlns:a="http://schemas.openxmlformats.org/drawingml/2006/main">
              <a:ext uri="{FF2B5EF4-FFF2-40B4-BE49-F238E27FC236}">
                <a16:creationId xmlns:a16="http://schemas.microsoft.com/office/drawing/2014/main" id="{2FF6957D-669C-40BB-8956-59A4B3813962}"/>
              </a:ext>
            </a:extLst>
          </p:cNvPr>
          <p:cNvSpPr>
            <a:spLocks xmlns:a="http://schemas.openxmlformats.org/drawingml/2006/main" noGrp="1"/>
          </p:cNvSpPr>
          <p:nvPr/>
        </p:nvSpPr>
        <p:spPr>
          <a:xfrm xmlns:a="http://schemas.openxmlformats.org/drawingml/2006/main">
            <a:off x="6477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8" name="step-no-18-0">
            <a:extLst xmlns:a="http://schemas.openxmlformats.org/drawingml/2006/main">
              <a:ext uri="{FF2B5EF4-FFF2-40B4-BE49-F238E27FC236}">
                <a16:creationId xmlns:a16="http://schemas.microsoft.com/office/drawing/2014/main" id="{F7AC7C63-327D-40A0-A246-7AB00C5E775B}"/>
              </a:ext>
            </a:extLst>
          </p:cNvPr>
          <p:cNvSpPr>
            <a:spLocks xmlns:a="http://schemas.openxmlformats.org/drawingml/2006/main" noGrp="1"/>
          </p:cNvSpPr>
          <p:nvPr/>
        </p:nvSpPr>
        <p:spPr>
          <a:xfrm xmlns:a="http://schemas.openxmlformats.org/drawingml/2006/main">
            <a:off x="8191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B6B66"/>
                </a:solidFill>
              </a:defRPr>
            </a:pPr>
            <a:r>
              <a:rPr sz="2850" b="1">
                <a:solidFill>
                  <a:srgbClr val="0B6B66"/>
                </a:solidFill>
              </a:rPr>
              <a:t>01</a:t>
            </a:r>
          </a:p>
        </p:txBody>
      </p:sp>
      <p:sp>
        <p:nvSpPr>
          <p:cNvPr id="9" name="step-rule-18-0">
            <a:extLst xmlns:a="http://schemas.openxmlformats.org/drawingml/2006/main">
              <a:ext uri="{FF2B5EF4-FFF2-40B4-BE49-F238E27FC236}">
                <a16:creationId xmlns:a16="http://schemas.microsoft.com/office/drawing/2014/main" id="{B69C8F34-5E2D-418F-A995-99BF650F1DE3}"/>
              </a:ext>
            </a:extLst>
          </p:cNvPr>
          <p:cNvSpPr>
            <a:spLocks xmlns:a="http://schemas.openxmlformats.org/drawingml/2006/main" noGrp="1"/>
          </p:cNvSpPr>
          <p:nvPr/>
        </p:nvSpPr>
        <p:spPr>
          <a:xfrm xmlns:a="http://schemas.openxmlformats.org/drawingml/2006/main">
            <a:off x="819150" y="3028950"/>
            <a:ext cx="309880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0" name="step-label-18-0">
            <a:extLst xmlns:a="http://schemas.openxmlformats.org/drawingml/2006/main">
              <a:ext uri="{FF2B5EF4-FFF2-40B4-BE49-F238E27FC236}">
                <a16:creationId xmlns:a16="http://schemas.microsoft.com/office/drawing/2014/main" id="{487106F5-F9EC-45D3-A0E2-13B3805E1F3A}"/>
              </a:ext>
            </a:extLst>
          </p:cNvPr>
          <p:cNvSpPr>
            <a:spLocks xmlns:a="http://schemas.openxmlformats.org/drawingml/2006/main" noGrp="1"/>
          </p:cNvSpPr>
          <p:nvPr/>
        </p:nvSpPr>
        <p:spPr>
          <a:xfrm xmlns:a="http://schemas.openxmlformats.org/drawingml/2006/main">
            <a:off x="8191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曖昧な依頼</a:t>
            </a:r>
          </a:p>
        </p:txBody>
      </p:sp>
      <p:sp>
        <p:nvSpPr>
          <p:cNvPr id="11" name="step-detail-18-0">
            <a:extLst xmlns:a="http://schemas.openxmlformats.org/drawingml/2006/main">
              <a:ext uri="{FF2B5EF4-FFF2-40B4-BE49-F238E27FC236}">
                <a16:creationId xmlns:a16="http://schemas.microsoft.com/office/drawing/2014/main" id="{3F33CF3F-730D-4ADE-BBDC-2BE9D1EEC7A2}"/>
              </a:ext>
            </a:extLst>
          </p:cNvPr>
          <p:cNvSpPr>
            <a:spLocks xmlns:a="http://schemas.openxmlformats.org/drawingml/2006/main" noGrp="1"/>
          </p:cNvSpPr>
          <p:nvPr/>
        </p:nvSpPr>
        <p:spPr>
          <a:xfrm xmlns:a="http://schemas.openxmlformats.org/drawingml/2006/main">
            <a:off x="8191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メールの事実と未定事項を追加</a:t>
            </a:r>
          </a:p>
        </p:txBody>
      </p:sp>
      <p:sp>
        <p:nvSpPr>
          <p:cNvPr id="12" name="step-card-18-1">
            <a:extLst xmlns:a="http://schemas.openxmlformats.org/drawingml/2006/main">
              <a:ext uri="{FF2B5EF4-FFF2-40B4-BE49-F238E27FC236}">
                <a16:creationId xmlns:a16="http://schemas.microsoft.com/office/drawing/2014/main" id="{CC4DD713-BACE-4C44-9B7F-8D58683F6C4F}"/>
              </a:ext>
            </a:extLst>
          </p:cNvPr>
          <p:cNvSpPr>
            <a:spLocks xmlns:a="http://schemas.openxmlformats.org/drawingml/2006/main" noGrp="1"/>
          </p:cNvSpPr>
          <p:nvPr/>
        </p:nvSpPr>
        <p:spPr>
          <a:xfrm xmlns:a="http://schemas.openxmlformats.org/drawingml/2006/main">
            <a:off x="426085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3" name="step-no-18-1">
            <a:extLst xmlns:a="http://schemas.openxmlformats.org/drawingml/2006/main">
              <a:ext uri="{FF2B5EF4-FFF2-40B4-BE49-F238E27FC236}">
                <a16:creationId xmlns:a16="http://schemas.microsoft.com/office/drawing/2014/main" id="{505D325D-5DF8-4DF6-B2EA-5558BE1BB02A}"/>
              </a:ext>
            </a:extLst>
          </p:cNvPr>
          <p:cNvSpPr>
            <a:spLocks xmlns:a="http://schemas.openxmlformats.org/drawingml/2006/main" noGrp="1"/>
          </p:cNvSpPr>
          <p:nvPr/>
        </p:nvSpPr>
        <p:spPr>
          <a:xfrm xmlns:a="http://schemas.openxmlformats.org/drawingml/2006/main">
            <a:off x="443230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369A1"/>
                </a:solidFill>
              </a:defRPr>
            </a:pPr>
            <a:r>
              <a:rPr sz="2850" b="1">
                <a:solidFill>
                  <a:srgbClr val="0369A1"/>
                </a:solidFill>
              </a:rPr>
              <a:t>02</a:t>
            </a:r>
          </a:p>
        </p:txBody>
      </p:sp>
      <p:sp>
        <p:nvSpPr>
          <p:cNvPr id="14" name="step-rule-18-1">
            <a:extLst xmlns:a="http://schemas.openxmlformats.org/drawingml/2006/main">
              <a:ext uri="{FF2B5EF4-FFF2-40B4-BE49-F238E27FC236}">
                <a16:creationId xmlns:a16="http://schemas.microsoft.com/office/drawing/2014/main" id="{F64B1E56-6F62-4409-8855-7BFE1F89E9AD}"/>
              </a:ext>
            </a:extLst>
          </p:cNvPr>
          <p:cNvSpPr>
            <a:spLocks xmlns:a="http://schemas.openxmlformats.org/drawingml/2006/main" noGrp="1"/>
          </p:cNvSpPr>
          <p:nvPr/>
        </p:nvSpPr>
        <p:spPr>
          <a:xfrm xmlns:a="http://schemas.openxmlformats.org/drawingml/2006/main">
            <a:off x="4432300" y="3028950"/>
            <a:ext cx="3098800" cy="38100"/>
          </a:xfrm>
          <a:prstGeom xmlns:a="http://schemas.openxmlformats.org/drawingml/2006/main" prst="rect">
            <a:avLst/>
          </a:prstGeom>
          <a:solidFill xmlns:a="http://schemas.openxmlformats.org/drawingml/2006/main">
            <a:srgbClr val="0369A1"/>
          </a:solidFill>
          <a:ln xmlns:a="http://schemas.openxmlformats.org/drawingml/2006/main" w="0">
            <a:noFill/>
            <a:prstDash val="solid"/>
          </a:ln>
        </p:spPr>
      </p:sp>
      <p:sp>
        <p:nvSpPr>
          <p:cNvPr id="15" name="step-label-18-1">
            <a:extLst xmlns:a="http://schemas.openxmlformats.org/drawingml/2006/main">
              <a:ext uri="{FF2B5EF4-FFF2-40B4-BE49-F238E27FC236}">
                <a16:creationId xmlns:a16="http://schemas.microsoft.com/office/drawing/2014/main" id="{A1FD6388-635D-428B-B84D-77BC908657C4}"/>
              </a:ext>
            </a:extLst>
          </p:cNvPr>
          <p:cNvSpPr>
            <a:spLocks xmlns:a="http://schemas.openxmlformats.org/drawingml/2006/main" noGrp="1"/>
          </p:cNvSpPr>
          <p:nvPr/>
        </p:nvSpPr>
        <p:spPr>
          <a:xfrm xmlns:a="http://schemas.openxmlformats.org/drawingml/2006/main">
            <a:off x="443230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一次資料調査</a:t>
            </a:r>
          </a:p>
        </p:txBody>
      </p:sp>
      <p:sp>
        <p:nvSpPr>
          <p:cNvPr id="16" name="step-detail-18-1">
            <a:extLst xmlns:a="http://schemas.openxmlformats.org/drawingml/2006/main">
              <a:ext uri="{FF2B5EF4-FFF2-40B4-BE49-F238E27FC236}">
                <a16:creationId xmlns:a16="http://schemas.microsoft.com/office/drawing/2014/main" id="{47DB0096-6543-436D-A5A8-146270FDFB24}"/>
              </a:ext>
            </a:extLst>
          </p:cNvPr>
          <p:cNvSpPr>
            <a:spLocks xmlns:a="http://schemas.openxmlformats.org/drawingml/2006/main" noGrp="1"/>
          </p:cNvSpPr>
          <p:nvPr/>
        </p:nvSpPr>
        <p:spPr>
          <a:xfrm xmlns:a="http://schemas.openxmlformats.org/drawingml/2006/main">
            <a:off x="443230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発行主体・日付・該当箇所を指定</a:t>
            </a:r>
          </a:p>
        </p:txBody>
      </p:sp>
      <p:sp>
        <p:nvSpPr>
          <p:cNvPr id="17" name="step-card-18-2">
            <a:extLst xmlns:a="http://schemas.openxmlformats.org/drawingml/2006/main">
              <a:ext uri="{FF2B5EF4-FFF2-40B4-BE49-F238E27FC236}">
                <a16:creationId xmlns:a16="http://schemas.microsoft.com/office/drawing/2014/main" id="{F9379174-FDCA-48D4-B46F-2CC5F253A633}"/>
              </a:ext>
            </a:extLst>
          </p:cNvPr>
          <p:cNvSpPr>
            <a:spLocks xmlns:a="http://schemas.openxmlformats.org/drawingml/2006/main" noGrp="1"/>
          </p:cNvSpPr>
          <p:nvPr/>
        </p:nvSpPr>
        <p:spPr>
          <a:xfrm xmlns:a="http://schemas.openxmlformats.org/drawingml/2006/main">
            <a:off x="7874000" y="2247900"/>
            <a:ext cx="34417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3DEE3"/>
            </a:solidFill>
            <a:prstDash val="solid"/>
          </a:ln>
        </p:spPr>
      </p:sp>
      <p:sp>
        <p:nvSpPr>
          <p:cNvPr id="18" name="step-no-18-2">
            <a:extLst xmlns:a="http://schemas.openxmlformats.org/drawingml/2006/main">
              <a:ext uri="{FF2B5EF4-FFF2-40B4-BE49-F238E27FC236}">
                <a16:creationId xmlns:a16="http://schemas.microsoft.com/office/drawing/2014/main" id="{2CCDE3D2-64F8-4FE6-8B7B-E9BE2B9CC533}"/>
              </a:ext>
            </a:extLst>
          </p:cNvPr>
          <p:cNvSpPr>
            <a:spLocks xmlns:a="http://schemas.openxmlformats.org/drawingml/2006/main" noGrp="1"/>
          </p:cNvSpPr>
          <p:nvPr/>
        </p:nvSpPr>
        <p:spPr>
          <a:xfrm xmlns:a="http://schemas.openxmlformats.org/drawingml/2006/main">
            <a:off x="8045450" y="2400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6D28D9"/>
                </a:solidFill>
              </a:defRPr>
            </a:pPr>
            <a:r>
              <a:rPr sz="2850" b="1">
                <a:solidFill>
                  <a:srgbClr val="6D28D9"/>
                </a:solidFill>
              </a:rPr>
              <a:t>03</a:t>
            </a:r>
          </a:p>
        </p:txBody>
      </p:sp>
      <p:sp>
        <p:nvSpPr>
          <p:cNvPr id="19" name="step-rule-18-2">
            <a:extLst xmlns:a="http://schemas.openxmlformats.org/drawingml/2006/main">
              <a:ext uri="{FF2B5EF4-FFF2-40B4-BE49-F238E27FC236}">
                <a16:creationId xmlns:a16="http://schemas.microsoft.com/office/drawing/2014/main" id="{FEDDB9E9-FF8F-4E02-986E-C1DB972BC0FA}"/>
              </a:ext>
            </a:extLst>
          </p:cNvPr>
          <p:cNvSpPr>
            <a:spLocks xmlns:a="http://schemas.openxmlformats.org/drawingml/2006/main" noGrp="1"/>
          </p:cNvSpPr>
          <p:nvPr/>
        </p:nvSpPr>
        <p:spPr>
          <a:xfrm xmlns:a="http://schemas.openxmlformats.org/drawingml/2006/main">
            <a:off x="8045450" y="3028950"/>
            <a:ext cx="3098800" cy="38100"/>
          </a:xfrm>
          <a:prstGeom xmlns:a="http://schemas.openxmlformats.org/drawingml/2006/main" prst="rect">
            <a:avLst/>
          </a:prstGeom>
          <a:solidFill xmlns:a="http://schemas.openxmlformats.org/drawingml/2006/main">
            <a:srgbClr val="6D28D9"/>
          </a:solidFill>
          <a:ln xmlns:a="http://schemas.openxmlformats.org/drawingml/2006/main" w="0">
            <a:noFill/>
            <a:prstDash val="solid"/>
          </a:ln>
        </p:spPr>
      </p:sp>
      <p:sp>
        <p:nvSpPr>
          <p:cNvPr id="20" name="step-label-18-2">
            <a:extLst xmlns:a="http://schemas.openxmlformats.org/drawingml/2006/main">
              <a:ext uri="{FF2B5EF4-FFF2-40B4-BE49-F238E27FC236}">
                <a16:creationId xmlns:a16="http://schemas.microsoft.com/office/drawing/2014/main" id="{E74E7CDB-0154-4752-BE01-9319079FF4D4}"/>
              </a:ext>
            </a:extLst>
          </p:cNvPr>
          <p:cNvSpPr>
            <a:spLocks xmlns:a="http://schemas.openxmlformats.org/drawingml/2006/main" noGrp="1"/>
          </p:cNvSpPr>
          <p:nvPr/>
        </p:nvSpPr>
        <p:spPr>
          <a:xfrm xmlns:a="http://schemas.openxmlformats.org/drawingml/2006/main">
            <a:off x="8045450" y="3257550"/>
            <a:ext cx="309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02A43"/>
                </a:solidFill>
              </a:defRPr>
            </a:pPr>
            <a:r>
              <a:rPr sz="1875" b="1">
                <a:solidFill>
                  <a:srgbClr val="102A43"/>
                </a:solidFill>
              </a:rPr>
              <a:t>安全な書換え</a:t>
            </a:r>
          </a:p>
        </p:txBody>
      </p:sp>
      <p:sp>
        <p:nvSpPr>
          <p:cNvPr id="21" name="step-detail-18-2">
            <a:extLst xmlns:a="http://schemas.openxmlformats.org/drawingml/2006/main">
              <a:ext uri="{FF2B5EF4-FFF2-40B4-BE49-F238E27FC236}">
                <a16:creationId xmlns:a16="http://schemas.microsoft.com/office/drawing/2014/main" id="{4B18A5F9-7DB0-4902-BB21-5B64A5731269}"/>
              </a:ext>
            </a:extLst>
          </p:cNvPr>
          <p:cNvSpPr>
            <a:spLocks xmlns:a="http://schemas.openxmlformats.org/drawingml/2006/main" noGrp="1"/>
          </p:cNvSpPr>
          <p:nvPr/>
        </p:nvSpPr>
        <p:spPr>
          <a:xfrm xmlns:a="http://schemas.openxmlformats.org/drawingml/2006/main">
            <a:off x="8045450" y="3924300"/>
            <a:ext cx="309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270"/>
                </a:solidFill>
              </a:defRPr>
            </a:pPr>
            <a:r>
              <a:rPr sz="1425" b="0">
                <a:solidFill>
                  <a:srgbClr val="526270"/>
                </a:solidFill>
              </a:rPr>
              <a:t>実情報を除き、担当者入力へ戻す</a:t>
            </a:r>
          </a:p>
        </p:txBody>
      </p:sp>
      <p:sp>
        <p:nvSpPr>
          <p:cNvPr id="22" name="body-18">
            <a:extLst xmlns:a="http://schemas.openxmlformats.org/drawingml/2006/main">
              <a:ext uri="{FF2B5EF4-FFF2-40B4-BE49-F238E27FC236}">
                <a16:creationId xmlns:a16="http://schemas.microsoft.com/office/drawing/2014/main" id="{3A8722D1-AE75-4D19-B0FE-A4F67CBC2D5F}"/>
              </a:ext>
            </a:extLst>
          </p:cNvPr>
          <p:cNvSpPr>
            <a:spLocks xmlns:a="http://schemas.openxmlformats.org/drawingml/2006/main" noGrp="1"/>
          </p:cNvSpPr>
          <p:nvPr/>
        </p:nvSpPr>
        <p:spPr>
          <a:xfrm xmlns:a="http://schemas.openxmlformats.org/drawingml/2006/main">
            <a:off x="647700" y="51435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個人3分 → 解説表示 → ペア討議5分　｜　実在の個人・会社・案件情報は使わない</a:t>
            </a:r>
          </a:p>
        </p:txBody>
      </p:sp>
      <p:sp>
        <p:nvSpPr>
          <p:cNvPr id="23" name="footer-rule-18">
            <a:extLst xmlns:a="http://schemas.openxmlformats.org/drawingml/2006/main">
              <a:ext uri="{FF2B5EF4-FFF2-40B4-BE49-F238E27FC236}">
                <a16:creationId xmlns:a16="http://schemas.microsoft.com/office/drawing/2014/main" id="{809FBAD2-4910-4946-9D18-EA1B7510FFC8}"/>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18">
            <a:extLst xmlns:a="http://schemas.openxmlformats.org/drawingml/2006/main">
              <a:ext uri="{FF2B5EF4-FFF2-40B4-BE49-F238E27FC236}">
                <a16:creationId xmlns:a16="http://schemas.microsoft.com/office/drawing/2014/main" id="{2945B0B7-CC7F-4FEB-95B2-598DDFE50044}"/>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S1・S2・S4・S3・S6・S5（詳細はノート）</a:t>
            </a:r>
          </a:p>
        </p:txBody>
      </p:sp>
      <p:sp>
        <p:nvSpPr>
          <p:cNvPr id="25" name="footer-no-18">
            <a:extLst xmlns:a="http://schemas.openxmlformats.org/drawingml/2006/main">
              <a:ext uri="{FF2B5EF4-FFF2-40B4-BE49-F238E27FC236}">
                <a16:creationId xmlns:a16="http://schemas.microsoft.com/office/drawing/2014/main" id="{A1A901A0-6B1A-4A8C-A03C-B10767185545}"/>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18 / 20</a:t>
            </a:r>
          </a:p>
        </p:txBody>
      </p:sp>
    </p:spTree>
    <p:extLst>
      <p:ext uri="{BB962C8B-B14F-4D97-AF65-F5344CB8AC3E}">
        <p14:creationId xmlns:p14="http://schemas.microsoft.com/office/powerpoint/2010/main" val="2093541727"/>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accent-19">
            <a:extLst xmlns:a="http://schemas.openxmlformats.org/drawingml/2006/main">
              <a:ext uri="{FF2B5EF4-FFF2-40B4-BE49-F238E27FC236}">
                <a16:creationId xmlns:a16="http://schemas.microsoft.com/office/drawing/2014/main" id="{FAC77DB5-20A7-4204-B59C-2BB6F916FD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9">
            <a:extLst xmlns:a="http://schemas.openxmlformats.org/drawingml/2006/main">
              <a:ext uri="{FF2B5EF4-FFF2-40B4-BE49-F238E27FC236}">
                <a16:creationId xmlns:a16="http://schemas.microsoft.com/office/drawing/2014/main" id="{E36C7846-61C0-465C-B01B-C2D520BC0F67}"/>
              </a:ext>
            </a:extLst>
          </p:cNvPr>
          <p:cNvSpPr>
            <a:spLocks xmlns:a="http://schemas.openxmlformats.org/drawingml/2006/main" noGrp="1"/>
          </p:cNvSpPr>
          <p:nvPr/>
        </p:nvSpPr>
        <p:spPr>
          <a:xfrm xmlns:a="http://schemas.openxmlformats.org/drawingml/2006/main">
            <a:off x="647700" y="323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持ち帰りテンプレート</a:t>
            </a:r>
          </a:p>
        </p:txBody>
      </p:sp>
      <p:sp>
        <p:nvSpPr>
          <p:cNvPr id="3" name="label-19">
            <a:extLst xmlns:a="http://schemas.openxmlformats.org/drawingml/2006/main">
              <a:ext uri="{FF2B5EF4-FFF2-40B4-BE49-F238E27FC236}">
                <a16:creationId xmlns:a16="http://schemas.microsoft.com/office/drawing/2014/main" id="{BB050C4E-9F46-4923-ADE4-8527D374AC91}"/>
              </a:ext>
            </a:extLst>
          </p:cNvPr>
          <p:cNvSpPr>
            <a:spLocks xmlns:a="http://schemas.openxmlformats.org/drawingml/2006/main" noGrp="1"/>
          </p:cNvSpPr>
          <p:nvPr/>
        </p:nvSpPr>
        <p:spPr>
          <a:xfrm xmlns:a="http://schemas.openxmlformats.org/drawingml/2006/main">
            <a:off x="9620250" y="3238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サイト提案</a:t>
            </a:r>
          </a:p>
        </p:txBody>
      </p:sp>
      <p:sp>
        <p:nvSpPr>
          <p:cNvPr id="4" name="title-19">
            <a:extLst xmlns:a="http://schemas.openxmlformats.org/drawingml/2006/main">
              <a:ext uri="{FF2B5EF4-FFF2-40B4-BE49-F238E27FC236}">
                <a16:creationId xmlns:a16="http://schemas.microsoft.com/office/drawing/2014/main" id="{1EA5591E-93CA-4FCB-A421-F5FF816A5D5E}"/>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02A43"/>
                </a:solidFill>
              </a:defRPr>
            </a:pPr>
            <a:r>
              <a:rPr sz="3000" b="1">
                <a:solidFill>
                  <a:srgbClr val="102A43"/>
                </a:solidFill>
              </a:rPr>
              <a:t>迷ったら、この依頼テンプレートをコピーする</a:t>
            </a:r>
          </a:p>
        </p:txBody>
      </p:sp>
      <p:sp>
        <p:nvSpPr>
          <p:cNvPr id="5" name="title-rule-19">
            <a:extLst xmlns:a="http://schemas.openxmlformats.org/drawingml/2006/main">
              <a:ext uri="{FF2B5EF4-FFF2-40B4-BE49-F238E27FC236}">
                <a16:creationId xmlns:a16="http://schemas.microsoft.com/office/drawing/2014/main" id="{85B617E8-0761-46FC-A3AB-98DF7B6F873F}"/>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9">
            <a:extLst xmlns:a="http://schemas.openxmlformats.org/drawingml/2006/main">
              <a:ext uri="{FF2B5EF4-FFF2-40B4-BE49-F238E27FC236}">
                <a16:creationId xmlns:a16="http://schemas.microsoft.com/office/drawing/2014/main" id="{788FAB7E-4D99-4E4C-A0A6-A9A26CC96C1B}"/>
              </a:ext>
            </a:extLst>
          </p:cNvPr>
          <p:cNvSpPr>
            <a:spLocks xmlns:a="http://schemas.openxmlformats.org/drawingml/2006/main" noGrp="1"/>
          </p:cNvSpPr>
          <p:nvPr/>
        </p:nvSpPr>
        <p:spPr>
          <a:xfrm xmlns:a="http://schemas.openxmlformats.org/drawingml/2006/main">
            <a:off x="647700" y="1428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四要素に、根拠・未確認事項・人の確認点を足してから使う。</a:t>
            </a:r>
          </a:p>
        </p:txBody>
      </p:sp>
      <p:sp>
        <p:nvSpPr>
          <p:cNvPr id="7" name="check-19-0">
            <a:extLst xmlns:a="http://schemas.openxmlformats.org/drawingml/2006/main">
              <a:ext uri="{FF2B5EF4-FFF2-40B4-BE49-F238E27FC236}">
                <a16:creationId xmlns:a16="http://schemas.microsoft.com/office/drawing/2014/main" id="{32C68B79-CDBF-41DB-983E-EF5680C902CA}"/>
              </a:ext>
            </a:extLst>
          </p:cNvPr>
          <p:cNvSpPr>
            <a:spLocks xmlns:a="http://schemas.openxmlformats.org/drawingml/2006/main" noGrp="1"/>
          </p:cNvSpPr>
          <p:nvPr/>
        </p:nvSpPr>
        <p:spPr>
          <a:xfrm xmlns:a="http://schemas.openxmlformats.org/drawingml/2006/main">
            <a:off x="647700" y="22764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19-0">
            <a:extLst xmlns:a="http://schemas.openxmlformats.org/drawingml/2006/main">
              <a:ext uri="{FF2B5EF4-FFF2-40B4-BE49-F238E27FC236}">
                <a16:creationId xmlns:a16="http://schemas.microsoft.com/office/drawing/2014/main" id="{13740084-714C-443D-B140-6C8C31BA8EF9}"/>
              </a:ext>
            </a:extLst>
          </p:cNvPr>
          <p:cNvSpPr>
            <a:spLocks xmlns:a="http://schemas.openxmlformats.org/drawingml/2006/main" noGrp="1"/>
          </p:cNvSpPr>
          <p:nvPr/>
        </p:nvSpPr>
        <p:spPr>
          <a:xfrm xmlns:a="http://schemas.openxmlformats.org/drawingml/2006/main">
            <a:off x="647700" y="22764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text-19-0">
            <a:extLst xmlns:a="http://schemas.openxmlformats.org/drawingml/2006/main">
              <a:ext uri="{FF2B5EF4-FFF2-40B4-BE49-F238E27FC236}">
                <a16:creationId xmlns:a16="http://schemas.microsoft.com/office/drawing/2014/main" id="{CD9A3594-42B2-4D96-A64A-2E9B0A50CE6B}"/>
              </a:ext>
            </a:extLst>
          </p:cNvPr>
          <p:cNvSpPr>
            <a:spLocks xmlns:a="http://schemas.openxmlformats.org/drawingml/2006/main" noGrp="1"/>
          </p:cNvSpPr>
          <p:nvPr/>
        </p:nvSpPr>
        <p:spPr>
          <a:xfrm xmlns:a="http://schemas.openxmlformats.org/drawingml/2006/main">
            <a:off x="1123950" y="22098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目的：この出力を誰が何のために使うか</a:t>
            </a:r>
          </a:p>
        </p:txBody>
      </p:sp>
      <p:sp>
        <p:nvSpPr>
          <p:cNvPr id="10" name="check-rule-19-0">
            <a:extLst xmlns:a="http://schemas.openxmlformats.org/drawingml/2006/main">
              <a:ext uri="{FF2B5EF4-FFF2-40B4-BE49-F238E27FC236}">
                <a16:creationId xmlns:a16="http://schemas.microsoft.com/office/drawing/2014/main" id="{3CF3D4A3-A19F-442D-AFE1-4DEA7A7D250D}"/>
              </a:ext>
            </a:extLst>
          </p:cNvPr>
          <p:cNvSpPr>
            <a:spLocks xmlns:a="http://schemas.openxmlformats.org/drawingml/2006/main" noGrp="1"/>
          </p:cNvSpPr>
          <p:nvPr/>
        </p:nvSpPr>
        <p:spPr>
          <a:xfrm xmlns:a="http://schemas.openxmlformats.org/drawingml/2006/main">
            <a:off x="1123950" y="28194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19-1">
            <a:extLst xmlns:a="http://schemas.openxmlformats.org/drawingml/2006/main">
              <a:ext uri="{FF2B5EF4-FFF2-40B4-BE49-F238E27FC236}">
                <a16:creationId xmlns:a16="http://schemas.microsoft.com/office/drawing/2014/main" id="{8817828E-0316-48ED-BE63-6608F18F90CB}"/>
              </a:ext>
            </a:extLst>
          </p:cNvPr>
          <p:cNvSpPr>
            <a:spLocks xmlns:a="http://schemas.openxmlformats.org/drawingml/2006/main" noGrp="1"/>
          </p:cNvSpPr>
          <p:nvPr/>
        </p:nvSpPr>
        <p:spPr>
          <a:xfrm xmlns:a="http://schemas.openxmlformats.org/drawingml/2006/main">
            <a:off x="647700" y="31146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19-1">
            <a:extLst xmlns:a="http://schemas.openxmlformats.org/drawingml/2006/main">
              <a:ext uri="{FF2B5EF4-FFF2-40B4-BE49-F238E27FC236}">
                <a16:creationId xmlns:a16="http://schemas.microsoft.com/office/drawing/2014/main" id="{142C19A2-4585-4A0A-8997-AD448C3593E6}"/>
              </a:ext>
            </a:extLst>
          </p:cNvPr>
          <p:cNvSpPr>
            <a:spLocks xmlns:a="http://schemas.openxmlformats.org/drawingml/2006/main" noGrp="1"/>
          </p:cNvSpPr>
          <p:nvPr/>
        </p:nvSpPr>
        <p:spPr>
          <a:xfrm xmlns:a="http://schemas.openxmlformats.org/drawingml/2006/main">
            <a:off x="647700" y="31146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text-19-1">
            <a:extLst xmlns:a="http://schemas.openxmlformats.org/drawingml/2006/main">
              <a:ext uri="{FF2B5EF4-FFF2-40B4-BE49-F238E27FC236}">
                <a16:creationId xmlns:a16="http://schemas.microsoft.com/office/drawing/2014/main" id="{52381DA6-AF23-4E8A-9CF0-378BBD7BB248}"/>
              </a:ext>
            </a:extLst>
          </p:cNvPr>
          <p:cNvSpPr>
            <a:spLocks xmlns:a="http://schemas.openxmlformats.org/drawingml/2006/main" noGrp="1"/>
          </p:cNvSpPr>
          <p:nvPr/>
        </p:nvSpPr>
        <p:spPr>
          <a:xfrm xmlns:a="http://schemas.openxmlformats.org/drawingml/2006/main">
            <a:off x="1123950" y="30480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材料：公開・架空・集計・必要最小限の情報</a:t>
            </a:r>
          </a:p>
        </p:txBody>
      </p:sp>
      <p:sp>
        <p:nvSpPr>
          <p:cNvPr id="14" name="check-rule-19-1">
            <a:extLst xmlns:a="http://schemas.openxmlformats.org/drawingml/2006/main">
              <a:ext uri="{FF2B5EF4-FFF2-40B4-BE49-F238E27FC236}">
                <a16:creationId xmlns:a16="http://schemas.microsoft.com/office/drawing/2014/main" id="{1826B483-ACC0-4BBD-96B8-94545533968D}"/>
              </a:ext>
            </a:extLst>
          </p:cNvPr>
          <p:cNvSpPr>
            <a:spLocks xmlns:a="http://schemas.openxmlformats.org/drawingml/2006/main" noGrp="1"/>
          </p:cNvSpPr>
          <p:nvPr/>
        </p:nvSpPr>
        <p:spPr>
          <a:xfrm xmlns:a="http://schemas.openxmlformats.org/drawingml/2006/main">
            <a:off x="1123950" y="36576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19-2">
            <a:extLst xmlns:a="http://schemas.openxmlformats.org/drawingml/2006/main">
              <a:ext uri="{FF2B5EF4-FFF2-40B4-BE49-F238E27FC236}">
                <a16:creationId xmlns:a16="http://schemas.microsoft.com/office/drawing/2014/main" id="{60118059-3BB9-4976-9B09-89060B781262}"/>
              </a:ext>
            </a:extLst>
          </p:cNvPr>
          <p:cNvSpPr>
            <a:spLocks xmlns:a="http://schemas.openxmlformats.org/drawingml/2006/main" noGrp="1"/>
          </p:cNvSpPr>
          <p:nvPr/>
        </p:nvSpPr>
        <p:spPr>
          <a:xfrm xmlns:a="http://schemas.openxmlformats.org/drawingml/2006/main">
            <a:off x="647700" y="39528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19-2">
            <a:extLst xmlns:a="http://schemas.openxmlformats.org/drawingml/2006/main">
              <a:ext uri="{FF2B5EF4-FFF2-40B4-BE49-F238E27FC236}">
                <a16:creationId xmlns:a16="http://schemas.microsoft.com/office/drawing/2014/main" id="{F06C6FB7-1AB8-4920-BE54-36051A07B73B}"/>
              </a:ext>
            </a:extLst>
          </p:cNvPr>
          <p:cNvSpPr>
            <a:spLocks xmlns:a="http://schemas.openxmlformats.org/drawingml/2006/main" noGrp="1"/>
          </p:cNvSpPr>
          <p:nvPr/>
        </p:nvSpPr>
        <p:spPr>
          <a:xfrm xmlns:a="http://schemas.openxmlformats.org/drawingml/2006/main">
            <a:off x="647700" y="39528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text-19-2">
            <a:extLst xmlns:a="http://schemas.openxmlformats.org/drawingml/2006/main">
              <a:ext uri="{FF2B5EF4-FFF2-40B4-BE49-F238E27FC236}">
                <a16:creationId xmlns:a16="http://schemas.microsoft.com/office/drawing/2014/main" id="{58E95A81-39F1-45A7-8967-BE4D380C5CF9}"/>
              </a:ext>
            </a:extLst>
          </p:cNvPr>
          <p:cNvSpPr>
            <a:spLocks xmlns:a="http://schemas.openxmlformats.org/drawingml/2006/main" noGrp="1"/>
          </p:cNvSpPr>
          <p:nvPr/>
        </p:nvSpPr>
        <p:spPr>
          <a:xfrm xmlns:a="http://schemas.openxmlformats.org/drawingml/2006/main">
            <a:off x="1123950" y="38862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完成形：見出し、表、長さ、案数</a:t>
            </a:r>
          </a:p>
        </p:txBody>
      </p:sp>
      <p:sp>
        <p:nvSpPr>
          <p:cNvPr id="18" name="check-rule-19-2">
            <a:extLst xmlns:a="http://schemas.openxmlformats.org/drawingml/2006/main">
              <a:ext uri="{FF2B5EF4-FFF2-40B4-BE49-F238E27FC236}">
                <a16:creationId xmlns:a16="http://schemas.microsoft.com/office/drawing/2014/main" id="{DD085B4B-70C7-4760-AE62-773FE93C8BE4}"/>
              </a:ext>
            </a:extLst>
          </p:cNvPr>
          <p:cNvSpPr>
            <a:spLocks xmlns:a="http://schemas.openxmlformats.org/drawingml/2006/main" noGrp="1"/>
          </p:cNvSpPr>
          <p:nvPr/>
        </p:nvSpPr>
        <p:spPr>
          <a:xfrm xmlns:a="http://schemas.openxmlformats.org/drawingml/2006/main">
            <a:off x="1123950" y="44958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19-3">
            <a:extLst xmlns:a="http://schemas.openxmlformats.org/drawingml/2006/main">
              <a:ext uri="{FF2B5EF4-FFF2-40B4-BE49-F238E27FC236}">
                <a16:creationId xmlns:a16="http://schemas.microsoft.com/office/drawing/2014/main" id="{AFC4F414-CA56-45A9-94CB-BC53E3F28785}"/>
              </a:ext>
            </a:extLst>
          </p:cNvPr>
          <p:cNvSpPr>
            <a:spLocks xmlns:a="http://schemas.openxmlformats.org/drawingml/2006/main" noGrp="1"/>
          </p:cNvSpPr>
          <p:nvPr/>
        </p:nvSpPr>
        <p:spPr>
          <a:xfrm xmlns:a="http://schemas.openxmlformats.org/drawingml/2006/main">
            <a:off x="6076950" y="22764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19-3">
            <a:extLst xmlns:a="http://schemas.openxmlformats.org/drawingml/2006/main">
              <a:ext uri="{FF2B5EF4-FFF2-40B4-BE49-F238E27FC236}">
                <a16:creationId xmlns:a16="http://schemas.microsoft.com/office/drawing/2014/main" id="{2FDED139-E4DB-4CC8-9742-F29CC22A3CB3}"/>
              </a:ext>
            </a:extLst>
          </p:cNvPr>
          <p:cNvSpPr>
            <a:spLocks xmlns:a="http://schemas.openxmlformats.org/drawingml/2006/main" noGrp="1"/>
          </p:cNvSpPr>
          <p:nvPr/>
        </p:nvSpPr>
        <p:spPr>
          <a:xfrm xmlns:a="http://schemas.openxmlformats.org/drawingml/2006/main">
            <a:off x="6076950" y="22764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text-19-3">
            <a:extLst xmlns:a="http://schemas.openxmlformats.org/drawingml/2006/main">
              <a:ext uri="{FF2B5EF4-FFF2-40B4-BE49-F238E27FC236}">
                <a16:creationId xmlns:a16="http://schemas.microsoft.com/office/drawing/2014/main" id="{E85B310A-F5F1-4CE1-A7D6-E9D25DB5330A}"/>
              </a:ext>
            </a:extLst>
          </p:cNvPr>
          <p:cNvSpPr>
            <a:spLocks xmlns:a="http://schemas.openxmlformats.org/drawingml/2006/main" noGrp="1"/>
          </p:cNvSpPr>
          <p:nvPr/>
        </p:nvSpPr>
        <p:spPr>
          <a:xfrm xmlns:a="http://schemas.openxmlformats.org/drawingml/2006/main">
            <a:off x="6553200" y="22098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条件：推測しない、未確認を表示する</a:t>
            </a:r>
          </a:p>
        </p:txBody>
      </p:sp>
      <p:sp>
        <p:nvSpPr>
          <p:cNvPr id="22" name="check-rule-19-3">
            <a:extLst xmlns:a="http://schemas.openxmlformats.org/drawingml/2006/main">
              <a:ext uri="{FF2B5EF4-FFF2-40B4-BE49-F238E27FC236}">
                <a16:creationId xmlns:a16="http://schemas.microsoft.com/office/drawing/2014/main" id="{DC5F3EC4-9462-417F-AB32-55924273D5F5}"/>
              </a:ext>
            </a:extLst>
          </p:cNvPr>
          <p:cNvSpPr>
            <a:spLocks xmlns:a="http://schemas.openxmlformats.org/drawingml/2006/main" noGrp="1"/>
          </p:cNvSpPr>
          <p:nvPr/>
        </p:nvSpPr>
        <p:spPr>
          <a:xfrm xmlns:a="http://schemas.openxmlformats.org/drawingml/2006/main">
            <a:off x="6553200" y="28194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check-19-4">
            <a:extLst xmlns:a="http://schemas.openxmlformats.org/drawingml/2006/main">
              <a:ext uri="{FF2B5EF4-FFF2-40B4-BE49-F238E27FC236}">
                <a16:creationId xmlns:a16="http://schemas.microsoft.com/office/drawing/2014/main" id="{B1D95584-281F-40B0-83A0-596F2D82F0F1}"/>
              </a:ext>
            </a:extLst>
          </p:cNvPr>
          <p:cNvSpPr>
            <a:spLocks xmlns:a="http://schemas.openxmlformats.org/drawingml/2006/main" noGrp="1"/>
          </p:cNvSpPr>
          <p:nvPr/>
        </p:nvSpPr>
        <p:spPr>
          <a:xfrm xmlns:a="http://schemas.openxmlformats.org/drawingml/2006/main">
            <a:off x="6076950" y="3114675"/>
            <a:ext cx="323850" cy="32385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4" name="check-mark-19-4">
            <a:extLst xmlns:a="http://schemas.openxmlformats.org/drawingml/2006/main">
              <a:ext uri="{FF2B5EF4-FFF2-40B4-BE49-F238E27FC236}">
                <a16:creationId xmlns:a16="http://schemas.microsoft.com/office/drawing/2014/main" id="{D639AB95-3959-4558-BA88-5CE9BBF609A5}"/>
              </a:ext>
            </a:extLst>
          </p:cNvPr>
          <p:cNvSpPr>
            <a:spLocks xmlns:a="http://schemas.openxmlformats.org/drawingml/2006/main" noGrp="1"/>
          </p:cNvSpPr>
          <p:nvPr/>
        </p:nvSpPr>
        <p:spPr>
          <a:xfrm xmlns:a="http://schemas.openxmlformats.org/drawingml/2006/main">
            <a:off x="6076950" y="31146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5" name="check-text-19-4">
            <a:extLst xmlns:a="http://schemas.openxmlformats.org/drawingml/2006/main">
              <a:ext uri="{FF2B5EF4-FFF2-40B4-BE49-F238E27FC236}">
                <a16:creationId xmlns:a16="http://schemas.microsoft.com/office/drawing/2014/main" id="{511E8377-61DC-4C88-B604-84AE1610C58D}"/>
              </a:ext>
            </a:extLst>
          </p:cNvPr>
          <p:cNvSpPr>
            <a:spLocks xmlns:a="http://schemas.openxmlformats.org/drawingml/2006/main" noGrp="1"/>
          </p:cNvSpPr>
          <p:nvPr/>
        </p:nvSpPr>
        <p:spPr>
          <a:xfrm xmlns:a="http://schemas.openxmlformats.org/drawingml/2006/main">
            <a:off x="6553200" y="30480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確認：原資料、確認項目、責任者を示す</a:t>
            </a:r>
          </a:p>
        </p:txBody>
      </p:sp>
      <p:sp>
        <p:nvSpPr>
          <p:cNvPr id="26" name="check-rule-19-4">
            <a:extLst xmlns:a="http://schemas.openxmlformats.org/drawingml/2006/main">
              <a:ext uri="{FF2B5EF4-FFF2-40B4-BE49-F238E27FC236}">
                <a16:creationId xmlns:a16="http://schemas.microsoft.com/office/drawing/2014/main" id="{5A1D81A5-5D7D-4546-861E-86FE267BFCE4}"/>
              </a:ext>
            </a:extLst>
          </p:cNvPr>
          <p:cNvSpPr>
            <a:spLocks xmlns:a="http://schemas.openxmlformats.org/drawingml/2006/main" noGrp="1"/>
          </p:cNvSpPr>
          <p:nvPr/>
        </p:nvSpPr>
        <p:spPr>
          <a:xfrm xmlns:a="http://schemas.openxmlformats.org/drawingml/2006/main">
            <a:off x="6553200" y="3657600"/>
            <a:ext cx="47625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7" name="body-19">
            <a:extLst xmlns:a="http://schemas.openxmlformats.org/drawingml/2006/main">
              <a:ext uri="{FF2B5EF4-FFF2-40B4-BE49-F238E27FC236}">
                <a16:creationId xmlns:a16="http://schemas.microsoft.com/office/drawing/2014/main" id="{4E05ACF1-7D8D-4FA0-BAB4-B1261BF514B3}"/>
              </a:ext>
            </a:extLst>
          </p:cNvPr>
          <p:cNvSpPr>
            <a:spLocks xmlns:a="http://schemas.openxmlformats.org/drawingml/2006/main" noGrp="1"/>
          </p:cNvSpPr>
          <p:nvPr/>
        </p:nvSpPr>
        <p:spPr>
          <a:xfrm xmlns:a="http://schemas.openxmlformats.org/drawingml/2006/main">
            <a:off x="647700" y="52197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【目的】誰が何に使う／【材料】使ってよい事実だけ／【完成形】見出し・長さ／【条件】推測禁止・未確認表示／【人の確認点】原資料・担当者・承認</a:t>
            </a:r>
          </a:p>
        </p:txBody>
      </p:sp>
      <p:sp>
        <p:nvSpPr>
          <p:cNvPr id="28" name="footer-rule-19">
            <a:extLst xmlns:a="http://schemas.openxmlformats.org/drawingml/2006/main">
              <a:ext uri="{FF2B5EF4-FFF2-40B4-BE49-F238E27FC236}">
                <a16:creationId xmlns:a16="http://schemas.microsoft.com/office/drawing/2014/main" id="{2E4226B9-CE16-4580-BE94-F4A5EE8CFF0C}"/>
              </a:ext>
            </a:extLst>
          </p:cNvPr>
          <p:cNvSpPr>
            <a:spLocks xmlns:a="http://schemas.openxmlformats.org/drawingml/2006/main" noGrp="1"/>
          </p:cNvSpPr>
          <p:nvPr/>
        </p:nvSpPr>
        <p:spPr>
          <a:xfrm xmlns:a="http://schemas.openxmlformats.org/drawingml/2006/main">
            <a:off x="647700" y="59626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9" name="footer-source-19">
            <a:extLst xmlns:a="http://schemas.openxmlformats.org/drawingml/2006/main">
              <a:ext uri="{FF2B5EF4-FFF2-40B4-BE49-F238E27FC236}">
                <a16:creationId xmlns:a16="http://schemas.microsoft.com/office/drawing/2014/main" id="{3F55B385-92A2-44AF-9CF9-7292277D6D08}"/>
              </a:ext>
            </a:extLst>
          </p:cNvPr>
          <p:cNvSpPr>
            <a:spLocks xmlns:a="http://schemas.openxmlformats.org/drawingml/2006/main" noGrp="1"/>
          </p:cNvSpPr>
          <p:nvPr/>
        </p:nvSpPr>
        <p:spPr>
          <a:xfrm xmlns:a="http://schemas.openxmlformats.org/drawingml/2006/main">
            <a:off x="647700" y="60579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26270"/>
                </a:solidFill>
              </a:defRPr>
            </a:pPr>
            <a:r>
              <a:rPr sz="900" b="0">
                <a:solidFill>
                  <a:srgbClr val="526270"/>
                </a:solidFill>
              </a:rPr>
              <a:t>出典 S1・S2・S4・S3・S6・S5（詳細はノート）</a:t>
            </a:r>
          </a:p>
        </p:txBody>
      </p:sp>
      <p:sp>
        <p:nvSpPr>
          <p:cNvPr id="30" name="footer-no-19">
            <a:extLst xmlns:a="http://schemas.openxmlformats.org/drawingml/2006/main">
              <a:ext uri="{FF2B5EF4-FFF2-40B4-BE49-F238E27FC236}">
                <a16:creationId xmlns:a16="http://schemas.microsoft.com/office/drawing/2014/main" id="{82192EBB-AC38-4532-A5F9-3E455E606AFD}"/>
              </a:ext>
            </a:extLst>
          </p:cNvPr>
          <p:cNvSpPr>
            <a:spLocks xmlns:a="http://schemas.openxmlformats.org/drawingml/2006/main" noGrp="1"/>
          </p:cNvSpPr>
          <p:nvPr/>
        </p:nvSpPr>
        <p:spPr>
          <a:xfrm xmlns:a="http://schemas.openxmlformats.org/drawingml/2006/main">
            <a:off x="10287000" y="605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0B6B66"/>
                </a:solidFill>
              </a:defRPr>
            </a:pPr>
            <a:r>
              <a:rPr sz="900" b="1">
                <a:solidFill>
                  <a:srgbClr val="0B6B66"/>
                </a:solidFill>
              </a:rPr>
              <a:t>19 / 20</a:t>
            </a:r>
          </a:p>
        </p:txBody>
      </p:sp>
    </p:spTree>
    <p:extLst>
      <p:ext uri="{BB962C8B-B14F-4D97-AF65-F5344CB8AC3E}">
        <p14:creationId xmlns:p14="http://schemas.microsoft.com/office/powerpoint/2010/main" val="1147219718"/>
      </p:ext>
    </p:extLst>
  </p:cSld>
</p:sld>
</file>

<file path=ppt/slides/slide20.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8" name="summary-accent">
            <a:extLst xmlns:a="http://schemas.openxmlformats.org/drawingml/2006/main">
              <a:ext uri="{FF2B5EF4-FFF2-40B4-BE49-F238E27FC236}">
                <a16:creationId xmlns:a16="http://schemas.microsoft.com/office/drawing/2014/main" id="{B42C6254-D7DB-4E93-8C56-57132B939275}"/>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 name="summary-kicker">
            <a:extLst xmlns:a="http://schemas.openxmlformats.org/drawingml/2006/main">
              <a:ext uri="{FF2B5EF4-FFF2-40B4-BE49-F238E27FC236}">
                <a16:creationId xmlns:a16="http://schemas.microsoft.com/office/drawing/2014/main" id="{718D2400-9464-4F52-85D9-F2B3B67131E7}"/>
              </a:ext>
            </a:extLst>
          </p:cNvPr>
          <p:cNvSpPr>
            <a:spLocks xmlns:a="http://schemas.openxmlformats.org/drawingml/2006/main" noGrp="1"/>
          </p:cNvSpPr>
          <p:nvPr/>
        </p:nvSpPr>
        <p:spPr>
          <a:xfrm xmlns:a="http://schemas.openxmlformats.org/drawingml/2006/main">
            <a:off x="800100" y="5334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BDE8E2"/>
                </a:solidFill>
              </a:defRPr>
            </a:pPr>
            <a:r>
              <a:rPr sz="1500" b="1">
                <a:solidFill>
                  <a:srgbClr val="BDE8E2"/>
                </a:solidFill>
              </a:rPr>
              <a:t>まとめ</a:t>
            </a:r>
          </a:p>
        </p:txBody>
      </p:sp>
      <p:sp>
        <p:nvSpPr>
          <p:cNvPr id="3" name="summary-title">
            <a:extLst xmlns:a="http://schemas.openxmlformats.org/drawingml/2006/main">
              <a:ext uri="{FF2B5EF4-FFF2-40B4-BE49-F238E27FC236}">
                <a16:creationId xmlns:a16="http://schemas.microsoft.com/office/drawing/2014/main" id="{D71FC296-D302-4282-8E53-66772117D235}"/>
              </a:ext>
            </a:extLst>
          </p:cNvPr>
          <p:cNvSpPr>
            <a:spLocks xmlns:a="http://schemas.openxmlformats.org/drawingml/2006/main" noGrp="1"/>
          </p:cNvSpPr>
          <p:nvPr/>
        </p:nvSpPr>
        <p:spPr>
          <a:xfrm xmlns:a="http://schemas.openxmlformats.org/drawingml/2006/main">
            <a:off x="800100" y="10096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FFFFFF"/>
                </a:solidFill>
              </a:defRPr>
            </a:pPr>
            <a:r>
              <a:rPr sz="3450" b="1">
                <a:solidFill>
                  <a:srgbClr val="FFFFFF"/>
                </a:solidFill>
              </a:rPr>
              <a:t>明日から、1件をこの順番で試す</a:t>
            </a:r>
          </a:p>
        </p:txBody>
      </p:sp>
      <p:sp>
        <p:nvSpPr>
          <p:cNvPr id="4" name="summary-no-0">
            <a:extLst xmlns:a="http://schemas.openxmlformats.org/drawingml/2006/main">
              <a:ext uri="{FF2B5EF4-FFF2-40B4-BE49-F238E27FC236}">
                <a16:creationId xmlns:a16="http://schemas.microsoft.com/office/drawing/2014/main" id="{EECA5DFC-69C4-4D0E-BB3A-D98D0918A397}"/>
              </a:ext>
            </a:extLst>
          </p:cNvPr>
          <p:cNvSpPr>
            <a:spLocks xmlns:a="http://schemas.openxmlformats.org/drawingml/2006/main" noGrp="1"/>
          </p:cNvSpPr>
          <p:nvPr/>
        </p:nvSpPr>
        <p:spPr>
          <a:xfrm xmlns:a="http://schemas.openxmlformats.org/drawingml/2006/main">
            <a:off x="838200" y="2038350"/>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01</a:t>
            </a:r>
          </a:p>
        </p:txBody>
      </p:sp>
      <p:sp>
        <p:nvSpPr>
          <p:cNvPr id="5" name="summary-label-0">
            <a:extLst xmlns:a="http://schemas.openxmlformats.org/drawingml/2006/main">
              <a:ext uri="{FF2B5EF4-FFF2-40B4-BE49-F238E27FC236}">
                <a16:creationId xmlns:a16="http://schemas.microsoft.com/office/drawing/2014/main" id="{C85203C8-7ABF-4B73-A024-7247EB9F3892}"/>
              </a:ext>
            </a:extLst>
          </p:cNvPr>
          <p:cNvSpPr>
            <a:spLocks xmlns:a="http://schemas.openxmlformats.org/drawingml/2006/main" noGrp="1"/>
          </p:cNvSpPr>
          <p:nvPr/>
        </p:nvSpPr>
        <p:spPr>
          <a:xfrm xmlns:a="http://schemas.openxmlformats.org/drawingml/2006/main">
            <a:off x="1657350" y="20383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FFFFFF"/>
                </a:solidFill>
              </a:defRPr>
            </a:pPr>
            <a:r>
              <a:rPr sz="2100" b="1">
                <a:solidFill>
                  <a:srgbClr val="FFFFFF"/>
                </a:solidFill>
              </a:rPr>
              <a:t>頼む</a:t>
            </a:r>
          </a:p>
        </p:txBody>
      </p:sp>
      <p:sp>
        <p:nvSpPr>
          <p:cNvPr id="6" name="summary-card-0">
            <a:extLst xmlns:a="http://schemas.openxmlformats.org/drawingml/2006/main">
              <a:ext uri="{FF2B5EF4-FFF2-40B4-BE49-F238E27FC236}">
                <a16:creationId xmlns:a16="http://schemas.microsoft.com/office/drawing/2014/main" id="{5A5A7DE1-825B-40E9-83AD-D3999F773530}"/>
              </a:ext>
            </a:extLst>
          </p:cNvPr>
          <p:cNvSpPr>
            <a:spLocks xmlns:a="http://schemas.openxmlformats.org/drawingml/2006/main" noGrp="1"/>
          </p:cNvSpPr>
          <p:nvPr/>
        </p:nvSpPr>
        <p:spPr>
          <a:xfrm xmlns:a="http://schemas.openxmlformats.org/drawingml/2006/main">
            <a:off x="4686300" y="1962150"/>
            <a:ext cx="6172200" cy="723900"/>
          </a:xfrm>
          <a:prstGeom xmlns:a="http://schemas.openxmlformats.org/drawingml/2006/main" prst="roundRect">
            <a:avLst>
              <a:gd name="adj" fmla="val 15789"/>
            </a:avLst>
          </a:prstGeom>
          <a:solidFill xmlns:a="http://schemas.openxmlformats.org/drawingml/2006/main">
            <a:srgbClr val="0B6B66"/>
          </a:solidFill>
          <a:ln xmlns:a="http://schemas.openxmlformats.org/drawingml/2006/main" w="0">
            <a:noFill/>
            <a:prstDash val="solid"/>
          </a:ln>
        </p:spPr>
      </p:sp>
      <p:sp>
        <p:nvSpPr>
          <p:cNvPr id="7" name="summary-detail-0">
            <a:extLst xmlns:a="http://schemas.openxmlformats.org/drawingml/2006/main">
              <a:ext uri="{FF2B5EF4-FFF2-40B4-BE49-F238E27FC236}">
                <a16:creationId xmlns:a16="http://schemas.microsoft.com/office/drawing/2014/main" id="{1ED921E6-70E5-414F-80A4-A5EA5F34CF42}"/>
              </a:ext>
            </a:extLst>
          </p:cNvPr>
          <p:cNvSpPr>
            <a:spLocks xmlns:a="http://schemas.openxmlformats.org/drawingml/2006/main" noGrp="1"/>
          </p:cNvSpPr>
          <p:nvPr/>
        </p:nvSpPr>
        <p:spPr>
          <a:xfrm xmlns:a="http://schemas.openxmlformats.org/drawingml/2006/main">
            <a:off x="4914900" y="205740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目的・材料・完成形・確認条件</a:t>
            </a:r>
          </a:p>
        </p:txBody>
      </p:sp>
      <p:sp>
        <p:nvSpPr>
          <p:cNvPr id="8" name="summary-no-1">
            <a:extLst xmlns:a="http://schemas.openxmlformats.org/drawingml/2006/main">
              <a:ext uri="{FF2B5EF4-FFF2-40B4-BE49-F238E27FC236}">
                <a16:creationId xmlns:a16="http://schemas.microsoft.com/office/drawing/2014/main" id="{D717C1AB-97EB-4957-9FA6-288AECF63785}"/>
              </a:ext>
            </a:extLst>
          </p:cNvPr>
          <p:cNvSpPr>
            <a:spLocks xmlns:a="http://schemas.openxmlformats.org/drawingml/2006/main" noGrp="1"/>
          </p:cNvSpPr>
          <p:nvPr/>
        </p:nvSpPr>
        <p:spPr>
          <a:xfrm xmlns:a="http://schemas.openxmlformats.org/drawingml/2006/main">
            <a:off x="838200" y="3105150"/>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02</a:t>
            </a:r>
          </a:p>
        </p:txBody>
      </p:sp>
      <p:sp>
        <p:nvSpPr>
          <p:cNvPr id="9" name="summary-label-1">
            <a:extLst xmlns:a="http://schemas.openxmlformats.org/drawingml/2006/main">
              <a:ext uri="{FF2B5EF4-FFF2-40B4-BE49-F238E27FC236}">
                <a16:creationId xmlns:a16="http://schemas.microsoft.com/office/drawing/2014/main" id="{57C06F70-8E91-4B6C-9037-CC6A2BB394D6}"/>
              </a:ext>
            </a:extLst>
          </p:cNvPr>
          <p:cNvSpPr>
            <a:spLocks xmlns:a="http://schemas.openxmlformats.org/drawingml/2006/main" noGrp="1"/>
          </p:cNvSpPr>
          <p:nvPr/>
        </p:nvSpPr>
        <p:spPr>
          <a:xfrm xmlns:a="http://schemas.openxmlformats.org/drawingml/2006/main">
            <a:off x="1657350" y="31051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FFFFFF"/>
                </a:solidFill>
              </a:defRPr>
            </a:pPr>
            <a:r>
              <a:rPr sz="2100" b="1">
                <a:solidFill>
                  <a:srgbClr val="FFFFFF"/>
                </a:solidFill>
              </a:rPr>
              <a:t>確かめる</a:t>
            </a:r>
          </a:p>
        </p:txBody>
      </p:sp>
      <p:sp>
        <p:nvSpPr>
          <p:cNvPr id="10" name="summary-card-1">
            <a:extLst xmlns:a="http://schemas.openxmlformats.org/drawingml/2006/main">
              <a:ext uri="{FF2B5EF4-FFF2-40B4-BE49-F238E27FC236}">
                <a16:creationId xmlns:a16="http://schemas.microsoft.com/office/drawing/2014/main" id="{8B0AEF52-1759-4439-AFF5-BC4DD5888AC5}"/>
              </a:ext>
            </a:extLst>
          </p:cNvPr>
          <p:cNvSpPr>
            <a:spLocks xmlns:a="http://schemas.openxmlformats.org/drawingml/2006/main" noGrp="1"/>
          </p:cNvSpPr>
          <p:nvPr/>
        </p:nvSpPr>
        <p:spPr>
          <a:xfrm xmlns:a="http://schemas.openxmlformats.org/drawingml/2006/main">
            <a:off x="4686300" y="3028950"/>
            <a:ext cx="6172200" cy="723900"/>
          </a:xfrm>
          <a:prstGeom xmlns:a="http://schemas.openxmlformats.org/drawingml/2006/main" prst="roundRect">
            <a:avLst>
              <a:gd name="adj" fmla="val 15789"/>
            </a:avLst>
          </a:prstGeom>
          <a:solidFill xmlns:a="http://schemas.openxmlformats.org/drawingml/2006/main">
            <a:srgbClr val="0369A1"/>
          </a:solidFill>
          <a:ln xmlns:a="http://schemas.openxmlformats.org/drawingml/2006/main" w="0">
            <a:noFill/>
            <a:prstDash val="solid"/>
          </a:ln>
        </p:spPr>
      </p:sp>
      <p:sp>
        <p:nvSpPr>
          <p:cNvPr id="11" name="summary-detail-1">
            <a:extLst xmlns:a="http://schemas.openxmlformats.org/drawingml/2006/main">
              <a:ext uri="{FF2B5EF4-FFF2-40B4-BE49-F238E27FC236}">
                <a16:creationId xmlns:a16="http://schemas.microsoft.com/office/drawing/2014/main" id="{E2BE6F0B-9DC7-4B72-B519-89FCBEDABD9B}"/>
              </a:ext>
            </a:extLst>
          </p:cNvPr>
          <p:cNvSpPr>
            <a:spLocks xmlns:a="http://schemas.openxmlformats.org/drawingml/2006/main" noGrp="1"/>
          </p:cNvSpPr>
          <p:nvPr/>
        </p:nvSpPr>
        <p:spPr>
          <a:xfrm xmlns:a="http://schemas.openxmlformats.org/drawingml/2006/main">
            <a:off x="4914900" y="312420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数字・引用・法令を原資料へ</a:t>
            </a:r>
          </a:p>
        </p:txBody>
      </p:sp>
      <p:sp>
        <p:nvSpPr>
          <p:cNvPr id="12" name="summary-no-2">
            <a:extLst xmlns:a="http://schemas.openxmlformats.org/drawingml/2006/main">
              <a:ext uri="{FF2B5EF4-FFF2-40B4-BE49-F238E27FC236}">
                <a16:creationId xmlns:a16="http://schemas.microsoft.com/office/drawing/2014/main" id="{FE19C2D0-9CF8-4A44-8C34-A532E7C3E19A}"/>
              </a:ext>
            </a:extLst>
          </p:cNvPr>
          <p:cNvSpPr>
            <a:spLocks xmlns:a="http://schemas.openxmlformats.org/drawingml/2006/main" noGrp="1"/>
          </p:cNvSpPr>
          <p:nvPr/>
        </p:nvSpPr>
        <p:spPr>
          <a:xfrm xmlns:a="http://schemas.openxmlformats.org/drawingml/2006/main">
            <a:off x="838200" y="4171950"/>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97316"/>
                </a:solidFill>
              </a:defRPr>
            </a:pPr>
            <a:r>
              <a:rPr sz="2850" b="1">
                <a:solidFill>
                  <a:srgbClr val="F97316"/>
                </a:solidFill>
              </a:rPr>
              <a:t>03</a:t>
            </a:r>
          </a:p>
        </p:txBody>
      </p:sp>
      <p:sp>
        <p:nvSpPr>
          <p:cNvPr id="13" name="summary-label-2">
            <a:extLst xmlns:a="http://schemas.openxmlformats.org/drawingml/2006/main">
              <a:ext uri="{FF2B5EF4-FFF2-40B4-BE49-F238E27FC236}">
                <a16:creationId xmlns:a16="http://schemas.microsoft.com/office/drawing/2014/main" id="{1D884521-FD48-4D42-8FCE-E93E16D35ADE}"/>
              </a:ext>
            </a:extLst>
          </p:cNvPr>
          <p:cNvSpPr>
            <a:spLocks xmlns:a="http://schemas.openxmlformats.org/drawingml/2006/main" noGrp="1"/>
          </p:cNvSpPr>
          <p:nvPr/>
        </p:nvSpPr>
        <p:spPr>
          <a:xfrm xmlns:a="http://schemas.openxmlformats.org/drawingml/2006/main">
            <a:off x="1657350" y="4171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FFFFFF"/>
                </a:solidFill>
              </a:defRPr>
            </a:pPr>
            <a:r>
              <a:rPr sz="2100" b="1">
                <a:solidFill>
                  <a:srgbClr val="FFFFFF"/>
                </a:solidFill>
              </a:rPr>
              <a:t>決める</a:t>
            </a:r>
          </a:p>
        </p:txBody>
      </p:sp>
      <p:sp>
        <p:nvSpPr>
          <p:cNvPr id="14" name="summary-card-2">
            <a:extLst xmlns:a="http://schemas.openxmlformats.org/drawingml/2006/main">
              <a:ext uri="{FF2B5EF4-FFF2-40B4-BE49-F238E27FC236}">
                <a16:creationId xmlns:a16="http://schemas.microsoft.com/office/drawing/2014/main" id="{2D169EB7-0895-434F-884D-A6C61E7DAC5A}"/>
              </a:ext>
            </a:extLst>
          </p:cNvPr>
          <p:cNvSpPr>
            <a:spLocks xmlns:a="http://schemas.openxmlformats.org/drawingml/2006/main" noGrp="1"/>
          </p:cNvSpPr>
          <p:nvPr/>
        </p:nvSpPr>
        <p:spPr>
          <a:xfrm xmlns:a="http://schemas.openxmlformats.org/drawingml/2006/main">
            <a:off x="4686300" y="4095750"/>
            <a:ext cx="6172200" cy="723900"/>
          </a:xfrm>
          <a:prstGeom xmlns:a="http://schemas.openxmlformats.org/drawingml/2006/main" prst="roundRect">
            <a:avLst>
              <a:gd name="adj" fmla="val 15789"/>
            </a:avLst>
          </a:prstGeom>
          <a:solidFill xmlns:a="http://schemas.openxmlformats.org/drawingml/2006/main">
            <a:srgbClr val="F97316"/>
          </a:solidFill>
          <a:ln xmlns:a="http://schemas.openxmlformats.org/drawingml/2006/main" w="0">
            <a:noFill/>
            <a:prstDash val="solid"/>
          </a:ln>
        </p:spPr>
      </p:sp>
      <p:sp>
        <p:nvSpPr>
          <p:cNvPr id="15" name="summary-detail-2">
            <a:extLst xmlns:a="http://schemas.openxmlformats.org/drawingml/2006/main">
              <a:ext uri="{FF2B5EF4-FFF2-40B4-BE49-F238E27FC236}">
                <a16:creationId xmlns:a16="http://schemas.microsoft.com/office/drawing/2014/main" id="{43610E0B-AEEE-41DE-A9FF-0B6675A66197}"/>
              </a:ext>
            </a:extLst>
          </p:cNvPr>
          <p:cNvSpPr>
            <a:spLocks xmlns:a="http://schemas.openxmlformats.org/drawingml/2006/main" noGrp="1"/>
          </p:cNvSpPr>
          <p:nvPr/>
        </p:nvSpPr>
        <p:spPr>
          <a:xfrm xmlns:a="http://schemas.openxmlformats.org/drawingml/2006/main">
            <a:off x="4914900" y="419100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担当者が修正・承認して利用</a:t>
            </a:r>
          </a:p>
        </p:txBody>
      </p:sp>
      <p:sp>
        <p:nvSpPr>
          <p:cNvPr id="16" name="summary-action">
            <a:extLst xmlns:a="http://schemas.openxmlformats.org/drawingml/2006/main">
              <a:ext uri="{FF2B5EF4-FFF2-40B4-BE49-F238E27FC236}">
                <a16:creationId xmlns:a16="http://schemas.microsoft.com/office/drawing/2014/main" id="{413222A3-8173-4F9A-967F-0B4E6E24CE6B}"/>
              </a:ext>
            </a:extLst>
          </p:cNvPr>
          <p:cNvSpPr>
            <a:spLocks xmlns:a="http://schemas.openxmlformats.org/drawingml/2006/main" noGrp="1"/>
          </p:cNvSpPr>
          <p:nvPr/>
        </p:nvSpPr>
        <p:spPr>
          <a:xfrm xmlns:a="http://schemas.openxmlformats.org/drawingml/2006/main">
            <a:off x="819150" y="5467350"/>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E2F4F1"/>
                </a:solidFill>
              </a:defRPr>
            </a:pPr>
            <a:r>
              <a:rPr sz="1350" b="1">
                <a:solidFill>
                  <a:srgbClr val="E2F4F1"/>
                </a:solidFill>
              </a:rPr>
              <a:t>まずは低リスクな下書き1件から。入力前に会社ルールと利用環境を確認する</a:t>
            </a:r>
          </a:p>
        </p:txBody>
      </p:sp>
      <p:sp>
        <p:nvSpPr>
          <p:cNvPr id="17" name="summary-no">
            <a:extLst xmlns:a="http://schemas.openxmlformats.org/drawingml/2006/main">
              <a:ext uri="{FF2B5EF4-FFF2-40B4-BE49-F238E27FC236}">
                <a16:creationId xmlns:a16="http://schemas.microsoft.com/office/drawing/2014/main" id="{57493A07-AF71-4570-8146-545BB3709770}"/>
              </a:ext>
            </a:extLst>
          </p:cNvPr>
          <p:cNvSpPr>
            <a:spLocks xmlns:a="http://schemas.openxmlformats.org/drawingml/2006/main" noGrp="1"/>
          </p:cNvSpPr>
          <p:nvPr/>
        </p:nvSpPr>
        <p:spPr>
          <a:xfrm xmlns:a="http://schemas.openxmlformats.org/drawingml/2006/main">
            <a:off x="10287000" y="6229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92CBC4"/>
                </a:solidFill>
              </a:defRPr>
            </a:pPr>
            <a:r>
              <a:rPr sz="1050" b="0">
                <a:solidFill>
                  <a:srgbClr val="92CBC4"/>
                </a:solidFill>
              </a:rPr>
              <a:t>20 / 20</a:t>
            </a:r>
          </a:p>
        </p:txBody>
      </p:sp>
    </p:spTree>
    <p:extLst>
      <p:ext uri="{BB962C8B-B14F-4D97-AF65-F5344CB8AC3E}">
        <p14:creationId xmlns:p14="http://schemas.microsoft.com/office/powerpoint/2010/main" val="1731638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title>AIチャット仕事術</dc:title>
  <dc:subject>メール・報告書・調査・レビュー・安全な書換えを、具体例で練習する60分の社内研修／労働安全コンサルタント監修</dc:subject>
  <dc:creator>安全AIポータル編集部</dc:creator>
  <cp:lastModifiedBy>安全AIポータル編集部</cp:lastModifiedBy>
  <cp:category>労働安全コンサルタント監修</cp:category>
  <cp:keywords>AI実務研修,AIチャット,プロンプト,一次資料確認</cp:keywords>
  <dc:description>この教材は社内AI研修用です。資格・認定講座ではなく、個別案件の法務判断を代替しません。</dc:description>
  <dcterms:created xsi:type="dcterms:W3CDTF">2026-08-28T00:00:00Z</dcterms:created>
  <dcterms:modified xsi:type="dcterms:W3CDTF">2026-08-28T00:00:00Z</dcterms:modified>
</cp:coreProperties>
</file>